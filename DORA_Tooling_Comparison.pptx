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33A"/>
          </a:solidFill>
          <a:ln/>
        </p:spPr>
      </p:sp>
      <p:sp>
        <p:nvSpPr>
          <p:cNvPr id="3" name="Text 1"/>
          <p:cNvSpPr/>
          <p:nvPr/>
        </p:nvSpPr>
        <p:spPr>
          <a:xfrm>
            <a:off x="822960" y="2331720"/>
            <a:ext cx="10515600" cy="100584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DORA Metrics Tooling Evaluation</a:t>
            </a:r>
            <a:endParaRPr lang="en-US" sz="4000" dirty="0"/>
          </a:p>
        </p:txBody>
      </p:sp>
      <p:sp>
        <p:nvSpPr>
          <p:cNvPr id="4" name="Text 2"/>
          <p:cNvSpPr/>
          <p:nvPr/>
        </p:nvSpPr>
        <p:spPr>
          <a:xfrm>
            <a:off x="822960" y="3246120"/>
            <a:ext cx="10515600" cy="548640"/>
          </a:xfrm>
          <a:prstGeom prst="rect">
            <a:avLst/>
          </a:prstGeom>
          <a:noFill/>
          <a:ln/>
        </p:spPr>
        <p:txBody>
          <a:bodyPr wrap="square" rtlCol="0" anchor="ctr"/>
          <a:lstStyle/>
          <a:p>
            <a:pPr indent="0" marL="0">
              <a:buNone/>
            </a:pPr>
            <a:r>
              <a:rPr lang="en-US" sz="2000" dirty="0">
                <a:solidFill>
                  <a:srgbClr val="AFC3D6"/>
                </a:solidFill>
                <a:latin typeface="Arial" pitchFamily="34" charset="0"/>
                <a:ea typeface="Arial" pitchFamily="34" charset="-122"/>
                <a:cs typeface="Arial" pitchFamily="34" charset="-120"/>
              </a:rPr>
              <a:t>Apache DevLake  vs  Google Cloud Four Keys  vs  Middleware (Open Source)</a:t>
            </a:r>
            <a:endParaRPr lang="en-US" sz="2000" dirty="0"/>
          </a:p>
        </p:txBody>
      </p:sp>
      <p:sp>
        <p:nvSpPr>
          <p:cNvPr id="5" name="Text 3"/>
          <p:cNvSpPr/>
          <p:nvPr/>
        </p:nvSpPr>
        <p:spPr>
          <a:xfrm>
            <a:off x="822960" y="4114800"/>
            <a:ext cx="9601200" cy="457200"/>
          </a:xfrm>
          <a:prstGeom prst="rect">
            <a:avLst/>
          </a:prstGeom>
          <a:noFill/>
          <a:ln/>
        </p:spPr>
        <p:txBody>
          <a:bodyPr wrap="square" rtlCol="0" anchor="ctr"/>
          <a:lstStyle/>
          <a:p>
            <a:pPr indent="0" marL="0">
              <a:buNone/>
            </a:pPr>
            <a:r>
              <a:rPr lang="en-US" sz="1400" i="1" dirty="0">
                <a:solidFill>
                  <a:srgbClr val="8FA3B8"/>
                </a:solidFill>
                <a:latin typeface="Arial" pitchFamily="34" charset="0"/>
                <a:ea typeface="Arial" pitchFamily="34" charset="-122"/>
                <a:cs typeface="Arial" pitchFamily="34" charset="-120"/>
              </a:rPr>
              <a:t>Recommendation for on-prem, restricted-network engineering analytics platform</a:t>
            </a:r>
            <a:endParaRPr lang="en-US" sz="1400" dirty="0"/>
          </a:p>
        </p:txBody>
      </p:sp>
      <p:sp>
        <p:nvSpPr>
          <p:cNvPr id="6" name="Text 4"/>
          <p:cNvSpPr/>
          <p:nvPr/>
        </p:nvSpPr>
        <p:spPr>
          <a:xfrm>
            <a:off x="822960" y="6126480"/>
            <a:ext cx="7315200" cy="320040"/>
          </a:xfrm>
          <a:prstGeom prst="rect">
            <a:avLst/>
          </a:prstGeom>
          <a:noFill/>
          <a:ln/>
        </p:spPr>
        <p:txBody>
          <a:bodyPr wrap="square" rtlCol="0" anchor="ctr"/>
          <a:lstStyle/>
          <a:p>
            <a:pPr indent="0" marL="0">
              <a:buNone/>
            </a:pPr>
            <a:r>
              <a:rPr lang="en-US" sz="1200" dirty="0">
                <a:solidFill>
                  <a:srgbClr val="6E8298"/>
                </a:solidFill>
                <a:latin typeface="Arial" pitchFamily="34" charset="0"/>
                <a:ea typeface="Arial" pitchFamily="34" charset="-122"/>
                <a:cs typeface="Arial" pitchFamily="34" charset="-120"/>
              </a:rPr>
              <a:t>Prepared for Engineering Leadership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7315200" cy="274320"/>
          </a:xfrm>
          <a:prstGeom prst="rect">
            <a:avLst/>
          </a:prstGeom>
          <a:noFill/>
          <a:ln/>
        </p:spPr>
        <p:txBody>
          <a:bodyPr wrap="square" rtlCol="0" anchor="ctr"/>
          <a:lstStyle/>
          <a:p>
            <a:pPr indent="0" marL="0">
              <a:buNone/>
            </a:pPr>
            <a:r>
              <a:rPr lang="en-US" sz="1200" b="1" spc="200" kern="0" dirty="0">
                <a:solidFill>
                  <a:srgbClr val="1F7A6C"/>
                </a:solidFill>
                <a:latin typeface="Arial" pitchFamily="34" charset="0"/>
                <a:ea typeface="Arial" pitchFamily="34" charset="-122"/>
                <a:cs typeface="Arial" pitchFamily="34" charset="-120"/>
              </a:rPr>
              <a:t>CONTEXT</a:t>
            </a:r>
            <a:endParaRPr lang="en-US" sz="1200" dirty="0"/>
          </a:p>
        </p:txBody>
      </p:sp>
      <p:sp>
        <p:nvSpPr>
          <p:cNvPr id="3" name="Text 1"/>
          <p:cNvSpPr/>
          <p:nvPr/>
        </p:nvSpPr>
        <p:spPr>
          <a:xfrm>
            <a:off x="457200" y="658368"/>
            <a:ext cx="10058400" cy="548640"/>
          </a:xfrm>
          <a:prstGeom prst="rect">
            <a:avLst/>
          </a:prstGeom>
          <a:noFill/>
          <a:ln/>
        </p:spPr>
        <p:txBody>
          <a:bodyPr wrap="square" rtlCol="0" anchor="ctr"/>
          <a:lstStyle/>
          <a:p>
            <a:pPr indent="0" marL="0">
              <a:buNone/>
            </a:pPr>
            <a:r>
              <a:rPr lang="en-US" sz="2800" b="1" dirty="0">
                <a:solidFill>
                  <a:srgbClr val="23272F"/>
                </a:solidFill>
                <a:latin typeface="Arial" pitchFamily="34" charset="0"/>
                <a:ea typeface="Arial" pitchFamily="34" charset="-122"/>
                <a:cs typeface="Arial" pitchFamily="34" charset="-120"/>
              </a:rPr>
              <a:t>Why This Evaluation Exists</a:t>
            </a:r>
            <a:endParaRPr lang="en-US" sz="2800" dirty="0"/>
          </a:p>
        </p:txBody>
      </p:sp>
      <p:sp>
        <p:nvSpPr>
          <p:cNvPr id="4" name="Text 2"/>
          <p:cNvSpPr/>
          <p:nvPr/>
        </p:nvSpPr>
        <p:spPr>
          <a:xfrm>
            <a:off x="457200" y="1325880"/>
            <a:ext cx="11247120" cy="685800"/>
          </a:xfrm>
          <a:prstGeom prst="rect">
            <a:avLst/>
          </a:prstGeom>
          <a:noFill/>
          <a:ln/>
        </p:spPr>
        <p:txBody>
          <a:bodyPr wrap="square" rtlCol="0" anchor="ctr"/>
          <a:lstStyle/>
          <a:p>
            <a:pPr indent="0" marL="0">
              <a:lnSpc>
                <a:spcPct val="125000"/>
              </a:lnSpc>
              <a:buNone/>
            </a:pPr>
            <a:r>
              <a:rPr lang="en-US" sz="1350" dirty="0">
                <a:solidFill>
                  <a:srgbClr val="3A3F47"/>
                </a:solidFill>
                <a:latin typeface="Arial" pitchFamily="34" charset="0"/>
                <a:ea typeface="Arial" pitchFamily="34" charset="-122"/>
                <a:cs typeface="Arial" pitchFamily="34" charset="-120"/>
              </a:rPr>
              <a:t>Our organization needs objective, systems-derived engineering efficiency metrics (DORA: Deployment Frequency, Lead Time, Change Failure Rate, MTTR) across GitLab, Jira, Jenkins and SonarQube — under real operating constraints most public tool comparisons don't account for.</a:t>
            </a:r>
            <a:endParaRPr lang="en-US" sz="1350" dirty="0"/>
          </a:p>
        </p:txBody>
      </p:sp>
      <p:sp>
        <p:nvSpPr>
          <p:cNvPr id="5" name="Shape 3"/>
          <p:cNvSpPr/>
          <p:nvPr/>
        </p:nvSpPr>
        <p:spPr>
          <a:xfrm>
            <a:off x="457200" y="2331720"/>
            <a:ext cx="2670048" cy="1691640"/>
          </a:xfrm>
          <a:prstGeom prst="roundRect">
            <a:avLst>
              <a:gd name="adj" fmla="val 4324"/>
            </a:avLst>
          </a:prstGeom>
          <a:solidFill>
            <a:srgbClr val="F6F7F9"/>
          </a:solidFill>
          <a:ln w="12700">
            <a:solidFill>
              <a:srgbClr val="E3E6EA"/>
            </a:solidFill>
            <a:prstDash val="solid"/>
          </a:ln>
        </p:spPr>
      </p:sp>
      <p:sp>
        <p:nvSpPr>
          <p:cNvPr id="6" name="Text 4"/>
          <p:cNvSpPr/>
          <p:nvPr/>
        </p:nvSpPr>
        <p:spPr>
          <a:xfrm>
            <a:off x="621792" y="2468880"/>
            <a:ext cx="914400" cy="320040"/>
          </a:xfrm>
          <a:prstGeom prst="rect">
            <a:avLst/>
          </a:prstGeom>
          <a:noFill/>
          <a:ln/>
        </p:spPr>
        <p:txBody>
          <a:bodyPr wrap="square" rtlCol="0" anchor="ctr"/>
          <a:lstStyle/>
          <a:p>
            <a:pPr indent="0" marL="0">
              <a:buNone/>
            </a:pPr>
            <a:r>
              <a:rPr lang="en-US" sz="1300" b="1" dirty="0">
                <a:solidFill>
                  <a:srgbClr val="1F7A6C"/>
                </a:solidFill>
                <a:latin typeface="Arial" pitchFamily="34" charset="0"/>
                <a:ea typeface="Arial" pitchFamily="34" charset="-122"/>
                <a:cs typeface="Arial" pitchFamily="34" charset="-120"/>
              </a:rPr>
              <a:t>01</a:t>
            </a:r>
            <a:endParaRPr lang="en-US" sz="1300" dirty="0"/>
          </a:p>
        </p:txBody>
      </p:sp>
      <p:sp>
        <p:nvSpPr>
          <p:cNvPr id="7" name="Text 5"/>
          <p:cNvSpPr/>
          <p:nvPr/>
        </p:nvSpPr>
        <p:spPr>
          <a:xfrm>
            <a:off x="621792" y="2788920"/>
            <a:ext cx="2340864" cy="502920"/>
          </a:xfrm>
          <a:prstGeom prst="rect">
            <a:avLst/>
          </a:prstGeom>
          <a:noFill/>
          <a:ln/>
        </p:spPr>
        <p:txBody>
          <a:bodyPr wrap="square" rtlCol="0" anchor="ctr"/>
          <a:lstStyle/>
          <a:p>
            <a:pPr indent="0" marL="0">
              <a:buNone/>
            </a:pPr>
            <a:r>
              <a:rPr lang="en-US" sz="1350" b="1" dirty="0">
                <a:solidFill>
                  <a:srgbClr val="23272F"/>
                </a:solidFill>
                <a:latin typeface="Arial" pitchFamily="34" charset="0"/>
                <a:ea typeface="Arial" pitchFamily="34" charset="-122"/>
                <a:cs typeface="Arial" pitchFamily="34" charset="-120"/>
              </a:rPr>
              <a:t>Restricted network</a:t>
            </a:r>
            <a:endParaRPr lang="en-US" sz="1350" dirty="0"/>
          </a:p>
        </p:txBody>
      </p:sp>
      <p:sp>
        <p:nvSpPr>
          <p:cNvPr id="8" name="Text 6"/>
          <p:cNvSpPr/>
          <p:nvPr/>
        </p:nvSpPr>
        <p:spPr>
          <a:xfrm>
            <a:off x="621792" y="3264408"/>
            <a:ext cx="2340864" cy="685800"/>
          </a:xfrm>
          <a:prstGeom prst="rect">
            <a:avLst/>
          </a:prstGeom>
          <a:noFill/>
          <a:ln/>
        </p:spPr>
        <p:txBody>
          <a:bodyPr wrap="square" rtlCol="0" anchor="ctr"/>
          <a:lstStyle/>
          <a:p>
            <a:pPr indent="0" marL="0">
              <a:lnSpc>
                <a:spcPct val="115000"/>
              </a:lnSpc>
              <a:buNone/>
            </a:pPr>
            <a:r>
              <a:rPr lang="en-US" sz="1050" dirty="0">
                <a:solidFill>
                  <a:srgbClr val="3A3F47"/>
                </a:solidFill>
                <a:latin typeface="Arial" pitchFamily="34" charset="0"/>
                <a:ea typeface="Arial" pitchFamily="34" charset="-122"/>
                <a:cs typeface="Arial" pitchFamily="34" charset="-120"/>
              </a:rPr>
              <a:t>No live git clone, limited outbound access; all binaries/sources must be built from downloaded artifacts.</a:t>
            </a:r>
            <a:endParaRPr lang="en-US" sz="1050" dirty="0"/>
          </a:p>
        </p:txBody>
      </p:sp>
      <p:sp>
        <p:nvSpPr>
          <p:cNvPr id="9" name="Shape 7"/>
          <p:cNvSpPr/>
          <p:nvPr/>
        </p:nvSpPr>
        <p:spPr>
          <a:xfrm>
            <a:off x="3346704" y="2331720"/>
            <a:ext cx="2670048" cy="1691640"/>
          </a:xfrm>
          <a:prstGeom prst="roundRect">
            <a:avLst>
              <a:gd name="adj" fmla="val 4324"/>
            </a:avLst>
          </a:prstGeom>
          <a:solidFill>
            <a:srgbClr val="F6F7F9"/>
          </a:solidFill>
          <a:ln w="12700">
            <a:solidFill>
              <a:srgbClr val="E3E6EA"/>
            </a:solidFill>
            <a:prstDash val="solid"/>
          </a:ln>
        </p:spPr>
      </p:sp>
      <p:sp>
        <p:nvSpPr>
          <p:cNvPr id="10" name="Text 8"/>
          <p:cNvSpPr/>
          <p:nvPr/>
        </p:nvSpPr>
        <p:spPr>
          <a:xfrm>
            <a:off x="3511296" y="2468880"/>
            <a:ext cx="914400" cy="320040"/>
          </a:xfrm>
          <a:prstGeom prst="rect">
            <a:avLst/>
          </a:prstGeom>
          <a:noFill/>
          <a:ln/>
        </p:spPr>
        <p:txBody>
          <a:bodyPr wrap="square" rtlCol="0" anchor="ctr"/>
          <a:lstStyle/>
          <a:p>
            <a:pPr indent="0" marL="0">
              <a:buNone/>
            </a:pPr>
            <a:r>
              <a:rPr lang="en-US" sz="1300" b="1" dirty="0">
                <a:solidFill>
                  <a:srgbClr val="1F7A6C"/>
                </a:solidFill>
                <a:latin typeface="Arial" pitchFamily="34" charset="0"/>
                <a:ea typeface="Arial" pitchFamily="34" charset="-122"/>
                <a:cs typeface="Arial" pitchFamily="34" charset="-120"/>
              </a:rPr>
              <a:t>02</a:t>
            </a:r>
            <a:endParaRPr lang="en-US" sz="1300" dirty="0"/>
          </a:p>
        </p:txBody>
      </p:sp>
      <p:sp>
        <p:nvSpPr>
          <p:cNvPr id="11" name="Text 9"/>
          <p:cNvSpPr/>
          <p:nvPr/>
        </p:nvSpPr>
        <p:spPr>
          <a:xfrm>
            <a:off x="3511296" y="2788920"/>
            <a:ext cx="2340864" cy="502920"/>
          </a:xfrm>
          <a:prstGeom prst="rect">
            <a:avLst/>
          </a:prstGeom>
          <a:noFill/>
          <a:ln/>
        </p:spPr>
        <p:txBody>
          <a:bodyPr wrap="square" rtlCol="0" anchor="ctr"/>
          <a:lstStyle/>
          <a:p>
            <a:pPr indent="0" marL="0">
              <a:buNone/>
            </a:pPr>
            <a:r>
              <a:rPr lang="en-US" sz="1350" b="1" dirty="0">
                <a:solidFill>
                  <a:srgbClr val="23272F"/>
                </a:solidFill>
                <a:latin typeface="Arial" pitchFamily="34" charset="0"/>
                <a:ea typeface="Arial" pitchFamily="34" charset="-122"/>
                <a:cs typeface="Arial" pitchFamily="34" charset="-120"/>
              </a:rPr>
              <a:t>Multi-tool source of truth</a:t>
            </a:r>
            <a:endParaRPr lang="en-US" sz="1350" dirty="0"/>
          </a:p>
        </p:txBody>
      </p:sp>
      <p:sp>
        <p:nvSpPr>
          <p:cNvPr id="12" name="Text 10"/>
          <p:cNvSpPr/>
          <p:nvPr/>
        </p:nvSpPr>
        <p:spPr>
          <a:xfrm>
            <a:off x="3511296" y="3264408"/>
            <a:ext cx="2340864" cy="685800"/>
          </a:xfrm>
          <a:prstGeom prst="rect">
            <a:avLst/>
          </a:prstGeom>
          <a:noFill/>
          <a:ln/>
        </p:spPr>
        <p:txBody>
          <a:bodyPr wrap="square" rtlCol="0" anchor="ctr"/>
          <a:lstStyle/>
          <a:p>
            <a:pPr indent="0" marL="0">
              <a:lnSpc>
                <a:spcPct val="115000"/>
              </a:lnSpc>
              <a:buNone/>
            </a:pPr>
            <a:r>
              <a:rPr lang="en-US" sz="1050" dirty="0">
                <a:solidFill>
                  <a:srgbClr val="3A3F47"/>
                </a:solidFill>
                <a:latin typeface="Arial" pitchFamily="34" charset="0"/>
                <a:ea typeface="Arial" pitchFamily="34" charset="-122"/>
                <a:cs typeface="Arial" pitchFamily="34" charset="-120"/>
              </a:rPr>
              <a:t>Delivery data lives across GitLab, Jira, Jenkins and SonarQube — not just GitHub.</a:t>
            </a:r>
            <a:endParaRPr lang="en-US" sz="1050" dirty="0"/>
          </a:p>
        </p:txBody>
      </p:sp>
      <p:sp>
        <p:nvSpPr>
          <p:cNvPr id="13" name="Shape 11"/>
          <p:cNvSpPr/>
          <p:nvPr/>
        </p:nvSpPr>
        <p:spPr>
          <a:xfrm>
            <a:off x="6236208" y="2331720"/>
            <a:ext cx="2670048" cy="1691640"/>
          </a:xfrm>
          <a:prstGeom prst="roundRect">
            <a:avLst>
              <a:gd name="adj" fmla="val 4324"/>
            </a:avLst>
          </a:prstGeom>
          <a:solidFill>
            <a:srgbClr val="F6F7F9"/>
          </a:solidFill>
          <a:ln w="12700">
            <a:solidFill>
              <a:srgbClr val="E3E6EA"/>
            </a:solidFill>
            <a:prstDash val="solid"/>
          </a:ln>
        </p:spPr>
      </p:sp>
      <p:sp>
        <p:nvSpPr>
          <p:cNvPr id="14" name="Text 12"/>
          <p:cNvSpPr/>
          <p:nvPr/>
        </p:nvSpPr>
        <p:spPr>
          <a:xfrm>
            <a:off x="6400800" y="2468880"/>
            <a:ext cx="914400" cy="320040"/>
          </a:xfrm>
          <a:prstGeom prst="rect">
            <a:avLst/>
          </a:prstGeom>
          <a:noFill/>
          <a:ln/>
        </p:spPr>
        <p:txBody>
          <a:bodyPr wrap="square" rtlCol="0" anchor="ctr"/>
          <a:lstStyle/>
          <a:p>
            <a:pPr indent="0" marL="0">
              <a:buNone/>
            </a:pPr>
            <a:r>
              <a:rPr lang="en-US" sz="1300" b="1" dirty="0">
                <a:solidFill>
                  <a:srgbClr val="1F7A6C"/>
                </a:solidFill>
                <a:latin typeface="Arial" pitchFamily="34" charset="0"/>
                <a:ea typeface="Arial" pitchFamily="34" charset="-122"/>
                <a:cs typeface="Arial" pitchFamily="34" charset="-120"/>
              </a:rPr>
              <a:t>03</a:t>
            </a:r>
            <a:endParaRPr lang="en-US" sz="1300" dirty="0"/>
          </a:p>
        </p:txBody>
      </p:sp>
      <p:sp>
        <p:nvSpPr>
          <p:cNvPr id="15" name="Text 13"/>
          <p:cNvSpPr/>
          <p:nvPr/>
        </p:nvSpPr>
        <p:spPr>
          <a:xfrm>
            <a:off x="6400800" y="2788920"/>
            <a:ext cx="2340864" cy="502920"/>
          </a:xfrm>
          <a:prstGeom prst="rect">
            <a:avLst/>
          </a:prstGeom>
          <a:noFill/>
          <a:ln/>
        </p:spPr>
        <p:txBody>
          <a:bodyPr wrap="square" rtlCol="0" anchor="ctr"/>
          <a:lstStyle/>
          <a:p>
            <a:pPr indent="0" marL="0">
              <a:buNone/>
            </a:pPr>
            <a:r>
              <a:rPr lang="en-US" sz="1350" b="1" dirty="0">
                <a:solidFill>
                  <a:srgbClr val="23272F"/>
                </a:solidFill>
                <a:latin typeface="Arial" pitchFamily="34" charset="0"/>
                <a:ea typeface="Arial" pitchFamily="34" charset="-122"/>
                <a:cs typeface="Arial" pitchFamily="34" charset="-120"/>
              </a:rPr>
              <a:t>On-prem / self-hosted only</a:t>
            </a:r>
            <a:endParaRPr lang="en-US" sz="1350" dirty="0"/>
          </a:p>
        </p:txBody>
      </p:sp>
      <p:sp>
        <p:nvSpPr>
          <p:cNvPr id="16" name="Text 14"/>
          <p:cNvSpPr/>
          <p:nvPr/>
        </p:nvSpPr>
        <p:spPr>
          <a:xfrm>
            <a:off x="6400800" y="3264408"/>
            <a:ext cx="2340864" cy="685800"/>
          </a:xfrm>
          <a:prstGeom prst="rect">
            <a:avLst/>
          </a:prstGeom>
          <a:noFill/>
          <a:ln/>
        </p:spPr>
        <p:txBody>
          <a:bodyPr wrap="square" rtlCol="0" anchor="ctr"/>
          <a:lstStyle/>
          <a:p>
            <a:pPr indent="0" marL="0">
              <a:lnSpc>
                <a:spcPct val="115000"/>
              </a:lnSpc>
              <a:buNone/>
            </a:pPr>
            <a:r>
              <a:rPr lang="en-US" sz="1050" dirty="0">
                <a:solidFill>
                  <a:srgbClr val="3A3F47"/>
                </a:solidFill>
                <a:latin typeface="Arial" pitchFamily="34" charset="0"/>
                <a:ea typeface="Arial" pitchFamily="34" charset="-122"/>
                <a:cs typeface="Arial" pitchFamily="34" charset="-120"/>
              </a:rPr>
              <a:t>No cloud vendor lock-in (BigQuery, Pub/Sub); data must stay inside our infrastructure.</a:t>
            </a:r>
            <a:endParaRPr lang="en-US" sz="1050" dirty="0"/>
          </a:p>
        </p:txBody>
      </p:sp>
      <p:sp>
        <p:nvSpPr>
          <p:cNvPr id="17" name="Shape 15"/>
          <p:cNvSpPr/>
          <p:nvPr/>
        </p:nvSpPr>
        <p:spPr>
          <a:xfrm>
            <a:off x="9125712" y="2331720"/>
            <a:ext cx="2670048" cy="1691640"/>
          </a:xfrm>
          <a:prstGeom prst="roundRect">
            <a:avLst>
              <a:gd name="adj" fmla="val 4324"/>
            </a:avLst>
          </a:prstGeom>
          <a:solidFill>
            <a:srgbClr val="F6F7F9"/>
          </a:solidFill>
          <a:ln w="12700">
            <a:solidFill>
              <a:srgbClr val="E3E6EA"/>
            </a:solidFill>
            <a:prstDash val="solid"/>
          </a:ln>
        </p:spPr>
      </p:sp>
      <p:sp>
        <p:nvSpPr>
          <p:cNvPr id="18" name="Text 16"/>
          <p:cNvSpPr/>
          <p:nvPr/>
        </p:nvSpPr>
        <p:spPr>
          <a:xfrm>
            <a:off x="9290304" y="2468880"/>
            <a:ext cx="914400" cy="320040"/>
          </a:xfrm>
          <a:prstGeom prst="rect">
            <a:avLst/>
          </a:prstGeom>
          <a:noFill/>
          <a:ln/>
        </p:spPr>
        <p:txBody>
          <a:bodyPr wrap="square" rtlCol="0" anchor="ctr"/>
          <a:lstStyle/>
          <a:p>
            <a:pPr indent="0" marL="0">
              <a:buNone/>
            </a:pPr>
            <a:r>
              <a:rPr lang="en-US" sz="1300" b="1" dirty="0">
                <a:solidFill>
                  <a:srgbClr val="1F7A6C"/>
                </a:solidFill>
                <a:latin typeface="Arial" pitchFamily="34" charset="0"/>
                <a:ea typeface="Arial" pitchFamily="34" charset="-122"/>
                <a:cs typeface="Arial" pitchFamily="34" charset="-120"/>
              </a:rPr>
              <a:t>04</a:t>
            </a:r>
            <a:endParaRPr lang="en-US" sz="1300" dirty="0"/>
          </a:p>
        </p:txBody>
      </p:sp>
      <p:sp>
        <p:nvSpPr>
          <p:cNvPr id="19" name="Text 17"/>
          <p:cNvSpPr/>
          <p:nvPr/>
        </p:nvSpPr>
        <p:spPr>
          <a:xfrm>
            <a:off x="9290304" y="2788920"/>
            <a:ext cx="2340864" cy="502920"/>
          </a:xfrm>
          <a:prstGeom prst="rect">
            <a:avLst/>
          </a:prstGeom>
          <a:noFill/>
          <a:ln/>
        </p:spPr>
        <p:txBody>
          <a:bodyPr wrap="square" rtlCol="0" anchor="ctr"/>
          <a:lstStyle/>
          <a:p>
            <a:pPr indent="0" marL="0">
              <a:buNone/>
            </a:pPr>
            <a:r>
              <a:rPr lang="en-US" sz="1350" b="1" dirty="0">
                <a:solidFill>
                  <a:srgbClr val="23272F"/>
                </a:solidFill>
                <a:latin typeface="Arial" pitchFamily="34" charset="0"/>
                <a:ea typeface="Arial" pitchFamily="34" charset="-122"/>
                <a:cs typeface="Arial" pitchFamily="34" charset="-120"/>
              </a:rPr>
              <a:t>Customization requirement</a:t>
            </a:r>
            <a:endParaRPr lang="en-US" sz="1350" dirty="0"/>
          </a:p>
        </p:txBody>
      </p:sp>
      <p:sp>
        <p:nvSpPr>
          <p:cNvPr id="20" name="Text 18"/>
          <p:cNvSpPr/>
          <p:nvPr/>
        </p:nvSpPr>
        <p:spPr>
          <a:xfrm>
            <a:off x="9290304" y="3264408"/>
            <a:ext cx="2340864" cy="685800"/>
          </a:xfrm>
          <a:prstGeom prst="rect">
            <a:avLst/>
          </a:prstGeom>
          <a:noFill/>
          <a:ln/>
        </p:spPr>
        <p:txBody>
          <a:bodyPr wrap="square" rtlCol="0" anchor="ctr"/>
          <a:lstStyle/>
          <a:p>
            <a:pPr indent="0" marL="0">
              <a:lnSpc>
                <a:spcPct val="115000"/>
              </a:lnSpc>
              <a:buNone/>
            </a:pPr>
            <a:r>
              <a:rPr lang="en-US" sz="1050" dirty="0">
                <a:solidFill>
                  <a:srgbClr val="3A3F47"/>
                </a:solidFill>
                <a:latin typeface="Arial" pitchFamily="34" charset="0"/>
                <a:ea typeface="Arial" pitchFamily="34" charset="-122"/>
                <a:cs typeface="Arial" pitchFamily="34" charset="-120"/>
              </a:rPr>
              <a:t>Dashboards must be reshaped to match how our teams and leadership already report.</a:t>
            </a:r>
            <a:endParaRPr lang="en-US" sz="1050" dirty="0"/>
          </a:p>
        </p:txBody>
      </p:sp>
      <p:sp>
        <p:nvSpPr>
          <p:cNvPr id="21" name="Text 19"/>
          <p:cNvSpPr/>
          <p:nvPr/>
        </p:nvSpPr>
        <p:spPr>
          <a:xfrm>
            <a:off x="457200" y="4343400"/>
            <a:ext cx="11247120" cy="548640"/>
          </a:xfrm>
          <a:prstGeom prst="rect">
            <a:avLst/>
          </a:prstGeom>
          <a:noFill/>
          <a:ln/>
        </p:spPr>
        <p:txBody>
          <a:bodyPr wrap="square" rtlCol="0" anchor="ctr"/>
          <a:lstStyle/>
          <a:p>
            <a:pPr indent="0" marL="0">
              <a:buNone/>
            </a:pPr>
            <a:r>
              <a:rPr lang="en-US" sz="1300" i="1" dirty="0">
                <a:solidFill>
                  <a:srgbClr val="16233A"/>
                </a:solidFill>
                <a:latin typeface="Arial" pitchFamily="34" charset="0"/>
                <a:ea typeface="Arial" pitchFamily="34" charset="-122"/>
                <a:cs typeface="Arial" pitchFamily="34" charset="-120"/>
              </a:rPr>
              <a:t>Goal: identify which platform can realistically be deployed and sustained inside our environment — not just which one has the best feature list on paper.</a:t>
            </a:r>
            <a:endParaRPr lang="en-US" sz="1300" dirty="0"/>
          </a:p>
        </p:txBody>
      </p:sp>
      <p:sp>
        <p:nvSpPr>
          <p:cNvPr id="22" name="Text 20"/>
          <p:cNvSpPr/>
          <p:nvPr/>
        </p:nvSpPr>
        <p:spPr>
          <a:xfrm>
            <a:off x="457200" y="6537960"/>
            <a:ext cx="82296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DORA Tooling Evaluation  |  Internal Engineering</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7315200" cy="274320"/>
          </a:xfrm>
          <a:prstGeom prst="rect">
            <a:avLst/>
          </a:prstGeom>
          <a:noFill/>
          <a:ln/>
        </p:spPr>
        <p:txBody>
          <a:bodyPr wrap="square" rtlCol="0" anchor="ctr"/>
          <a:lstStyle/>
          <a:p>
            <a:pPr indent="0" marL="0">
              <a:buNone/>
            </a:pPr>
            <a:r>
              <a:rPr lang="en-US" sz="1200" b="1" spc="200" kern="0" dirty="0">
                <a:solidFill>
                  <a:srgbClr val="1F7A6C"/>
                </a:solidFill>
                <a:latin typeface="Arial" pitchFamily="34" charset="0"/>
                <a:ea typeface="Arial" pitchFamily="34" charset="-122"/>
                <a:cs typeface="Arial" pitchFamily="34" charset="-120"/>
              </a:rPr>
              <a:t>HEAD-TO-HEAD</a:t>
            </a:r>
            <a:endParaRPr lang="en-US" sz="1200" dirty="0"/>
          </a:p>
        </p:txBody>
      </p:sp>
      <p:sp>
        <p:nvSpPr>
          <p:cNvPr id="3" name="Text 1"/>
          <p:cNvSpPr/>
          <p:nvPr/>
        </p:nvSpPr>
        <p:spPr>
          <a:xfrm>
            <a:off x="457200" y="658368"/>
            <a:ext cx="10058400" cy="548640"/>
          </a:xfrm>
          <a:prstGeom prst="rect">
            <a:avLst/>
          </a:prstGeom>
          <a:noFill/>
          <a:ln/>
        </p:spPr>
        <p:txBody>
          <a:bodyPr wrap="square" rtlCol="0" anchor="ctr"/>
          <a:lstStyle/>
          <a:p>
            <a:pPr indent="0" marL="0">
              <a:buNone/>
            </a:pPr>
            <a:r>
              <a:rPr lang="en-US" sz="2800" b="1" dirty="0">
                <a:solidFill>
                  <a:srgbClr val="23272F"/>
                </a:solidFill>
                <a:latin typeface="Arial" pitchFamily="34" charset="0"/>
                <a:ea typeface="Arial" pitchFamily="34" charset="-122"/>
                <a:cs typeface="Arial" pitchFamily="34" charset="-120"/>
              </a:rPr>
              <a:t>Platform Comparison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4846320"/>
        </p:xfrm>
        <a:graphic>
          <a:graphicData uri="http://schemas.openxmlformats.org/drawingml/2006/table">
            <a:tbl>
              <a:tblPr/>
              <a:tblGrid>
                <a:gridCol w="2286000"/>
                <a:gridCol w="3145536"/>
                <a:gridCol w="2926080"/>
                <a:gridCol w="2916936"/>
              </a:tblGrid>
              <a:tr h="692331">
                <a:tc>
                  <a:txBody>
                    <a:bodyPr/>
                    <a:lstStyle/>
                    <a:p>
                      <a:pPr algn="l" indent="0" marL="0">
                        <a:buNone/>
                      </a:pPr>
                      <a:r>
                        <a:rPr lang="en-US" sz="1150" b="1" dirty="0">
                          <a:solidFill>
                            <a:srgbClr val="FFFFFF"/>
                          </a:solidFill>
                        </a:rPr>
                        <a:t>Criteria</a:t>
                      </a:r>
                      <a:endParaRPr lang="en-US" sz="11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16233A"/>
                    </a:solidFill>
                  </a:tcPr>
                </a:tc>
                <a:tc>
                  <a:txBody>
                    <a:bodyPr/>
                    <a:lstStyle/>
                    <a:p>
                      <a:pPr algn="l" indent="0" marL="0">
                        <a:buNone/>
                      </a:pPr>
                      <a:r>
                        <a:rPr lang="en-US" sz="1150" b="1" dirty="0">
                          <a:solidFill>
                            <a:srgbClr val="FFFFFF"/>
                          </a:solidFill>
                        </a:rPr>
                        <a:t>Apache DevLake</a:t>
                      </a:r>
                      <a:endParaRPr lang="en-US" sz="11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1F7A6C"/>
                    </a:solidFill>
                  </a:tcPr>
                </a:tc>
                <a:tc>
                  <a:txBody>
                    <a:bodyPr/>
                    <a:lstStyle/>
                    <a:p>
                      <a:pPr algn="l" indent="0" marL="0">
                        <a:buNone/>
                      </a:pPr>
                      <a:r>
                        <a:rPr lang="en-US" sz="1150" b="1" dirty="0">
                          <a:solidFill>
                            <a:srgbClr val="FFFFFF"/>
                          </a:solidFill>
                        </a:rPr>
                        <a:t>Google Four Keys</a:t>
                      </a:r>
                      <a:endParaRPr lang="en-US" sz="11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B5542A"/>
                    </a:solidFill>
                  </a:tcPr>
                </a:tc>
                <a:tc>
                  <a:txBody>
                    <a:bodyPr/>
                    <a:lstStyle/>
                    <a:p>
                      <a:pPr algn="l" indent="0" marL="0">
                        <a:buNone/>
                      </a:pPr>
                      <a:r>
                        <a:rPr lang="en-US" sz="1150" b="1" dirty="0">
                          <a:solidFill>
                            <a:srgbClr val="FFFFFF"/>
                          </a:solidFill>
                        </a:rPr>
                        <a:t>Middleware OSS</a:t>
                      </a:r>
                      <a:endParaRPr lang="en-US" sz="11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5B5470"/>
                    </a:solidFill>
                  </a:tcPr>
                </a:tc>
              </a:tr>
              <a:tr h="692331">
                <a:tc>
                  <a:txBody>
                    <a:bodyPr/>
                    <a:lstStyle/>
                    <a:p>
                      <a:pPr indent="0" marL="0">
                        <a:buNone/>
                      </a:pPr>
                      <a:r>
                        <a:rPr lang="en-US" sz="1050" b="1" dirty="0">
                          <a:solidFill>
                            <a:srgbClr val="23272F"/>
                          </a:solidFill>
                        </a:rPr>
                        <a:t>Maintenance status</a:t>
                      </a:r>
                      <a:endParaRPr lang="en-US" sz="10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1000" dirty="0">
                          <a:solidFill>
                            <a:srgbClr val="3A3F47"/>
                          </a:solidFill>
                        </a:rPr>
                        <a:t>Active — Apache Foundation project, weekly releases</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4F1"/>
                    </a:solidFill>
                  </a:tcPr>
                </a:tc>
                <a:tc>
                  <a:txBody>
                    <a:bodyPr/>
                    <a:lstStyle/>
                    <a:p>
                      <a:pPr indent="0" marL="0">
                        <a:buNone/>
                      </a:pPr>
                      <a:r>
                        <a:rPr lang="en-US" sz="1000" dirty="0">
                          <a:solidFill>
                            <a:srgbClr val="3A3F47"/>
                          </a:solidFill>
                        </a:rPr>
                        <a:t>Archived Jan 2024 — unmaintained reference repo</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BEFE9"/>
                    </a:solidFill>
                  </a:tcPr>
                </a:tc>
                <a:tc>
                  <a:txBody>
                    <a:bodyPr/>
                    <a:lstStyle/>
                    <a:p>
                      <a:pPr indent="0" marL="0">
                        <a:buNone/>
                      </a:pPr>
                      <a:r>
                        <a:rPr lang="en-US" sz="1000" dirty="0">
                          <a:solidFill>
                            <a:srgbClr val="3A3F47"/>
                          </a:solidFill>
                        </a:rPr>
                        <a:t>Active — smaller team, steady commits</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EF3"/>
                    </a:solidFill>
                  </a:tcPr>
                </a:tc>
              </a:tr>
              <a:tr h="692331">
                <a:tc>
                  <a:txBody>
                    <a:bodyPr/>
                    <a:lstStyle/>
                    <a:p>
                      <a:pPr indent="0" marL="0">
                        <a:buNone/>
                      </a:pPr>
                      <a:r>
                        <a:rPr lang="en-US" sz="1050" b="1" dirty="0">
                          <a:solidFill>
                            <a:srgbClr val="23272F"/>
                          </a:solidFill>
                        </a:rPr>
                        <a:t>Deployment model</a:t>
                      </a:r>
                      <a:endParaRPr lang="en-US" sz="10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1000" dirty="0">
                          <a:solidFill>
                            <a:srgbClr val="3A3F47"/>
                          </a:solidFill>
                        </a:rPr>
                        <a:t>Fully self-hosted (Go + MySQL + Grafana)</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4F1"/>
                    </a:solidFill>
                  </a:tcPr>
                </a:tc>
                <a:tc>
                  <a:txBody>
                    <a:bodyPr/>
                    <a:lstStyle/>
                    <a:p>
                      <a:pPr indent="0" marL="0">
                        <a:buNone/>
                      </a:pPr>
                      <a:r>
                        <a:rPr lang="en-US" sz="1000" dirty="0">
                          <a:solidFill>
                            <a:srgbClr val="3A3F47"/>
                          </a:solidFill>
                        </a:rPr>
                        <a:t>Built for GCP (Pub/Sub, BigQuery, Cloud Run)</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BEFE9"/>
                    </a:solidFill>
                  </a:tcPr>
                </a:tc>
                <a:tc>
                  <a:txBody>
                    <a:bodyPr/>
                    <a:lstStyle/>
                    <a:p>
                      <a:pPr indent="0" marL="0">
                        <a:buNone/>
                      </a:pPr>
                      <a:r>
                        <a:rPr lang="en-US" sz="1000" dirty="0">
                          <a:solidFill>
                            <a:srgbClr val="3A3F47"/>
                          </a:solidFill>
                        </a:rPr>
                        <a:t>Self-hosted via Docker (Postgres)</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EF3"/>
                    </a:solidFill>
                  </a:tcPr>
                </a:tc>
              </a:tr>
              <a:tr h="692331">
                <a:tc>
                  <a:txBody>
                    <a:bodyPr/>
                    <a:lstStyle/>
                    <a:p>
                      <a:pPr indent="0" marL="0">
                        <a:buNone/>
                      </a:pPr>
                      <a:r>
                        <a:rPr lang="en-US" sz="1050" b="1" dirty="0">
                          <a:solidFill>
                            <a:srgbClr val="23272F"/>
                          </a:solidFill>
                        </a:rPr>
                        <a:t>Source connectors</a:t>
                      </a:r>
                      <a:endParaRPr lang="en-US" sz="10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1000" dirty="0">
                          <a:solidFill>
                            <a:srgbClr val="3A3F47"/>
                          </a:solidFill>
                        </a:rPr>
                        <a:t>30+ plugins: GitLab, Jira, Jenkins, SonarQube, GitHub, Bitbucket, ADO...</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4F1"/>
                    </a:solidFill>
                  </a:tcPr>
                </a:tc>
                <a:tc>
                  <a:txBody>
                    <a:bodyPr/>
                    <a:lstStyle/>
                    <a:p>
                      <a:pPr indent="0" marL="0">
                        <a:buNone/>
                      </a:pPr>
                      <a:r>
                        <a:rPr lang="en-US" sz="1000" dirty="0">
                          <a:solidFill>
                            <a:srgbClr val="3A3F47"/>
                          </a:solidFill>
                        </a:rPr>
                        <a:t>GitHub, GitLab, Cloud Build only</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BEFE9"/>
                    </a:solidFill>
                  </a:tcPr>
                </a:tc>
                <a:tc>
                  <a:txBody>
                    <a:bodyPr/>
                    <a:lstStyle/>
                    <a:p>
                      <a:pPr indent="0" marL="0">
                        <a:buNone/>
                      </a:pPr>
                      <a:r>
                        <a:rPr lang="en-US" sz="1000" dirty="0">
                          <a:solidFill>
                            <a:srgbClr val="3A3F47"/>
                          </a:solidFill>
                        </a:rPr>
                        <a:t>GitHub-centric; limited PM/CI tool support</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EF3"/>
                    </a:solidFill>
                  </a:tcPr>
                </a:tc>
              </a:tr>
              <a:tr h="692331">
                <a:tc>
                  <a:txBody>
                    <a:bodyPr/>
                    <a:lstStyle/>
                    <a:p>
                      <a:pPr indent="0" marL="0">
                        <a:buNone/>
                      </a:pPr>
                      <a:r>
                        <a:rPr lang="en-US" sz="1050" b="1" dirty="0">
                          <a:solidFill>
                            <a:srgbClr val="23272F"/>
                          </a:solidFill>
                        </a:rPr>
                        <a:t>Works offline / air-gapped</a:t>
                      </a:r>
                      <a:endParaRPr lang="en-US" sz="10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1000" dirty="0">
                          <a:solidFill>
                            <a:srgbClr val="3A3F47"/>
                          </a:solidFill>
                        </a:rPr>
                        <a:t>Yes, once dependencies are vendored</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4F1"/>
                    </a:solidFill>
                  </a:tcPr>
                </a:tc>
                <a:tc>
                  <a:txBody>
                    <a:bodyPr/>
                    <a:lstStyle/>
                    <a:p>
                      <a:pPr indent="0" marL="0">
                        <a:buNone/>
                      </a:pPr>
                      <a:r>
                        <a:rPr lang="en-US" sz="1000" dirty="0">
                          <a:solidFill>
                            <a:srgbClr val="3A3F47"/>
                          </a:solidFill>
                        </a:rPr>
                        <a:t>No — requires live GCP services</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BEFE9"/>
                    </a:solidFill>
                  </a:tcPr>
                </a:tc>
                <a:tc>
                  <a:txBody>
                    <a:bodyPr/>
                    <a:lstStyle/>
                    <a:p>
                      <a:pPr indent="0" marL="0">
                        <a:buNone/>
                      </a:pPr>
                      <a:r>
                        <a:rPr lang="en-US" sz="1000" dirty="0">
                          <a:solidFill>
                            <a:srgbClr val="3A3F47"/>
                          </a:solidFill>
                        </a:rPr>
                        <a:t>Partial — Docker only, fewer external calls</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EF3"/>
                    </a:solidFill>
                  </a:tcPr>
                </a:tc>
              </a:tr>
              <a:tr h="692331">
                <a:tc>
                  <a:txBody>
                    <a:bodyPr/>
                    <a:lstStyle/>
                    <a:p>
                      <a:pPr indent="0" marL="0">
                        <a:buNone/>
                      </a:pPr>
                      <a:r>
                        <a:rPr lang="en-US" sz="1050" b="1" dirty="0">
                          <a:solidFill>
                            <a:srgbClr val="23272F"/>
                          </a:solidFill>
                        </a:rPr>
                        <a:t>Dashboard customization</a:t>
                      </a:r>
                      <a:endParaRPr lang="en-US" sz="10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1000" dirty="0">
                          <a:solidFill>
                            <a:srgbClr val="3A3F47"/>
                          </a:solidFill>
                        </a:rPr>
                        <a:t>Grafana-based, fully editable SQL panels</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4F1"/>
                    </a:solidFill>
                  </a:tcPr>
                </a:tc>
                <a:tc>
                  <a:txBody>
                    <a:bodyPr/>
                    <a:lstStyle/>
                    <a:p>
                      <a:pPr indent="0" marL="0">
                        <a:buNone/>
                      </a:pPr>
                      <a:r>
                        <a:rPr lang="en-US" sz="1000" dirty="0">
                          <a:solidFill>
                            <a:srgbClr val="3A3F47"/>
                          </a:solidFill>
                        </a:rPr>
                        <a:t>Google Data Studio template only</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BEFE9"/>
                    </a:solidFill>
                  </a:tcPr>
                </a:tc>
                <a:tc>
                  <a:txBody>
                    <a:bodyPr/>
                    <a:lstStyle/>
                    <a:p>
                      <a:pPr indent="0" marL="0">
                        <a:buNone/>
                      </a:pPr>
                      <a:r>
                        <a:rPr lang="en-US" sz="1000" dirty="0">
                          <a:solidFill>
                            <a:srgbClr val="3A3F47"/>
                          </a:solidFill>
                        </a:rPr>
                        <a:t>Fixed built-in UI, limited editing</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EF3"/>
                    </a:solidFill>
                  </a:tcPr>
                </a:tc>
              </a:tr>
              <a:tr h="692331">
                <a:tc>
                  <a:txBody>
                    <a:bodyPr/>
                    <a:lstStyle/>
                    <a:p>
                      <a:pPr indent="0" marL="0">
                        <a:buNone/>
                      </a:pPr>
                      <a:r>
                        <a:rPr lang="en-US" sz="1050" b="1" dirty="0">
                          <a:solidFill>
                            <a:srgbClr val="23272F"/>
                          </a:solidFill>
                        </a:rPr>
                        <a:t>Governance / license</a:t>
                      </a:r>
                      <a:endParaRPr lang="en-US" sz="105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6F7F9"/>
                    </a:solidFill>
                  </a:tcPr>
                </a:tc>
                <a:tc>
                  <a:txBody>
                    <a:bodyPr/>
                    <a:lstStyle/>
                    <a:p>
                      <a:pPr indent="0" marL="0">
                        <a:buNone/>
                      </a:pPr>
                      <a:r>
                        <a:rPr lang="en-US" sz="1000" dirty="0">
                          <a:solidFill>
                            <a:srgbClr val="3A3F47"/>
                          </a:solidFill>
                        </a:rPr>
                        <a:t>Apache 2.0, ASF-governed</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4F1"/>
                    </a:solidFill>
                  </a:tcPr>
                </a:tc>
                <a:tc>
                  <a:txBody>
                    <a:bodyPr/>
                    <a:lstStyle/>
                    <a:p>
                      <a:pPr indent="0" marL="0">
                        <a:buNone/>
                      </a:pPr>
                      <a:r>
                        <a:rPr lang="en-US" sz="1000" dirty="0">
                          <a:solidFill>
                            <a:srgbClr val="3A3F47"/>
                          </a:solidFill>
                        </a:rPr>
                        <a:t>Apache 2.0, Google-authored (no longer supported)</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BEFE9"/>
                    </a:solidFill>
                  </a:tcPr>
                </a:tc>
                <a:tc>
                  <a:txBody>
                    <a:bodyPr/>
                    <a:lstStyle/>
                    <a:p>
                      <a:pPr indent="0" marL="0">
                        <a:buNone/>
                      </a:pPr>
                      <a:r>
                        <a:rPr lang="en-US" sz="1000" dirty="0">
                          <a:solidFill>
                            <a:srgbClr val="3A3F47"/>
                          </a:solidFill>
                        </a:rPr>
                        <a:t>Apache 2.0, community-maintained</a:t>
                      </a:r>
                      <a:endParaRPr lang="en-US" sz="1000" dirty="0"/>
                    </a:p>
                  </a:txBody>
                  <a:tcPr marL="101600" marR="101600" marT="50800" marB="508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EF3"/>
                    </a:solidFill>
                  </a:tcPr>
                </a:tc>
              </a:tr>
            </a:tbl>
          </a:graphicData>
        </a:graphic>
      </p:graphicFrame>
      <p:sp>
        <p:nvSpPr>
          <p:cNvPr id="5" name="Text 2"/>
          <p:cNvSpPr/>
          <p:nvPr/>
        </p:nvSpPr>
        <p:spPr>
          <a:xfrm>
            <a:off x="457200" y="6537960"/>
            <a:ext cx="82296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DORA Tooling Evaluation  |  Internal Engineering</a:t>
            </a:r>
            <a:endParaRPr lang="en-US" sz="900" dirty="0"/>
          </a:p>
        </p:txBody>
      </p:sp>
      <p:sp>
        <p:nvSpPr>
          <p:cNvPr id="6" name="Text 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7315200" cy="274320"/>
          </a:xfrm>
          <a:prstGeom prst="rect">
            <a:avLst/>
          </a:prstGeom>
          <a:noFill/>
          <a:ln/>
        </p:spPr>
        <p:txBody>
          <a:bodyPr wrap="square" rtlCol="0" anchor="ctr"/>
          <a:lstStyle/>
          <a:p>
            <a:pPr indent="0" marL="0">
              <a:buNone/>
            </a:pPr>
            <a:r>
              <a:rPr lang="en-US" sz="1200" b="1" spc="200" kern="0" dirty="0">
                <a:solidFill>
                  <a:srgbClr val="1F7A6C"/>
                </a:solidFill>
                <a:latin typeface="Arial" pitchFamily="34" charset="0"/>
                <a:ea typeface="Arial" pitchFamily="34" charset="-122"/>
                <a:cs typeface="Arial" pitchFamily="34" charset="-120"/>
              </a:rPr>
              <a:t>TRADE-OFFS</a:t>
            </a:r>
            <a:endParaRPr lang="en-US" sz="1200" dirty="0"/>
          </a:p>
        </p:txBody>
      </p:sp>
      <p:sp>
        <p:nvSpPr>
          <p:cNvPr id="3" name="Text 1"/>
          <p:cNvSpPr/>
          <p:nvPr/>
        </p:nvSpPr>
        <p:spPr>
          <a:xfrm>
            <a:off x="457200" y="658368"/>
            <a:ext cx="10058400" cy="548640"/>
          </a:xfrm>
          <a:prstGeom prst="rect">
            <a:avLst/>
          </a:prstGeom>
          <a:noFill/>
          <a:ln/>
        </p:spPr>
        <p:txBody>
          <a:bodyPr wrap="square" rtlCol="0" anchor="ctr"/>
          <a:lstStyle/>
          <a:p>
            <a:pPr indent="0" marL="0">
              <a:buNone/>
            </a:pPr>
            <a:r>
              <a:rPr lang="en-US" sz="2800" b="1" dirty="0">
                <a:solidFill>
                  <a:srgbClr val="23272F"/>
                </a:solidFill>
                <a:latin typeface="Arial" pitchFamily="34" charset="0"/>
                <a:ea typeface="Arial" pitchFamily="34" charset="-122"/>
                <a:cs typeface="Arial" pitchFamily="34" charset="-120"/>
              </a:rPr>
              <a:t>Strengths &amp; Limitations</a:t>
            </a:r>
            <a:endParaRPr lang="en-US" sz="2800" dirty="0"/>
          </a:p>
        </p:txBody>
      </p:sp>
      <p:sp>
        <p:nvSpPr>
          <p:cNvPr id="4" name="Shape 2"/>
          <p:cNvSpPr/>
          <p:nvPr/>
        </p:nvSpPr>
        <p:spPr>
          <a:xfrm>
            <a:off x="457200" y="1417320"/>
            <a:ext cx="3611880" cy="4846320"/>
          </a:xfrm>
          <a:prstGeom prst="roundRect">
            <a:avLst>
              <a:gd name="adj" fmla="val 2278"/>
            </a:avLst>
          </a:prstGeom>
          <a:solidFill>
            <a:srgbClr val="EAF4F1"/>
          </a:solidFill>
          <a:ln w="12700">
            <a:solidFill>
              <a:srgbClr val="E3E6EA"/>
            </a:solidFill>
            <a:prstDash val="solid"/>
          </a:ln>
        </p:spPr>
      </p:sp>
      <p:sp>
        <p:nvSpPr>
          <p:cNvPr id="5" name="Shape 3"/>
          <p:cNvSpPr/>
          <p:nvPr/>
        </p:nvSpPr>
        <p:spPr>
          <a:xfrm>
            <a:off x="658368" y="1618488"/>
            <a:ext cx="3209544" cy="457200"/>
          </a:xfrm>
          <a:prstGeom prst="roundRect">
            <a:avLst>
              <a:gd name="adj" fmla="val 12000"/>
            </a:avLst>
          </a:prstGeom>
          <a:solidFill>
            <a:srgbClr val="1F7A6C"/>
          </a:solidFill>
          <a:ln/>
        </p:spPr>
      </p:sp>
      <p:sp>
        <p:nvSpPr>
          <p:cNvPr id="6" name="Text 4"/>
          <p:cNvSpPr/>
          <p:nvPr/>
        </p:nvSpPr>
        <p:spPr>
          <a:xfrm>
            <a:off x="658368" y="1618488"/>
            <a:ext cx="3209544" cy="457200"/>
          </a:xfrm>
          <a:prstGeom prst="rect">
            <a:avLst/>
          </a:prstGeom>
          <a:noFill/>
          <a:ln/>
        </p:spPr>
        <p:txBody>
          <a:bodyPr wrap="square"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Apache DevLake</a:t>
            </a:r>
            <a:endParaRPr lang="en-US" sz="1450" dirty="0"/>
          </a:p>
        </p:txBody>
      </p:sp>
      <p:sp>
        <p:nvSpPr>
          <p:cNvPr id="7" name="Text 5"/>
          <p:cNvSpPr/>
          <p:nvPr/>
        </p:nvSpPr>
        <p:spPr>
          <a:xfrm>
            <a:off x="713232" y="2240280"/>
            <a:ext cx="3099816" cy="274320"/>
          </a:xfrm>
          <a:prstGeom prst="rect">
            <a:avLst/>
          </a:prstGeom>
          <a:noFill/>
          <a:ln/>
        </p:spPr>
        <p:txBody>
          <a:bodyPr wrap="square" rtlCol="0" anchor="ctr"/>
          <a:lstStyle/>
          <a:p>
            <a:pPr indent="0" marL="0">
              <a:buNone/>
            </a:pPr>
            <a:r>
              <a:rPr lang="en-US" sz="1050" b="1" spc="150" kern="0" dirty="0">
                <a:solidFill>
                  <a:srgbClr val="1F7A6C"/>
                </a:solidFill>
                <a:latin typeface="Arial" pitchFamily="34" charset="0"/>
                <a:ea typeface="Arial" pitchFamily="34" charset="-122"/>
                <a:cs typeface="Arial" pitchFamily="34" charset="-120"/>
              </a:rPr>
              <a:t>PROS</a:t>
            </a:r>
            <a:endParaRPr lang="en-US" sz="1050" dirty="0"/>
          </a:p>
        </p:txBody>
      </p:sp>
      <p:sp>
        <p:nvSpPr>
          <p:cNvPr id="8" name="Text 6"/>
          <p:cNvSpPr/>
          <p:nvPr/>
        </p:nvSpPr>
        <p:spPr>
          <a:xfrm>
            <a:off x="713232" y="2532888"/>
            <a:ext cx="3099816" cy="1673352"/>
          </a:xfrm>
          <a:prstGeom prst="rect">
            <a:avLst/>
          </a:prstGeom>
          <a:noFill/>
          <a:ln/>
        </p:spPr>
        <p:txBody>
          <a:bodyPr wrap="square" rtlCol="0" anchor="t"/>
          <a:lstStyle/>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Covers every tool we run today, in one place</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Self-hosted, offline-capable — fits our network restrictions</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Actively maintained by Apache Foundation</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Fully customizable Grafana dashboards</a:t>
            </a:r>
            <a:endParaRPr lang="en-US" sz="1020" dirty="0"/>
          </a:p>
        </p:txBody>
      </p:sp>
      <p:sp>
        <p:nvSpPr>
          <p:cNvPr id="9" name="Text 7"/>
          <p:cNvSpPr/>
          <p:nvPr/>
        </p:nvSpPr>
        <p:spPr>
          <a:xfrm>
            <a:off x="713232" y="4370832"/>
            <a:ext cx="3099816" cy="274320"/>
          </a:xfrm>
          <a:prstGeom prst="rect">
            <a:avLst/>
          </a:prstGeom>
          <a:noFill/>
          <a:ln/>
        </p:spPr>
        <p:txBody>
          <a:bodyPr wrap="square" rtlCol="0" anchor="ctr"/>
          <a:lstStyle/>
          <a:p>
            <a:pPr indent="0" marL="0">
              <a:buNone/>
            </a:pPr>
            <a:r>
              <a:rPr lang="en-US" sz="1050" b="1" spc="150" kern="0" dirty="0">
                <a:solidFill>
                  <a:srgbClr val="9C3B2E"/>
                </a:solidFill>
                <a:latin typeface="Arial" pitchFamily="34" charset="0"/>
                <a:ea typeface="Arial" pitchFamily="34" charset="-122"/>
                <a:cs typeface="Arial" pitchFamily="34" charset="-120"/>
              </a:rPr>
              <a:t>CONS</a:t>
            </a:r>
            <a:endParaRPr lang="en-US" sz="1050" dirty="0"/>
          </a:p>
        </p:txBody>
      </p:sp>
      <p:sp>
        <p:nvSpPr>
          <p:cNvPr id="10" name="Text 8"/>
          <p:cNvSpPr/>
          <p:nvPr/>
        </p:nvSpPr>
        <p:spPr>
          <a:xfrm>
            <a:off x="713232" y="4663440"/>
            <a:ext cx="3099816" cy="1463040"/>
          </a:xfrm>
          <a:prstGeom prst="rect">
            <a:avLst/>
          </a:prstGeom>
          <a:noFill/>
          <a:ln/>
        </p:spPr>
        <p:txBody>
          <a:bodyPr wrap="square" rtlCol="0" anchor="t"/>
          <a:lstStyle/>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Non-trivial initial setup (build deps, migrations)</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Requires ongoing patching / DB migration upkeep</a:t>
            </a:r>
            <a:endParaRPr lang="en-US" sz="1020" dirty="0"/>
          </a:p>
        </p:txBody>
      </p:sp>
      <p:sp>
        <p:nvSpPr>
          <p:cNvPr id="11" name="Shape 9"/>
          <p:cNvSpPr/>
          <p:nvPr/>
        </p:nvSpPr>
        <p:spPr>
          <a:xfrm>
            <a:off x="4288536" y="1417320"/>
            <a:ext cx="3611880" cy="4846320"/>
          </a:xfrm>
          <a:prstGeom prst="roundRect">
            <a:avLst>
              <a:gd name="adj" fmla="val 2278"/>
            </a:avLst>
          </a:prstGeom>
          <a:solidFill>
            <a:srgbClr val="FBEFE9"/>
          </a:solidFill>
          <a:ln w="12700">
            <a:solidFill>
              <a:srgbClr val="E3E6EA"/>
            </a:solidFill>
            <a:prstDash val="solid"/>
          </a:ln>
        </p:spPr>
      </p:sp>
      <p:sp>
        <p:nvSpPr>
          <p:cNvPr id="12" name="Shape 10"/>
          <p:cNvSpPr/>
          <p:nvPr/>
        </p:nvSpPr>
        <p:spPr>
          <a:xfrm>
            <a:off x="4489704" y="1618488"/>
            <a:ext cx="3209544" cy="457200"/>
          </a:xfrm>
          <a:prstGeom prst="roundRect">
            <a:avLst>
              <a:gd name="adj" fmla="val 12000"/>
            </a:avLst>
          </a:prstGeom>
          <a:solidFill>
            <a:srgbClr val="B5542A"/>
          </a:solidFill>
          <a:ln/>
        </p:spPr>
      </p:sp>
      <p:sp>
        <p:nvSpPr>
          <p:cNvPr id="13" name="Text 11"/>
          <p:cNvSpPr/>
          <p:nvPr/>
        </p:nvSpPr>
        <p:spPr>
          <a:xfrm>
            <a:off x="4489704" y="1618488"/>
            <a:ext cx="3209544" cy="457200"/>
          </a:xfrm>
          <a:prstGeom prst="rect">
            <a:avLst/>
          </a:prstGeom>
          <a:noFill/>
          <a:ln/>
        </p:spPr>
        <p:txBody>
          <a:bodyPr wrap="square"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Google Four Keys</a:t>
            </a:r>
            <a:endParaRPr lang="en-US" sz="1450" dirty="0"/>
          </a:p>
        </p:txBody>
      </p:sp>
      <p:sp>
        <p:nvSpPr>
          <p:cNvPr id="14" name="Text 12"/>
          <p:cNvSpPr/>
          <p:nvPr/>
        </p:nvSpPr>
        <p:spPr>
          <a:xfrm>
            <a:off x="4544568" y="2240280"/>
            <a:ext cx="3099816" cy="274320"/>
          </a:xfrm>
          <a:prstGeom prst="rect">
            <a:avLst/>
          </a:prstGeom>
          <a:noFill/>
          <a:ln/>
        </p:spPr>
        <p:txBody>
          <a:bodyPr wrap="square" rtlCol="0" anchor="ctr"/>
          <a:lstStyle/>
          <a:p>
            <a:pPr indent="0" marL="0">
              <a:buNone/>
            </a:pPr>
            <a:r>
              <a:rPr lang="en-US" sz="1050" b="1" spc="150" kern="0" dirty="0">
                <a:solidFill>
                  <a:srgbClr val="B5542A"/>
                </a:solidFill>
                <a:latin typeface="Arial" pitchFamily="34" charset="0"/>
                <a:ea typeface="Arial" pitchFamily="34" charset="-122"/>
                <a:cs typeface="Arial" pitchFamily="34" charset="-120"/>
              </a:rPr>
              <a:t>PROS</a:t>
            </a:r>
            <a:endParaRPr lang="en-US" sz="1050" dirty="0"/>
          </a:p>
        </p:txBody>
      </p:sp>
      <p:sp>
        <p:nvSpPr>
          <p:cNvPr id="15" name="Text 13"/>
          <p:cNvSpPr/>
          <p:nvPr/>
        </p:nvSpPr>
        <p:spPr>
          <a:xfrm>
            <a:off x="4544568" y="2532888"/>
            <a:ext cx="3099816" cy="905256"/>
          </a:xfrm>
          <a:prstGeom prst="rect">
            <a:avLst/>
          </a:prstGeom>
          <a:noFill/>
          <a:ln/>
        </p:spPr>
        <p:txBody>
          <a:bodyPr wrap="square" rtlCol="0" anchor="t"/>
          <a:lstStyle/>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Reference implementation straight from the DORA research team</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Simple, well-documented pipeline concept</a:t>
            </a:r>
            <a:endParaRPr lang="en-US" sz="1020" dirty="0"/>
          </a:p>
        </p:txBody>
      </p:sp>
      <p:sp>
        <p:nvSpPr>
          <p:cNvPr id="16" name="Text 14"/>
          <p:cNvSpPr/>
          <p:nvPr/>
        </p:nvSpPr>
        <p:spPr>
          <a:xfrm>
            <a:off x="4544568" y="3602736"/>
            <a:ext cx="3099816" cy="274320"/>
          </a:xfrm>
          <a:prstGeom prst="rect">
            <a:avLst/>
          </a:prstGeom>
          <a:noFill/>
          <a:ln/>
        </p:spPr>
        <p:txBody>
          <a:bodyPr wrap="square" rtlCol="0" anchor="ctr"/>
          <a:lstStyle/>
          <a:p>
            <a:pPr indent="0" marL="0">
              <a:buNone/>
            </a:pPr>
            <a:r>
              <a:rPr lang="en-US" sz="1050" b="1" spc="150" kern="0" dirty="0">
                <a:solidFill>
                  <a:srgbClr val="9C3B2E"/>
                </a:solidFill>
                <a:latin typeface="Arial" pitchFamily="34" charset="0"/>
                <a:ea typeface="Arial" pitchFamily="34" charset="-122"/>
                <a:cs typeface="Arial" pitchFamily="34" charset="-120"/>
              </a:rPr>
              <a:t>CONS</a:t>
            </a:r>
            <a:endParaRPr lang="en-US" sz="1050" dirty="0"/>
          </a:p>
        </p:txBody>
      </p:sp>
      <p:sp>
        <p:nvSpPr>
          <p:cNvPr id="17" name="Text 15"/>
          <p:cNvSpPr/>
          <p:nvPr/>
        </p:nvSpPr>
        <p:spPr>
          <a:xfrm>
            <a:off x="4544568" y="3895344"/>
            <a:ext cx="3099816" cy="2231136"/>
          </a:xfrm>
          <a:prstGeom prst="rect">
            <a:avLst/>
          </a:prstGeom>
          <a:noFill/>
          <a:ln/>
        </p:spPr>
        <p:txBody>
          <a:bodyPr wrap="square" rtlCol="0" anchor="t"/>
          <a:lstStyle/>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Archived since Jan 2024 — no fixes or updates</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Requires GCP services we can't rely on internally</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No Jira, Jenkins, or SonarQube connectors</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Not viable under our network restrictions</a:t>
            </a:r>
            <a:endParaRPr lang="en-US" sz="1020" dirty="0"/>
          </a:p>
        </p:txBody>
      </p:sp>
      <p:sp>
        <p:nvSpPr>
          <p:cNvPr id="18" name="Shape 16"/>
          <p:cNvSpPr/>
          <p:nvPr/>
        </p:nvSpPr>
        <p:spPr>
          <a:xfrm>
            <a:off x="8119872" y="1417320"/>
            <a:ext cx="3611880" cy="4846320"/>
          </a:xfrm>
          <a:prstGeom prst="roundRect">
            <a:avLst>
              <a:gd name="adj" fmla="val 2278"/>
            </a:avLst>
          </a:prstGeom>
          <a:solidFill>
            <a:srgbClr val="F0EEF3"/>
          </a:solidFill>
          <a:ln w="12700">
            <a:solidFill>
              <a:srgbClr val="E3E6EA"/>
            </a:solidFill>
            <a:prstDash val="solid"/>
          </a:ln>
        </p:spPr>
      </p:sp>
      <p:sp>
        <p:nvSpPr>
          <p:cNvPr id="19" name="Shape 17"/>
          <p:cNvSpPr/>
          <p:nvPr/>
        </p:nvSpPr>
        <p:spPr>
          <a:xfrm>
            <a:off x="8321040" y="1618488"/>
            <a:ext cx="3209544" cy="457200"/>
          </a:xfrm>
          <a:prstGeom prst="roundRect">
            <a:avLst>
              <a:gd name="adj" fmla="val 12000"/>
            </a:avLst>
          </a:prstGeom>
          <a:solidFill>
            <a:srgbClr val="5B5470"/>
          </a:solidFill>
          <a:ln/>
        </p:spPr>
      </p:sp>
      <p:sp>
        <p:nvSpPr>
          <p:cNvPr id="20" name="Text 18"/>
          <p:cNvSpPr/>
          <p:nvPr/>
        </p:nvSpPr>
        <p:spPr>
          <a:xfrm>
            <a:off x="8321040" y="1618488"/>
            <a:ext cx="3209544" cy="457200"/>
          </a:xfrm>
          <a:prstGeom prst="rect">
            <a:avLst/>
          </a:prstGeom>
          <a:noFill/>
          <a:ln/>
        </p:spPr>
        <p:txBody>
          <a:bodyPr wrap="square"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Middleware OSS</a:t>
            </a:r>
            <a:endParaRPr lang="en-US" sz="1450" dirty="0"/>
          </a:p>
        </p:txBody>
      </p:sp>
      <p:sp>
        <p:nvSpPr>
          <p:cNvPr id="21" name="Text 19"/>
          <p:cNvSpPr/>
          <p:nvPr/>
        </p:nvSpPr>
        <p:spPr>
          <a:xfrm>
            <a:off x="8375904" y="2240280"/>
            <a:ext cx="3099816" cy="274320"/>
          </a:xfrm>
          <a:prstGeom prst="rect">
            <a:avLst/>
          </a:prstGeom>
          <a:noFill/>
          <a:ln/>
        </p:spPr>
        <p:txBody>
          <a:bodyPr wrap="square" rtlCol="0" anchor="ctr"/>
          <a:lstStyle/>
          <a:p>
            <a:pPr indent="0" marL="0">
              <a:buNone/>
            </a:pPr>
            <a:r>
              <a:rPr lang="en-US" sz="1050" b="1" spc="150" kern="0" dirty="0">
                <a:solidFill>
                  <a:srgbClr val="5B5470"/>
                </a:solidFill>
                <a:latin typeface="Arial" pitchFamily="34" charset="0"/>
                <a:ea typeface="Arial" pitchFamily="34" charset="-122"/>
                <a:cs typeface="Arial" pitchFamily="34" charset="-120"/>
              </a:rPr>
              <a:t>PROS</a:t>
            </a:r>
            <a:endParaRPr lang="en-US" sz="1050" dirty="0"/>
          </a:p>
        </p:txBody>
      </p:sp>
      <p:sp>
        <p:nvSpPr>
          <p:cNvPr id="22" name="Text 20"/>
          <p:cNvSpPr/>
          <p:nvPr/>
        </p:nvSpPr>
        <p:spPr>
          <a:xfrm>
            <a:off x="8375904" y="2532888"/>
            <a:ext cx="3099816" cy="905256"/>
          </a:xfrm>
          <a:prstGeom prst="rect">
            <a:avLst/>
          </a:prstGeom>
          <a:noFill/>
          <a:ln/>
        </p:spPr>
        <p:txBody>
          <a:bodyPr wrap="square" rtlCol="0" anchor="t"/>
          <a:lstStyle/>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Purpose-built DORA UI, quick to stand up via Docker</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Clean out-of-the-box visualization</a:t>
            </a:r>
            <a:endParaRPr lang="en-US" sz="1020" dirty="0"/>
          </a:p>
        </p:txBody>
      </p:sp>
      <p:sp>
        <p:nvSpPr>
          <p:cNvPr id="23" name="Text 21"/>
          <p:cNvSpPr/>
          <p:nvPr/>
        </p:nvSpPr>
        <p:spPr>
          <a:xfrm>
            <a:off x="8375904" y="3602736"/>
            <a:ext cx="3099816" cy="274320"/>
          </a:xfrm>
          <a:prstGeom prst="rect">
            <a:avLst/>
          </a:prstGeom>
          <a:noFill/>
          <a:ln/>
        </p:spPr>
        <p:txBody>
          <a:bodyPr wrap="square" rtlCol="0" anchor="ctr"/>
          <a:lstStyle/>
          <a:p>
            <a:pPr indent="0" marL="0">
              <a:buNone/>
            </a:pPr>
            <a:r>
              <a:rPr lang="en-US" sz="1050" b="1" spc="150" kern="0" dirty="0">
                <a:solidFill>
                  <a:srgbClr val="9C3B2E"/>
                </a:solidFill>
                <a:latin typeface="Arial" pitchFamily="34" charset="0"/>
                <a:ea typeface="Arial" pitchFamily="34" charset="-122"/>
                <a:cs typeface="Arial" pitchFamily="34" charset="-120"/>
              </a:rPr>
              <a:t>CONS</a:t>
            </a:r>
            <a:endParaRPr lang="en-US" sz="1050" dirty="0"/>
          </a:p>
        </p:txBody>
      </p:sp>
      <p:sp>
        <p:nvSpPr>
          <p:cNvPr id="24" name="Text 22"/>
          <p:cNvSpPr/>
          <p:nvPr/>
        </p:nvSpPr>
        <p:spPr>
          <a:xfrm>
            <a:off x="8375904" y="3895344"/>
            <a:ext cx="3099816" cy="2231136"/>
          </a:xfrm>
          <a:prstGeom prst="rect">
            <a:avLst/>
          </a:prstGeom>
          <a:noFill/>
          <a:ln/>
        </p:spPr>
        <p:txBody>
          <a:bodyPr wrap="square" rtlCol="0" anchor="t"/>
          <a:lstStyle/>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Much narrower tool/connector support than DevLake</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Smaller community, less enterprise track record</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No native SonarQube / broader quality metrics</a:t>
            </a:r>
            <a:endParaRPr lang="en-US" sz="1020" dirty="0"/>
          </a:p>
          <a:p>
            <a:pPr marL="342900" indent="-342900">
              <a:spcAft>
                <a:spcPts val="600"/>
              </a:spcAft>
              <a:buSzPct val="100000"/>
              <a:buChar char="✗"/>
            </a:pPr>
            <a:r>
              <a:rPr lang="en-US" sz="1020" dirty="0">
                <a:solidFill>
                  <a:srgbClr val="3A3F47"/>
                </a:solidFill>
                <a:latin typeface="Arial" pitchFamily="34" charset="0"/>
                <a:ea typeface="Arial" pitchFamily="34" charset="-122"/>
                <a:cs typeface="Arial" pitchFamily="34" charset="-120"/>
              </a:rPr>
              <a:t>Less flexible for org-specific dashboard needs</a:t>
            </a:r>
            <a:endParaRPr lang="en-US" sz="1020" dirty="0"/>
          </a:p>
        </p:txBody>
      </p:sp>
      <p:sp>
        <p:nvSpPr>
          <p:cNvPr id="25" name="Text 23"/>
          <p:cNvSpPr/>
          <p:nvPr/>
        </p:nvSpPr>
        <p:spPr>
          <a:xfrm>
            <a:off x="457200" y="6537960"/>
            <a:ext cx="82296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DORA Tooling Evaluation  |  Internal Engineering</a:t>
            </a:r>
            <a:endParaRPr lang="en-US" sz="900" dirty="0"/>
          </a:p>
        </p:txBody>
      </p:sp>
      <p:sp>
        <p:nvSpPr>
          <p:cNvPr id="26" name="Text 24"/>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7315200" cy="274320"/>
          </a:xfrm>
          <a:prstGeom prst="rect">
            <a:avLst/>
          </a:prstGeom>
          <a:noFill/>
          <a:ln/>
        </p:spPr>
        <p:txBody>
          <a:bodyPr wrap="square" rtlCol="0" anchor="ctr"/>
          <a:lstStyle/>
          <a:p>
            <a:pPr indent="0" marL="0">
              <a:buNone/>
            </a:pPr>
            <a:r>
              <a:rPr lang="en-US" sz="1200" b="1" spc="200" kern="0" dirty="0">
                <a:solidFill>
                  <a:srgbClr val="1F7A6C"/>
                </a:solidFill>
                <a:latin typeface="Arial" pitchFamily="34" charset="0"/>
                <a:ea typeface="Arial" pitchFamily="34" charset="-122"/>
                <a:cs typeface="Arial" pitchFamily="34" charset="-120"/>
              </a:rPr>
              <a:t>RECOMMENDATION</a:t>
            </a:r>
            <a:endParaRPr lang="en-US" sz="1200" dirty="0"/>
          </a:p>
        </p:txBody>
      </p:sp>
      <p:sp>
        <p:nvSpPr>
          <p:cNvPr id="3" name="Text 1"/>
          <p:cNvSpPr/>
          <p:nvPr/>
        </p:nvSpPr>
        <p:spPr>
          <a:xfrm>
            <a:off x="457200" y="658368"/>
            <a:ext cx="10972800" cy="548640"/>
          </a:xfrm>
          <a:prstGeom prst="rect">
            <a:avLst/>
          </a:prstGeom>
          <a:noFill/>
          <a:ln/>
        </p:spPr>
        <p:txBody>
          <a:bodyPr wrap="square" rtlCol="0" anchor="ctr"/>
          <a:lstStyle/>
          <a:p>
            <a:pPr indent="0" marL="0">
              <a:buNone/>
            </a:pPr>
            <a:r>
              <a:rPr lang="en-US" sz="2600" b="1" dirty="0">
                <a:solidFill>
                  <a:srgbClr val="23272F"/>
                </a:solidFill>
                <a:latin typeface="Arial" pitchFamily="34" charset="0"/>
                <a:ea typeface="Arial" pitchFamily="34" charset="-122"/>
                <a:cs typeface="Arial" pitchFamily="34" charset="-120"/>
              </a:rPr>
              <a:t>Why Apache DevLake Is the Right Fit for Us</a:t>
            </a:r>
            <a:endParaRPr lang="en-US" sz="2600" dirty="0"/>
          </a:p>
        </p:txBody>
      </p:sp>
      <p:sp>
        <p:nvSpPr>
          <p:cNvPr id="4" name="Shape 2"/>
          <p:cNvSpPr/>
          <p:nvPr/>
        </p:nvSpPr>
        <p:spPr>
          <a:xfrm>
            <a:off x="457200" y="1417320"/>
            <a:ext cx="11274552" cy="777240"/>
          </a:xfrm>
          <a:prstGeom prst="roundRect">
            <a:avLst>
              <a:gd name="adj" fmla="val 9412"/>
            </a:avLst>
          </a:prstGeom>
          <a:solidFill>
            <a:srgbClr val="1F7A6C"/>
          </a:solidFill>
          <a:ln/>
        </p:spPr>
      </p:sp>
      <p:sp>
        <p:nvSpPr>
          <p:cNvPr id="5" name="Text 3"/>
          <p:cNvSpPr/>
          <p:nvPr/>
        </p:nvSpPr>
        <p:spPr>
          <a:xfrm>
            <a:off x="777240" y="1417320"/>
            <a:ext cx="10607040" cy="777240"/>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DevLake is the only one of the three that is simultaneously self-hostable, actively maintained, and already covers our full toolchain (GitLab, Jira, Jenkins, SonarQube).</a:t>
            </a:r>
            <a:endParaRPr lang="en-US" sz="1350" dirty="0"/>
          </a:p>
        </p:txBody>
      </p:sp>
      <p:sp>
        <p:nvSpPr>
          <p:cNvPr id="6" name="Shape 4"/>
          <p:cNvSpPr/>
          <p:nvPr/>
        </p:nvSpPr>
        <p:spPr>
          <a:xfrm>
            <a:off x="457200" y="2468880"/>
            <a:ext cx="329184" cy="329184"/>
          </a:xfrm>
          <a:prstGeom prst="ellipse">
            <a:avLst/>
          </a:prstGeom>
          <a:solidFill>
            <a:srgbClr val="1F7A6C"/>
          </a:solidFill>
          <a:ln/>
        </p:spPr>
      </p:sp>
      <p:sp>
        <p:nvSpPr>
          <p:cNvPr id="7" name="Text 5"/>
          <p:cNvSpPr/>
          <p:nvPr/>
        </p:nvSpPr>
        <p:spPr>
          <a:xfrm>
            <a:off x="457200" y="2468880"/>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960120" y="2423160"/>
            <a:ext cx="10607040" cy="292608"/>
          </a:xfrm>
          <a:prstGeom prst="rect">
            <a:avLst/>
          </a:prstGeom>
          <a:noFill/>
          <a:ln/>
        </p:spPr>
        <p:txBody>
          <a:bodyPr wrap="square" rtlCol="0" anchor="ctr"/>
          <a:lstStyle/>
          <a:p>
            <a:pPr indent="0" marL="0">
              <a:buNone/>
            </a:pPr>
            <a:r>
              <a:rPr lang="en-US" sz="1400" b="1" dirty="0">
                <a:solidFill>
                  <a:srgbClr val="23272F"/>
                </a:solidFill>
                <a:latin typeface="Arial" pitchFamily="34" charset="0"/>
                <a:ea typeface="Arial" pitchFamily="34" charset="-122"/>
                <a:cs typeface="Arial" pitchFamily="34" charset="-120"/>
              </a:rPr>
              <a:t>Built for restricted environments</a:t>
            </a:r>
            <a:endParaRPr lang="en-US" sz="1400" dirty="0"/>
          </a:p>
        </p:txBody>
      </p:sp>
      <p:sp>
        <p:nvSpPr>
          <p:cNvPr id="9" name="Text 7"/>
          <p:cNvSpPr/>
          <p:nvPr/>
        </p:nvSpPr>
        <p:spPr>
          <a:xfrm>
            <a:off x="960120" y="2743200"/>
            <a:ext cx="10607040" cy="548640"/>
          </a:xfrm>
          <a:prstGeom prst="rect">
            <a:avLst/>
          </a:prstGeom>
          <a:noFill/>
          <a:ln/>
        </p:spPr>
        <p:txBody>
          <a:bodyPr wrap="square" rtlCol="0" anchor="ctr"/>
          <a:lstStyle/>
          <a:p>
            <a:pPr indent="0" marL="0">
              <a:lnSpc>
                <a:spcPct val="115000"/>
              </a:lnSpc>
              <a:buNone/>
            </a:pPr>
            <a:r>
              <a:rPr lang="en-US" sz="1100" dirty="0">
                <a:solidFill>
                  <a:srgbClr val="3A3F47"/>
                </a:solidFill>
                <a:latin typeface="Arial" pitchFamily="34" charset="0"/>
                <a:ea typeface="Arial" pitchFamily="34" charset="-122"/>
                <a:cs typeface="Arial" pitchFamily="34" charset="-120"/>
              </a:rPr>
              <a:t>We already deployed it fully offline — no live GitHub/internet dependency required once dependencies are vendored locally. Four Keys cannot function this way; it is architecturally tied to GCP.</a:t>
            </a:r>
            <a:endParaRPr lang="en-US" sz="1100" dirty="0"/>
          </a:p>
        </p:txBody>
      </p:sp>
      <p:sp>
        <p:nvSpPr>
          <p:cNvPr id="10" name="Shape 8"/>
          <p:cNvSpPr/>
          <p:nvPr/>
        </p:nvSpPr>
        <p:spPr>
          <a:xfrm>
            <a:off x="457200" y="3429000"/>
            <a:ext cx="329184" cy="329184"/>
          </a:xfrm>
          <a:prstGeom prst="ellipse">
            <a:avLst/>
          </a:prstGeom>
          <a:solidFill>
            <a:srgbClr val="1F7A6C"/>
          </a:solidFill>
          <a:ln/>
        </p:spPr>
      </p:sp>
      <p:sp>
        <p:nvSpPr>
          <p:cNvPr id="11" name="Text 9"/>
          <p:cNvSpPr/>
          <p:nvPr/>
        </p:nvSpPr>
        <p:spPr>
          <a:xfrm>
            <a:off x="457200" y="3429000"/>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960120" y="3383280"/>
            <a:ext cx="10607040" cy="292608"/>
          </a:xfrm>
          <a:prstGeom prst="rect">
            <a:avLst/>
          </a:prstGeom>
          <a:noFill/>
          <a:ln/>
        </p:spPr>
        <p:txBody>
          <a:bodyPr wrap="square" rtlCol="0" anchor="ctr"/>
          <a:lstStyle/>
          <a:p>
            <a:pPr indent="0" marL="0">
              <a:buNone/>
            </a:pPr>
            <a:r>
              <a:rPr lang="en-US" sz="1400" b="1" dirty="0">
                <a:solidFill>
                  <a:srgbClr val="23272F"/>
                </a:solidFill>
                <a:latin typeface="Arial" pitchFamily="34" charset="0"/>
                <a:ea typeface="Arial" pitchFamily="34" charset="-122"/>
                <a:cs typeface="Arial" pitchFamily="34" charset="-120"/>
              </a:rPr>
              <a:t>No dead ends on support</a:t>
            </a:r>
            <a:endParaRPr lang="en-US" sz="1400" dirty="0"/>
          </a:p>
        </p:txBody>
      </p:sp>
      <p:sp>
        <p:nvSpPr>
          <p:cNvPr id="13" name="Text 11"/>
          <p:cNvSpPr/>
          <p:nvPr/>
        </p:nvSpPr>
        <p:spPr>
          <a:xfrm>
            <a:off x="960120" y="3703320"/>
            <a:ext cx="10607040" cy="548640"/>
          </a:xfrm>
          <a:prstGeom prst="rect">
            <a:avLst/>
          </a:prstGeom>
          <a:noFill/>
          <a:ln/>
        </p:spPr>
        <p:txBody>
          <a:bodyPr wrap="square" rtlCol="0" anchor="ctr"/>
          <a:lstStyle/>
          <a:p>
            <a:pPr indent="0" marL="0">
              <a:lnSpc>
                <a:spcPct val="115000"/>
              </a:lnSpc>
              <a:buNone/>
            </a:pPr>
            <a:r>
              <a:rPr lang="en-US" sz="1100" dirty="0">
                <a:solidFill>
                  <a:srgbClr val="3A3F47"/>
                </a:solidFill>
                <a:latin typeface="Arial" pitchFamily="34" charset="0"/>
                <a:ea typeface="Arial" pitchFamily="34" charset="-122"/>
                <a:cs typeface="Arial" pitchFamily="34" charset="-120"/>
              </a:rPr>
              <a:t>Four Keys has had zero commits since its Jan 2024 archival. Any bug or gap we hit is permanent. DevLake and Middleware are both active, but only DevLake has ASF governance behind it.</a:t>
            </a:r>
            <a:endParaRPr lang="en-US" sz="1100" dirty="0"/>
          </a:p>
        </p:txBody>
      </p:sp>
      <p:sp>
        <p:nvSpPr>
          <p:cNvPr id="14" name="Shape 12"/>
          <p:cNvSpPr/>
          <p:nvPr/>
        </p:nvSpPr>
        <p:spPr>
          <a:xfrm>
            <a:off x="457200" y="4389120"/>
            <a:ext cx="329184" cy="329184"/>
          </a:xfrm>
          <a:prstGeom prst="ellipse">
            <a:avLst/>
          </a:prstGeom>
          <a:solidFill>
            <a:srgbClr val="1F7A6C"/>
          </a:solidFill>
          <a:ln/>
        </p:spPr>
      </p:sp>
      <p:sp>
        <p:nvSpPr>
          <p:cNvPr id="15" name="Text 13"/>
          <p:cNvSpPr/>
          <p:nvPr/>
        </p:nvSpPr>
        <p:spPr>
          <a:xfrm>
            <a:off x="457200" y="4389120"/>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960120" y="4343400"/>
            <a:ext cx="10607040" cy="292608"/>
          </a:xfrm>
          <a:prstGeom prst="rect">
            <a:avLst/>
          </a:prstGeom>
          <a:noFill/>
          <a:ln/>
        </p:spPr>
        <p:txBody>
          <a:bodyPr wrap="square" rtlCol="0" anchor="ctr"/>
          <a:lstStyle/>
          <a:p>
            <a:pPr indent="0" marL="0">
              <a:buNone/>
            </a:pPr>
            <a:r>
              <a:rPr lang="en-US" sz="1400" b="1" dirty="0">
                <a:solidFill>
                  <a:srgbClr val="23272F"/>
                </a:solidFill>
                <a:latin typeface="Arial" pitchFamily="34" charset="0"/>
                <a:ea typeface="Arial" pitchFamily="34" charset="-122"/>
                <a:cs typeface="Arial" pitchFamily="34" charset="-120"/>
              </a:rPr>
              <a:t>One platform, not three</a:t>
            </a:r>
            <a:endParaRPr lang="en-US" sz="1400" dirty="0"/>
          </a:p>
        </p:txBody>
      </p:sp>
      <p:sp>
        <p:nvSpPr>
          <p:cNvPr id="17" name="Text 15"/>
          <p:cNvSpPr/>
          <p:nvPr/>
        </p:nvSpPr>
        <p:spPr>
          <a:xfrm>
            <a:off x="960120" y="4663440"/>
            <a:ext cx="10607040" cy="548640"/>
          </a:xfrm>
          <a:prstGeom prst="rect">
            <a:avLst/>
          </a:prstGeom>
          <a:noFill/>
          <a:ln/>
        </p:spPr>
        <p:txBody>
          <a:bodyPr wrap="square" rtlCol="0" anchor="ctr"/>
          <a:lstStyle/>
          <a:p>
            <a:pPr indent="0" marL="0">
              <a:lnSpc>
                <a:spcPct val="115000"/>
              </a:lnSpc>
              <a:buNone/>
            </a:pPr>
            <a:r>
              <a:rPr lang="en-US" sz="1100" dirty="0">
                <a:solidFill>
                  <a:srgbClr val="3A3F47"/>
                </a:solidFill>
                <a:latin typeface="Arial" pitchFamily="34" charset="0"/>
                <a:ea typeface="Arial" pitchFamily="34" charset="-122"/>
                <a:cs typeface="Arial" pitchFamily="34" charset="-120"/>
              </a:rPr>
              <a:t>DevLake already ingests GitLab, Jira, Jenkins and SonarQube in a single pipeline. Middleware would need multiple bolt-on tools to match this; Four Keys supports none of Jira, Jenkins, or SonarQube natively.</a:t>
            </a:r>
            <a:endParaRPr lang="en-US" sz="1100" dirty="0"/>
          </a:p>
        </p:txBody>
      </p:sp>
      <p:sp>
        <p:nvSpPr>
          <p:cNvPr id="18" name="Shape 16"/>
          <p:cNvSpPr/>
          <p:nvPr/>
        </p:nvSpPr>
        <p:spPr>
          <a:xfrm>
            <a:off x="457200" y="5349240"/>
            <a:ext cx="329184" cy="329184"/>
          </a:xfrm>
          <a:prstGeom prst="ellipse">
            <a:avLst/>
          </a:prstGeom>
          <a:solidFill>
            <a:srgbClr val="1F7A6C"/>
          </a:solidFill>
          <a:ln/>
        </p:spPr>
      </p:sp>
      <p:sp>
        <p:nvSpPr>
          <p:cNvPr id="19" name="Text 17"/>
          <p:cNvSpPr/>
          <p:nvPr/>
        </p:nvSpPr>
        <p:spPr>
          <a:xfrm>
            <a:off x="457200" y="5349240"/>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0" name="Text 18"/>
          <p:cNvSpPr/>
          <p:nvPr/>
        </p:nvSpPr>
        <p:spPr>
          <a:xfrm>
            <a:off x="960120" y="5303520"/>
            <a:ext cx="10607040" cy="292608"/>
          </a:xfrm>
          <a:prstGeom prst="rect">
            <a:avLst/>
          </a:prstGeom>
          <a:noFill/>
          <a:ln/>
        </p:spPr>
        <p:txBody>
          <a:bodyPr wrap="square" rtlCol="0" anchor="ctr"/>
          <a:lstStyle/>
          <a:p>
            <a:pPr indent="0" marL="0">
              <a:buNone/>
            </a:pPr>
            <a:r>
              <a:rPr lang="en-US" sz="1400" b="1" dirty="0">
                <a:solidFill>
                  <a:srgbClr val="23272F"/>
                </a:solidFill>
                <a:latin typeface="Arial" pitchFamily="34" charset="0"/>
                <a:ea typeface="Arial" pitchFamily="34" charset="-122"/>
                <a:cs typeface="Arial" pitchFamily="34" charset="-120"/>
              </a:rPr>
              <a:t>Dashboards we actually shaped ourselves</a:t>
            </a:r>
            <a:endParaRPr lang="en-US" sz="1400" dirty="0"/>
          </a:p>
        </p:txBody>
      </p:sp>
      <p:sp>
        <p:nvSpPr>
          <p:cNvPr id="21" name="Text 19"/>
          <p:cNvSpPr/>
          <p:nvPr/>
        </p:nvSpPr>
        <p:spPr>
          <a:xfrm>
            <a:off x="960120" y="5623560"/>
            <a:ext cx="10607040" cy="548640"/>
          </a:xfrm>
          <a:prstGeom prst="rect">
            <a:avLst/>
          </a:prstGeom>
          <a:noFill/>
          <a:ln/>
        </p:spPr>
        <p:txBody>
          <a:bodyPr wrap="square" rtlCol="0" anchor="ctr"/>
          <a:lstStyle/>
          <a:p>
            <a:pPr indent="0" marL="0">
              <a:lnSpc>
                <a:spcPct val="115000"/>
              </a:lnSpc>
              <a:buNone/>
            </a:pPr>
            <a:r>
              <a:rPr lang="en-US" sz="1100" dirty="0">
                <a:solidFill>
                  <a:srgbClr val="3A3F47"/>
                </a:solidFill>
                <a:latin typeface="Arial" pitchFamily="34" charset="0"/>
                <a:ea typeface="Arial" pitchFamily="34" charset="-122"/>
                <a:cs typeface="Arial" pitchFamily="34" charset="-120"/>
              </a:rPr>
              <a:t>Grafana lets us build the exact leadership-facing views we need (as already demonstrated), rather than being limited to a fixed vendor UI.</a:t>
            </a:r>
            <a:endParaRPr lang="en-US" sz="1100" dirty="0"/>
          </a:p>
        </p:txBody>
      </p:sp>
      <p:sp>
        <p:nvSpPr>
          <p:cNvPr id="22" name="Text 20"/>
          <p:cNvSpPr/>
          <p:nvPr/>
        </p:nvSpPr>
        <p:spPr>
          <a:xfrm>
            <a:off x="457200" y="6537960"/>
            <a:ext cx="8229600" cy="27432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DORA Tooling Evaluation  |  Internal Engineering</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33A"/>
        </a:solidFill>
      </p:bgPr>
    </p:bg>
    <p:spTree>
      <p:nvGrpSpPr>
        <p:cNvPr id="1" name=""/>
        <p:cNvGrpSpPr/>
        <p:nvPr/>
      </p:nvGrpSpPr>
      <p:grpSpPr>
        <a:xfrm>
          <a:off x="0" y="0"/>
          <a:ext cx="0" cy="0"/>
          <a:chOff x="0" y="0"/>
          <a:chExt cx="0" cy="0"/>
        </a:xfrm>
      </p:grpSpPr>
      <p:sp>
        <p:nvSpPr>
          <p:cNvPr id="2" name="Text 0"/>
          <p:cNvSpPr/>
          <p:nvPr/>
        </p:nvSpPr>
        <p:spPr>
          <a:xfrm>
            <a:off x="822960" y="640080"/>
            <a:ext cx="914400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 Note for Leadership</a:t>
            </a:r>
            <a:endParaRPr lang="en-US" sz="2600" dirty="0"/>
          </a:p>
        </p:txBody>
      </p:sp>
      <p:sp>
        <p:nvSpPr>
          <p:cNvPr id="3" name="Text 1"/>
          <p:cNvSpPr/>
          <p:nvPr/>
        </p:nvSpPr>
        <p:spPr>
          <a:xfrm>
            <a:off x="822960" y="1280160"/>
            <a:ext cx="10058400" cy="411480"/>
          </a:xfrm>
          <a:prstGeom prst="rect">
            <a:avLst/>
          </a:prstGeom>
          <a:noFill/>
          <a:ln/>
        </p:spPr>
        <p:txBody>
          <a:bodyPr wrap="square" rtlCol="0" anchor="ctr"/>
          <a:lstStyle/>
          <a:p>
            <a:pPr indent="0" marL="0">
              <a:buNone/>
            </a:pPr>
            <a:r>
              <a:rPr lang="en-US" sz="1600" dirty="0">
                <a:solidFill>
                  <a:srgbClr val="AFC3D6"/>
                </a:solidFill>
                <a:latin typeface="Arial" pitchFamily="34" charset="0"/>
                <a:ea typeface="Arial" pitchFamily="34" charset="-122"/>
                <a:cs typeface="Arial" pitchFamily="34" charset="-120"/>
              </a:rPr>
              <a:t>What DORA tooling can and cannot tell us</a:t>
            </a:r>
            <a:endParaRPr lang="en-US" sz="1600" dirty="0"/>
          </a:p>
        </p:txBody>
      </p:sp>
      <p:sp>
        <p:nvSpPr>
          <p:cNvPr id="4" name="Shape 2"/>
          <p:cNvSpPr/>
          <p:nvPr/>
        </p:nvSpPr>
        <p:spPr>
          <a:xfrm>
            <a:off x="822960" y="2148840"/>
            <a:ext cx="10515600" cy="841248"/>
          </a:xfrm>
          <a:prstGeom prst="roundRect">
            <a:avLst>
              <a:gd name="adj" fmla="val 7609"/>
            </a:avLst>
          </a:prstGeom>
          <a:solidFill>
            <a:srgbClr val="1E2E47"/>
          </a:solidFill>
          <a:ln w="12700">
            <a:solidFill>
              <a:srgbClr val="2C4160"/>
            </a:solidFill>
            <a:prstDash val="solid"/>
          </a:ln>
        </p:spPr>
      </p:sp>
      <p:sp>
        <p:nvSpPr>
          <p:cNvPr id="5" name="Text 3"/>
          <p:cNvSpPr/>
          <p:nvPr/>
        </p:nvSpPr>
        <p:spPr>
          <a:xfrm>
            <a:off x="1097280" y="2221992"/>
            <a:ext cx="9966960" cy="713232"/>
          </a:xfrm>
          <a:prstGeom prst="rect">
            <a:avLst/>
          </a:prstGeom>
          <a:noFill/>
          <a:ln/>
        </p:spPr>
        <p:txBody>
          <a:bodyPr wrap="square" rtlCol="0" anchor="ctr"/>
          <a:lstStyle/>
          <a:p>
            <a:pPr indent="0" marL="0">
              <a:lnSpc>
                <a:spcPct val="120000"/>
              </a:lnSpc>
              <a:buNone/>
            </a:pPr>
            <a:r>
              <a:rPr lang="en-US" sz="1150" dirty="0">
                <a:solidFill>
                  <a:srgbClr val="D7E2EE"/>
                </a:solidFill>
                <a:latin typeface="Arial" pitchFamily="34" charset="0"/>
                <a:ea typeface="Arial" pitchFamily="34" charset="-122"/>
                <a:cs typeface="Arial" pitchFamily="34" charset="-120"/>
              </a:rPr>
              <a:t>DORA metrics are computed, scientific-mode measurements — timestamps and events pulled directly from our systems (commits, merges, deployments, incidents). They are not opinions, surveys, or subjective ratings.</a:t>
            </a:r>
            <a:endParaRPr lang="en-US" sz="1150" dirty="0"/>
          </a:p>
        </p:txBody>
      </p:sp>
      <p:sp>
        <p:nvSpPr>
          <p:cNvPr id="6" name="Shape 4"/>
          <p:cNvSpPr/>
          <p:nvPr/>
        </p:nvSpPr>
        <p:spPr>
          <a:xfrm>
            <a:off x="822960" y="3108960"/>
            <a:ext cx="10515600" cy="841248"/>
          </a:xfrm>
          <a:prstGeom prst="roundRect">
            <a:avLst>
              <a:gd name="adj" fmla="val 7609"/>
            </a:avLst>
          </a:prstGeom>
          <a:solidFill>
            <a:srgbClr val="1E2E47"/>
          </a:solidFill>
          <a:ln w="12700">
            <a:solidFill>
              <a:srgbClr val="2C4160"/>
            </a:solidFill>
            <a:prstDash val="solid"/>
          </a:ln>
        </p:spPr>
      </p:sp>
      <p:sp>
        <p:nvSpPr>
          <p:cNvPr id="7" name="Text 5"/>
          <p:cNvSpPr/>
          <p:nvPr/>
        </p:nvSpPr>
        <p:spPr>
          <a:xfrm>
            <a:off x="1097280" y="3182112"/>
            <a:ext cx="9966960" cy="713232"/>
          </a:xfrm>
          <a:prstGeom prst="rect">
            <a:avLst/>
          </a:prstGeom>
          <a:noFill/>
          <a:ln/>
        </p:spPr>
        <p:txBody>
          <a:bodyPr wrap="square" rtlCol="0" anchor="ctr"/>
          <a:lstStyle/>
          <a:p>
            <a:pPr indent="0" marL="0">
              <a:lnSpc>
                <a:spcPct val="120000"/>
              </a:lnSpc>
              <a:buNone/>
            </a:pPr>
            <a:r>
              <a:rPr lang="en-US" sz="1150" dirty="0">
                <a:solidFill>
                  <a:srgbClr val="D7E2EE"/>
                </a:solidFill>
                <a:latin typeface="Arial" pitchFamily="34" charset="0"/>
                <a:ea typeface="Arial" pitchFamily="34" charset="-122"/>
                <a:cs typeface="Arial" pitchFamily="34" charset="-120"/>
              </a:rPr>
              <a:t>This makes them objective and comparable over time, but they only measure the throughput and stability of the software delivery process — not code quality intent, team morale, or business impact on their own.</a:t>
            </a:r>
            <a:endParaRPr lang="en-US" sz="1150" dirty="0"/>
          </a:p>
        </p:txBody>
      </p:sp>
      <p:sp>
        <p:nvSpPr>
          <p:cNvPr id="8" name="Shape 6"/>
          <p:cNvSpPr/>
          <p:nvPr/>
        </p:nvSpPr>
        <p:spPr>
          <a:xfrm>
            <a:off x="822960" y="4069080"/>
            <a:ext cx="10515600" cy="841248"/>
          </a:xfrm>
          <a:prstGeom prst="roundRect">
            <a:avLst>
              <a:gd name="adj" fmla="val 7609"/>
            </a:avLst>
          </a:prstGeom>
          <a:solidFill>
            <a:srgbClr val="1E2E47"/>
          </a:solidFill>
          <a:ln w="12700">
            <a:solidFill>
              <a:srgbClr val="2C4160"/>
            </a:solidFill>
            <a:prstDash val="solid"/>
          </a:ln>
        </p:spPr>
      </p:sp>
      <p:sp>
        <p:nvSpPr>
          <p:cNvPr id="9" name="Text 7"/>
          <p:cNvSpPr/>
          <p:nvPr/>
        </p:nvSpPr>
        <p:spPr>
          <a:xfrm>
            <a:off x="1097280" y="4142232"/>
            <a:ext cx="9966960" cy="713232"/>
          </a:xfrm>
          <a:prstGeom prst="rect">
            <a:avLst/>
          </a:prstGeom>
          <a:noFill/>
          <a:ln/>
        </p:spPr>
        <p:txBody>
          <a:bodyPr wrap="square" rtlCol="0" anchor="ctr"/>
          <a:lstStyle/>
          <a:p>
            <a:pPr indent="0" marL="0">
              <a:lnSpc>
                <a:spcPct val="120000"/>
              </a:lnSpc>
              <a:buNone/>
            </a:pPr>
            <a:r>
              <a:rPr lang="en-US" sz="1150" dirty="0">
                <a:solidFill>
                  <a:srgbClr val="D7E2EE"/>
                </a:solidFill>
                <a:latin typeface="Arial" pitchFamily="34" charset="0"/>
                <a:ea typeface="Arial" pitchFamily="34" charset="-122"/>
                <a:cs typeface="Arial" pitchFamily="34" charset="-120"/>
              </a:rPr>
              <a:t>This holds true across DevLake, Four Keys, or Middleware equally: switching tools changes how the data is collected, not what category of insight it produces.</a:t>
            </a:r>
            <a:endParaRPr lang="en-US" sz="1150" dirty="0"/>
          </a:p>
        </p:txBody>
      </p:sp>
      <p:sp>
        <p:nvSpPr>
          <p:cNvPr id="10" name="Shape 8"/>
          <p:cNvSpPr/>
          <p:nvPr/>
        </p:nvSpPr>
        <p:spPr>
          <a:xfrm>
            <a:off x="822960" y="5029200"/>
            <a:ext cx="10515600" cy="841248"/>
          </a:xfrm>
          <a:prstGeom prst="roundRect">
            <a:avLst>
              <a:gd name="adj" fmla="val 7609"/>
            </a:avLst>
          </a:prstGeom>
          <a:solidFill>
            <a:srgbClr val="1E2E47"/>
          </a:solidFill>
          <a:ln w="12700">
            <a:solidFill>
              <a:srgbClr val="2C4160"/>
            </a:solidFill>
            <a:prstDash val="solid"/>
          </a:ln>
        </p:spPr>
      </p:sp>
      <p:sp>
        <p:nvSpPr>
          <p:cNvPr id="11" name="Text 9"/>
          <p:cNvSpPr/>
          <p:nvPr/>
        </p:nvSpPr>
        <p:spPr>
          <a:xfrm>
            <a:off x="1097280" y="5102352"/>
            <a:ext cx="9966960" cy="713232"/>
          </a:xfrm>
          <a:prstGeom prst="rect">
            <a:avLst/>
          </a:prstGeom>
          <a:noFill/>
          <a:ln/>
        </p:spPr>
        <p:txBody>
          <a:bodyPr wrap="square" rtlCol="0" anchor="ctr"/>
          <a:lstStyle/>
          <a:p>
            <a:pPr indent="0" marL="0">
              <a:lnSpc>
                <a:spcPct val="120000"/>
              </a:lnSpc>
              <a:buNone/>
            </a:pPr>
            <a:r>
              <a:rPr lang="en-US" sz="1150" dirty="0">
                <a:solidFill>
                  <a:srgbClr val="D7E2EE"/>
                </a:solidFill>
                <a:latin typeface="Arial" pitchFamily="34" charset="0"/>
                <a:ea typeface="Arial" pitchFamily="34" charset="-122"/>
                <a:cs typeface="Arial" pitchFamily="34" charset="-120"/>
              </a:rPr>
              <a:t>Recommendation: treat DORA metrics as one reliable, quantitative input — best read alongside qualitative reviews (retrospectives, code review quality, stakeholder feedback), not as a standalone scorecard.</a:t>
            </a:r>
            <a:endParaRPr lang="en-US" sz="1150" dirty="0"/>
          </a:p>
        </p:txBody>
      </p:sp>
      <p:sp>
        <p:nvSpPr>
          <p:cNvPr id="12" name="Text 10"/>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E829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2026-08-08T17:47:22Z</dcterms:created>
  <dcterms:modified xsi:type="dcterms:W3CDTF">2026-08-08T17:47:22Z</dcterms:modified>
</cp:coreProperties>
</file>