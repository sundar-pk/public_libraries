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Metrics POC —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tool evaluation to a local POC — validated and centralized next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8932" y="1463040"/>
            <a:ext cx="1993392" cy="2514600"/>
          </a:xfrm>
          <a:prstGeom prst="roundRect">
            <a:avLst>
              <a:gd name="adj" fmla="val 4128"/>
            </a:avLst>
          </a:prstGeom>
          <a:solidFill>
            <a:srgbClr val="F7F9F8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" y="1682496"/>
            <a:ext cx="420624" cy="420624"/>
          </a:xfrm>
          <a:prstGeom prst="ellipse">
            <a:avLst/>
          </a:prstGeom>
          <a:solidFill>
            <a:srgbClr val="00915A"/>
          </a:solidFill>
          <a:ln/>
        </p:spPr>
      </p:sp>
      <p:sp>
        <p:nvSpPr>
          <p:cNvPr id="7" name="Text 5"/>
          <p:cNvSpPr/>
          <p:nvPr/>
        </p:nvSpPr>
        <p:spPr>
          <a:xfrm>
            <a:off x="818388" y="16824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1812" y="2249424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81812" y="2880360"/>
            <a:ext cx="1627632" cy="10973"/>
          </a:xfrm>
          <a:prstGeom prst="rect">
            <a:avLst/>
          </a:prstGeom>
          <a:solidFill>
            <a:srgbClr val="DCE7E1"/>
          </a:solidFill>
          <a:ln/>
        </p:spPr>
      </p:sp>
      <p:sp>
        <p:nvSpPr>
          <p:cNvPr id="10" name="Text 8"/>
          <p:cNvSpPr/>
          <p:nvPr/>
        </p:nvSpPr>
        <p:spPr>
          <a:xfrm>
            <a:off x="781812" y="3035808"/>
            <a:ext cx="16276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Apache DevLake, Google Cloud Four Keys, and Middleware against our needs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38044" y="240030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848356" y="1463040"/>
            <a:ext cx="1993392" cy="2514600"/>
          </a:xfrm>
          <a:prstGeom prst="roundRect">
            <a:avLst>
              <a:gd name="adj" fmla="val 4128"/>
            </a:avLst>
          </a:prstGeom>
          <a:solidFill>
            <a:srgbClr val="EAF6F0"/>
          </a:solidFill>
          <a:ln w="19050">
            <a:solidFill>
              <a:srgbClr val="0091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67812" y="1682496"/>
            <a:ext cx="420624" cy="420624"/>
          </a:xfrm>
          <a:prstGeom prst="ellipse">
            <a:avLst/>
          </a:prstGeom>
          <a:solidFill>
            <a:srgbClr val="00915A"/>
          </a:solidFill>
          <a:ln/>
        </p:spPr>
      </p:sp>
      <p:sp>
        <p:nvSpPr>
          <p:cNvPr id="14" name="Text 12"/>
          <p:cNvSpPr/>
          <p:nvPr/>
        </p:nvSpPr>
        <p:spPr>
          <a:xfrm>
            <a:off x="3067812" y="16824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31236" y="2249424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DevLake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031236" y="2880360"/>
            <a:ext cx="1627632" cy="10973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17" name="Text 15"/>
          <p:cNvSpPr/>
          <p:nvPr/>
        </p:nvSpPr>
        <p:spPr>
          <a:xfrm>
            <a:off x="3031236" y="3035808"/>
            <a:ext cx="16276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fit for our ecosystem — native GitLab, Jenkins, Jira and SonarQube support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87468" y="240030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097780" y="1463040"/>
            <a:ext cx="1993392" cy="2514600"/>
          </a:xfrm>
          <a:prstGeom prst="roundRect">
            <a:avLst>
              <a:gd name="adj" fmla="val 4128"/>
            </a:avLst>
          </a:prstGeom>
          <a:solidFill>
            <a:srgbClr val="F7F9F8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17236" y="1682496"/>
            <a:ext cx="420624" cy="420624"/>
          </a:xfrm>
          <a:prstGeom prst="ellipse">
            <a:avLst/>
          </a:prstGeom>
          <a:solidFill>
            <a:srgbClr val="00915A"/>
          </a:solidFill>
          <a:ln/>
        </p:spPr>
      </p:sp>
      <p:sp>
        <p:nvSpPr>
          <p:cNvPr id="21" name="Text 19"/>
          <p:cNvSpPr/>
          <p:nvPr/>
        </p:nvSpPr>
        <p:spPr>
          <a:xfrm>
            <a:off x="5317236" y="16824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80660" y="2249424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Forked &amp; Self-Hosted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280660" y="2880360"/>
            <a:ext cx="1627632" cy="10973"/>
          </a:xfrm>
          <a:prstGeom prst="rect">
            <a:avLst/>
          </a:prstGeom>
          <a:solidFill>
            <a:srgbClr val="DCE7E1"/>
          </a:solidFill>
          <a:ln/>
        </p:spPr>
      </p:sp>
      <p:sp>
        <p:nvSpPr>
          <p:cNvPr id="24" name="Text 22"/>
          <p:cNvSpPr/>
          <p:nvPr/>
        </p:nvSpPr>
        <p:spPr>
          <a:xfrm>
            <a:off x="5280660" y="3035808"/>
            <a:ext cx="16276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our own fork on a local machine, fully within our network — current POC stage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136892" y="240030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347204" y="1463040"/>
            <a:ext cx="1993392" cy="2514600"/>
          </a:xfrm>
          <a:prstGeom prst="roundRect">
            <a:avLst>
              <a:gd name="adj" fmla="val 4128"/>
            </a:avLst>
          </a:prstGeom>
          <a:solidFill>
            <a:srgbClr val="F7F9F8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66660" y="1682496"/>
            <a:ext cx="420624" cy="420624"/>
          </a:xfrm>
          <a:prstGeom prst="ellipse">
            <a:avLst/>
          </a:prstGeom>
          <a:solidFill>
            <a:srgbClr val="00915A"/>
          </a:solidFill>
          <a:ln/>
        </p:spPr>
      </p:sp>
      <p:sp>
        <p:nvSpPr>
          <p:cNvPr id="28" name="Text 26"/>
          <p:cNvSpPr/>
          <p:nvPr/>
        </p:nvSpPr>
        <p:spPr>
          <a:xfrm>
            <a:off x="7566660" y="16824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530084" y="2249424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Grafana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7530084" y="2880360"/>
            <a:ext cx="1627632" cy="10973"/>
          </a:xfrm>
          <a:prstGeom prst="rect">
            <a:avLst/>
          </a:prstGeom>
          <a:solidFill>
            <a:srgbClr val="DCE7E1"/>
          </a:solidFill>
          <a:ln/>
        </p:spPr>
      </p:sp>
      <p:sp>
        <p:nvSpPr>
          <p:cNvPr id="31" name="Text 29"/>
          <p:cNvSpPr/>
          <p:nvPr/>
        </p:nvSpPr>
        <p:spPr>
          <a:xfrm>
            <a:off x="7530084" y="3035808"/>
            <a:ext cx="16276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Wired up dashboards to visualize the collected data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386316" y="240030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9596628" y="1463040"/>
            <a:ext cx="1993392" cy="2514600"/>
          </a:xfrm>
          <a:prstGeom prst="roundRect">
            <a:avLst>
              <a:gd name="adj" fmla="val 4128"/>
            </a:avLst>
          </a:prstGeom>
          <a:solidFill>
            <a:srgbClr val="F7F9F8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16084" y="1682496"/>
            <a:ext cx="420624" cy="420624"/>
          </a:xfrm>
          <a:prstGeom prst="ellipse">
            <a:avLst/>
          </a:prstGeom>
          <a:solidFill>
            <a:srgbClr val="00915A"/>
          </a:solidFill>
          <a:ln/>
        </p:spPr>
      </p:sp>
      <p:sp>
        <p:nvSpPr>
          <p:cNvPr id="35" name="Text 33"/>
          <p:cNvSpPr/>
          <p:nvPr/>
        </p:nvSpPr>
        <p:spPr>
          <a:xfrm>
            <a:off x="9816084" y="16824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779508" y="2249424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Delivered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9779508" y="2880360"/>
            <a:ext cx="1627632" cy="10973"/>
          </a:xfrm>
          <a:prstGeom prst="rect">
            <a:avLst/>
          </a:prstGeom>
          <a:solidFill>
            <a:srgbClr val="DCE7E1"/>
          </a:solidFill>
          <a:ln/>
        </p:spPr>
      </p:sp>
      <p:sp>
        <p:nvSpPr>
          <p:cNvPr id="38" name="Text 36"/>
          <p:cNvSpPr/>
          <p:nvPr/>
        </p:nvSpPr>
        <p:spPr>
          <a:xfrm>
            <a:off x="9779508" y="3035808"/>
            <a:ext cx="16276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DORA and engineering efficiency metrics now visible end to end, locally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" y="4187952"/>
            <a:ext cx="11091672" cy="548640"/>
          </a:xfrm>
          <a:prstGeom prst="roundRect">
            <a:avLst>
              <a:gd name="adj" fmla="val 11667"/>
            </a:avLst>
          </a:prstGeom>
          <a:solidFill>
            <a:srgbClr val="00915A"/>
          </a:solidFill>
          <a:ln/>
        </p:spPr>
      </p:sp>
      <p:sp>
        <p:nvSpPr>
          <p:cNvPr id="40" name="Text 38"/>
          <p:cNvSpPr/>
          <p:nvPr/>
        </p:nvSpPr>
        <p:spPr>
          <a:xfrm>
            <a:off x="868680" y="418795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status: POC complete and validated on a local machine.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8640" y="490118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07492" y="5248656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7F9F8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0372" y="5431536"/>
            <a:ext cx="329184" cy="329184"/>
          </a:xfrm>
          <a:prstGeom prst="ellipse">
            <a:avLst/>
          </a:prstGeom>
          <a:solidFill>
            <a:srgbClr val="00703F"/>
          </a:solidFill>
          <a:ln/>
        </p:spPr>
      </p:sp>
      <p:sp>
        <p:nvSpPr>
          <p:cNvPr id="44" name="Text 42"/>
          <p:cNvSpPr/>
          <p:nvPr/>
        </p:nvSpPr>
        <p:spPr>
          <a:xfrm>
            <a:off x="690372" y="54315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29284" y="5394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Security Review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690372" y="581558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the setup with our IT Security team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311396" y="5248656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7F9F8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94276" y="5431536"/>
            <a:ext cx="329184" cy="329184"/>
          </a:xfrm>
          <a:prstGeom prst="ellipse">
            <a:avLst/>
          </a:prstGeom>
          <a:solidFill>
            <a:srgbClr val="00703F"/>
          </a:solidFill>
          <a:ln/>
        </p:spPr>
      </p:sp>
      <p:sp>
        <p:nvSpPr>
          <p:cNvPr id="49" name="Text 47"/>
          <p:cNvSpPr/>
          <p:nvPr/>
        </p:nvSpPr>
        <p:spPr>
          <a:xfrm>
            <a:off x="4494276" y="54315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933188" y="5394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Paris Counterparts Review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4494276" y="581558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the setup and approach with our Paris counterparts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115300" y="5248656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7F9F8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98180" y="5431536"/>
            <a:ext cx="329184" cy="329184"/>
          </a:xfrm>
          <a:prstGeom prst="ellipse">
            <a:avLst/>
          </a:prstGeom>
          <a:solidFill>
            <a:srgbClr val="00703F"/>
          </a:solidFill>
          <a:ln/>
        </p:spPr>
      </p:sp>
      <p:sp>
        <p:nvSpPr>
          <p:cNvPr id="54" name="Text 52"/>
          <p:cNvSpPr/>
          <p:nvPr/>
        </p:nvSpPr>
        <p:spPr>
          <a:xfrm>
            <a:off x="8298180" y="54315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737092" y="5394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Server Deployment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8298180" y="581558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from local machine to a central server so the leadership team can access and use the results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2026-08-20T17:27:58Z</dcterms:created>
  <dcterms:modified xsi:type="dcterms:W3CDTF">2026-08-20T17:27:58Z</dcterms:modified>
</cp:coreProperties>
</file>