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PRs Merged</c:v>
                </c:pt>
              </c:strCache>
            </c:strRef>
          </c:tx>
          <c:spPr>
            <a:solidFill>
              <a:srgbClr val="0091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</c:v>
                </c:pt>
                <c:pt idx="1">
                  <c:v>70</c:v>
                </c:pt>
                <c:pt idx="2">
                  <c:v>74</c:v>
                </c:pt>
                <c:pt idx="3">
                  <c:v>106</c:v>
                </c:pt>
                <c:pt idx="4">
                  <c:v>75</c:v>
                </c:pt>
                <c:pt idx="5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Issues Delivered</c:v>
                </c:pt>
              </c:strCache>
            </c:strRef>
          </c:tx>
          <c:spPr>
            <a:solidFill>
              <a:srgbClr val="5B54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</c:v>
                </c:pt>
                <c:pt idx="1">
                  <c:v>55</c:v>
                </c:pt>
                <c:pt idx="2">
                  <c:v>60</c:v>
                </c:pt>
                <c:pt idx="3">
                  <c:v>80</c:v>
                </c:pt>
                <c:pt idx="4">
                  <c:v>58</c:v>
                </c:pt>
                <c:pt idx="5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Intelligence Platform — Progress Update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DevLake POC → Central Deployment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AF6F0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10835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provide an evidence-based view of how software delivery is evolving, in support of informed decision-making across the organization.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build a self-hosted, organization-owned metrics platform — validated carefully with real data before extending further.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AF6F0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249424"/>
            <a:ext cx="1554480" cy="274320"/>
          </a:xfrm>
          <a:prstGeom prst="roundRect">
            <a:avLst>
              <a:gd name="adj" fmla="val 43333"/>
            </a:avLst>
          </a:prstGeom>
          <a:solidFill>
            <a:srgbClr val="00915A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2494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2596896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POC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2944368"/>
            <a:ext cx="3282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applications, 12 months of real data — GitLab, Jira, Jenkins, SonarQube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288536" y="2103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EAF6F0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53128" y="2249424"/>
            <a:ext cx="1554480" cy="274320"/>
          </a:xfrm>
          <a:prstGeom prst="roundRect">
            <a:avLst>
              <a:gd name="adj" fmla="val 43333"/>
            </a:avLst>
          </a:prstGeom>
          <a:solidFill>
            <a:srgbClr val="00915A"/>
          </a:solidFill>
          <a:ln/>
        </p:spPr>
      </p:sp>
      <p:sp>
        <p:nvSpPr>
          <p:cNvPr id="14" name="Text 12"/>
          <p:cNvSpPr/>
          <p:nvPr/>
        </p:nvSpPr>
        <p:spPr>
          <a:xfrm>
            <a:off x="4453128" y="22494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53128" y="2596896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Cluster Deployment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53128" y="2944368"/>
            <a:ext cx="3282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Postgres — resolving connector auth &amp; TLS trust issues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119872" y="2103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84464" y="2249424"/>
            <a:ext cx="1554480" cy="274320"/>
          </a:xfrm>
          <a:prstGeom prst="roundRect">
            <a:avLst>
              <a:gd name="adj" fmla="val 43333"/>
            </a:avLst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8284464" y="22494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84464" y="2596896"/>
            <a:ext cx="3282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Org-Wide Rollout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4464" y="2944368"/>
            <a:ext cx="3282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phased extension to additional applications, subject to governance and planning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7F9F8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922776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POC Found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" y="4251960"/>
            <a:ext cx="3282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Delivery speed (PR Cycle Time, Lead Time) improved measurably across the pilot period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" y="4846320"/>
            <a:ext cx="3282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On-time delivery and contribution patterns now visible month over month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" y="5440680"/>
            <a:ext cx="3282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Confirmed the platform works end-to-end: collection, transform, dashboards, access control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88536" y="37947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AF6F0"/>
          </a:solidFill>
          <a:ln w="15875">
            <a:solidFill>
              <a:srgbClr val="0091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53128" y="3922776"/>
            <a:ext cx="3282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53128" y="4251960"/>
            <a:ext cx="3282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Aims to support data-informed conversations between managers and teams, alongside existing judgment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53128" y="4846320"/>
            <a:ext cx="3282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Self-hosted and organization-owned, preserving data control with no recurring licensing cost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53128" y="5440680"/>
            <a:ext cx="3282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C4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Intended as a single platform that could extend to additional applications as the organization sees fit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119872" y="37947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84464" y="3922776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Snapshot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537192" y="3950208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(illustrative)</a:t>
            </a:r>
            <a:endParaRPr lang="en-US" sz="8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8229600" y="4215384"/>
          <a:ext cx="3392424" cy="1801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Shape 33"/>
          <p:cNvSpPr/>
          <p:nvPr/>
        </p:nvSpPr>
        <p:spPr>
          <a:xfrm>
            <a:off x="457200" y="630936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1F2328"/>
          </a:solidFill>
          <a:ln/>
        </p:spPr>
      </p:sp>
      <p:sp>
        <p:nvSpPr>
          <p:cNvPr id="37" name="Text 34"/>
          <p:cNvSpPr/>
          <p:nvPr/>
        </p:nvSpPr>
        <p:spPr>
          <a:xfrm>
            <a:off x="685800" y="6309360"/>
            <a:ext cx="10835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milestone: addressing remaining connector items in the cluster, ahead of broader team access.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2026-09-23T13:05:43Z</dcterms:created>
  <dcterms:modified xsi:type="dcterms:W3CDTF">2026-09-23T13:05:43Z</dcterms:modified>
</cp:coreProperties>
</file>