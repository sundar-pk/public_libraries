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 ·  CBS APPLICATIONS 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Highlights — Each Team's Own KPI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26510" cy="841248"/>
          </a:xfrm>
          <a:prstGeom prst="roundRect">
            <a:avLst>
              <a:gd name="adj" fmla="val 8696"/>
            </a:avLst>
          </a:prstGeom>
          <a:solidFill>
            <a:srgbClr val="E6F5EE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051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069848"/>
            <a:ext cx="2300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spc="3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ENTITLEMENT USERS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0" y="1371600"/>
            <a:ext cx="23006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3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Dev Entitlement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4266590" y="1005840"/>
            <a:ext cx="3626510" cy="841248"/>
          </a:xfrm>
          <a:prstGeom prst="roundRect">
            <a:avLst>
              <a:gd name="adj" fmla="val 8696"/>
            </a:avLst>
          </a:prstGeom>
          <a:solidFill>
            <a:srgbClr val="E6F5EE"/>
          </a:solidFill>
          <a:ln/>
        </p:spPr>
      </p:sp>
      <p:sp>
        <p:nvSpPr>
          <p:cNvPr id="9" name="Text 7"/>
          <p:cNvSpPr/>
          <p:nvPr/>
        </p:nvSpPr>
        <p:spPr>
          <a:xfrm>
            <a:off x="4431182" y="1051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55310" y="1069848"/>
            <a:ext cx="2300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spc="3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ENTITLEMENT USERS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55310" y="1371600"/>
            <a:ext cx="23006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3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all users onboarding before End of Q3, 2026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8075981" y="1005840"/>
            <a:ext cx="3626510" cy="841248"/>
          </a:xfrm>
          <a:prstGeom prst="roundRect">
            <a:avLst>
              <a:gd name="adj" fmla="val 8696"/>
            </a:avLst>
          </a:prstGeom>
          <a:solidFill>
            <a:srgbClr val="E6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8240573" y="1051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264701" y="1069848"/>
            <a:ext cx="2300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spc="3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 (ACTIVE)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264701" y="1371600"/>
            <a:ext cx="23006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3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healthy state of &gt;90% Power users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3D7A63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213055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COMM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3504" y="24231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3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JUDO · CORAS · NEOLINK-CHENNAI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603504" y="2798064"/>
            <a:ext cx="1810512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287121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3504" y="325526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COUNT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03504" y="3493008"/>
            <a:ext cx="1810512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356616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INCREASE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3504" y="380390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JUDO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3504" y="397764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(1,135 pts)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3504" y="41879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Coras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3504" y="436168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 (Non-Agile)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03504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NeoLink-Chennai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3504" y="474573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+20.8% (Agile)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02052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006B43"/>
          </a:solidFill>
          <a:ln/>
        </p:spPr>
      </p:sp>
      <p:sp>
        <p:nvSpPr>
          <p:cNvPr id="31" name="Text 29"/>
          <p:cNvSpPr/>
          <p:nvPr/>
        </p:nvSpPr>
        <p:spPr>
          <a:xfrm>
            <a:off x="2848356" y="213055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RPA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848356" y="24231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3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AUTOMATION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2848356" y="2798064"/>
            <a:ext cx="1810512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48356" y="287121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848356" y="325526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COUNT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848356" y="3493008"/>
            <a:ext cx="1810512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48356" y="356616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SAVED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848356" y="380390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6.58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848356" y="48463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CRs closed · Backlog 11 · Defects 4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946904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00915A"/>
          </a:solidFill>
          <a:ln/>
        </p:spPr>
      </p:sp>
      <p:sp>
        <p:nvSpPr>
          <p:cNvPr id="41" name="Text 39"/>
          <p:cNvSpPr/>
          <p:nvPr/>
        </p:nvSpPr>
        <p:spPr>
          <a:xfrm>
            <a:off x="5093208" y="213055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AMANDA (GM-IT)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093208" y="24231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3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· SCALING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5093208" y="2798064"/>
            <a:ext cx="1810512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93208" y="287121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093208" y="325526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COUNT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093208" y="3493008"/>
            <a:ext cx="1810512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93208" y="356616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INCREASE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93208" y="380390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+19%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093208" y="48463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67.5 → 80.63 avg · 19 LLM users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191756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00915A"/>
          </a:solidFill>
          <a:ln/>
        </p:spPr>
      </p:sp>
      <p:sp>
        <p:nvSpPr>
          <p:cNvPr id="51" name="Text 49"/>
          <p:cNvSpPr/>
          <p:nvPr/>
        </p:nvSpPr>
        <p:spPr>
          <a:xfrm>
            <a:off x="7338060" y="213055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COLIBRI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7338060" y="24231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3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· SCALING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7338060" y="2798064"/>
            <a:ext cx="1810512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38060" y="287121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7338060" y="325526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COUNT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338060" y="3493008"/>
            <a:ext cx="1810512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38060" y="356616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INCREASE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38060" y="380390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+108%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7338060" y="48463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avg 30.5 → Aug avg 63.5 pts/sprint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9436608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D9D9D9"/>
          </a:solidFill>
          <a:ln w="12700">
            <a:solidFill>
              <a:srgbClr val="AFAFAF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9601200" y="31546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5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601200" y="35204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data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57200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LEGEND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5650992"/>
            <a:ext cx="201168" cy="201168"/>
          </a:xfrm>
          <a:prstGeom prst="rect">
            <a:avLst/>
          </a:prstGeom>
          <a:solidFill>
            <a:srgbClr val="3D7A63"/>
          </a:solidFill>
          <a:ln/>
        </p:spPr>
      </p:sp>
      <p:sp>
        <p:nvSpPr>
          <p:cNvPr id="65" name="Text 63"/>
          <p:cNvSpPr/>
          <p:nvPr/>
        </p:nvSpPr>
        <p:spPr>
          <a:xfrm>
            <a:off x="731520" y="5605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Comm (grouped)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200400" y="5650992"/>
            <a:ext cx="201168" cy="201168"/>
          </a:xfrm>
          <a:prstGeom prst="rect">
            <a:avLst/>
          </a:prstGeom>
          <a:solidFill>
            <a:srgbClr val="006B43"/>
          </a:solidFill>
          <a:ln/>
        </p:spPr>
      </p:sp>
      <p:sp>
        <p:nvSpPr>
          <p:cNvPr id="67" name="Text 65"/>
          <p:cNvSpPr/>
          <p:nvPr/>
        </p:nvSpPr>
        <p:spPr>
          <a:xfrm>
            <a:off x="3474720" y="5605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943600" y="5650992"/>
            <a:ext cx="201168" cy="20116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69" name="Text 67"/>
          <p:cNvSpPr/>
          <p:nvPr/>
        </p:nvSpPr>
        <p:spPr>
          <a:xfrm>
            <a:off x="6217920" y="5605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· Scaling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686800" y="5650992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71" name="Text 69"/>
          <p:cNvSpPr/>
          <p:nvPr/>
        </p:nvSpPr>
        <p:spPr>
          <a:xfrm>
            <a:off x="8961120" y="5605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/ Placeholder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5 is reserved for the next application; Client Comm consolidates JUDO, Coras &amp; NeoLink-Chennai into one view.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Initiatives Across the Cluster  |  5-Minute CIO Summary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FULL APPLICATION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Applications — KPI Detail Table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the cluster: currently 6 applications, template ready for ~20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572000"/>
        </p:xfrm>
        <a:graphic>
          <a:graphicData uri="http://schemas.openxmlformats.org/drawingml/2006/table">
            <a:tbl>
              <a:tblPr/>
              <a:tblGrid>
                <a:gridCol w="365760"/>
                <a:gridCol w="1920240"/>
                <a:gridCol w="1737360"/>
                <a:gridCol w="640080"/>
                <a:gridCol w="1737360"/>
                <a:gridCol w="1005840"/>
                <a:gridCol w="3840480"/>
              </a:tblGrid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Application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Phase Tag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Context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JUDO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Steady-State Delivery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Story Points Delivered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1,135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470 issues · Sprint 67-80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Digital Automation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RPA / Automation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FTE Saved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6.58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73 CRs closed · Backlog 11 · Defects 4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NeoLink-Chennai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Agile · Scaling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Velocity Increase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+20.8%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Release cadence: monthly → bi-weekly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Coras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Non-Agile · Ticketing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Efficiency Improvement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+16%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Ticket-based tracking only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AMANDA (GM-IT)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Agile · Scaling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Velocity Increase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+19%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67.5 → 80.63 avg · 19 users on LLM assistant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Colibri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Agile · Scaling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Velocity Increase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+108%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Feb avg 30.5 → Aug avg 63.5 completed pts/sprint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&lt; pending &gt;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Awaiting data from application manager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&lt; pending &gt;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Awaiting data from application manager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&lt; pending &gt;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Awaiting data from application manager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10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&lt; pending &gt;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Awaiting data from application manager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7-10 shown as placeholders to illustrate scale; replace as new application managers submit data via the tracker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Initiatives Across the Cluster  |  5-Minute CIO Summary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 ·  UNIFIED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AI Use Cases Across the CBS Domain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from cluster tracking, RPA proof points &amp; Colibri · cancelled items removed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001000" y="32004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E6F5EE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0" y="3566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01000" y="777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326880" y="32004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E6F5EE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0" y="3566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26880" y="777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/ POC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652760" y="32004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E6F5EE"/>
          </a:solidFill>
          <a:ln/>
        </p:spPr>
      </p:sp>
      <p:sp>
        <p:nvSpPr>
          <p:cNvPr id="12" name="Text 10"/>
          <p:cNvSpPr/>
          <p:nvPr/>
        </p:nvSpPr>
        <p:spPr>
          <a:xfrm>
            <a:off x="10652760" y="3566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652760" y="777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486400" cy="4846320"/>
        </p:xfrm>
        <a:graphic>
          <a:graphicData uri="http://schemas.openxmlformats.org/drawingml/2006/table">
            <a:tbl>
              <a:tblPr/>
              <a:tblGrid>
                <a:gridCol w="320040"/>
                <a:gridCol w="2423160"/>
                <a:gridCol w="640080"/>
                <a:gridCol w="2103120"/>
              </a:tblGrid>
              <a:tr h="403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 / Next Step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Sybase2ora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POC Done, awaiting FRC (Pradhikshan)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Angular Forge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POC Done, awaiting FRC (Jyothis)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API Specification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To be Registered (Meenakshi)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DDD - Past &amp; Last Design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To be Registered (w/ Chitra)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SQL Query Generation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To be Registered (merge w/ #4?)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MCP Tools Configure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To be Registered (pending Jhelum)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AI Migration Agent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Awaiting Architecture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Self-Healing Pipeline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Awaiting Architecture Review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Self-Healing Automation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To be Registered (Meenakshi)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Smart Visualizer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To be Registered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Asset Creation (Email-based)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To be Registered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71600"/>
          <a:ext cx="5532120" cy="4846320"/>
        </p:xfrm>
        <a:graphic>
          <a:graphicData uri="http://schemas.openxmlformats.org/drawingml/2006/table">
            <a:tbl>
              <a:tblPr/>
              <a:tblGrid>
                <a:gridCol w="320040"/>
                <a:gridCol w="2468880"/>
                <a:gridCol w="640080"/>
                <a:gridCol w="2103120"/>
              </a:tblGrid>
              <a:tr h="4405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 / Next Step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AI WCAG Checker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POC Done, demo scheduled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Incident Ink AI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To be Registered (Meenakshi)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SID Generation &amp; Doc Prep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AI-assisted generation live (RPA)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Blue Prism Code Generation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AI-assisted coding live (RPA)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Blue Prism MCP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MCP-enabled interaction (RPA)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NLG - YSEOP Replacement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In-house AI proposed (RPA)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Self Healing AI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Production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Live in prod; -30% effort in NRT pack (Colibri)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Swagger API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Auto-generates OpenAPI yaml (Colibri)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20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OTC Automation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Ideation; targeting 1.5 FTE saving (Colibri)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5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21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Code Analyser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POC; -5-10% review effort (Colibri)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457200" y="630936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 case (Memory Leak analysis) was cancelled/dropped and is excluded from this view · Stage bucket for #21 (Code Analyser) shown as Pilot (POC)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Initiatives Across the Cluster  |  5-Minute CIO Summary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2026-08-22T04:30:09Z</dcterms:created>
  <dcterms:modified xsi:type="dcterms:W3CDTF">2026-08-22T04:30:09Z</dcterms:modified>
</cp:coreProperties>
</file>