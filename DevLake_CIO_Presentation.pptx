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what AI-assisted engineering actually changes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DevLake POC — Engineering Metrics Platform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piloted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507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+ Jira + Jenkins + SonarQube, per 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3429000"/>
            <a:ext cx="0" cy="141732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6344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of trend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4507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seasonal cycle, not a snapshot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63840" y="3429000"/>
            <a:ext cx="0" cy="141732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183880" y="4206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integrations live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4507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extra process burden on developers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SELF-HOSTED, INTEGRATED WITH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5577840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57784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93392" y="5577840"/>
            <a:ext cx="786384" cy="36576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5577840"/>
            <a:ext cx="78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62656" y="5577840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62656" y="5577840"/>
            <a:ext cx="1088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33672" y="5577840"/>
            <a:ext cx="1289304" cy="36576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3672" y="5577840"/>
            <a:ext cx="1289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Global Engineering CIO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THIS, WHY 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Already Inside Our Engineering Process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teams are already using AI coding assistants — we track AI chat and completion activity today. That raises one unavoidable question: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0091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AI actually making engineering faster and better — or just busier?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212080" cy="2606040"/>
          </a:xfrm>
          <a:prstGeom prst="roundRect">
            <a:avLst>
              <a:gd name="adj" fmla="val 3158"/>
            </a:avLst>
          </a:prstGeom>
          <a:solidFill>
            <a:srgbClr val="F7F9F8"/>
          </a:solidFill>
          <a:ln w="15875">
            <a:solidFill>
              <a:srgbClr val="E3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944368"/>
            <a:ext cx="365760" cy="365760"/>
          </a:xfrm>
          <a:prstGeom prst="ellipse">
            <a:avLst/>
          </a:prstGeom>
          <a:solidFill>
            <a:srgbClr val="D9DCE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944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Measurement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Every team believes AI is helping them — opinion, not evidence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08736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objective way to compare teams or applications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654296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Risks surface after an incident, not before 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2743200"/>
            <a:ext cx="5212080" cy="2606040"/>
          </a:xfrm>
          <a:prstGeom prst="roundRect">
            <a:avLst>
              <a:gd name="adj" fmla="val 3158"/>
            </a:avLst>
          </a:prstGeom>
          <a:solidFill>
            <a:srgbClr val="EAF6F0"/>
          </a:solidFill>
          <a:ln w="19050">
            <a:solidFill>
              <a:srgbClr val="0091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944368"/>
            <a:ext cx="365760" cy="365760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944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Engineering Metrics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17920" y="352044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Delivery speed, quality and reliability tracked monthly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408736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Objective comparison across teams and applications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0" y="4654296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Early warning the moment speed outpaces safety nets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4864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gap Apache DevLake closes: an objective, data-driven view of engineering delivery — as AI tooling scales across our organization.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 of Engineering Signal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70048" cy="914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Speed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Cycle Time, Lead Time for Changes, Time to Merge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6704" y="146304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6704" y="1463040"/>
            <a:ext cx="2670048" cy="914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9584" y="208483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Reliability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9584" y="283464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Success Rate, Defect Backlog, Code Quality (SonarQube)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146304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463040"/>
            <a:ext cx="2670048" cy="914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19088" y="208483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9088" y="283464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&amp; Issues Opened/Completed, Story Points, Deployment Frequency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25712" y="1463040"/>
            <a:ext cx="2670048" cy="283464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5712" y="1463040"/>
            <a:ext cx="2670048" cy="914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08592" y="2084832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Health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08592" y="283464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Developers, On-time Delivery, Review Depth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 live from GitLab, Jira, Jenkins and SonarQube — the tools our teams already use every day, with zero extra process burden on developers.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Evaluation to Validated Insight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11247120" cy="0"/>
          </a:xfrm>
          <a:prstGeom prst="line">
            <a:avLst/>
          </a:prstGeom>
          <a:noFill/>
          <a:ln w="254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3557016"/>
            <a:ext cx="201168" cy="201168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6" name="Shape 4"/>
          <p:cNvSpPr/>
          <p:nvPr/>
        </p:nvSpPr>
        <p:spPr>
          <a:xfrm>
            <a:off x="1581912" y="3337560"/>
            <a:ext cx="0" cy="420624"/>
          </a:xfrm>
          <a:prstGeom prst="line">
            <a:avLst/>
          </a:prstGeom>
          <a:noFill/>
          <a:ln w="15875">
            <a:solidFill>
              <a:srgbClr val="E3E6E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17220" y="3977640"/>
            <a:ext cx="1929384" cy="1691640"/>
          </a:xfrm>
          <a:prstGeom prst="roundRect">
            <a:avLst>
              <a:gd name="adj" fmla="val 4324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" y="411480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4380" y="4507992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" y="500176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DevLake vs. Google Four Keys vs. Middleware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754380" y="5376672"/>
            <a:ext cx="1655064" cy="237744"/>
          </a:xfrm>
          <a:prstGeom prst="roundRect">
            <a:avLst>
              <a:gd name="adj" fmla="val 50000"/>
            </a:avLst>
          </a:prstGeom>
          <a:solidFill>
            <a:srgbClr val="E9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" y="537667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tools compared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30752" y="3557016"/>
            <a:ext cx="201168" cy="201168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15" name="Shape 13"/>
          <p:cNvSpPr/>
          <p:nvPr/>
        </p:nvSpPr>
        <p:spPr>
          <a:xfrm>
            <a:off x="3831336" y="3337560"/>
            <a:ext cx="0" cy="219456"/>
          </a:xfrm>
          <a:prstGeom prst="line">
            <a:avLst/>
          </a:prstGeom>
          <a:noFill/>
          <a:ln w="15875">
            <a:solidFill>
              <a:srgbClr val="E3E6E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866644" y="1417320"/>
            <a:ext cx="1929384" cy="1920240"/>
          </a:xfrm>
          <a:prstGeom prst="roundRect">
            <a:avLst>
              <a:gd name="adj" fmla="val 3810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03804" y="155448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18" name="Text 16"/>
          <p:cNvSpPr/>
          <p:nvPr/>
        </p:nvSpPr>
        <p:spPr>
          <a:xfrm>
            <a:off x="3003804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03804" y="1947672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&amp; Self-Hosted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03804" y="2441448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Forked DevLake — fits our existing tool stack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003804" y="3044952"/>
            <a:ext cx="1655064" cy="237744"/>
          </a:xfrm>
          <a:prstGeom prst="roundRect">
            <a:avLst>
              <a:gd name="adj" fmla="val 50000"/>
            </a:avLst>
          </a:prstGeom>
          <a:solidFill>
            <a:srgbClr val="E9ECEA"/>
          </a:solidFill>
          <a:ln/>
        </p:spPr>
      </p:sp>
      <p:sp>
        <p:nvSpPr>
          <p:cNvPr id="22" name="Text 20"/>
          <p:cNvSpPr/>
          <p:nvPr/>
        </p:nvSpPr>
        <p:spPr>
          <a:xfrm>
            <a:off x="3003804" y="304495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4-tool fit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80176" y="3557016"/>
            <a:ext cx="201168" cy="201168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0760" y="3337560"/>
            <a:ext cx="0" cy="420624"/>
          </a:xfrm>
          <a:prstGeom prst="line">
            <a:avLst/>
          </a:prstGeom>
          <a:noFill/>
          <a:ln w="15875">
            <a:solidFill>
              <a:srgbClr val="E3E6E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116068" y="3977640"/>
            <a:ext cx="1929384" cy="1691640"/>
          </a:xfrm>
          <a:prstGeom prst="roundRect">
            <a:avLst>
              <a:gd name="adj" fmla="val 4324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3228" y="411480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27" name="Text 25"/>
          <p:cNvSpPr/>
          <p:nvPr/>
        </p:nvSpPr>
        <p:spPr>
          <a:xfrm>
            <a:off x="5253228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53228" y="4507992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3228" y="500176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applications, 12 months of real data collected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253228" y="5376672"/>
            <a:ext cx="1655064" cy="237744"/>
          </a:xfrm>
          <a:prstGeom prst="roundRect">
            <a:avLst>
              <a:gd name="adj" fmla="val 50000"/>
            </a:avLst>
          </a:prstGeom>
          <a:solidFill>
            <a:srgbClr val="E9ECEA"/>
          </a:solidFill>
          <a:ln/>
        </p:spPr>
      </p:sp>
      <p:sp>
        <p:nvSpPr>
          <p:cNvPr id="31" name="Text 29"/>
          <p:cNvSpPr/>
          <p:nvPr/>
        </p:nvSpPr>
        <p:spPr>
          <a:xfrm>
            <a:off x="5253228" y="537667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12mo backfilled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229600" y="3557016"/>
            <a:ext cx="201168" cy="201168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33" name="Shape 31"/>
          <p:cNvSpPr/>
          <p:nvPr/>
        </p:nvSpPr>
        <p:spPr>
          <a:xfrm>
            <a:off x="8330184" y="3337560"/>
            <a:ext cx="0" cy="219456"/>
          </a:xfrm>
          <a:prstGeom prst="line">
            <a:avLst/>
          </a:prstGeom>
          <a:noFill/>
          <a:ln w="15875">
            <a:solidFill>
              <a:srgbClr val="E3E6E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365492" y="1417320"/>
            <a:ext cx="1929384" cy="1920240"/>
          </a:xfrm>
          <a:prstGeom prst="roundRect">
            <a:avLst>
              <a:gd name="adj" fmla="val 3810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02652" y="155448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36" name="Text 34"/>
          <p:cNvSpPr/>
          <p:nvPr/>
        </p:nvSpPr>
        <p:spPr>
          <a:xfrm>
            <a:off x="7502652" y="1554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502652" y="1947672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Stress-Tested Findings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02652" y="2441448"/>
            <a:ext cx="1655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 interpretation framework, not just charts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7502652" y="3044952"/>
            <a:ext cx="1655064" cy="237744"/>
          </a:xfrm>
          <a:prstGeom prst="roundRect">
            <a:avLst>
              <a:gd name="adj" fmla="val 50000"/>
            </a:avLst>
          </a:prstGeom>
          <a:solidFill>
            <a:srgbClr val="E9ECEA"/>
          </a:solidFill>
          <a:ln/>
        </p:spPr>
      </p:sp>
      <p:sp>
        <p:nvSpPr>
          <p:cNvPr id="40" name="Text 38"/>
          <p:cNvSpPr/>
          <p:nvPr/>
        </p:nvSpPr>
        <p:spPr>
          <a:xfrm>
            <a:off x="7502652" y="304495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signals correlated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479024" y="3557016"/>
            <a:ext cx="201168" cy="201168"/>
          </a:xfrm>
          <a:prstGeom prst="ellipse">
            <a:avLst/>
          </a:prstGeom>
          <a:solidFill>
            <a:srgbClr val="00703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79608" y="3337560"/>
            <a:ext cx="0" cy="420624"/>
          </a:xfrm>
          <a:prstGeom prst="line">
            <a:avLst/>
          </a:prstGeom>
          <a:noFill/>
          <a:ln w="15875">
            <a:solidFill>
              <a:srgbClr val="E3E6E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614916" y="3977640"/>
            <a:ext cx="1929384" cy="1691640"/>
          </a:xfrm>
          <a:prstGeom prst="roundRect">
            <a:avLst>
              <a:gd name="adj" fmla="val 4324"/>
            </a:avLst>
          </a:prstGeom>
          <a:solidFill>
            <a:srgbClr val="EAF6F0"/>
          </a:solidFill>
          <a:ln w="19050">
            <a:solidFill>
              <a:srgbClr val="0091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52076" y="4114800"/>
            <a:ext cx="329184" cy="32918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45" name="Text 43"/>
          <p:cNvSpPr/>
          <p:nvPr/>
        </p:nvSpPr>
        <p:spPr>
          <a:xfrm>
            <a:off x="9752076" y="4114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752076" y="4507992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Access Control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752076" y="5001768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vs. Developer views, tested end to end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9752076" y="5376672"/>
            <a:ext cx="1655064" cy="237744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49" name="Text 47"/>
          <p:cNvSpPr/>
          <p:nvPr/>
        </p:nvSpPr>
        <p:spPr>
          <a:xfrm>
            <a:off x="9752076" y="5376672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roles verified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vendor demo — a working, self-hosted platform validated against our own data, our own tools, our own governance requirements.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RIGOR MATTERS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Finding: Speed Without a Quality Check Is a Risk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pilot's most recent months, two metrics moved in opposite directions at the same time: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EAF6F0"/>
          </a:solidFill>
          <a:ln w="15875">
            <a:solidFill>
              <a:srgbClr val="0070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94% faster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days → 3 hours, over the pilot period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182880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FCEBEA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Depth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2331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44% shallower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3063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 without review rose in the same window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1F232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05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the signal engineering leadership needs as AI-assisted development accelerates: speed can outpace safety nets if nobody is watching both at once. Metrics like these are how we catch it early — not after it becomes an incident.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SURFACED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Interesting Facts From Our Pilot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sample of what a single, connected pipeline pulled out of two applications — in 12 months of real activity.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73152" cy="178308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" y="25877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analyzed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95351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GitLab activity for both applications, over 12 months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288536" y="1874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1874520"/>
            <a:ext cx="73152" cy="178308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8,242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44568" y="25877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issues tracked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4568" y="295351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5,655 delivered — a 68.6% delivery rate, measured automatically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119872" y="1874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874520"/>
            <a:ext cx="73152" cy="17830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75904" y="25877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builds analyzed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75904" y="295351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Surfaced a declining build success-rate trend across the pilot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58768"/>
            <a:ext cx="73152" cy="17830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99592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3232" y="4572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 by one contributor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49377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12% of all merged PRs came from a single person — a concentration risk worth watching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288536" y="38587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88536" y="3858768"/>
            <a:ext cx="73152" cy="17830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399592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8,211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544568" y="4572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 bugs identified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44568" y="49377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Alongside 61,728 code smells flagged across the codebase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119872" y="38587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9872" y="3858768"/>
            <a:ext cx="73152" cy="17830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2" name="Text 30"/>
          <p:cNvSpPr/>
          <p:nvPr/>
        </p:nvSpPr>
        <p:spPr>
          <a:xfrm>
            <a:off x="8375904" y="399592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375904" y="4572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in backlog, still climbing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75904" y="49377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~530, six straight months of net growth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pipeline, same pull: scale metrics and specific, actionable risks — surfaced side by side, automatically.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COMPLEMENTARY, NOT COMPETING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Lenses on the Same AI-Era Question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Engineering is exploring Arize Phoenix for AI/LLM observability. These are different layers of the same problem — and are stronger together.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212080" cy="2468880"/>
          </a:xfrm>
          <a:prstGeom prst="roundRect">
            <a:avLst>
              <a:gd name="adj" fmla="val 3333"/>
            </a:avLst>
          </a:prstGeom>
          <a:solidFill>
            <a:srgbClr val="EAF6F0"/>
          </a:solidFill>
          <a:ln w="15875">
            <a:solidFill>
              <a:srgbClr val="0070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DevLake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134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delivery outcomes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Did delivery get faster, and stay reliable?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815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 teams shipping more, per engineer?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655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 code quality holding up under speed?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783080"/>
            <a:ext cx="5212080" cy="2468880"/>
          </a:xfrm>
          <a:prstGeom prst="roundRect">
            <a:avLst>
              <a:gd name="adj" fmla="val 3333"/>
            </a:avLst>
          </a:prstGeom>
          <a:solidFill>
            <a:srgbClr val="F0EEF3"/>
          </a:solidFill>
          <a:ln w="15875">
            <a:solidFill>
              <a:srgbClr val="5B54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Phoenix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23134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AI/LLM behavior quality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697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 the AI's output accurate and safe?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0815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 prompts and RAG pipelines performing well?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34655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Where does the model hallucinate or drift?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009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 to Global: correlate Phoenix's AI-quality signals with DevLake's delivery-outcome signals — did better AI outputs actually translate into better delivery? Worth exploring together, not in parallel silos.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From 2 Applications to 400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EAF6F0"/>
          </a:solidFill>
          <a:ln w="19050">
            <a:solidFill>
              <a:srgbClr val="0091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304288" cy="320040"/>
          </a:xfrm>
          <a:prstGeom prst="roundRect">
            <a:avLst>
              <a:gd name="adj" fmla="val 42857"/>
            </a:avLst>
          </a:prstGeom>
          <a:solidFill>
            <a:srgbClr val="00915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POC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apps, 12 months data, access control validated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46704" y="155448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EAF6F0"/>
          </a:solidFill>
          <a:ln w="19050">
            <a:solidFill>
              <a:srgbClr val="0091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9584" y="1737360"/>
            <a:ext cx="2304288" cy="320040"/>
          </a:xfrm>
          <a:prstGeom prst="roundRect">
            <a:avLst>
              <a:gd name="adj" fmla="val 42857"/>
            </a:avLst>
          </a:prstGeom>
          <a:solidFill>
            <a:srgbClr val="00915A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7373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9584" y="2212848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Deployment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9584" y="297180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Containerizing for our domain Kubernetes namespace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6208" y="155448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737360"/>
            <a:ext cx="2304288" cy="320040"/>
          </a:xfrm>
          <a:prstGeom prst="roundRect">
            <a:avLst>
              <a:gd name="adj" fmla="val 42857"/>
            </a:avLst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7373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19088" y="2212848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Rollout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19088" y="297180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Branch-naming &amp; deployment-strategy inventory across the estate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25712" y="155448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8592" y="1737360"/>
            <a:ext cx="2304288" cy="320040"/>
          </a:xfrm>
          <a:prstGeom prst="roundRect">
            <a:avLst>
              <a:gd name="adj" fmla="val 42857"/>
            </a:avLst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17373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08592" y="2212848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400-App Onboarding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08592" y="297180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with standardized CI/CD conventions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deployment is already underway in our domain Kubernetes namespace — next milestone to report back with a live, shared URL for broader team access.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in the AI Era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91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Asking For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6276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Endorsement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3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proceed with central Kubernetes deployment for broader team access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420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connection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3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Global team's Arize Phoenix work — to explore correlating AI-quality and delivery-outcome signals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4564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sponsorship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3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governance work ahead of the 400-app rollout (naming conventions, security review)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709160"/>
            <a:ext cx="10515600" cy="13716"/>
          </a:xfrm>
          <a:prstGeom prst="rect">
            <a:avLst/>
          </a:prstGeom>
          <a:solidFill>
            <a:srgbClr val="4FB98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 as AI reshapes how we build software, we measure the change instead of guessing at it.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follows — live dashboards, real 12-month data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2026-09-11T16:33:35Z</dcterms:created>
  <dcterms:modified xsi:type="dcterms:W3CDTF">2026-09-11T16:33:35Z</dcterms:modified>
</cp:coreProperties>
</file>