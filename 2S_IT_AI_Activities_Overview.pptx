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7405a2e0-5258-c370-c8d4-3750b340fd53}">
          <p14:sldIdLst>
            <p14:sldId id="256"/>
            <p14:sldId id="257"/>
            <p14:sldId id="258"/>
            <p14:sldId id="25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Overview of the AI activities handled in the 2S IT cluster. Control Tower data comes from the AI Acceleration team (Mayur). Technical concerns are redirected to the AI Acceleration team in Mumbai. AI Made Easy for Business was designed for Operations based on guidance from Uma and validated; each session is a 4-hour in-person workshop with hands-on assistance.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Arthur was the global 2S catalyst; he has been relieved and replaced by Pham Duc from Poland. Cadence listed is what was followed with Arthur. Jhelum's regular connects with the catalyst and HODs are held along with Alexander and Alban.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Registration can be done by the team directly with the domain catalyst, or we set up the meeting together with the domain catalyst. In that meeting we validate similarity with use cases in the inventory. Architecture review and FRC (technical and business) follow-ups are expected from the team; we help when asked. More than 15 use cases have been assisted so far.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shared as information for awareness. In other clusters such as GM there are people working dedicatedly on standardisation. In 2S IT everything is voluntary with zero headcount.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2"/>
                </a:solidFill>
              </a:rPr>
              <a:t>2S IT  |  AI activities: information note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2.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2.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2.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le"/>
          <p:cNvSpPr txBox="1"/>
          <p:nvPr/>
        </p:nvSpPr>
        <p:spPr>
          <a:xfrm>
            <a:off x="548640" y="274320"/>
            <a:ext cx="11064240" cy="640080"/>
          </a:xfrm>
          <a:prstGeom prst="rect">
            <a:avLst/>
          </a:prstGeom>
          <a:noFill/>
          <a:ln/>
        </p:spPr>
        <p:txBody>
          <a:bodyPr wrap="square" lIns="0" tIns="0" rIns="0" bIns="0" rtlCol="0" anchor="ctr"/>
          <a:lstStyle/>
          <a:p>
            <a:pPr indent="0" marL="0">
              <a:buNone/>
            </a:pPr>
            <a:r>
              <a:rPr lang="en-US" sz="3200" b="1" dirty="0">
                <a:solidFill>
                  <a:schemeClr val="accent1"/>
                </a:solidFill>
              </a:rPr>
              <a:t>AI activities in 2S IT: an overview</a:t>
            </a:r>
            <a:endParaRPr lang="en-US" sz="3200" dirty="0"/>
          </a:p>
        </p:txBody>
      </p:sp>
      <p:sp>
        <p:nvSpPr>
          <p:cNvPr id="3" name="Subtitle"/>
          <p:cNvSpPr txBox="1"/>
          <p:nvPr/>
        </p:nvSpPr>
        <p:spPr>
          <a:xfrm>
            <a:off x="548640" y="914400"/>
            <a:ext cx="11064240" cy="320040"/>
          </a:xfrm>
          <a:prstGeom prst="rect">
            <a:avLst/>
          </a:prstGeom>
          <a:noFill/>
          <a:ln/>
        </p:spPr>
        <p:txBody>
          <a:bodyPr wrap="square" lIns="0" tIns="0" rIns="0" bIns="0" rtlCol="0" anchor="ctr"/>
          <a:lstStyle/>
          <a:p>
            <a:pPr indent="0" marL="0">
              <a:buNone/>
            </a:pPr>
            <a:r>
              <a:rPr lang="en-US" sz="1400" dirty="0">
                <a:solidFill>
                  <a:schemeClr val="accent2"/>
                </a:solidFill>
              </a:rPr>
              <a:t>Information note on AI-related activities supported by the 2S IT cluster (India)</a:t>
            </a:r>
            <a:endParaRPr lang="en-US" sz="1400" dirty="0"/>
          </a:p>
        </p:txBody>
      </p:sp>
      <p:sp>
        <p:nvSpPr>
          <p:cNvPr id="4" name="Adoption card"/>
          <p:cNvSpPr/>
          <p:nvPr/>
        </p:nvSpPr>
        <p:spPr>
          <a:xfrm>
            <a:off x="548640" y="1371600"/>
            <a:ext cx="3657600" cy="1920240"/>
          </a:xfrm>
          <a:prstGeom prst="roundRect">
            <a:avLst>
              <a:gd name="adj" fmla="val 3810"/>
            </a:avLst>
          </a:prstGeom>
          <a:solidFill>
            <a:schemeClr val="bg2"/>
          </a:solidFill>
          <a:ln w="12700">
            <a:solidFill>
              <a:schemeClr val="bg2"/>
            </a:solidFill>
            <a:prstDash val="solid"/>
          </a:ln>
        </p:spPr>
      </p:sp>
      <p:sp>
        <p:nvSpPr>
          <p:cNvPr id="5" name="Adoption icon circle"/>
          <p:cNvSpPr/>
          <p:nvPr/>
        </p:nvSpPr>
        <p:spPr>
          <a:xfrm>
            <a:off x="777240" y="1554480"/>
            <a:ext cx="457200" cy="457200"/>
          </a:xfrm>
          <a:prstGeom prst="ellipse">
            <a:avLst/>
          </a:prstGeom>
          <a:solidFill>
            <a:schemeClr val="accent1"/>
          </a:solidFill>
          <a:ln w="12700">
            <a:solidFill>
              <a:schemeClr val="accent1"/>
            </a:solidFill>
            <a:prstDash val="solid"/>
          </a:ln>
        </p:spPr>
      </p:sp>
      <p:pic>
        <p:nvPicPr>
          <p:cNvPr id="6" name="Adoption icon" descr="Adoption icon">    </p:cNvPr>
          <p:cNvPicPr>
            <a:picLocks noChangeAspect="1"/>
          </p:cNvPicPr>
          <p:nvPr/>
        </p:nvPicPr>
        <p:blipFill>
          <a:blip r:embed="rId1"/>
          <a:stretch>
            <a:fillRect/>
          </a:stretch>
        </p:blipFill>
        <p:spPr>
          <a:xfrm>
            <a:off x="891540" y="1668780"/>
            <a:ext cx="228600" cy="228600"/>
          </a:xfrm>
          <a:prstGeom prst="rect">
            <a:avLst/>
          </a:prstGeom>
        </p:spPr>
      </p:pic>
      <p:sp>
        <p:nvSpPr>
          <p:cNvPr id="7" name="Adoption header"/>
          <p:cNvSpPr txBox="1"/>
          <p:nvPr/>
        </p:nvSpPr>
        <p:spPr>
          <a:xfrm>
            <a:off x="1417320" y="1554480"/>
            <a:ext cx="2606040" cy="457200"/>
          </a:xfrm>
          <a:prstGeom prst="rect">
            <a:avLst/>
          </a:prstGeom>
          <a:noFill/>
          <a:ln/>
        </p:spPr>
        <p:txBody>
          <a:bodyPr wrap="square" lIns="0" tIns="0" rIns="0" bIns="0" rtlCol="0" anchor="ctr"/>
          <a:lstStyle/>
          <a:p>
            <a:pPr indent="0" marL="0">
              <a:buNone/>
            </a:pPr>
            <a:r>
              <a:rPr lang="en-US" sz="1800" b="1" dirty="0">
                <a:solidFill>
                  <a:schemeClr val="tx2"/>
                </a:solidFill>
              </a:rPr>
              <a:t>Adoption monitoring</a:t>
            </a:r>
            <a:endParaRPr lang="en-US" sz="1800" dirty="0"/>
          </a:p>
        </p:txBody>
      </p:sp>
      <p:sp>
        <p:nvSpPr>
          <p:cNvPr id="8" name="Adoption body"/>
          <p:cNvSpPr txBox="1"/>
          <p:nvPr/>
        </p:nvSpPr>
        <p:spPr>
          <a:xfrm>
            <a:off x="822960" y="2103120"/>
            <a:ext cx="3108960" cy="105156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AI adoption across 2S IT India is monitored through the Control Tower dashboard</a:t>
            </a:r>
            <a:endParaRPr lang="en-US" sz="1400" dirty="0"/>
          </a:p>
          <a:p>
            <a:pPr marL="342900" indent="-342900">
              <a:spcAft>
                <a:spcPts val="500"/>
              </a:spcAft>
              <a:buSzPct val="100000"/>
              <a:buChar char="•"/>
            </a:pPr>
            <a:r>
              <a:rPr lang="en-US" sz="1400" dirty="0">
                <a:solidFill>
                  <a:schemeClr val="tx1"/>
                </a:solidFill>
              </a:rPr>
              <a:t>Metrics shared with HODs and teams</a:t>
            </a:r>
            <a:endParaRPr lang="en-US" sz="1400" dirty="0"/>
          </a:p>
        </p:txBody>
      </p:sp>
      <p:sp>
        <p:nvSpPr>
          <p:cNvPr id="9" name="Models card"/>
          <p:cNvSpPr/>
          <p:nvPr/>
        </p:nvSpPr>
        <p:spPr>
          <a:xfrm>
            <a:off x="4389120" y="1371600"/>
            <a:ext cx="7223760" cy="1920240"/>
          </a:xfrm>
          <a:prstGeom prst="roundRect">
            <a:avLst>
              <a:gd name="adj" fmla="val 3810"/>
            </a:avLst>
          </a:prstGeom>
          <a:solidFill>
            <a:schemeClr val="bg2"/>
          </a:solidFill>
          <a:ln w="12700">
            <a:solidFill>
              <a:schemeClr val="bg2"/>
            </a:solidFill>
            <a:prstDash val="solid"/>
          </a:ln>
        </p:spPr>
      </p:sp>
      <p:sp>
        <p:nvSpPr>
          <p:cNvPr id="10" name="Models icon circle"/>
          <p:cNvSpPr/>
          <p:nvPr/>
        </p:nvSpPr>
        <p:spPr>
          <a:xfrm>
            <a:off x="4617720" y="1554480"/>
            <a:ext cx="457200" cy="457200"/>
          </a:xfrm>
          <a:prstGeom prst="ellipse">
            <a:avLst/>
          </a:prstGeom>
          <a:solidFill>
            <a:schemeClr val="accent1"/>
          </a:solidFill>
          <a:ln w="12700">
            <a:solidFill>
              <a:schemeClr val="accent1"/>
            </a:solidFill>
            <a:prstDash val="solid"/>
          </a:ln>
        </p:spPr>
      </p:sp>
      <p:pic>
        <p:nvPicPr>
          <p:cNvPr id="11" name="Models icon" descr="Models icon">    </p:cNvPr>
          <p:cNvPicPr>
            <a:picLocks noChangeAspect="1"/>
          </p:cNvPicPr>
          <p:nvPr/>
        </p:nvPicPr>
        <p:blipFill>
          <a:blip r:embed="rId2"/>
          <a:stretch>
            <a:fillRect/>
          </a:stretch>
        </p:blipFill>
        <p:spPr>
          <a:xfrm>
            <a:off x="4732020" y="1668780"/>
            <a:ext cx="228600" cy="228600"/>
          </a:xfrm>
          <a:prstGeom prst="rect">
            <a:avLst/>
          </a:prstGeom>
        </p:spPr>
      </p:pic>
      <p:sp>
        <p:nvSpPr>
          <p:cNvPr id="12" name="Models header"/>
          <p:cNvSpPr txBox="1"/>
          <p:nvPr/>
        </p:nvSpPr>
        <p:spPr>
          <a:xfrm>
            <a:off x="5257800" y="1554480"/>
            <a:ext cx="6172200" cy="457200"/>
          </a:xfrm>
          <a:prstGeom prst="rect">
            <a:avLst/>
          </a:prstGeom>
          <a:noFill/>
          <a:ln/>
        </p:spPr>
        <p:txBody>
          <a:bodyPr wrap="square" lIns="0" tIns="0" rIns="0" bIns="0" rtlCol="0" anchor="ctr"/>
          <a:lstStyle/>
          <a:p>
            <a:pPr indent="0" marL="0">
              <a:buNone/>
            </a:pPr>
            <a:r>
              <a:rPr lang="en-US" sz="1800" b="1" dirty="0">
                <a:solidFill>
                  <a:schemeClr val="tx2"/>
                </a:solidFill>
              </a:rPr>
              <a:t>Models and developer tooling</a:t>
            </a:r>
            <a:endParaRPr lang="en-US" sz="1800" dirty="0"/>
          </a:p>
        </p:txBody>
      </p:sp>
      <p:sp>
        <p:nvSpPr>
          <p:cNvPr id="13" name="Models body"/>
          <p:cNvSpPr txBox="1"/>
          <p:nvPr/>
        </p:nvSpPr>
        <p:spPr>
          <a:xfrm>
            <a:off x="4663440" y="2103120"/>
            <a:ext cx="6675120" cy="105156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Early adopter program: new models understood, validated, feedback shared</a:t>
            </a:r>
            <a:endParaRPr lang="en-US" sz="1400" dirty="0"/>
          </a:p>
          <a:p>
            <a:pPr marL="342900" indent="-342900">
              <a:spcAft>
                <a:spcPts val="500"/>
              </a:spcAft>
              <a:buSzPct val="100000"/>
              <a:buChar char="•"/>
            </a:pPr>
            <a:r>
              <a:rPr lang="en-US" sz="1400" dirty="0">
                <a:solidFill>
                  <a:schemeClr val="tx1"/>
                </a:solidFill>
              </a:rPr>
              <a:t>GPT-OSS and Qwen validated so far</a:t>
            </a:r>
            <a:endParaRPr lang="en-US" sz="1400" dirty="0"/>
          </a:p>
          <a:p>
            <a:pPr marL="342900" indent="-342900">
              <a:spcAft>
                <a:spcPts val="500"/>
              </a:spcAft>
              <a:buSzPct val="100000"/>
              <a:buChar char="•"/>
            </a:pPr>
            <a:r>
              <a:rPr lang="en-US" sz="1400" dirty="0">
                <a:solidFill>
                  <a:schemeClr val="tx1"/>
                </a:solidFill>
              </a:rPr>
              <a:t>Configuration practices for OpenCode, Roo Code and Zoo Code IDE plugins</a:t>
            </a:r>
            <a:endParaRPr lang="en-US" sz="1400" dirty="0"/>
          </a:p>
          <a:p>
            <a:pPr marL="342900" indent="-342900">
              <a:spcAft>
                <a:spcPts val="500"/>
              </a:spcAft>
              <a:buSzPct val="100000"/>
              <a:buChar char="•"/>
            </a:pPr>
            <a:r>
              <a:rPr lang="en-US" sz="1400" dirty="0">
                <a:solidFill>
                  <a:schemeClr val="tx1"/>
                </a:solidFill>
              </a:rPr>
              <a:t>Claude Code onboarding: requests validated with the global 2S catalyst</a:t>
            </a:r>
            <a:endParaRPr lang="en-US" sz="1400" dirty="0"/>
          </a:p>
        </p:txBody>
      </p:sp>
      <p:sp>
        <p:nvSpPr>
          <p:cNvPr id="14" name="UseCase card"/>
          <p:cNvSpPr/>
          <p:nvPr/>
        </p:nvSpPr>
        <p:spPr>
          <a:xfrm>
            <a:off x="548640" y="3401568"/>
            <a:ext cx="4206240" cy="2377440"/>
          </a:xfrm>
          <a:prstGeom prst="roundRect">
            <a:avLst>
              <a:gd name="adj" fmla="val 3077"/>
            </a:avLst>
          </a:prstGeom>
          <a:solidFill>
            <a:schemeClr val="bg2"/>
          </a:solidFill>
          <a:ln w="12700">
            <a:solidFill>
              <a:schemeClr val="bg2"/>
            </a:solidFill>
            <a:prstDash val="solid"/>
          </a:ln>
        </p:spPr>
      </p:sp>
      <p:sp>
        <p:nvSpPr>
          <p:cNvPr id="15" name="UseCase icon circle"/>
          <p:cNvSpPr/>
          <p:nvPr/>
        </p:nvSpPr>
        <p:spPr>
          <a:xfrm>
            <a:off x="777240" y="3584448"/>
            <a:ext cx="457200" cy="457200"/>
          </a:xfrm>
          <a:prstGeom prst="ellipse">
            <a:avLst/>
          </a:prstGeom>
          <a:solidFill>
            <a:schemeClr val="accent1"/>
          </a:solidFill>
          <a:ln w="12700">
            <a:solidFill>
              <a:schemeClr val="accent1"/>
            </a:solidFill>
            <a:prstDash val="solid"/>
          </a:ln>
        </p:spPr>
      </p:sp>
      <p:pic>
        <p:nvPicPr>
          <p:cNvPr id="16" name="UseCase icon" descr="UseCase icon">    </p:cNvPr>
          <p:cNvPicPr>
            <a:picLocks noChangeAspect="1"/>
          </p:cNvPicPr>
          <p:nvPr/>
        </p:nvPicPr>
        <p:blipFill>
          <a:blip r:embed="rId3"/>
          <a:stretch>
            <a:fillRect/>
          </a:stretch>
        </p:blipFill>
        <p:spPr>
          <a:xfrm>
            <a:off x="891540" y="3698748"/>
            <a:ext cx="228600" cy="228600"/>
          </a:xfrm>
          <a:prstGeom prst="rect">
            <a:avLst/>
          </a:prstGeom>
        </p:spPr>
      </p:pic>
      <p:sp>
        <p:nvSpPr>
          <p:cNvPr id="17" name="UseCase header"/>
          <p:cNvSpPr txBox="1"/>
          <p:nvPr/>
        </p:nvSpPr>
        <p:spPr>
          <a:xfrm>
            <a:off x="1417320" y="3584448"/>
            <a:ext cx="3154680" cy="457200"/>
          </a:xfrm>
          <a:prstGeom prst="rect">
            <a:avLst/>
          </a:prstGeom>
          <a:noFill/>
          <a:ln/>
        </p:spPr>
        <p:txBody>
          <a:bodyPr wrap="square" lIns="0" tIns="0" rIns="0" bIns="0" rtlCol="0" anchor="ctr"/>
          <a:lstStyle/>
          <a:p>
            <a:pPr indent="0" marL="0">
              <a:buNone/>
            </a:pPr>
            <a:r>
              <a:rPr lang="en-US" sz="1800" b="1" dirty="0">
                <a:solidFill>
                  <a:schemeClr val="tx2"/>
                </a:solidFill>
              </a:rPr>
              <a:t>Use case support</a:t>
            </a:r>
            <a:endParaRPr lang="en-US" sz="1800" dirty="0"/>
          </a:p>
        </p:txBody>
      </p:sp>
      <p:sp>
        <p:nvSpPr>
          <p:cNvPr id="18" name="UseCase body"/>
          <p:cNvSpPr txBox="1"/>
          <p:nvPr/>
        </p:nvSpPr>
        <p:spPr>
          <a:xfrm>
            <a:off x="822960" y="4133088"/>
            <a:ext cx="3657600" cy="150876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More than 15 use cases assisted</a:t>
            </a:r>
            <a:endParaRPr lang="en-US" sz="1400" dirty="0"/>
          </a:p>
          <a:p>
            <a:pPr marL="342900" indent="-342900">
              <a:spcAft>
                <a:spcPts val="500"/>
              </a:spcAft>
              <a:buSzPct val="100000"/>
              <a:buChar char="•"/>
            </a:pPr>
            <a:r>
              <a:rPr lang="en-US" sz="1400" dirty="0">
                <a:solidFill>
                  <a:schemeClr val="tx1"/>
                </a:solidFill>
              </a:rPr>
              <a:t>CPPO and PAQ processes for personal data handling</a:t>
            </a:r>
            <a:endParaRPr lang="en-US" sz="1400" dirty="0"/>
          </a:p>
          <a:p>
            <a:pPr marL="342900" indent="-342900">
              <a:spcAft>
                <a:spcPts val="500"/>
              </a:spcAft>
              <a:buSzPct val="100000"/>
              <a:buChar char="•"/>
            </a:pPr>
            <a:r>
              <a:rPr lang="en-US" sz="1400" dirty="0">
                <a:solidFill>
                  <a:schemeClr val="tx1"/>
                </a:solidFill>
              </a:rPr>
              <a:t>Certificates for AI keys, coordinated with the global AI keys team</a:t>
            </a:r>
            <a:endParaRPr lang="en-US" sz="1400" dirty="0"/>
          </a:p>
        </p:txBody>
      </p:sp>
      <p:sp>
        <p:nvSpPr>
          <p:cNvPr id="19" name="Enablement card"/>
          <p:cNvSpPr/>
          <p:nvPr/>
        </p:nvSpPr>
        <p:spPr>
          <a:xfrm>
            <a:off x="4937760" y="3401568"/>
            <a:ext cx="6675120" cy="2377440"/>
          </a:xfrm>
          <a:prstGeom prst="roundRect">
            <a:avLst>
              <a:gd name="adj" fmla="val 3077"/>
            </a:avLst>
          </a:prstGeom>
          <a:solidFill>
            <a:schemeClr val="bg2"/>
          </a:solidFill>
          <a:ln w="12700">
            <a:solidFill>
              <a:schemeClr val="bg2"/>
            </a:solidFill>
            <a:prstDash val="solid"/>
          </a:ln>
        </p:spPr>
      </p:sp>
      <p:sp>
        <p:nvSpPr>
          <p:cNvPr id="20" name="Enablement icon circle"/>
          <p:cNvSpPr/>
          <p:nvPr/>
        </p:nvSpPr>
        <p:spPr>
          <a:xfrm>
            <a:off x="5166360" y="3584448"/>
            <a:ext cx="457200" cy="457200"/>
          </a:xfrm>
          <a:prstGeom prst="ellipse">
            <a:avLst/>
          </a:prstGeom>
          <a:solidFill>
            <a:schemeClr val="accent1"/>
          </a:solidFill>
          <a:ln w="12700">
            <a:solidFill>
              <a:schemeClr val="accent1"/>
            </a:solidFill>
            <a:prstDash val="solid"/>
          </a:ln>
        </p:spPr>
      </p:sp>
      <p:pic>
        <p:nvPicPr>
          <p:cNvPr id="21" name="Enablement icon" descr="Enablement icon">    </p:cNvPr>
          <p:cNvPicPr>
            <a:picLocks noChangeAspect="1"/>
          </p:cNvPicPr>
          <p:nvPr/>
        </p:nvPicPr>
        <p:blipFill>
          <a:blip r:embed="rId4"/>
          <a:stretch>
            <a:fillRect/>
          </a:stretch>
        </p:blipFill>
        <p:spPr>
          <a:xfrm>
            <a:off x="5280660" y="3698748"/>
            <a:ext cx="228600" cy="228600"/>
          </a:xfrm>
          <a:prstGeom prst="rect">
            <a:avLst/>
          </a:prstGeom>
        </p:spPr>
      </p:pic>
      <p:sp>
        <p:nvSpPr>
          <p:cNvPr id="22" name="Enablement header"/>
          <p:cNvSpPr txBox="1"/>
          <p:nvPr/>
        </p:nvSpPr>
        <p:spPr>
          <a:xfrm>
            <a:off x="5806440" y="3584448"/>
            <a:ext cx="5623560" cy="457200"/>
          </a:xfrm>
          <a:prstGeom prst="rect">
            <a:avLst/>
          </a:prstGeom>
          <a:noFill/>
          <a:ln/>
        </p:spPr>
        <p:txBody>
          <a:bodyPr wrap="square" lIns="0" tIns="0" rIns="0" bIns="0" rtlCol="0" anchor="ctr"/>
          <a:lstStyle/>
          <a:p>
            <a:pPr indent="0" marL="0">
              <a:buNone/>
            </a:pPr>
            <a:r>
              <a:rPr lang="en-US" sz="1800" b="1" dirty="0">
                <a:solidFill>
                  <a:schemeClr val="tx2"/>
                </a:solidFill>
              </a:rPr>
              <a:t>Enablement and community</a:t>
            </a:r>
            <a:endParaRPr lang="en-US" sz="1800" dirty="0"/>
          </a:p>
        </p:txBody>
      </p:sp>
      <p:sp>
        <p:nvSpPr>
          <p:cNvPr id="23" name="Enablement body"/>
          <p:cNvSpPr txBox="1"/>
          <p:nvPr/>
        </p:nvSpPr>
        <p:spPr>
          <a:xfrm>
            <a:off x="5212080" y="4133088"/>
            <a:ext cx="6126480" cy="150876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AI Made Easy for Business: 4-hour in-person workshop, designed with Uma's guidance; 5 sessions so far, including one for Theo</a:t>
            </a:r>
            <a:endParaRPr lang="en-US" sz="1400" dirty="0"/>
          </a:p>
          <a:p>
            <a:pPr marL="342900" indent="-342900">
              <a:spcAft>
                <a:spcPts val="500"/>
              </a:spcAft>
              <a:buSzPct val="100000"/>
              <a:buChar char="•"/>
            </a:pPr>
            <a:r>
              <a:rPr lang="en-US" sz="1400" dirty="0">
                <a:solidFill>
                  <a:schemeClr val="tx1"/>
                </a:solidFill>
              </a:rPr>
              <a:t>BSU guidance: use cases formalised, then taken to Thiago and Thomas (CDO of group)</a:t>
            </a:r>
            <a:endParaRPr lang="en-US" sz="1400" dirty="0"/>
          </a:p>
          <a:p>
            <a:pPr marL="342900" indent="-342900">
              <a:spcAft>
                <a:spcPts val="500"/>
              </a:spcAft>
              <a:buSzPct val="100000"/>
              <a:buChar char="•"/>
            </a:pPr>
            <a:r>
              <a:rPr lang="en-US" sz="1400" dirty="0">
                <a:solidFill>
                  <a:schemeClr val="tx1"/>
                </a:solidFill>
              </a:rPr>
              <a:t>MCP contributions with Alban and Anup; AI recruitment support</a:t>
            </a:r>
            <a:endParaRPr lang="en-US" sz="1400" dirty="0"/>
          </a:p>
          <a:p>
            <a:pPr marL="342900" indent="-342900">
              <a:spcAft>
                <a:spcPts val="500"/>
              </a:spcAft>
              <a:buSzPct val="100000"/>
              <a:buChar char="•"/>
            </a:pPr>
            <a:r>
              <a:rPr lang="en-US" sz="1400" dirty="0">
                <a:solidFill>
                  <a:schemeClr val="tx1"/>
                </a:solidFill>
              </a:rPr>
              <a:t>GenAI community channel for India 2S staff</a:t>
            </a:r>
            <a:endParaRPr lang="en-US" sz="1400" dirty="0"/>
          </a:p>
        </p:txBody>
      </p:sp>
      <p:sp>
        <p:nvSpPr>
          <p:cNvPr id="24" name="Note band"/>
          <p:cNvSpPr/>
          <p:nvPr/>
        </p:nvSpPr>
        <p:spPr>
          <a:xfrm>
            <a:off x="548640" y="5870448"/>
            <a:ext cx="11064240" cy="411480"/>
          </a:xfrm>
          <a:prstGeom prst="roundRect">
            <a:avLst>
              <a:gd name="adj" fmla="val 17778"/>
            </a:avLst>
          </a:prstGeom>
          <a:solidFill>
            <a:schemeClr val="accent3"/>
          </a:solidFill>
          <a:ln w="12700">
            <a:solidFill>
              <a:schemeClr val="accent3"/>
            </a:solidFill>
            <a:prstDash val="solid"/>
          </a:ln>
        </p:spPr>
      </p:sp>
      <p:sp>
        <p:nvSpPr>
          <p:cNvPr id="25" name="Note icon circle"/>
          <p:cNvSpPr/>
          <p:nvPr/>
        </p:nvSpPr>
        <p:spPr>
          <a:xfrm>
            <a:off x="731520" y="5893308"/>
            <a:ext cx="365760" cy="365760"/>
          </a:xfrm>
          <a:prstGeom prst="ellipse">
            <a:avLst/>
          </a:prstGeom>
          <a:solidFill>
            <a:schemeClr val="accent2"/>
          </a:solidFill>
          <a:ln w="12700">
            <a:solidFill>
              <a:schemeClr val="accent2"/>
            </a:solidFill>
            <a:prstDash val="solid"/>
          </a:ln>
        </p:spPr>
      </p:sp>
      <p:pic>
        <p:nvPicPr>
          <p:cNvPr id="26" name="Note icon" descr="Note icon">    </p:cNvPr>
          <p:cNvPicPr>
            <a:picLocks noChangeAspect="1"/>
          </p:cNvPicPr>
          <p:nvPr/>
        </p:nvPicPr>
        <p:blipFill>
          <a:blip r:embed="rId5"/>
          <a:stretch>
            <a:fillRect/>
          </a:stretch>
        </p:blipFill>
        <p:spPr>
          <a:xfrm>
            <a:off x="822960" y="5984748"/>
            <a:ext cx="182880" cy="182880"/>
          </a:xfrm>
          <a:prstGeom prst="rect">
            <a:avLst/>
          </a:prstGeom>
        </p:spPr>
      </p:pic>
      <p:sp>
        <p:nvSpPr>
          <p:cNvPr id="27" name="Note text"/>
          <p:cNvSpPr txBox="1"/>
          <p:nvPr/>
        </p:nvSpPr>
        <p:spPr>
          <a:xfrm>
            <a:off x="1280160" y="5870448"/>
            <a:ext cx="10149840" cy="411480"/>
          </a:xfrm>
          <a:prstGeom prst="rect">
            <a:avLst/>
          </a:prstGeom>
          <a:noFill/>
          <a:ln/>
        </p:spPr>
        <p:txBody>
          <a:bodyPr wrap="square" lIns="0" tIns="0" rIns="0" bIns="0" rtlCol="0" anchor="ctr"/>
          <a:lstStyle/>
          <a:p>
            <a:pPr indent="0" marL="0">
              <a:buNone/>
            </a:pPr>
            <a:r>
              <a:rPr lang="en-US" sz="1400" dirty="0">
                <a:solidFill>
                  <a:schemeClr val="tx1"/>
                </a:solidFill>
              </a:rPr>
              <a:t>All of these activities are carried out in voluntary mode, without an official headcount.</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p:cNvSpPr txBox="1"/>
          <p:nvPr/>
        </p:nvSpPr>
        <p:spPr>
          <a:xfrm>
            <a:off x="548640" y="274320"/>
            <a:ext cx="11064240" cy="640080"/>
          </a:xfrm>
          <a:prstGeom prst="rect">
            <a:avLst/>
          </a:prstGeom>
          <a:noFill/>
          <a:ln/>
        </p:spPr>
        <p:txBody>
          <a:bodyPr wrap="square" lIns="0" tIns="0" rIns="0" bIns="0" rtlCol="0" anchor="ctr"/>
          <a:lstStyle/>
          <a:p>
            <a:pPr indent="0" marL="0">
              <a:buNone/>
            </a:pPr>
            <a:r>
              <a:rPr lang="en-US" sz="3200" b="1" dirty="0">
                <a:solidFill>
                  <a:schemeClr val="accent1"/>
                </a:solidFill>
              </a:rPr>
              <a:t>Engagement model and key contacts</a:t>
            </a:r>
            <a:endParaRPr lang="en-US" sz="3200" dirty="0"/>
          </a:p>
        </p:txBody>
      </p:sp>
      <p:sp>
        <p:nvSpPr>
          <p:cNvPr id="3" name="Catalyst change band"/>
          <p:cNvSpPr/>
          <p:nvPr/>
        </p:nvSpPr>
        <p:spPr>
          <a:xfrm>
            <a:off x="548640" y="1097280"/>
            <a:ext cx="11064240" cy="868680"/>
          </a:xfrm>
          <a:prstGeom prst="roundRect">
            <a:avLst>
              <a:gd name="adj" fmla="val 8421"/>
            </a:avLst>
          </a:prstGeom>
          <a:solidFill>
            <a:schemeClr val="accent1"/>
          </a:solidFill>
          <a:ln w="12700">
            <a:solidFill>
              <a:schemeClr val="accent1"/>
            </a:solidFill>
            <a:prstDash val="solid"/>
          </a:ln>
        </p:spPr>
      </p:sp>
      <p:sp>
        <p:nvSpPr>
          <p:cNvPr id="4" name="Catalyst change icon circle"/>
          <p:cNvSpPr/>
          <p:nvPr/>
        </p:nvSpPr>
        <p:spPr>
          <a:xfrm>
            <a:off x="777240" y="1280160"/>
            <a:ext cx="502920" cy="502920"/>
          </a:xfrm>
          <a:prstGeom prst="ellipse">
            <a:avLst/>
          </a:prstGeom>
          <a:solidFill>
            <a:schemeClr val="tx2"/>
          </a:solidFill>
          <a:ln w="12700">
            <a:solidFill>
              <a:schemeClr val="tx2"/>
            </a:solidFill>
            <a:prstDash val="solid"/>
          </a:ln>
        </p:spPr>
      </p:sp>
      <p:pic>
        <p:nvPicPr>
          <p:cNvPr id="5" name="Catalyst change icon" descr="Catalyst change icon">    </p:cNvPr>
          <p:cNvPicPr>
            <a:picLocks noChangeAspect="1"/>
          </p:cNvPicPr>
          <p:nvPr/>
        </p:nvPicPr>
        <p:blipFill>
          <a:blip r:embed="rId1"/>
          <a:stretch>
            <a:fillRect/>
          </a:stretch>
        </p:blipFill>
        <p:spPr>
          <a:xfrm>
            <a:off x="902970" y="1405890"/>
            <a:ext cx="251460" cy="251460"/>
          </a:xfrm>
          <a:prstGeom prst="rect">
            <a:avLst/>
          </a:prstGeom>
        </p:spPr>
      </p:pic>
      <p:sp>
        <p:nvSpPr>
          <p:cNvPr id="6" name="Catalyst change text"/>
          <p:cNvSpPr txBox="1"/>
          <p:nvPr/>
        </p:nvSpPr>
        <p:spPr>
          <a:xfrm>
            <a:off x="1508760" y="1097280"/>
            <a:ext cx="9875520" cy="868680"/>
          </a:xfrm>
          <a:prstGeom prst="rect">
            <a:avLst/>
          </a:prstGeom>
          <a:noFill/>
          <a:ln/>
        </p:spPr>
        <p:txBody>
          <a:bodyPr wrap="square" lIns="0" tIns="0" rIns="0" bIns="0" rtlCol="0" anchor="ctr"/>
          <a:lstStyle/>
          <a:p>
            <a:pPr indent="0" marL="0">
              <a:buNone/>
            </a:pPr>
            <a:r>
              <a:rPr lang="en-US" sz="1800" b="1" dirty="0">
                <a:solidFill>
                  <a:schemeClr val="bg1"/>
                </a:solidFill>
              </a:rPr>
              <a:t>Change in global 2S catalyst: </a:t>
            </a:r>
            <a:pPr indent="0" marL="0">
              <a:buNone/>
            </a:pPr>
            <a:r>
              <a:rPr lang="en-US" sz="1800" dirty="0">
                <a:solidFill>
                  <a:schemeClr val="bg1"/>
                </a:solidFill>
              </a:rPr>
              <a:t>Arthur has been relieved and has been replaced by Pham Duc (Poland).</a:t>
            </a:r>
            <a:endParaRPr lang="en-US" sz="1800" dirty="0"/>
          </a:p>
        </p:txBody>
      </p:sp>
      <p:sp>
        <p:nvSpPr>
          <p:cNvPr id="7" name="Cadence card"/>
          <p:cNvSpPr/>
          <p:nvPr/>
        </p:nvSpPr>
        <p:spPr>
          <a:xfrm>
            <a:off x="548640" y="2148840"/>
            <a:ext cx="5440680" cy="3017520"/>
          </a:xfrm>
          <a:prstGeom prst="roundRect">
            <a:avLst>
              <a:gd name="adj" fmla="val 2424"/>
            </a:avLst>
          </a:prstGeom>
          <a:solidFill>
            <a:schemeClr val="bg2"/>
          </a:solidFill>
          <a:ln w="12700">
            <a:solidFill>
              <a:schemeClr val="bg2"/>
            </a:solidFill>
            <a:prstDash val="solid"/>
          </a:ln>
        </p:spPr>
      </p:sp>
      <p:sp>
        <p:nvSpPr>
          <p:cNvPr id="8" name="Cadence icon circle"/>
          <p:cNvSpPr/>
          <p:nvPr/>
        </p:nvSpPr>
        <p:spPr>
          <a:xfrm>
            <a:off x="777240" y="2331720"/>
            <a:ext cx="457200" cy="457200"/>
          </a:xfrm>
          <a:prstGeom prst="ellipse">
            <a:avLst/>
          </a:prstGeom>
          <a:solidFill>
            <a:schemeClr val="accent1"/>
          </a:solidFill>
          <a:ln w="12700">
            <a:solidFill>
              <a:schemeClr val="accent1"/>
            </a:solidFill>
            <a:prstDash val="solid"/>
          </a:ln>
        </p:spPr>
      </p:sp>
      <p:pic>
        <p:nvPicPr>
          <p:cNvPr id="9" name="Cadence icon" descr="Cadence icon">    </p:cNvPr>
          <p:cNvPicPr>
            <a:picLocks noChangeAspect="1"/>
          </p:cNvPicPr>
          <p:nvPr/>
        </p:nvPicPr>
        <p:blipFill>
          <a:blip r:embed="rId2"/>
          <a:stretch>
            <a:fillRect/>
          </a:stretch>
        </p:blipFill>
        <p:spPr>
          <a:xfrm>
            <a:off x="891540" y="2446020"/>
            <a:ext cx="228600" cy="228600"/>
          </a:xfrm>
          <a:prstGeom prst="rect">
            <a:avLst/>
          </a:prstGeom>
        </p:spPr>
      </p:pic>
      <p:sp>
        <p:nvSpPr>
          <p:cNvPr id="10" name="Cadence header"/>
          <p:cNvSpPr txBox="1"/>
          <p:nvPr/>
        </p:nvSpPr>
        <p:spPr>
          <a:xfrm>
            <a:off x="1417320" y="2331720"/>
            <a:ext cx="4389120" cy="457200"/>
          </a:xfrm>
          <a:prstGeom prst="rect">
            <a:avLst/>
          </a:prstGeom>
          <a:noFill/>
          <a:ln/>
        </p:spPr>
        <p:txBody>
          <a:bodyPr wrap="square" lIns="0" tIns="0" rIns="0" bIns="0" rtlCol="0" anchor="ctr"/>
          <a:lstStyle/>
          <a:p>
            <a:pPr indent="0" marL="0">
              <a:buNone/>
            </a:pPr>
            <a:r>
              <a:rPr lang="en-US" sz="1800" b="1" dirty="0">
                <a:solidFill>
                  <a:schemeClr val="tx2"/>
                </a:solidFill>
              </a:rPr>
              <a:t>Connect cadence followed with Arthur</a:t>
            </a:r>
            <a:endParaRPr lang="en-US" sz="1800" dirty="0"/>
          </a:p>
        </p:txBody>
      </p:sp>
      <p:sp>
        <p:nvSpPr>
          <p:cNvPr id="11" name="Cadence body"/>
          <p:cNvSpPr txBox="1"/>
          <p:nvPr/>
        </p:nvSpPr>
        <p:spPr>
          <a:xfrm>
            <a:off x="822960" y="2880360"/>
            <a:ext cx="4892040" cy="2148840"/>
          </a:xfrm>
          <a:prstGeom prst="rect">
            <a:avLst/>
          </a:prstGeom>
          <a:noFill/>
          <a:ln/>
        </p:spPr>
        <p:txBody>
          <a:bodyPr wrap="square" lIns="0" tIns="0" rIns="0" bIns="0" rtlCol="0" anchor="t"/>
          <a:lstStyle/>
          <a:p>
            <a:pPr marL="342900" indent="-342900">
              <a:spcAft>
                <a:spcPts val="500"/>
              </a:spcAft>
              <a:buSzPct val="100000"/>
              <a:buChar char="•"/>
            </a:pPr>
            <a:r>
              <a:rPr lang="en-US" sz="1400" b="1" dirty="0">
                <a:solidFill>
                  <a:schemeClr val="tx1"/>
                </a:solidFill>
              </a:rPr>
              <a:t>Monthly: </a:t>
            </a:r>
            <a:pPr indent="0" marL="0">
              <a:spcAft>
                <a:spcPts val="500"/>
              </a:spcAft>
              <a:buNone/>
            </a:pPr>
            <a:r>
              <a:rPr lang="en-US" sz="1400" dirty="0">
                <a:solidFill>
                  <a:schemeClr val="tx1"/>
                </a:solidFill>
              </a:rPr>
              <a:t>connect with the global catalyst to share updates on initiatives</a:t>
            </a:r>
            <a:endParaRPr lang="en-US" sz="1400" dirty="0"/>
          </a:p>
          <a:p>
            <a:pPr marL="342900" indent="-342900">
              <a:spcAft>
                <a:spcPts val="500"/>
              </a:spcAft>
              <a:buSzPct val="100000"/>
              <a:buChar char="•"/>
            </a:pPr>
            <a:r>
              <a:rPr lang="en-US" sz="1400" b="1" dirty="0">
                <a:solidFill>
                  <a:schemeClr val="tx1"/>
                </a:solidFill>
              </a:rPr>
              <a:t>Bi-weekly: </a:t>
            </a:r>
            <a:pPr indent="0" marL="0">
              <a:spcAft>
                <a:spcPts val="500"/>
              </a:spcAft>
              <a:buNone/>
            </a:pPr>
            <a:r>
              <a:rPr lang="en-US" sz="1400" dirty="0">
                <a:solidFill>
                  <a:schemeClr val="tx1"/>
                </a:solidFill>
              </a:rPr>
              <a:t>India-side progress update shared with the catalyst</a:t>
            </a:r>
            <a:endParaRPr lang="en-US" sz="1400" dirty="0"/>
          </a:p>
          <a:p>
            <a:pPr marL="342900" indent="-342900">
              <a:spcAft>
                <a:spcPts val="500"/>
              </a:spcAft>
              <a:buSzPct val="100000"/>
              <a:buChar char="•"/>
            </a:pPr>
            <a:r>
              <a:rPr lang="en-US" sz="1400" b="1" dirty="0">
                <a:solidFill>
                  <a:schemeClr val="tx1"/>
                </a:solidFill>
              </a:rPr>
              <a:t>Bi-weekly, Fridays: </a:t>
            </a:r>
            <a:pPr indent="0" marL="0">
              <a:spcAft>
                <a:spcPts val="500"/>
              </a:spcAft>
              <a:buNone/>
            </a:pPr>
            <a:r>
              <a:rPr lang="en-US" sz="1400" dirty="0">
                <a:solidFill>
                  <a:schemeClr val="tx1"/>
                </a:solidFill>
              </a:rPr>
              <a:t>catalyst's connect with all 2S AI champions</a:t>
            </a:r>
            <a:endParaRPr lang="en-US" sz="1400" dirty="0"/>
          </a:p>
        </p:txBody>
      </p:sp>
      <p:sp>
        <p:nvSpPr>
          <p:cNvPr id="12" name="Contacts card"/>
          <p:cNvSpPr/>
          <p:nvPr/>
        </p:nvSpPr>
        <p:spPr>
          <a:xfrm>
            <a:off x="6172200" y="2148840"/>
            <a:ext cx="5440680" cy="3017520"/>
          </a:xfrm>
          <a:prstGeom prst="roundRect">
            <a:avLst>
              <a:gd name="adj" fmla="val 2424"/>
            </a:avLst>
          </a:prstGeom>
          <a:solidFill>
            <a:schemeClr val="bg2"/>
          </a:solidFill>
          <a:ln w="12700">
            <a:solidFill>
              <a:schemeClr val="bg2"/>
            </a:solidFill>
            <a:prstDash val="solid"/>
          </a:ln>
        </p:spPr>
      </p:sp>
      <p:sp>
        <p:nvSpPr>
          <p:cNvPr id="13" name="Contacts icon circle"/>
          <p:cNvSpPr/>
          <p:nvPr/>
        </p:nvSpPr>
        <p:spPr>
          <a:xfrm>
            <a:off x="6400800" y="2331720"/>
            <a:ext cx="457200" cy="457200"/>
          </a:xfrm>
          <a:prstGeom prst="ellipse">
            <a:avLst/>
          </a:prstGeom>
          <a:solidFill>
            <a:schemeClr val="accent1"/>
          </a:solidFill>
          <a:ln w="12700">
            <a:solidFill>
              <a:schemeClr val="accent1"/>
            </a:solidFill>
            <a:prstDash val="solid"/>
          </a:ln>
        </p:spPr>
      </p:sp>
      <p:pic>
        <p:nvPicPr>
          <p:cNvPr id="14" name="Contacts icon" descr="Contacts icon">    </p:cNvPr>
          <p:cNvPicPr>
            <a:picLocks noChangeAspect="1"/>
          </p:cNvPicPr>
          <p:nvPr/>
        </p:nvPicPr>
        <p:blipFill>
          <a:blip r:embed="rId3"/>
          <a:stretch>
            <a:fillRect/>
          </a:stretch>
        </p:blipFill>
        <p:spPr>
          <a:xfrm>
            <a:off x="6515100" y="2446020"/>
            <a:ext cx="228600" cy="228600"/>
          </a:xfrm>
          <a:prstGeom prst="rect">
            <a:avLst/>
          </a:prstGeom>
        </p:spPr>
      </p:pic>
      <p:sp>
        <p:nvSpPr>
          <p:cNvPr id="15" name="Contacts header"/>
          <p:cNvSpPr txBox="1"/>
          <p:nvPr/>
        </p:nvSpPr>
        <p:spPr>
          <a:xfrm>
            <a:off x="7040880" y="2331720"/>
            <a:ext cx="4389120" cy="457200"/>
          </a:xfrm>
          <a:prstGeom prst="rect">
            <a:avLst/>
          </a:prstGeom>
          <a:noFill/>
          <a:ln/>
        </p:spPr>
        <p:txBody>
          <a:bodyPr wrap="square" lIns="0" tIns="0" rIns="0" bIns="0" rtlCol="0" anchor="ctr"/>
          <a:lstStyle/>
          <a:p>
            <a:pPr indent="0" marL="0">
              <a:buNone/>
            </a:pPr>
            <a:r>
              <a:rPr lang="en-US" sz="1800" b="1" dirty="0">
                <a:solidFill>
                  <a:schemeClr val="tx2"/>
                </a:solidFill>
              </a:rPr>
              <a:t>AI Acceleration team, India: contacts</a:t>
            </a:r>
            <a:endParaRPr lang="en-US" sz="1800" dirty="0"/>
          </a:p>
        </p:txBody>
      </p:sp>
      <p:sp>
        <p:nvSpPr>
          <p:cNvPr id="16" name="Contacts body"/>
          <p:cNvSpPr txBox="1"/>
          <p:nvPr/>
        </p:nvSpPr>
        <p:spPr>
          <a:xfrm>
            <a:off x="6446520" y="2880360"/>
            <a:ext cx="4892040" cy="2148840"/>
          </a:xfrm>
          <a:prstGeom prst="rect">
            <a:avLst/>
          </a:prstGeom>
          <a:noFill/>
          <a:ln/>
        </p:spPr>
        <p:txBody>
          <a:bodyPr wrap="square" lIns="0" tIns="0" rIns="0" bIns="0" rtlCol="0" anchor="t"/>
          <a:lstStyle/>
          <a:p>
            <a:pPr marL="342900" indent="-342900">
              <a:spcAft>
                <a:spcPts val="500"/>
              </a:spcAft>
              <a:buSzPct val="100000"/>
              <a:buChar char="•"/>
            </a:pPr>
            <a:r>
              <a:rPr lang="en-US" sz="1400" b="1" dirty="0">
                <a:solidFill>
                  <a:schemeClr val="tx1"/>
                </a:solidFill>
              </a:rPr>
              <a:t>Mayur: </a:t>
            </a:r>
            <a:pPr indent="0" marL="0">
              <a:spcAft>
                <a:spcPts val="500"/>
              </a:spcAft>
              <a:buNone/>
            </a:pPr>
            <a:r>
              <a:rPr lang="en-US" sz="1400" dirty="0">
                <a:solidFill>
                  <a:schemeClr val="tx1"/>
                </a:solidFill>
              </a:rPr>
              <a:t>owner and SPOC for Control Tower data</a:t>
            </a:r>
            <a:endParaRPr lang="en-US" sz="1400" dirty="0"/>
          </a:p>
          <a:p>
            <a:pPr marL="342900" indent="-342900">
              <a:spcAft>
                <a:spcPts val="500"/>
              </a:spcAft>
              <a:buSzPct val="100000"/>
              <a:buChar char="•"/>
            </a:pPr>
            <a:r>
              <a:rPr lang="en-US" sz="1400" b="1" dirty="0">
                <a:solidFill>
                  <a:schemeClr val="tx1"/>
                </a:solidFill>
              </a:rPr>
              <a:t>Divya Aiyer: </a:t>
            </a:r>
            <a:pPr indent="0" marL="0">
              <a:spcAft>
                <a:spcPts val="500"/>
              </a:spcAft>
              <a:buNone/>
            </a:pPr>
            <a:r>
              <a:rPr lang="en-US" sz="1400" dirty="0">
                <a:solidFill>
                  <a:schemeClr val="tx1"/>
                </a:solidFill>
              </a:rPr>
              <a:t>SPOC for upskilling on AI topics</a:t>
            </a:r>
            <a:endParaRPr lang="en-US" sz="1400" dirty="0"/>
          </a:p>
          <a:p>
            <a:pPr marL="342900" indent="-342900">
              <a:spcAft>
                <a:spcPts val="500"/>
              </a:spcAft>
              <a:buSzPct val="100000"/>
              <a:buChar char="•"/>
            </a:pPr>
            <a:r>
              <a:rPr lang="en-US" sz="1400" b="1" dirty="0">
                <a:solidFill>
                  <a:schemeClr val="tx1"/>
                </a:solidFill>
              </a:rPr>
              <a:t>Jhelum: </a:t>
            </a:r>
            <a:pPr indent="0" marL="0">
              <a:spcAft>
                <a:spcPts val="500"/>
              </a:spcAft>
              <a:buNone/>
            </a:pPr>
            <a:r>
              <a:rPr lang="en-US" sz="1400" dirty="0">
                <a:solidFill>
                  <a:schemeClr val="tx1"/>
                </a:solidFill>
              </a:rPr>
              <a:t>point of contact for models, concerns and use cases; regular connect with catalyst and HODs, along with Alexander and Alban</a:t>
            </a:r>
            <a:endParaRPr lang="en-US" sz="1400" dirty="0"/>
          </a:p>
          <a:p>
            <a:pPr marL="342900" indent="-342900">
              <a:spcAft>
                <a:spcPts val="500"/>
              </a:spcAft>
              <a:buSzPct val="100000"/>
              <a:buChar char="•"/>
            </a:pPr>
            <a:r>
              <a:rPr lang="en-US" sz="1400" b="1" dirty="0">
                <a:solidFill>
                  <a:schemeClr val="tx1"/>
                </a:solidFill>
              </a:rPr>
              <a:t>Synergy meetings: </a:t>
            </a:r>
            <a:pPr indent="0" marL="0">
              <a:spcAft>
                <a:spcPts val="500"/>
              </a:spcAft>
              <a:buNone/>
            </a:pPr>
            <a:r>
              <a:rPr lang="en-US" sz="1400" dirty="0">
                <a:solidFill>
                  <a:schemeClr val="tx1"/>
                </a:solidFill>
              </a:rPr>
              <a:t>regular connects on use cases built across clusters; catalysts receive the invites</a:t>
            </a:r>
            <a:endParaRPr lang="en-US" sz="1400" dirty="0"/>
          </a:p>
        </p:txBody>
      </p:sp>
      <p:sp>
        <p:nvSpPr>
          <p:cNvPr id="17" name="Data consistency card"/>
          <p:cNvSpPr/>
          <p:nvPr/>
        </p:nvSpPr>
        <p:spPr>
          <a:xfrm>
            <a:off x="548640" y="5303520"/>
            <a:ext cx="5440680" cy="868680"/>
          </a:xfrm>
          <a:prstGeom prst="roundRect">
            <a:avLst>
              <a:gd name="adj" fmla="val 8421"/>
            </a:avLst>
          </a:prstGeom>
          <a:solidFill>
            <a:schemeClr val="accent3"/>
          </a:solidFill>
          <a:ln w="12700">
            <a:solidFill>
              <a:schemeClr val="accent3"/>
            </a:solidFill>
            <a:prstDash val="solid"/>
          </a:ln>
        </p:spPr>
      </p:sp>
      <p:sp>
        <p:nvSpPr>
          <p:cNvPr id="18" name="Data consistency icon circle"/>
          <p:cNvSpPr/>
          <p:nvPr/>
        </p:nvSpPr>
        <p:spPr>
          <a:xfrm>
            <a:off x="777240" y="5509260"/>
            <a:ext cx="457200" cy="457200"/>
          </a:xfrm>
          <a:prstGeom prst="ellipse">
            <a:avLst/>
          </a:prstGeom>
          <a:solidFill>
            <a:schemeClr val="accent2"/>
          </a:solidFill>
          <a:ln w="12700">
            <a:solidFill>
              <a:schemeClr val="accent2"/>
            </a:solidFill>
            <a:prstDash val="solid"/>
          </a:ln>
        </p:spPr>
      </p:sp>
      <p:pic>
        <p:nvPicPr>
          <p:cNvPr id="19" name="Data consistency icon" descr="Data consistency icon">    </p:cNvPr>
          <p:cNvPicPr>
            <a:picLocks noChangeAspect="1"/>
          </p:cNvPicPr>
          <p:nvPr/>
        </p:nvPicPr>
        <p:blipFill>
          <a:blip r:embed="rId4"/>
          <a:stretch>
            <a:fillRect/>
          </a:stretch>
        </p:blipFill>
        <p:spPr>
          <a:xfrm>
            <a:off x="891540" y="5623560"/>
            <a:ext cx="228600" cy="228600"/>
          </a:xfrm>
          <a:prstGeom prst="rect">
            <a:avLst/>
          </a:prstGeom>
        </p:spPr>
      </p:pic>
      <p:sp>
        <p:nvSpPr>
          <p:cNvPr id="20" name="Data consistency text"/>
          <p:cNvSpPr txBox="1"/>
          <p:nvPr/>
        </p:nvSpPr>
        <p:spPr>
          <a:xfrm>
            <a:off x="1417320" y="5303520"/>
            <a:ext cx="4389120" cy="868680"/>
          </a:xfrm>
          <a:prstGeom prst="rect">
            <a:avLst/>
          </a:prstGeom>
          <a:noFill/>
          <a:ln/>
        </p:spPr>
        <p:txBody>
          <a:bodyPr wrap="square" lIns="0" tIns="0" rIns="0" bIns="0" rtlCol="0" anchor="ctr"/>
          <a:lstStyle/>
          <a:p>
            <a:pPr indent="0" marL="0">
              <a:buNone/>
            </a:pPr>
            <a:r>
              <a:rPr lang="en-US" sz="1400" dirty="0">
                <a:solidFill>
                  <a:schemeClr val="tx1"/>
                </a:solidFill>
              </a:rPr>
              <a:t>Adoption metrics were sent to HODs and teams by Pravin. The catalyst cross-checks his CIO ComEx slides with us to avoid conflicting data.</a:t>
            </a:r>
            <a:endParaRPr lang="en-US" sz="1400" dirty="0"/>
          </a:p>
        </p:txBody>
      </p:sp>
      <p:sp>
        <p:nvSpPr>
          <p:cNvPr id="21" name="Redirection card"/>
          <p:cNvSpPr/>
          <p:nvPr/>
        </p:nvSpPr>
        <p:spPr>
          <a:xfrm>
            <a:off x="6172200" y="5303520"/>
            <a:ext cx="5440680" cy="868680"/>
          </a:xfrm>
          <a:prstGeom prst="roundRect">
            <a:avLst>
              <a:gd name="adj" fmla="val 8421"/>
            </a:avLst>
          </a:prstGeom>
          <a:solidFill>
            <a:schemeClr val="accent3"/>
          </a:solidFill>
          <a:ln w="12700">
            <a:solidFill>
              <a:schemeClr val="accent3"/>
            </a:solidFill>
            <a:prstDash val="solid"/>
          </a:ln>
        </p:spPr>
      </p:sp>
      <p:sp>
        <p:nvSpPr>
          <p:cNvPr id="22" name="Redirection icon circle"/>
          <p:cNvSpPr/>
          <p:nvPr/>
        </p:nvSpPr>
        <p:spPr>
          <a:xfrm>
            <a:off x="6400800" y="5509260"/>
            <a:ext cx="457200" cy="457200"/>
          </a:xfrm>
          <a:prstGeom prst="ellipse">
            <a:avLst/>
          </a:prstGeom>
          <a:solidFill>
            <a:schemeClr val="accent2"/>
          </a:solidFill>
          <a:ln w="12700">
            <a:solidFill>
              <a:schemeClr val="accent2"/>
            </a:solidFill>
            <a:prstDash val="solid"/>
          </a:ln>
        </p:spPr>
      </p:sp>
      <p:pic>
        <p:nvPicPr>
          <p:cNvPr id="23" name="Redirection icon" descr="Redirection icon">    </p:cNvPr>
          <p:cNvPicPr>
            <a:picLocks noChangeAspect="1"/>
          </p:cNvPicPr>
          <p:nvPr/>
        </p:nvPicPr>
        <p:blipFill>
          <a:blip r:embed="rId5"/>
          <a:stretch>
            <a:fillRect/>
          </a:stretch>
        </p:blipFill>
        <p:spPr>
          <a:xfrm>
            <a:off x="6515100" y="5623560"/>
            <a:ext cx="228600" cy="228600"/>
          </a:xfrm>
          <a:prstGeom prst="rect">
            <a:avLst/>
          </a:prstGeom>
        </p:spPr>
      </p:pic>
      <p:sp>
        <p:nvSpPr>
          <p:cNvPr id="24" name="Redirection text"/>
          <p:cNvSpPr txBox="1"/>
          <p:nvPr/>
        </p:nvSpPr>
        <p:spPr>
          <a:xfrm>
            <a:off x="7040880" y="5303520"/>
            <a:ext cx="4389120" cy="868680"/>
          </a:xfrm>
          <a:prstGeom prst="rect">
            <a:avLst/>
          </a:prstGeom>
          <a:noFill/>
          <a:ln/>
        </p:spPr>
        <p:txBody>
          <a:bodyPr wrap="square" lIns="0" tIns="0" rIns="0" bIns="0" rtlCol="0" anchor="ctr"/>
          <a:lstStyle/>
          <a:p>
            <a:pPr indent="0" marL="0">
              <a:buNone/>
            </a:pPr>
            <a:r>
              <a:rPr lang="en-US" sz="1400" dirty="0">
                <a:solidFill>
                  <a:schemeClr val="tx1"/>
                </a:solidFill>
              </a:rPr>
              <a:t>Technical concerns beyond configuration practices are redirected to the AI Acceleration team in Mumbai.</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cNvSpPr txBox="1"/>
          <p:nvPr/>
        </p:nvSpPr>
        <p:spPr>
          <a:xfrm>
            <a:off x="548640" y="274320"/>
            <a:ext cx="11064240" cy="640080"/>
          </a:xfrm>
          <a:prstGeom prst="rect">
            <a:avLst/>
          </a:prstGeom>
          <a:noFill/>
          <a:ln/>
        </p:spPr>
        <p:txBody>
          <a:bodyPr wrap="square" lIns="0" tIns="0" rIns="0" bIns="0" rtlCol="0" anchor="ctr"/>
          <a:lstStyle/>
          <a:p>
            <a:pPr indent="0" marL="0">
              <a:buNone/>
            </a:pPr>
            <a:r>
              <a:rPr lang="en-US" sz="3200" b="1" dirty="0">
                <a:solidFill>
                  <a:schemeClr val="accent1"/>
                </a:solidFill>
              </a:rPr>
              <a:t>Use case support journey</a:t>
            </a:r>
            <a:endParaRPr lang="en-US" sz="3200" dirty="0"/>
          </a:p>
        </p:txBody>
      </p:sp>
      <p:sp>
        <p:nvSpPr>
          <p:cNvPr id="3" name="Subtitle"/>
          <p:cNvSpPr txBox="1"/>
          <p:nvPr/>
        </p:nvSpPr>
        <p:spPr>
          <a:xfrm>
            <a:off x="548640" y="914400"/>
            <a:ext cx="11064240" cy="320040"/>
          </a:xfrm>
          <a:prstGeom prst="rect">
            <a:avLst/>
          </a:prstGeom>
          <a:noFill/>
          <a:ln/>
        </p:spPr>
        <p:txBody>
          <a:bodyPr wrap="square" lIns="0" tIns="0" rIns="0" bIns="0" rtlCol="0" anchor="ctr"/>
          <a:lstStyle/>
          <a:p>
            <a:pPr indent="0" marL="0">
              <a:buNone/>
            </a:pPr>
            <a:r>
              <a:rPr lang="en-US" sz="1400" dirty="0">
                <a:solidFill>
                  <a:schemeClr val="accent2"/>
                </a:solidFill>
              </a:rPr>
              <a:t>Teams are expected to drive these steps themselves and reach out to us when they need help</a:t>
            </a:r>
            <a:endParaRPr lang="en-US" sz="1400" dirty="0"/>
          </a:p>
        </p:txBody>
      </p:sp>
      <p:sp>
        <p:nvSpPr>
          <p:cNvPr id="4" name="Step 1 card"/>
          <p:cNvSpPr/>
          <p:nvPr/>
        </p:nvSpPr>
        <p:spPr>
          <a:xfrm>
            <a:off x="548640" y="1417320"/>
            <a:ext cx="2066544" cy="2788920"/>
          </a:xfrm>
          <a:prstGeom prst="roundRect">
            <a:avLst>
              <a:gd name="adj" fmla="val 3540"/>
            </a:avLst>
          </a:prstGeom>
          <a:solidFill>
            <a:schemeClr val="bg2"/>
          </a:solidFill>
          <a:ln w="12700">
            <a:solidFill>
              <a:schemeClr val="bg2"/>
            </a:solidFill>
            <a:prstDash val="solid"/>
          </a:ln>
        </p:spPr>
      </p:sp>
      <p:sp>
        <p:nvSpPr>
          <p:cNvPr id="5" name="Step 1 icon circle"/>
          <p:cNvSpPr/>
          <p:nvPr/>
        </p:nvSpPr>
        <p:spPr>
          <a:xfrm>
            <a:off x="731520" y="1600200"/>
            <a:ext cx="502920" cy="502920"/>
          </a:xfrm>
          <a:prstGeom prst="ellipse">
            <a:avLst/>
          </a:prstGeom>
          <a:solidFill>
            <a:schemeClr val="accent1"/>
          </a:solidFill>
          <a:ln w="12700">
            <a:solidFill>
              <a:schemeClr val="accent1"/>
            </a:solidFill>
            <a:prstDash val="solid"/>
          </a:ln>
        </p:spPr>
      </p:sp>
      <p:pic>
        <p:nvPicPr>
          <p:cNvPr id="6" name="Step 1 icon" descr="Step 1 icon">    </p:cNvPr>
          <p:cNvPicPr>
            <a:picLocks noChangeAspect="1"/>
          </p:cNvPicPr>
          <p:nvPr/>
        </p:nvPicPr>
        <p:blipFill>
          <a:blip r:embed="rId1"/>
          <a:stretch>
            <a:fillRect/>
          </a:stretch>
        </p:blipFill>
        <p:spPr>
          <a:xfrm>
            <a:off x="857250" y="1725930"/>
            <a:ext cx="251460" cy="251460"/>
          </a:xfrm>
          <a:prstGeom prst="rect">
            <a:avLst/>
          </a:prstGeom>
        </p:spPr>
      </p:pic>
      <p:sp>
        <p:nvSpPr>
          <p:cNvPr id="7" name="Step 1 number"/>
          <p:cNvSpPr txBox="1"/>
          <p:nvPr/>
        </p:nvSpPr>
        <p:spPr>
          <a:xfrm>
            <a:off x="1975104" y="1600200"/>
            <a:ext cx="457200" cy="502920"/>
          </a:xfrm>
          <a:prstGeom prst="rect">
            <a:avLst/>
          </a:prstGeom>
          <a:noFill/>
          <a:ln/>
        </p:spPr>
        <p:txBody>
          <a:bodyPr wrap="square" lIns="0" tIns="0" rIns="0" bIns="0" rtlCol="0" anchor="ctr"/>
          <a:lstStyle/>
          <a:p>
            <a:pPr algn="r" indent="0" marL="0">
              <a:buNone/>
            </a:pPr>
            <a:r>
              <a:rPr lang="en-US" sz="2400" b="1" dirty="0">
                <a:solidFill>
                  <a:schemeClr val="accent5"/>
                </a:solidFill>
              </a:rPr>
              <a:t>1</a:t>
            </a:r>
            <a:endParaRPr lang="en-US" sz="2400" dirty="0"/>
          </a:p>
        </p:txBody>
      </p:sp>
      <p:sp>
        <p:nvSpPr>
          <p:cNvPr id="8" name="Step 1 header"/>
          <p:cNvSpPr txBox="1"/>
          <p:nvPr/>
        </p:nvSpPr>
        <p:spPr>
          <a:xfrm>
            <a:off x="731520" y="2240280"/>
            <a:ext cx="1700784" cy="548640"/>
          </a:xfrm>
          <a:prstGeom prst="rect">
            <a:avLst/>
          </a:prstGeom>
          <a:noFill/>
          <a:ln/>
        </p:spPr>
        <p:txBody>
          <a:bodyPr wrap="square" lIns="0" tIns="0" rIns="0" bIns="0" rtlCol="0" anchor="t"/>
          <a:lstStyle/>
          <a:p>
            <a:pPr indent="0" marL="0">
              <a:buNone/>
            </a:pPr>
            <a:r>
              <a:rPr lang="en-US" sz="1600" b="1" dirty="0">
                <a:solidFill>
                  <a:schemeClr val="tx2"/>
                </a:solidFill>
              </a:rPr>
              <a:t>Registration</a:t>
            </a:r>
            <a:endParaRPr lang="en-US" sz="1600" dirty="0"/>
          </a:p>
        </p:txBody>
      </p:sp>
      <p:sp>
        <p:nvSpPr>
          <p:cNvPr id="9" name="Step 1 body"/>
          <p:cNvSpPr txBox="1"/>
          <p:nvPr/>
        </p:nvSpPr>
        <p:spPr>
          <a:xfrm>
            <a:off x="731520" y="2788920"/>
            <a:ext cx="1700784" cy="1325880"/>
          </a:xfrm>
          <a:prstGeom prst="rect">
            <a:avLst/>
          </a:prstGeom>
          <a:noFill/>
          <a:ln/>
        </p:spPr>
        <p:txBody>
          <a:bodyPr wrap="square" lIns="0" tIns="0" rIns="0" bIns="0" rtlCol="0" anchor="t"/>
          <a:lstStyle/>
          <a:p>
            <a:pPr indent="0" marL="0">
              <a:buNone/>
            </a:pPr>
            <a:r>
              <a:rPr lang="en-US" sz="1400" dirty="0">
                <a:solidFill>
                  <a:schemeClr val="tx1"/>
                </a:solidFill>
              </a:rPr>
              <a:t>Team coordinates directly with the domain catalyst, or we set it up together</a:t>
            </a:r>
            <a:endParaRPr lang="en-US" sz="1400" dirty="0"/>
          </a:p>
        </p:txBody>
      </p:sp>
      <p:sp>
        <p:nvSpPr>
          <p:cNvPr id="10" name="Step 2 card"/>
          <p:cNvSpPr/>
          <p:nvPr/>
        </p:nvSpPr>
        <p:spPr>
          <a:xfrm>
            <a:off x="2798064" y="1417320"/>
            <a:ext cx="2066544" cy="2788920"/>
          </a:xfrm>
          <a:prstGeom prst="roundRect">
            <a:avLst>
              <a:gd name="adj" fmla="val 3540"/>
            </a:avLst>
          </a:prstGeom>
          <a:solidFill>
            <a:schemeClr val="bg2"/>
          </a:solidFill>
          <a:ln w="12700">
            <a:solidFill>
              <a:schemeClr val="bg2"/>
            </a:solidFill>
            <a:prstDash val="solid"/>
          </a:ln>
        </p:spPr>
      </p:sp>
      <p:sp>
        <p:nvSpPr>
          <p:cNvPr id="11" name="Step 2 icon circle"/>
          <p:cNvSpPr/>
          <p:nvPr/>
        </p:nvSpPr>
        <p:spPr>
          <a:xfrm>
            <a:off x="2980944" y="1600200"/>
            <a:ext cx="502920" cy="502920"/>
          </a:xfrm>
          <a:prstGeom prst="ellipse">
            <a:avLst/>
          </a:prstGeom>
          <a:solidFill>
            <a:schemeClr val="accent1"/>
          </a:solidFill>
          <a:ln w="12700">
            <a:solidFill>
              <a:schemeClr val="accent1"/>
            </a:solidFill>
            <a:prstDash val="solid"/>
          </a:ln>
        </p:spPr>
      </p:sp>
      <p:pic>
        <p:nvPicPr>
          <p:cNvPr id="12" name="Step 2 icon" descr="Step 2 icon">    </p:cNvPr>
          <p:cNvPicPr>
            <a:picLocks noChangeAspect="1"/>
          </p:cNvPicPr>
          <p:nvPr/>
        </p:nvPicPr>
        <p:blipFill>
          <a:blip r:embed="rId2"/>
          <a:stretch>
            <a:fillRect/>
          </a:stretch>
        </p:blipFill>
        <p:spPr>
          <a:xfrm>
            <a:off x="3106674" y="1725930"/>
            <a:ext cx="251460" cy="251460"/>
          </a:xfrm>
          <a:prstGeom prst="rect">
            <a:avLst/>
          </a:prstGeom>
        </p:spPr>
      </p:pic>
      <p:sp>
        <p:nvSpPr>
          <p:cNvPr id="13" name="Step 2 number"/>
          <p:cNvSpPr txBox="1"/>
          <p:nvPr/>
        </p:nvSpPr>
        <p:spPr>
          <a:xfrm>
            <a:off x="4224528" y="1600200"/>
            <a:ext cx="457200" cy="502920"/>
          </a:xfrm>
          <a:prstGeom prst="rect">
            <a:avLst/>
          </a:prstGeom>
          <a:noFill/>
          <a:ln/>
        </p:spPr>
        <p:txBody>
          <a:bodyPr wrap="square" lIns="0" tIns="0" rIns="0" bIns="0" rtlCol="0" anchor="ctr"/>
          <a:lstStyle/>
          <a:p>
            <a:pPr algn="r" indent="0" marL="0">
              <a:buNone/>
            </a:pPr>
            <a:r>
              <a:rPr lang="en-US" sz="2400" b="1" dirty="0">
                <a:solidFill>
                  <a:schemeClr val="accent5"/>
                </a:solidFill>
              </a:rPr>
              <a:t>2</a:t>
            </a:r>
            <a:endParaRPr lang="en-US" sz="2400" dirty="0"/>
          </a:p>
        </p:txBody>
      </p:sp>
      <p:sp>
        <p:nvSpPr>
          <p:cNvPr id="14" name="Step 2 header"/>
          <p:cNvSpPr txBox="1"/>
          <p:nvPr/>
        </p:nvSpPr>
        <p:spPr>
          <a:xfrm>
            <a:off x="2980944" y="2240280"/>
            <a:ext cx="1700784" cy="548640"/>
          </a:xfrm>
          <a:prstGeom prst="rect">
            <a:avLst/>
          </a:prstGeom>
          <a:noFill/>
          <a:ln/>
        </p:spPr>
        <p:txBody>
          <a:bodyPr wrap="square" lIns="0" tIns="0" rIns="0" bIns="0" rtlCol="0" anchor="t"/>
          <a:lstStyle/>
          <a:p>
            <a:pPr indent="0" marL="0">
              <a:buNone/>
            </a:pPr>
            <a:r>
              <a:rPr lang="en-US" sz="1600" b="1" dirty="0">
                <a:solidFill>
                  <a:schemeClr val="tx2"/>
                </a:solidFill>
              </a:rPr>
              <a:t>Similarity check</a:t>
            </a:r>
            <a:endParaRPr lang="en-US" sz="1600" dirty="0"/>
          </a:p>
        </p:txBody>
      </p:sp>
      <p:sp>
        <p:nvSpPr>
          <p:cNvPr id="15" name="Step 2 body"/>
          <p:cNvSpPr txBox="1"/>
          <p:nvPr/>
        </p:nvSpPr>
        <p:spPr>
          <a:xfrm>
            <a:off x="2980944" y="2788920"/>
            <a:ext cx="1700784" cy="1325880"/>
          </a:xfrm>
          <a:prstGeom prst="rect">
            <a:avLst/>
          </a:prstGeom>
          <a:noFill/>
          <a:ln/>
        </p:spPr>
        <p:txBody>
          <a:bodyPr wrap="square" lIns="0" tIns="0" rIns="0" bIns="0" rtlCol="0" anchor="t"/>
          <a:lstStyle/>
          <a:p>
            <a:pPr indent="0" marL="0">
              <a:buNone/>
            </a:pPr>
            <a:r>
              <a:rPr lang="en-US" sz="1400" dirty="0">
                <a:solidFill>
                  <a:schemeClr val="tx1"/>
                </a:solidFill>
              </a:rPr>
              <a:t>Compared with the use case inventory to share effort and avoid duplicates</a:t>
            </a:r>
            <a:endParaRPr lang="en-US" sz="1400" dirty="0"/>
          </a:p>
        </p:txBody>
      </p:sp>
      <p:sp>
        <p:nvSpPr>
          <p:cNvPr id="16" name="Step 3 card"/>
          <p:cNvSpPr/>
          <p:nvPr/>
        </p:nvSpPr>
        <p:spPr>
          <a:xfrm>
            <a:off x="5047488" y="1417320"/>
            <a:ext cx="2066544" cy="2788920"/>
          </a:xfrm>
          <a:prstGeom prst="roundRect">
            <a:avLst>
              <a:gd name="adj" fmla="val 3540"/>
            </a:avLst>
          </a:prstGeom>
          <a:solidFill>
            <a:schemeClr val="bg2"/>
          </a:solidFill>
          <a:ln w="12700">
            <a:solidFill>
              <a:schemeClr val="bg2"/>
            </a:solidFill>
            <a:prstDash val="solid"/>
          </a:ln>
        </p:spPr>
      </p:sp>
      <p:sp>
        <p:nvSpPr>
          <p:cNvPr id="17" name="Step 3 icon circle"/>
          <p:cNvSpPr/>
          <p:nvPr/>
        </p:nvSpPr>
        <p:spPr>
          <a:xfrm>
            <a:off x="5230368" y="1600200"/>
            <a:ext cx="502920" cy="502920"/>
          </a:xfrm>
          <a:prstGeom prst="ellipse">
            <a:avLst/>
          </a:prstGeom>
          <a:solidFill>
            <a:schemeClr val="accent1"/>
          </a:solidFill>
          <a:ln w="12700">
            <a:solidFill>
              <a:schemeClr val="accent1"/>
            </a:solidFill>
            <a:prstDash val="solid"/>
          </a:ln>
        </p:spPr>
      </p:sp>
      <p:pic>
        <p:nvPicPr>
          <p:cNvPr id="18" name="Step 3 icon" descr="Step 3 icon">    </p:cNvPr>
          <p:cNvPicPr>
            <a:picLocks noChangeAspect="1"/>
          </p:cNvPicPr>
          <p:nvPr/>
        </p:nvPicPr>
        <p:blipFill>
          <a:blip r:embed="rId3"/>
          <a:stretch>
            <a:fillRect/>
          </a:stretch>
        </p:blipFill>
        <p:spPr>
          <a:xfrm>
            <a:off x="5356098" y="1725930"/>
            <a:ext cx="251460" cy="251460"/>
          </a:xfrm>
          <a:prstGeom prst="rect">
            <a:avLst/>
          </a:prstGeom>
        </p:spPr>
      </p:pic>
      <p:sp>
        <p:nvSpPr>
          <p:cNvPr id="19" name="Step 3 number"/>
          <p:cNvSpPr txBox="1"/>
          <p:nvPr/>
        </p:nvSpPr>
        <p:spPr>
          <a:xfrm>
            <a:off x="6473952" y="1600200"/>
            <a:ext cx="457200" cy="502920"/>
          </a:xfrm>
          <a:prstGeom prst="rect">
            <a:avLst/>
          </a:prstGeom>
          <a:noFill/>
          <a:ln/>
        </p:spPr>
        <p:txBody>
          <a:bodyPr wrap="square" lIns="0" tIns="0" rIns="0" bIns="0" rtlCol="0" anchor="ctr"/>
          <a:lstStyle/>
          <a:p>
            <a:pPr algn="r" indent="0" marL="0">
              <a:buNone/>
            </a:pPr>
            <a:r>
              <a:rPr lang="en-US" sz="2400" b="1" dirty="0">
                <a:solidFill>
                  <a:schemeClr val="accent5"/>
                </a:solidFill>
              </a:rPr>
              <a:t>3</a:t>
            </a:r>
            <a:endParaRPr lang="en-US" sz="2400" dirty="0"/>
          </a:p>
        </p:txBody>
      </p:sp>
      <p:sp>
        <p:nvSpPr>
          <p:cNvPr id="20" name="Step 3 header"/>
          <p:cNvSpPr txBox="1"/>
          <p:nvPr/>
        </p:nvSpPr>
        <p:spPr>
          <a:xfrm>
            <a:off x="5230368" y="2240280"/>
            <a:ext cx="1700784" cy="548640"/>
          </a:xfrm>
          <a:prstGeom prst="rect">
            <a:avLst/>
          </a:prstGeom>
          <a:noFill/>
          <a:ln/>
        </p:spPr>
        <p:txBody>
          <a:bodyPr wrap="square" lIns="0" tIns="0" rIns="0" bIns="0" rtlCol="0" anchor="t"/>
          <a:lstStyle/>
          <a:p>
            <a:pPr indent="0" marL="0">
              <a:buNone/>
            </a:pPr>
            <a:r>
              <a:rPr lang="en-US" sz="1600" b="1" dirty="0">
                <a:solidFill>
                  <a:schemeClr val="tx2"/>
                </a:solidFill>
              </a:rPr>
              <a:t>Architecture review</a:t>
            </a:r>
            <a:endParaRPr lang="en-US" sz="1600" dirty="0"/>
          </a:p>
        </p:txBody>
      </p:sp>
      <p:sp>
        <p:nvSpPr>
          <p:cNvPr id="21" name="Step 3 body"/>
          <p:cNvSpPr txBox="1"/>
          <p:nvPr/>
        </p:nvSpPr>
        <p:spPr>
          <a:xfrm>
            <a:off x="5230368" y="2788920"/>
            <a:ext cx="1700784" cy="1325880"/>
          </a:xfrm>
          <a:prstGeom prst="rect">
            <a:avLst/>
          </a:prstGeom>
          <a:noFill/>
          <a:ln/>
        </p:spPr>
        <p:txBody>
          <a:bodyPr wrap="square" lIns="0" tIns="0" rIns="0" bIns="0" rtlCol="0" anchor="t"/>
          <a:lstStyle/>
          <a:p>
            <a:pPr indent="0" marL="0">
              <a:buNone/>
            </a:pPr>
            <a:r>
              <a:rPr lang="en-US" sz="1400" dirty="0">
                <a:solidFill>
                  <a:schemeClr val="tx1"/>
                </a:solidFill>
              </a:rPr>
              <a:t>Team follows up for the architecture review</a:t>
            </a:r>
            <a:endParaRPr lang="en-US" sz="1400" dirty="0"/>
          </a:p>
        </p:txBody>
      </p:sp>
      <p:sp>
        <p:nvSpPr>
          <p:cNvPr id="22" name="Step 4 card"/>
          <p:cNvSpPr/>
          <p:nvPr/>
        </p:nvSpPr>
        <p:spPr>
          <a:xfrm>
            <a:off x="7296912" y="1417320"/>
            <a:ext cx="2066544" cy="2788920"/>
          </a:xfrm>
          <a:prstGeom prst="roundRect">
            <a:avLst>
              <a:gd name="adj" fmla="val 3540"/>
            </a:avLst>
          </a:prstGeom>
          <a:solidFill>
            <a:schemeClr val="bg2"/>
          </a:solidFill>
          <a:ln w="12700">
            <a:solidFill>
              <a:schemeClr val="bg2"/>
            </a:solidFill>
            <a:prstDash val="solid"/>
          </a:ln>
        </p:spPr>
      </p:sp>
      <p:sp>
        <p:nvSpPr>
          <p:cNvPr id="23" name="Step 4 icon circle"/>
          <p:cNvSpPr/>
          <p:nvPr/>
        </p:nvSpPr>
        <p:spPr>
          <a:xfrm>
            <a:off x="7479792" y="1600200"/>
            <a:ext cx="502920" cy="502920"/>
          </a:xfrm>
          <a:prstGeom prst="ellipse">
            <a:avLst/>
          </a:prstGeom>
          <a:solidFill>
            <a:schemeClr val="accent1"/>
          </a:solidFill>
          <a:ln w="12700">
            <a:solidFill>
              <a:schemeClr val="accent1"/>
            </a:solidFill>
            <a:prstDash val="solid"/>
          </a:ln>
        </p:spPr>
      </p:sp>
      <p:pic>
        <p:nvPicPr>
          <p:cNvPr id="24" name="Step 4 icon" descr="Step 4 icon">    </p:cNvPr>
          <p:cNvPicPr>
            <a:picLocks noChangeAspect="1"/>
          </p:cNvPicPr>
          <p:nvPr/>
        </p:nvPicPr>
        <p:blipFill>
          <a:blip r:embed="rId4"/>
          <a:stretch>
            <a:fillRect/>
          </a:stretch>
        </p:blipFill>
        <p:spPr>
          <a:xfrm>
            <a:off x="7605522" y="1725930"/>
            <a:ext cx="251460" cy="251460"/>
          </a:xfrm>
          <a:prstGeom prst="rect">
            <a:avLst/>
          </a:prstGeom>
        </p:spPr>
      </p:pic>
      <p:sp>
        <p:nvSpPr>
          <p:cNvPr id="25" name="Step 4 number"/>
          <p:cNvSpPr txBox="1"/>
          <p:nvPr/>
        </p:nvSpPr>
        <p:spPr>
          <a:xfrm>
            <a:off x="8723376" y="1600200"/>
            <a:ext cx="457200" cy="502920"/>
          </a:xfrm>
          <a:prstGeom prst="rect">
            <a:avLst/>
          </a:prstGeom>
          <a:noFill/>
          <a:ln/>
        </p:spPr>
        <p:txBody>
          <a:bodyPr wrap="square" lIns="0" tIns="0" rIns="0" bIns="0" rtlCol="0" anchor="ctr"/>
          <a:lstStyle/>
          <a:p>
            <a:pPr algn="r" indent="0" marL="0">
              <a:buNone/>
            </a:pPr>
            <a:r>
              <a:rPr lang="en-US" sz="2400" b="1" dirty="0">
                <a:solidFill>
                  <a:schemeClr val="accent5"/>
                </a:solidFill>
              </a:rPr>
              <a:t>4</a:t>
            </a:r>
            <a:endParaRPr lang="en-US" sz="2400" dirty="0"/>
          </a:p>
        </p:txBody>
      </p:sp>
      <p:sp>
        <p:nvSpPr>
          <p:cNvPr id="26" name="Step 4 header"/>
          <p:cNvSpPr txBox="1"/>
          <p:nvPr/>
        </p:nvSpPr>
        <p:spPr>
          <a:xfrm>
            <a:off x="7479792" y="2240280"/>
            <a:ext cx="1700784" cy="548640"/>
          </a:xfrm>
          <a:prstGeom prst="rect">
            <a:avLst/>
          </a:prstGeom>
          <a:noFill/>
          <a:ln/>
        </p:spPr>
        <p:txBody>
          <a:bodyPr wrap="square" lIns="0" tIns="0" rIns="0" bIns="0" rtlCol="0" anchor="t"/>
          <a:lstStyle/>
          <a:p>
            <a:pPr indent="0" marL="0">
              <a:buNone/>
            </a:pPr>
            <a:r>
              <a:rPr lang="en-US" sz="1600" b="1" dirty="0">
                <a:solidFill>
                  <a:schemeClr val="tx2"/>
                </a:solidFill>
              </a:rPr>
              <a:t>FRC review</a:t>
            </a:r>
            <a:endParaRPr lang="en-US" sz="1600" dirty="0"/>
          </a:p>
        </p:txBody>
      </p:sp>
      <p:sp>
        <p:nvSpPr>
          <p:cNvPr id="27" name="Step 4 body"/>
          <p:cNvSpPr txBox="1"/>
          <p:nvPr/>
        </p:nvSpPr>
        <p:spPr>
          <a:xfrm>
            <a:off x="7479792" y="2788920"/>
            <a:ext cx="1700784" cy="1325880"/>
          </a:xfrm>
          <a:prstGeom prst="rect">
            <a:avLst/>
          </a:prstGeom>
          <a:noFill/>
          <a:ln/>
        </p:spPr>
        <p:txBody>
          <a:bodyPr wrap="square" lIns="0" tIns="0" rIns="0" bIns="0" rtlCol="0" anchor="t"/>
          <a:lstStyle/>
          <a:p>
            <a:pPr indent="0" marL="0">
              <a:buNone/>
            </a:pPr>
            <a:r>
              <a:rPr lang="en-US" sz="1400" dirty="0">
                <a:solidFill>
                  <a:schemeClr val="tx1"/>
                </a:solidFill>
              </a:rPr>
              <a:t>Technical FRC and business FRC reviews</a:t>
            </a:r>
            <a:endParaRPr lang="en-US" sz="1400" dirty="0"/>
          </a:p>
        </p:txBody>
      </p:sp>
      <p:sp>
        <p:nvSpPr>
          <p:cNvPr id="28" name="Step 5 card"/>
          <p:cNvSpPr/>
          <p:nvPr/>
        </p:nvSpPr>
        <p:spPr>
          <a:xfrm>
            <a:off x="9546336" y="1417320"/>
            <a:ext cx="2066544" cy="2788920"/>
          </a:xfrm>
          <a:prstGeom prst="roundRect">
            <a:avLst>
              <a:gd name="adj" fmla="val 3540"/>
            </a:avLst>
          </a:prstGeom>
          <a:solidFill>
            <a:schemeClr val="bg2"/>
          </a:solidFill>
          <a:ln w="12700">
            <a:solidFill>
              <a:schemeClr val="bg2"/>
            </a:solidFill>
            <a:prstDash val="solid"/>
          </a:ln>
        </p:spPr>
      </p:sp>
      <p:sp>
        <p:nvSpPr>
          <p:cNvPr id="29" name="Step 5 icon circle"/>
          <p:cNvSpPr/>
          <p:nvPr/>
        </p:nvSpPr>
        <p:spPr>
          <a:xfrm>
            <a:off x="9729216" y="1600200"/>
            <a:ext cx="502920" cy="502920"/>
          </a:xfrm>
          <a:prstGeom prst="ellipse">
            <a:avLst/>
          </a:prstGeom>
          <a:solidFill>
            <a:schemeClr val="accent1"/>
          </a:solidFill>
          <a:ln w="12700">
            <a:solidFill>
              <a:schemeClr val="accent1"/>
            </a:solidFill>
            <a:prstDash val="solid"/>
          </a:ln>
        </p:spPr>
      </p:sp>
      <p:pic>
        <p:nvPicPr>
          <p:cNvPr id="30" name="Step 5 icon" descr="Step 5 icon">    </p:cNvPr>
          <p:cNvPicPr>
            <a:picLocks noChangeAspect="1"/>
          </p:cNvPicPr>
          <p:nvPr/>
        </p:nvPicPr>
        <p:blipFill>
          <a:blip r:embed="rId5"/>
          <a:stretch>
            <a:fillRect/>
          </a:stretch>
        </p:blipFill>
        <p:spPr>
          <a:xfrm>
            <a:off x="9854946" y="1725930"/>
            <a:ext cx="251460" cy="251460"/>
          </a:xfrm>
          <a:prstGeom prst="rect">
            <a:avLst/>
          </a:prstGeom>
        </p:spPr>
      </p:pic>
      <p:sp>
        <p:nvSpPr>
          <p:cNvPr id="31" name="Step 5 number"/>
          <p:cNvSpPr txBox="1"/>
          <p:nvPr/>
        </p:nvSpPr>
        <p:spPr>
          <a:xfrm>
            <a:off x="10972800" y="1600200"/>
            <a:ext cx="457200" cy="502920"/>
          </a:xfrm>
          <a:prstGeom prst="rect">
            <a:avLst/>
          </a:prstGeom>
          <a:noFill/>
          <a:ln/>
        </p:spPr>
        <p:txBody>
          <a:bodyPr wrap="square" lIns="0" tIns="0" rIns="0" bIns="0" rtlCol="0" anchor="ctr"/>
          <a:lstStyle/>
          <a:p>
            <a:pPr algn="r" indent="0" marL="0">
              <a:buNone/>
            </a:pPr>
            <a:r>
              <a:rPr lang="en-US" sz="2400" b="1" dirty="0">
                <a:solidFill>
                  <a:schemeClr val="accent5"/>
                </a:solidFill>
              </a:rPr>
              <a:t>5</a:t>
            </a:r>
            <a:endParaRPr lang="en-US" sz="2400" dirty="0"/>
          </a:p>
        </p:txBody>
      </p:sp>
      <p:sp>
        <p:nvSpPr>
          <p:cNvPr id="32" name="Step 5 header"/>
          <p:cNvSpPr txBox="1"/>
          <p:nvPr/>
        </p:nvSpPr>
        <p:spPr>
          <a:xfrm>
            <a:off x="9729216" y="2240280"/>
            <a:ext cx="1700784" cy="548640"/>
          </a:xfrm>
          <a:prstGeom prst="rect">
            <a:avLst/>
          </a:prstGeom>
          <a:noFill/>
          <a:ln/>
        </p:spPr>
        <p:txBody>
          <a:bodyPr wrap="square" lIns="0" tIns="0" rIns="0" bIns="0" rtlCol="0" anchor="t"/>
          <a:lstStyle/>
          <a:p>
            <a:pPr indent="0" marL="0">
              <a:buNone/>
            </a:pPr>
            <a:r>
              <a:rPr lang="en-US" sz="1600" b="1" dirty="0">
                <a:solidFill>
                  <a:schemeClr val="tx2"/>
                </a:solidFill>
              </a:rPr>
              <a:t>Data and keys</a:t>
            </a:r>
            <a:endParaRPr lang="en-US" sz="1600" dirty="0"/>
          </a:p>
        </p:txBody>
      </p:sp>
      <p:sp>
        <p:nvSpPr>
          <p:cNvPr id="33" name="Step 5 body"/>
          <p:cNvSpPr txBox="1"/>
          <p:nvPr/>
        </p:nvSpPr>
        <p:spPr>
          <a:xfrm>
            <a:off x="9729216" y="2788920"/>
            <a:ext cx="1700784" cy="1325880"/>
          </a:xfrm>
          <a:prstGeom prst="rect">
            <a:avLst/>
          </a:prstGeom>
          <a:noFill/>
          <a:ln/>
        </p:spPr>
        <p:txBody>
          <a:bodyPr wrap="square" lIns="0" tIns="0" rIns="0" bIns="0" rtlCol="0" anchor="t"/>
          <a:lstStyle/>
          <a:p>
            <a:pPr indent="0" marL="0">
              <a:buNone/>
            </a:pPr>
            <a:r>
              <a:rPr lang="en-US" sz="1400" dirty="0">
                <a:solidFill>
                  <a:schemeClr val="tx1"/>
                </a:solidFill>
              </a:rPr>
              <a:t>CPPO and PAQ processes; certificates for AI keys via the global AI keys team (America)</a:t>
            </a:r>
            <a:endParaRPr lang="en-US" sz="1400" dirty="0"/>
          </a:p>
        </p:txBody>
      </p:sp>
      <p:sp>
        <p:nvSpPr>
          <p:cNvPr id="34" name="Teams card"/>
          <p:cNvSpPr/>
          <p:nvPr/>
        </p:nvSpPr>
        <p:spPr>
          <a:xfrm>
            <a:off x="548640" y="4434840"/>
            <a:ext cx="5440680" cy="1737360"/>
          </a:xfrm>
          <a:prstGeom prst="roundRect">
            <a:avLst>
              <a:gd name="adj" fmla="val 4211"/>
            </a:avLst>
          </a:prstGeom>
          <a:solidFill>
            <a:schemeClr val="bg2"/>
          </a:solidFill>
          <a:ln w="12700">
            <a:solidFill>
              <a:schemeClr val="bg2"/>
            </a:solidFill>
            <a:prstDash val="solid"/>
          </a:ln>
        </p:spPr>
      </p:sp>
      <p:sp>
        <p:nvSpPr>
          <p:cNvPr id="35" name="Teams icon circle"/>
          <p:cNvSpPr/>
          <p:nvPr/>
        </p:nvSpPr>
        <p:spPr>
          <a:xfrm>
            <a:off x="777240" y="4617720"/>
            <a:ext cx="457200" cy="457200"/>
          </a:xfrm>
          <a:prstGeom prst="ellipse">
            <a:avLst/>
          </a:prstGeom>
          <a:solidFill>
            <a:schemeClr val="accent1"/>
          </a:solidFill>
          <a:ln w="12700">
            <a:solidFill>
              <a:schemeClr val="accent1"/>
            </a:solidFill>
            <a:prstDash val="solid"/>
          </a:ln>
        </p:spPr>
      </p:sp>
      <p:pic>
        <p:nvPicPr>
          <p:cNvPr id="36" name="Teams icon" descr="Teams icon">    </p:cNvPr>
          <p:cNvPicPr>
            <a:picLocks noChangeAspect="1"/>
          </p:cNvPicPr>
          <p:nvPr/>
        </p:nvPicPr>
        <p:blipFill>
          <a:blip r:embed="rId6"/>
          <a:stretch>
            <a:fillRect/>
          </a:stretch>
        </p:blipFill>
        <p:spPr>
          <a:xfrm>
            <a:off x="891540" y="4732020"/>
            <a:ext cx="228600" cy="228600"/>
          </a:xfrm>
          <a:prstGeom prst="rect">
            <a:avLst/>
          </a:prstGeom>
        </p:spPr>
      </p:pic>
      <p:sp>
        <p:nvSpPr>
          <p:cNvPr id="37" name="Teams header"/>
          <p:cNvSpPr txBox="1"/>
          <p:nvPr/>
        </p:nvSpPr>
        <p:spPr>
          <a:xfrm>
            <a:off x="1417320" y="4617720"/>
            <a:ext cx="4389120" cy="457200"/>
          </a:xfrm>
          <a:prstGeom prst="rect">
            <a:avLst/>
          </a:prstGeom>
          <a:noFill/>
          <a:ln/>
        </p:spPr>
        <p:txBody>
          <a:bodyPr wrap="square" lIns="0" tIns="0" rIns="0" bIns="0" rtlCol="0" anchor="ctr"/>
          <a:lstStyle/>
          <a:p>
            <a:pPr indent="0" marL="0">
              <a:buNone/>
            </a:pPr>
            <a:r>
              <a:rPr lang="en-US" sz="1800" b="1" dirty="0">
                <a:solidFill>
                  <a:schemeClr val="tx2"/>
                </a:solidFill>
              </a:rPr>
              <a:t>Expected from teams</a:t>
            </a:r>
            <a:endParaRPr lang="en-US" sz="1800" dirty="0"/>
          </a:p>
        </p:txBody>
      </p:sp>
      <p:sp>
        <p:nvSpPr>
          <p:cNvPr id="38" name="Teams body"/>
          <p:cNvSpPr txBox="1"/>
          <p:nvPr/>
        </p:nvSpPr>
        <p:spPr>
          <a:xfrm>
            <a:off x="822960" y="5166360"/>
            <a:ext cx="4892040" cy="86868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Register with the domain catalyst</a:t>
            </a:r>
            <a:endParaRPr lang="en-US" sz="1400" dirty="0"/>
          </a:p>
          <a:p>
            <a:pPr marL="342900" indent="-342900">
              <a:spcAft>
                <a:spcPts val="500"/>
              </a:spcAft>
              <a:buSzPct val="100000"/>
              <a:buChar char="•"/>
            </a:pPr>
            <a:r>
              <a:rPr lang="en-US" sz="1400" dirty="0">
                <a:solidFill>
                  <a:schemeClr val="tx1"/>
                </a:solidFill>
              </a:rPr>
              <a:t>Follow up on architecture and FRC reviews</a:t>
            </a:r>
            <a:endParaRPr lang="en-US" sz="1400" dirty="0"/>
          </a:p>
        </p:txBody>
      </p:sp>
      <p:sp>
        <p:nvSpPr>
          <p:cNvPr id="39" name="Support card"/>
          <p:cNvSpPr/>
          <p:nvPr/>
        </p:nvSpPr>
        <p:spPr>
          <a:xfrm>
            <a:off x="6172200" y="4434840"/>
            <a:ext cx="5440680" cy="1737360"/>
          </a:xfrm>
          <a:prstGeom prst="roundRect">
            <a:avLst>
              <a:gd name="adj" fmla="val 4211"/>
            </a:avLst>
          </a:prstGeom>
          <a:solidFill>
            <a:schemeClr val="bg2"/>
          </a:solidFill>
          <a:ln w="12700">
            <a:solidFill>
              <a:schemeClr val="bg2"/>
            </a:solidFill>
            <a:prstDash val="solid"/>
          </a:ln>
        </p:spPr>
      </p:sp>
      <p:sp>
        <p:nvSpPr>
          <p:cNvPr id="40" name="Support icon circle"/>
          <p:cNvSpPr/>
          <p:nvPr/>
        </p:nvSpPr>
        <p:spPr>
          <a:xfrm>
            <a:off x="6400800" y="4617720"/>
            <a:ext cx="457200" cy="457200"/>
          </a:xfrm>
          <a:prstGeom prst="ellipse">
            <a:avLst/>
          </a:prstGeom>
          <a:solidFill>
            <a:schemeClr val="accent1"/>
          </a:solidFill>
          <a:ln w="12700">
            <a:solidFill>
              <a:schemeClr val="accent1"/>
            </a:solidFill>
            <a:prstDash val="solid"/>
          </a:ln>
        </p:spPr>
      </p:sp>
      <p:pic>
        <p:nvPicPr>
          <p:cNvPr id="41" name="Support icon" descr="Support icon">    </p:cNvPr>
          <p:cNvPicPr>
            <a:picLocks noChangeAspect="1"/>
          </p:cNvPicPr>
          <p:nvPr/>
        </p:nvPicPr>
        <p:blipFill>
          <a:blip r:embed="rId7"/>
          <a:stretch>
            <a:fillRect/>
          </a:stretch>
        </p:blipFill>
        <p:spPr>
          <a:xfrm>
            <a:off x="6515100" y="4732020"/>
            <a:ext cx="228600" cy="228600"/>
          </a:xfrm>
          <a:prstGeom prst="rect">
            <a:avLst/>
          </a:prstGeom>
        </p:spPr>
      </p:pic>
      <p:sp>
        <p:nvSpPr>
          <p:cNvPr id="42" name="Support header"/>
          <p:cNvSpPr txBox="1"/>
          <p:nvPr/>
        </p:nvSpPr>
        <p:spPr>
          <a:xfrm>
            <a:off x="7040880" y="4617720"/>
            <a:ext cx="4389120" cy="457200"/>
          </a:xfrm>
          <a:prstGeom prst="rect">
            <a:avLst/>
          </a:prstGeom>
          <a:noFill/>
          <a:ln/>
        </p:spPr>
        <p:txBody>
          <a:bodyPr wrap="square" lIns="0" tIns="0" rIns="0" bIns="0" rtlCol="0" anchor="ctr"/>
          <a:lstStyle/>
          <a:p>
            <a:pPr indent="0" marL="0">
              <a:buNone/>
            </a:pPr>
            <a:r>
              <a:rPr lang="en-US" sz="1800" b="1" dirty="0">
                <a:solidFill>
                  <a:schemeClr val="tx2"/>
                </a:solidFill>
              </a:rPr>
              <a:t>Support from our cluster, on request</a:t>
            </a:r>
            <a:endParaRPr lang="en-US" sz="1800" dirty="0"/>
          </a:p>
        </p:txBody>
      </p:sp>
      <p:sp>
        <p:nvSpPr>
          <p:cNvPr id="43" name="Support body"/>
          <p:cNvSpPr txBox="1"/>
          <p:nvPr/>
        </p:nvSpPr>
        <p:spPr>
          <a:xfrm>
            <a:off x="6446520" y="5166360"/>
            <a:ext cx="4892040" cy="86868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Registration setup with the domain catalyst and similarity validation</a:t>
            </a:r>
            <a:endParaRPr lang="en-US" sz="1400" dirty="0"/>
          </a:p>
          <a:p>
            <a:pPr marL="342900" indent="-342900">
              <a:spcAft>
                <a:spcPts val="500"/>
              </a:spcAft>
              <a:buSzPct val="100000"/>
              <a:buChar char="•"/>
            </a:pPr>
            <a:r>
              <a:rPr lang="en-US" sz="1400" dirty="0">
                <a:solidFill>
                  <a:schemeClr val="tx1"/>
                </a:solidFill>
              </a:rPr>
              <a:t>Personal data and key certificate coordination</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le"/>
          <p:cNvSpPr txBox="1"/>
          <p:nvPr/>
        </p:nvSpPr>
        <p:spPr>
          <a:xfrm>
            <a:off x="548640" y="274320"/>
            <a:ext cx="11064240" cy="640080"/>
          </a:xfrm>
          <a:prstGeom prst="rect">
            <a:avLst/>
          </a:prstGeom>
          <a:noFill/>
          <a:ln/>
        </p:spPr>
        <p:txBody>
          <a:bodyPr wrap="square" lIns="0" tIns="0" rIns="0" bIns="0" rtlCol="0" anchor="ctr"/>
          <a:lstStyle/>
          <a:p>
            <a:pPr indent="0" marL="0">
              <a:buNone/>
            </a:pPr>
            <a:r>
              <a:rPr lang="en-US" sz="3200" b="1" dirty="0">
                <a:solidFill>
                  <a:schemeClr val="accent1"/>
                </a:solidFill>
              </a:rPr>
              <a:t>Areas for attention</a:t>
            </a:r>
            <a:endParaRPr lang="en-US" sz="3200" dirty="0"/>
          </a:p>
        </p:txBody>
      </p:sp>
      <p:sp>
        <p:nvSpPr>
          <p:cNvPr id="3" name="Subtitle"/>
          <p:cNvSpPr txBox="1"/>
          <p:nvPr/>
        </p:nvSpPr>
        <p:spPr>
          <a:xfrm>
            <a:off x="548640" y="914400"/>
            <a:ext cx="11064240" cy="320040"/>
          </a:xfrm>
          <a:prstGeom prst="rect">
            <a:avLst/>
          </a:prstGeom>
          <a:noFill/>
          <a:ln/>
        </p:spPr>
        <p:txBody>
          <a:bodyPr wrap="square" lIns="0" tIns="0" rIns="0" bIns="0" rtlCol="0" anchor="ctr"/>
          <a:lstStyle/>
          <a:p>
            <a:pPr indent="0" marL="0">
              <a:buNone/>
            </a:pPr>
            <a:r>
              <a:rPr lang="en-US" sz="1400" dirty="0">
                <a:solidFill>
                  <a:schemeClr val="accent2"/>
                </a:solidFill>
              </a:rPr>
              <a:t>Points shared for awareness, based on how activities are currently run</a:t>
            </a:r>
            <a:endParaRPr lang="en-US" sz="1400" dirty="0"/>
          </a:p>
        </p:txBody>
      </p:sp>
      <p:sp>
        <p:nvSpPr>
          <p:cNvPr id="4" name="Area 1 card"/>
          <p:cNvSpPr/>
          <p:nvPr/>
        </p:nvSpPr>
        <p:spPr>
          <a:xfrm>
            <a:off x="548640" y="1417320"/>
            <a:ext cx="3505200" cy="3931920"/>
          </a:xfrm>
          <a:prstGeom prst="roundRect">
            <a:avLst>
              <a:gd name="adj" fmla="val 2087"/>
            </a:avLst>
          </a:prstGeom>
          <a:solidFill>
            <a:schemeClr val="bg2"/>
          </a:solidFill>
          <a:ln w="12700">
            <a:solidFill>
              <a:schemeClr val="bg2"/>
            </a:solidFill>
            <a:prstDash val="solid"/>
          </a:ln>
        </p:spPr>
      </p:sp>
      <p:sp>
        <p:nvSpPr>
          <p:cNvPr id="5" name="Area 1 icon circle"/>
          <p:cNvSpPr/>
          <p:nvPr/>
        </p:nvSpPr>
        <p:spPr>
          <a:xfrm>
            <a:off x="822960" y="1645920"/>
            <a:ext cx="594360" cy="594360"/>
          </a:xfrm>
          <a:prstGeom prst="ellipse">
            <a:avLst/>
          </a:prstGeom>
          <a:solidFill>
            <a:schemeClr val="accent6"/>
          </a:solidFill>
          <a:ln w="12700">
            <a:solidFill>
              <a:schemeClr val="accent6"/>
            </a:solidFill>
            <a:prstDash val="solid"/>
          </a:ln>
        </p:spPr>
      </p:sp>
      <p:pic>
        <p:nvPicPr>
          <p:cNvPr id="6" name="Area 1 icon" descr="Area 1 icon">    </p:cNvPr>
          <p:cNvPicPr>
            <a:picLocks noChangeAspect="1"/>
          </p:cNvPicPr>
          <p:nvPr/>
        </p:nvPicPr>
        <p:blipFill>
          <a:blip r:embed="rId1"/>
          <a:stretch>
            <a:fillRect/>
          </a:stretch>
        </p:blipFill>
        <p:spPr>
          <a:xfrm>
            <a:off x="971550" y="1794510"/>
            <a:ext cx="297180" cy="297180"/>
          </a:xfrm>
          <a:prstGeom prst="rect">
            <a:avLst/>
          </a:prstGeom>
        </p:spPr>
      </p:pic>
      <p:sp>
        <p:nvSpPr>
          <p:cNvPr id="7" name="Area 1 number"/>
          <p:cNvSpPr txBox="1"/>
          <p:nvPr/>
        </p:nvSpPr>
        <p:spPr>
          <a:xfrm>
            <a:off x="3322320" y="1645920"/>
            <a:ext cx="457200" cy="594360"/>
          </a:xfrm>
          <a:prstGeom prst="rect">
            <a:avLst/>
          </a:prstGeom>
          <a:noFill/>
          <a:ln/>
        </p:spPr>
        <p:txBody>
          <a:bodyPr wrap="square" lIns="0" tIns="0" rIns="0" bIns="0" rtlCol="0" anchor="ctr"/>
          <a:lstStyle/>
          <a:p>
            <a:pPr algn="r" indent="0" marL="0">
              <a:buNone/>
            </a:pPr>
            <a:r>
              <a:rPr lang="en-US" sz="2800" b="1" dirty="0">
                <a:solidFill>
                  <a:schemeClr val="accent5"/>
                </a:solidFill>
              </a:rPr>
              <a:t>1</a:t>
            </a:r>
            <a:endParaRPr lang="en-US" sz="2800" dirty="0"/>
          </a:p>
        </p:txBody>
      </p:sp>
      <p:sp>
        <p:nvSpPr>
          <p:cNvPr id="8" name="Area 1 title"/>
          <p:cNvSpPr txBox="1"/>
          <p:nvPr/>
        </p:nvSpPr>
        <p:spPr>
          <a:xfrm>
            <a:off x="822960" y="2468880"/>
            <a:ext cx="2956560" cy="457200"/>
          </a:xfrm>
          <a:prstGeom prst="rect">
            <a:avLst/>
          </a:prstGeom>
          <a:noFill/>
          <a:ln/>
        </p:spPr>
        <p:txBody>
          <a:bodyPr wrap="square" lIns="0" tIns="0" rIns="0" bIns="0" rtlCol="0" anchor="t"/>
          <a:lstStyle/>
          <a:p>
            <a:pPr indent="0" marL="0">
              <a:buNone/>
            </a:pPr>
            <a:r>
              <a:rPr lang="en-US" sz="2000" b="1" dirty="0">
                <a:solidFill>
                  <a:schemeClr val="tx2"/>
                </a:solidFill>
              </a:rPr>
              <a:t>Standardisation of activities</a:t>
            </a:r>
            <a:endParaRPr lang="en-US" sz="2000" dirty="0"/>
          </a:p>
        </p:txBody>
      </p:sp>
      <p:sp>
        <p:nvSpPr>
          <p:cNvPr id="9" name="Area 1 body"/>
          <p:cNvSpPr txBox="1"/>
          <p:nvPr/>
        </p:nvSpPr>
        <p:spPr>
          <a:xfrm>
            <a:off x="822960" y="3017520"/>
            <a:ext cx="2956560" cy="2194560"/>
          </a:xfrm>
          <a:prstGeom prst="rect">
            <a:avLst/>
          </a:prstGeom>
          <a:noFill/>
          <a:ln/>
        </p:spPr>
        <p:txBody>
          <a:bodyPr wrap="square" lIns="0" tIns="0" rIns="0" bIns="0" rtlCol="0" anchor="t"/>
          <a:lstStyle/>
          <a:p>
            <a:pPr indent="0" marL="0">
              <a:buNone/>
            </a:pPr>
            <a:r>
              <a:rPr lang="en-US" sz="1600" dirty="0">
                <a:solidFill>
                  <a:schemeClr val="tx1"/>
                </a:solidFill>
              </a:rPr>
              <a:t>Other clusters, such as GM, have people dedicated to standardising AI activities. In 2S IT the work is purely voluntary with no headcount, so standardisation is challenging.</a:t>
            </a:r>
            <a:endParaRPr lang="en-US" sz="1600" dirty="0"/>
          </a:p>
        </p:txBody>
      </p:sp>
      <p:sp>
        <p:nvSpPr>
          <p:cNvPr id="10" name="Area 2 card"/>
          <p:cNvSpPr/>
          <p:nvPr/>
        </p:nvSpPr>
        <p:spPr>
          <a:xfrm>
            <a:off x="4328160" y="1417320"/>
            <a:ext cx="3505200" cy="3931920"/>
          </a:xfrm>
          <a:prstGeom prst="roundRect">
            <a:avLst>
              <a:gd name="adj" fmla="val 2087"/>
            </a:avLst>
          </a:prstGeom>
          <a:solidFill>
            <a:schemeClr val="bg2"/>
          </a:solidFill>
          <a:ln w="12700">
            <a:solidFill>
              <a:schemeClr val="bg2"/>
            </a:solidFill>
            <a:prstDash val="solid"/>
          </a:ln>
        </p:spPr>
      </p:sp>
      <p:sp>
        <p:nvSpPr>
          <p:cNvPr id="11" name="Area 2 icon circle"/>
          <p:cNvSpPr/>
          <p:nvPr/>
        </p:nvSpPr>
        <p:spPr>
          <a:xfrm>
            <a:off x="4602480" y="1645920"/>
            <a:ext cx="594360" cy="594360"/>
          </a:xfrm>
          <a:prstGeom prst="ellipse">
            <a:avLst/>
          </a:prstGeom>
          <a:solidFill>
            <a:schemeClr val="accent6"/>
          </a:solidFill>
          <a:ln w="12700">
            <a:solidFill>
              <a:schemeClr val="accent6"/>
            </a:solidFill>
            <a:prstDash val="solid"/>
          </a:ln>
        </p:spPr>
      </p:sp>
      <p:pic>
        <p:nvPicPr>
          <p:cNvPr id="12" name="Area 2 icon" descr="Area 2 icon">    </p:cNvPr>
          <p:cNvPicPr>
            <a:picLocks noChangeAspect="1"/>
          </p:cNvPicPr>
          <p:nvPr/>
        </p:nvPicPr>
        <p:blipFill>
          <a:blip r:embed="rId2"/>
          <a:stretch>
            <a:fillRect/>
          </a:stretch>
        </p:blipFill>
        <p:spPr>
          <a:xfrm>
            <a:off x="4751070" y="1794510"/>
            <a:ext cx="297180" cy="297180"/>
          </a:xfrm>
          <a:prstGeom prst="rect">
            <a:avLst/>
          </a:prstGeom>
        </p:spPr>
      </p:pic>
      <p:sp>
        <p:nvSpPr>
          <p:cNvPr id="13" name="Area 2 number"/>
          <p:cNvSpPr txBox="1"/>
          <p:nvPr/>
        </p:nvSpPr>
        <p:spPr>
          <a:xfrm>
            <a:off x="7101840" y="1645920"/>
            <a:ext cx="457200" cy="594360"/>
          </a:xfrm>
          <a:prstGeom prst="rect">
            <a:avLst/>
          </a:prstGeom>
          <a:noFill/>
          <a:ln/>
        </p:spPr>
        <p:txBody>
          <a:bodyPr wrap="square" lIns="0" tIns="0" rIns="0" bIns="0" rtlCol="0" anchor="ctr"/>
          <a:lstStyle/>
          <a:p>
            <a:pPr algn="r" indent="0" marL="0">
              <a:buNone/>
            </a:pPr>
            <a:r>
              <a:rPr lang="en-US" sz="2800" b="1" dirty="0">
                <a:solidFill>
                  <a:schemeClr val="accent5"/>
                </a:solidFill>
              </a:rPr>
              <a:t>2</a:t>
            </a:r>
            <a:endParaRPr lang="en-US" sz="2800" dirty="0"/>
          </a:p>
        </p:txBody>
      </p:sp>
      <p:sp>
        <p:nvSpPr>
          <p:cNvPr id="14" name="Area 2 title"/>
          <p:cNvSpPr txBox="1"/>
          <p:nvPr/>
        </p:nvSpPr>
        <p:spPr>
          <a:xfrm>
            <a:off x="4602480" y="2468880"/>
            <a:ext cx="2956560" cy="457200"/>
          </a:xfrm>
          <a:prstGeom prst="rect">
            <a:avLst/>
          </a:prstGeom>
          <a:noFill/>
          <a:ln/>
        </p:spPr>
        <p:txBody>
          <a:bodyPr wrap="square" lIns="0" tIns="0" rIns="0" bIns="0" rtlCol="0" anchor="t"/>
          <a:lstStyle/>
          <a:p>
            <a:pPr indent="0" marL="0">
              <a:buNone/>
            </a:pPr>
            <a:r>
              <a:rPr lang="en-US" sz="2000" b="1" dirty="0">
                <a:solidFill>
                  <a:schemeClr val="tx2"/>
                </a:solidFill>
              </a:rPr>
              <a:t>Session participation</a:t>
            </a:r>
            <a:endParaRPr lang="en-US" sz="2000" dirty="0"/>
          </a:p>
        </p:txBody>
      </p:sp>
      <p:sp>
        <p:nvSpPr>
          <p:cNvPr id="15" name="Area 2 body"/>
          <p:cNvSpPr txBox="1"/>
          <p:nvPr/>
        </p:nvSpPr>
        <p:spPr>
          <a:xfrm>
            <a:off x="4602480" y="3017520"/>
            <a:ext cx="2956560" cy="2194560"/>
          </a:xfrm>
          <a:prstGeom prst="rect">
            <a:avLst/>
          </a:prstGeom>
          <a:noFill/>
          <a:ln/>
        </p:spPr>
        <p:txBody>
          <a:bodyPr wrap="square" lIns="0" tIns="0" rIns="0" bIns="0" rtlCol="0" anchor="t"/>
          <a:lstStyle/>
          <a:p>
            <a:pPr indent="0" marL="0">
              <a:buNone/>
            </a:pPr>
            <a:r>
              <a:rPr lang="en-US" sz="1600" dirty="0">
                <a:solidFill>
                  <a:schemeClr val="tx1"/>
                </a:solidFill>
              </a:rPr>
              <a:t>Most sessions and activities from other clusters were directed to catalysts, and our technical architects were not on the attendee lists.</a:t>
            </a:r>
            <a:endParaRPr lang="en-US" sz="1600" dirty="0"/>
          </a:p>
        </p:txBody>
      </p:sp>
      <p:sp>
        <p:nvSpPr>
          <p:cNvPr id="16" name="Area 3 card"/>
          <p:cNvSpPr/>
          <p:nvPr/>
        </p:nvSpPr>
        <p:spPr>
          <a:xfrm>
            <a:off x="8107680" y="1417320"/>
            <a:ext cx="3505200" cy="3931920"/>
          </a:xfrm>
          <a:prstGeom prst="roundRect">
            <a:avLst>
              <a:gd name="adj" fmla="val 2087"/>
            </a:avLst>
          </a:prstGeom>
          <a:solidFill>
            <a:schemeClr val="bg2"/>
          </a:solidFill>
          <a:ln w="12700">
            <a:solidFill>
              <a:schemeClr val="bg2"/>
            </a:solidFill>
            <a:prstDash val="solid"/>
          </a:ln>
        </p:spPr>
      </p:sp>
      <p:sp>
        <p:nvSpPr>
          <p:cNvPr id="17" name="Area 3 icon circle"/>
          <p:cNvSpPr/>
          <p:nvPr/>
        </p:nvSpPr>
        <p:spPr>
          <a:xfrm>
            <a:off x="8382000" y="1645920"/>
            <a:ext cx="594360" cy="594360"/>
          </a:xfrm>
          <a:prstGeom prst="ellipse">
            <a:avLst/>
          </a:prstGeom>
          <a:solidFill>
            <a:schemeClr val="accent6"/>
          </a:solidFill>
          <a:ln w="12700">
            <a:solidFill>
              <a:schemeClr val="accent6"/>
            </a:solidFill>
            <a:prstDash val="solid"/>
          </a:ln>
        </p:spPr>
      </p:sp>
      <p:pic>
        <p:nvPicPr>
          <p:cNvPr id="18" name="Area 3 icon" descr="Area 3 icon">    </p:cNvPr>
          <p:cNvPicPr>
            <a:picLocks noChangeAspect="1"/>
          </p:cNvPicPr>
          <p:nvPr/>
        </p:nvPicPr>
        <p:blipFill>
          <a:blip r:embed="rId3"/>
          <a:stretch>
            <a:fillRect/>
          </a:stretch>
        </p:blipFill>
        <p:spPr>
          <a:xfrm>
            <a:off x="8530590" y="1794510"/>
            <a:ext cx="297180" cy="297180"/>
          </a:xfrm>
          <a:prstGeom prst="rect">
            <a:avLst/>
          </a:prstGeom>
        </p:spPr>
      </p:pic>
      <p:sp>
        <p:nvSpPr>
          <p:cNvPr id="19" name="Area 3 number"/>
          <p:cNvSpPr txBox="1"/>
          <p:nvPr/>
        </p:nvSpPr>
        <p:spPr>
          <a:xfrm>
            <a:off x="10881360" y="1645920"/>
            <a:ext cx="457200" cy="594360"/>
          </a:xfrm>
          <a:prstGeom prst="rect">
            <a:avLst/>
          </a:prstGeom>
          <a:noFill/>
          <a:ln/>
        </p:spPr>
        <p:txBody>
          <a:bodyPr wrap="square" lIns="0" tIns="0" rIns="0" bIns="0" rtlCol="0" anchor="ctr"/>
          <a:lstStyle/>
          <a:p>
            <a:pPr algn="r" indent="0" marL="0">
              <a:buNone/>
            </a:pPr>
            <a:r>
              <a:rPr lang="en-US" sz="2800" b="1" dirty="0">
                <a:solidFill>
                  <a:schemeClr val="accent5"/>
                </a:solidFill>
              </a:rPr>
              <a:t>3</a:t>
            </a:r>
            <a:endParaRPr lang="en-US" sz="2800" dirty="0"/>
          </a:p>
        </p:txBody>
      </p:sp>
      <p:sp>
        <p:nvSpPr>
          <p:cNvPr id="20" name="Area 3 title"/>
          <p:cNvSpPr txBox="1"/>
          <p:nvPr/>
        </p:nvSpPr>
        <p:spPr>
          <a:xfrm>
            <a:off x="8382000" y="2468880"/>
            <a:ext cx="2956560" cy="457200"/>
          </a:xfrm>
          <a:prstGeom prst="rect">
            <a:avLst/>
          </a:prstGeom>
          <a:noFill/>
          <a:ln/>
        </p:spPr>
        <p:txBody>
          <a:bodyPr wrap="square" lIns="0" tIns="0" rIns="0" bIns="0" rtlCol="0" anchor="t"/>
          <a:lstStyle/>
          <a:p>
            <a:pPr indent="0" marL="0">
              <a:buNone/>
            </a:pPr>
            <a:r>
              <a:rPr lang="en-US" sz="2000" b="1" dirty="0">
                <a:solidFill>
                  <a:schemeClr val="tx2"/>
                </a:solidFill>
              </a:rPr>
              <a:t>Review participation</a:t>
            </a:r>
            <a:endParaRPr lang="en-US" sz="2000" dirty="0"/>
          </a:p>
        </p:txBody>
      </p:sp>
      <p:sp>
        <p:nvSpPr>
          <p:cNvPr id="21" name="Area 3 body"/>
          <p:cNvSpPr txBox="1"/>
          <p:nvPr/>
        </p:nvSpPr>
        <p:spPr>
          <a:xfrm>
            <a:off x="8382000" y="3017520"/>
            <a:ext cx="2956560" cy="2194560"/>
          </a:xfrm>
          <a:prstGeom prst="rect">
            <a:avLst/>
          </a:prstGeom>
          <a:noFill/>
          <a:ln/>
        </p:spPr>
        <p:txBody>
          <a:bodyPr wrap="square" lIns="0" tIns="0" rIns="0" bIns="0" rtlCol="0" anchor="t"/>
          <a:lstStyle/>
          <a:p>
            <a:pPr indent="0" marL="0">
              <a:buNone/>
            </a:pPr>
            <a:r>
              <a:rPr lang="en-US" sz="1600" dirty="0">
                <a:solidFill>
                  <a:schemeClr val="tx1"/>
                </a:solidFill>
              </a:rPr>
              <a:t>Reviews are handled by the CIB architects team. Participation by at least one senior architect from 2S IT would bring the cluster's technical view into these reviews.</a:t>
            </a:r>
            <a:endParaRPr lang="en-US" sz="1600" dirty="0"/>
          </a:p>
        </p:txBody>
      </p:sp>
      <p:sp>
        <p:nvSpPr>
          <p:cNvPr id="22" name="Note band"/>
          <p:cNvSpPr/>
          <p:nvPr/>
        </p:nvSpPr>
        <p:spPr>
          <a:xfrm>
            <a:off x="548640" y="5577840"/>
            <a:ext cx="11064240" cy="502920"/>
          </a:xfrm>
          <a:prstGeom prst="roundRect">
            <a:avLst>
              <a:gd name="adj" fmla="val 14545"/>
            </a:avLst>
          </a:prstGeom>
          <a:solidFill>
            <a:schemeClr val="accent3"/>
          </a:solidFill>
          <a:ln w="12700">
            <a:solidFill>
              <a:schemeClr val="accent3"/>
            </a:solidFill>
            <a:prstDash val="solid"/>
          </a:ln>
        </p:spPr>
      </p:sp>
      <p:sp>
        <p:nvSpPr>
          <p:cNvPr id="23" name="Note icon circle"/>
          <p:cNvSpPr/>
          <p:nvPr/>
        </p:nvSpPr>
        <p:spPr>
          <a:xfrm>
            <a:off x="731520" y="5646420"/>
            <a:ext cx="365760" cy="365760"/>
          </a:xfrm>
          <a:prstGeom prst="ellipse">
            <a:avLst/>
          </a:prstGeom>
          <a:solidFill>
            <a:schemeClr val="accent2"/>
          </a:solidFill>
          <a:ln w="12700">
            <a:solidFill>
              <a:schemeClr val="accent2"/>
            </a:solidFill>
            <a:prstDash val="solid"/>
          </a:ln>
        </p:spPr>
      </p:sp>
      <p:pic>
        <p:nvPicPr>
          <p:cNvPr id="24" name="Note icon" descr="Note icon">    </p:cNvPr>
          <p:cNvPicPr>
            <a:picLocks noChangeAspect="1"/>
          </p:cNvPicPr>
          <p:nvPr/>
        </p:nvPicPr>
        <p:blipFill>
          <a:blip r:embed="rId4"/>
          <a:stretch>
            <a:fillRect/>
          </a:stretch>
        </p:blipFill>
        <p:spPr>
          <a:xfrm>
            <a:off x="822960" y="5737860"/>
            <a:ext cx="182880" cy="182880"/>
          </a:xfrm>
          <a:prstGeom prst="rect">
            <a:avLst/>
          </a:prstGeom>
        </p:spPr>
      </p:pic>
      <p:sp>
        <p:nvSpPr>
          <p:cNvPr id="25" name="Note text"/>
          <p:cNvSpPr txBox="1"/>
          <p:nvPr/>
        </p:nvSpPr>
        <p:spPr>
          <a:xfrm>
            <a:off x="1280160" y="5577840"/>
            <a:ext cx="10149840" cy="502920"/>
          </a:xfrm>
          <a:prstGeom prst="rect">
            <a:avLst/>
          </a:prstGeom>
          <a:noFill/>
          <a:ln/>
        </p:spPr>
        <p:txBody>
          <a:bodyPr wrap="square" lIns="0" tIns="0" rIns="0" bIns="0" rtlCol="0" anchor="ctr"/>
          <a:lstStyle/>
          <a:p>
            <a:pPr indent="0" marL="0">
              <a:buNone/>
            </a:pPr>
            <a:r>
              <a:rPr lang="en-US" sz="1400" dirty="0">
                <a:solidFill>
                  <a:schemeClr val="tx1"/>
                </a:solidFill>
              </a:rPr>
              <a:t>All activities in this note are carried out in voluntary mode, with no official headcount.</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4</a:t>
            </a:fld>
            <a:endParaRPr lang="en-US"/>
          </a:p>
        </p:txBody>
      </p:sp>
    </p:spTree>
  </p:cSld>
  <p:clrMapOvr>
    <a:masterClrMapping/>
  </p:clrMapOvr>
</p:sld>
</file>

<file path=ppt/theme/theme1.xml><?xml version="1.0" encoding="utf-8"?>
<a:theme xmlns:a="http://schemas.openxmlformats.org/drawingml/2006/main" name="2S IT Green">
  <a:themeElements>
    <a:clrScheme name="2S IT Green">
      <a:dk1>
        <a:srgbClr val="1F2933"/>
      </a:dk1>
      <a:lt1>
        <a:srgbClr val="FFFFFF"/>
      </a:lt1>
      <a:dk2>
        <a:srgbClr val="0B5C3B"/>
      </a:dk2>
      <a:lt2>
        <a:srgbClr val="E8F5EF"/>
      </a:lt2>
      <a:accent1>
        <a:srgbClr val="00915A"/>
      </a:accent1>
      <a:accent2>
        <a:srgbClr val="5F6B76"/>
      </a:accent2>
      <a:accent3>
        <a:srgbClr val="F2F4F5"/>
      </a:accent3>
      <a:accent4>
        <a:srgbClr val="3D8F7A"/>
      </a:accent4>
      <a:accent5>
        <a:srgbClr val="8FC9AE"/>
      </a:accent5>
      <a:accent6>
        <a:srgbClr val="C77700"/>
      </a:accent6>
      <a:hlink>
        <a:srgbClr val="00915A"/>
      </a:hlink>
      <a:folHlink>
        <a:srgbClr val="5F6B76"/>
      </a:folHlink>
    </a:clrScheme>
    <a:fontScheme name="2S IT Green">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activities in 2S IT - information note</dc:title>
  <dc:subject>PptxGenJS Presentation</dc:subject>
  <dc:creator>PptxGenJS</dc:creator>
  <cp:lastModifiedBy>PptxGenJS</cp:lastModifiedBy>
  <cp:revision>1</cp:revision>
  <dcterms:created xsi:type="dcterms:W3CDTF">2026-10-30T02:39:32Z</dcterms:created>
  <dcterms:modified xsi:type="dcterms:W3CDTF">2026-10-30T02:39:32Z</dcterms:modified>
</cp:coreProperties>
</file>