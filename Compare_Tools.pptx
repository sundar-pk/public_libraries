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915A"/>
          </a:solidFill>
          <a:ln w="12700">
            <a:solidFill>
              <a:srgbClr val="00915A"/>
            </a:solidFill>
            <a:prstDash val="solid"/>
          </a:ln>
        </p:spPr>
      </p:sp>
      <p:sp>
        <p:nvSpPr>
          <p:cNvPr id="3" name="Text 1"/>
          <p:cNvSpPr/>
          <p:nvPr/>
        </p:nvSpPr>
        <p:spPr>
          <a:xfrm>
            <a:off x="457200" y="228600"/>
            <a:ext cx="11247120" cy="274320"/>
          </a:xfrm>
          <a:prstGeom prst="rect">
            <a:avLst/>
          </a:prstGeom>
          <a:noFill/>
          <a:ln/>
        </p:spPr>
        <p:txBody>
          <a:bodyPr wrap="square" lIns="0" tIns="0" rIns="0" bIns="0" rtlCol="0" anchor="ctr"/>
          <a:lstStyle/>
          <a:p>
            <a:pPr indent="0" marL="0">
              <a:buNone/>
            </a:pPr>
            <a:r>
              <a:rPr lang="en-US" sz="1100" b="1" spc="200" kern="0" dirty="0">
                <a:solidFill>
                  <a:srgbClr val="00915A"/>
                </a:solidFill>
                <a:latin typeface="Arial" pitchFamily="34" charset="0"/>
                <a:ea typeface="Arial" pitchFamily="34" charset="-122"/>
                <a:cs typeface="Arial" pitchFamily="34" charset="-120"/>
              </a:rPr>
              <a:t>TOOL COMPARISON</a:t>
            </a:r>
            <a:endParaRPr lang="en-US" sz="1100" dirty="0"/>
          </a:p>
        </p:txBody>
      </p:sp>
      <p:sp>
        <p:nvSpPr>
          <p:cNvPr id="4" name="Text 2"/>
          <p:cNvSpPr/>
          <p:nvPr/>
        </p:nvSpPr>
        <p:spPr>
          <a:xfrm>
            <a:off x="457200" y="475488"/>
            <a:ext cx="11247120" cy="548640"/>
          </a:xfrm>
          <a:prstGeom prst="rect">
            <a:avLst/>
          </a:prstGeom>
          <a:noFill/>
          <a:ln/>
        </p:spPr>
        <p:txBody>
          <a:bodyPr wrap="square" lIns="0" tIns="0" rIns="0" bIns="0" rtlCol="0" anchor="ctr"/>
          <a:lstStyle/>
          <a:p>
            <a:pPr indent="0" marL="0">
              <a:buNone/>
            </a:pPr>
            <a:r>
              <a:rPr lang="en-US" sz="2400" b="1" dirty="0">
                <a:solidFill>
                  <a:srgbClr val="1F2328"/>
                </a:solidFill>
                <a:latin typeface="Arial" pitchFamily="34" charset="0"/>
                <a:ea typeface="Arial" pitchFamily="34" charset="-122"/>
                <a:cs typeface="Arial" pitchFamily="34" charset="-120"/>
              </a:rPr>
              <a:t>Choosing the right home for our engineering metrics</a:t>
            </a:r>
            <a:endParaRPr lang="en-US" sz="2400" dirty="0"/>
          </a:p>
        </p:txBody>
      </p:sp>
      <p:sp>
        <p:nvSpPr>
          <p:cNvPr id="5" name="Text 3"/>
          <p:cNvSpPr/>
          <p:nvPr/>
        </p:nvSpPr>
        <p:spPr>
          <a:xfrm>
            <a:off x="457200" y="6510528"/>
            <a:ext cx="73152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Engineering Metrics  |  Tool Comparison</a:t>
            </a:r>
            <a:endParaRPr lang="en-US" sz="900" dirty="0"/>
          </a:p>
        </p:txBody>
      </p:sp>
      <p:sp>
        <p:nvSpPr>
          <p:cNvPr id="6" name="Text 4"/>
          <p:cNvSpPr/>
          <p:nvPr/>
        </p:nvSpPr>
        <p:spPr>
          <a:xfrm>
            <a:off x="11247120" y="649224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a:t>
            </a:r>
            <a:endParaRPr lang="en-US" sz="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28800"/>
                <a:gridCol w="3108960"/>
                <a:gridCol w="3566160"/>
                <a:gridCol w="2770632"/>
              </a:tblGrid>
              <a:tr h="384048">
                <a:tc>
                  <a:txBody>
                    <a:bodyPr/>
                    <a:lstStyle/>
                    <a:p>
                      <a:pPr algn="ctr" indent="0" marL="0">
                        <a:buNone/>
                      </a:pP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Tool 1: Apache DevLake</a:t>
                      </a: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00915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Tool 2: CIB Engineering Services</a:t>
                      </a: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5B5470"/>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Tool 3: 2S CAB</a:t>
                      </a:r>
                      <a:endParaRPr lang="en-US" sz="11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00703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Purpose</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Standardised DORA metrics and team health</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Broad SDLC data collection platform</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Release control: security scans, test results, go / no-go</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r h="777240">
                <a:tc>
                  <a:txBody>
                    <a:bodyPr/>
                    <a:lstStyle/>
                    <a:p>
                      <a:pPr indent="0" marL="0">
                        <a:buNone/>
                      </a:pPr>
                      <a:r>
                        <a:rPr lang="en-US" sz="1100" b="1" dirty="0">
                          <a:solidFill>
                            <a:srgbClr val="1F2328"/>
                          </a:solidFill>
                          <a:latin typeface="Arial" pitchFamily="34" charset="0"/>
                          <a:ea typeface="Arial" pitchFamily="34" charset="-122"/>
                          <a:cs typeface="Arial" pitchFamily="34" charset="-120"/>
                        </a:rPr>
                        <a:t>Metrics layer</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All four DORA metrics computed from commit to deployment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Data is collected well; a formal metrics layer is still to come. Deployment events are not yet linked to commits, so lead time cannot yet be computed</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its current focus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Team health</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Surfaced workload, review depth and on-time delivery</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yet available</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Software craftsman assessments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Management view</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Engineering scorecard for senior management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Data browsers and repository views; no scorecard yet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Release-status view that managers already use</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AI impact</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Designed to relate AI usage to delivery outcomes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Tracks Claude Code usage; not yet related to delivery outcomes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its current focus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328"/>
                          </a:solidFill>
                          <a:latin typeface="Arial" pitchFamily="34" charset="0"/>
                          <a:ea typeface="Arial" pitchFamily="34" charset="-122"/>
                          <a:cs typeface="Arial" pitchFamily="34" charset="-120"/>
                        </a:rPr>
                        <a:t>Comparability</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Industry-standard DORA definitions, comparable across teams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Custom metrics; not yet comparable across teams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Not its current focus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2328"/>
                          </a:solidFill>
                          <a:latin typeface="Arial" pitchFamily="34" charset="0"/>
                          <a:ea typeface="Arial" pitchFamily="34" charset="-122"/>
                          <a:cs typeface="Arial" pitchFamily="34" charset="-120"/>
                        </a:rPr>
                        <a:t>Ownership</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Ours: forked and self-hosted</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Built and owned by another cluster</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050" dirty="0">
                          <a:solidFill>
                            <a:srgbClr val="3C4248"/>
                          </a:solidFill>
                          <a:latin typeface="Arial" pitchFamily="34" charset="0"/>
                          <a:ea typeface="Arial" pitchFamily="34" charset="-122"/>
                          <a:cs typeface="Arial" pitchFamily="34" charset="-120"/>
                        </a:rPr>
                        <a:t>Ours: 2S domain application</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r h="502920">
                <a:tc>
                  <a:txBody>
                    <a:bodyPr/>
                    <a:lstStyle/>
                    <a:p>
                      <a:pPr indent="0" marL="0">
                        <a:buNone/>
                      </a:pPr>
                      <a:r>
                        <a:rPr lang="en-US" sz="1100" b="1" dirty="0">
                          <a:solidFill>
                            <a:srgbClr val="1F2328"/>
                          </a:solidFill>
                          <a:latin typeface="Arial" pitchFamily="34" charset="0"/>
                          <a:ea typeface="Arial" pitchFamily="34" charset="-122"/>
                          <a:cs typeface="Arial" pitchFamily="34" charset="-120"/>
                        </a:rPr>
                        <a:t>Fit for engineering metrics</a:t>
                      </a:r>
                      <a:endParaRPr lang="en-US" sz="110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7F9F8"/>
                    </a:solidFill>
                  </a:tcPr>
                </a:tc>
                <a:tc>
                  <a:txBody>
                    <a:bodyPr/>
                    <a:lstStyle/>
                    <a:p>
                      <a:pPr algn="ctr" indent="0" marL="0">
                        <a:buNone/>
                      </a:pPr>
                      <a:r>
                        <a:rPr lang="en-US" sz="1050" b="1" dirty="0">
                          <a:solidFill>
                            <a:srgbClr val="00703F"/>
                          </a:solidFill>
                          <a:latin typeface="Arial" pitchFamily="34" charset="0"/>
                          <a:ea typeface="Arial" pitchFamily="34" charset="-122"/>
                          <a:cs typeface="Arial" pitchFamily="34" charset="-120"/>
                        </a:rPr>
                        <a:t>Strong</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c>
                  <a:txBody>
                    <a:bodyPr/>
                    <a:lstStyle/>
                    <a:p>
                      <a:pPr algn="ctr" indent="0" marL="0">
                        <a:buNone/>
                      </a:pPr>
                      <a:r>
                        <a:rPr lang="en-US" sz="1050" b="1" dirty="0">
                          <a:solidFill>
                            <a:srgbClr val="B26A00"/>
                          </a:solidFill>
                          <a:latin typeface="Arial" pitchFamily="34" charset="0"/>
                          <a:ea typeface="Arial" pitchFamily="34" charset="-122"/>
                          <a:cs typeface="Arial" pitchFamily="34" charset="-120"/>
                        </a:rPr>
                        <a:t>Promising; not yet complete for metrics</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FFF4E0"/>
                    </a:solidFill>
                  </a:tcPr>
                </a:tc>
                <a:tc>
                  <a:txBody>
                    <a:bodyPr/>
                    <a:lstStyle/>
                    <a:p>
                      <a:pPr algn="ctr" indent="0" marL="0">
                        <a:buNone/>
                      </a:pPr>
                      <a:r>
                        <a:rPr lang="en-US" sz="1050" b="1" dirty="0">
                          <a:solidFill>
                            <a:srgbClr val="00703F"/>
                          </a:solidFill>
                          <a:latin typeface="Arial" pitchFamily="34" charset="0"/>
                          <a:ea typeface="Arial" pitchFamily="34" charset="-122"/>
                          <a:cs typeface="Arial" pitchFamily="34" charset="-120"/>
                        </a:rPr>
                        <a:t>Strong as a home and complement</a:t>
                      </a:r>
                      <a:endParaRPr lang="en-US" sz="1050" dirty="0">
                        <a:latin typeface="Arial" charset="0"/>
                        <a:ea typeface="Arial" charset="0"/>
                        <a:cs typeface="Arial" charset="0"/>
                      </a:endParaRPr>
                    </a:p>
                  </a:txBody>
                  <a:tcPr marL="91440" marR="91440" marT="27432" marB="27432" anchor="ctr">
                    <a:lnL w="9525" cap="flat" cmpd="sng" algn="ctr">
                      <a:solidFill>
                        <a:srgbClr val="E3E6EA"/>
                      </a:solidFill>
                      <a:prstDash val="solid"/>
                      <a:round/>
                      <a:headEnd type="none" w="med" len="med"/>
                      <a:tailEnd type="none" w="med" len="med"/>
                    </a:lnL>
                    <a:lnR w="9525" cap="flat" cmpd="sng" algn="ctr">
                      <a:solidFill>
                        <a:srgbClr val="E3E6EA"/>
                      </a:solidFill>
                      <a:prstDash val="solid"/>
                      <a:round/>
                      <a:headEnd type="none" w="med" len="med"/>
                      <a:tailEnd type="none" w="med" len="med"/>
                    </a:lnR>
                    <a:lnT w="9525" cap="flat" cmpd="sng" algn="ctr">
                      <a:solidFill>
                        <a:srgbClr val="E3E6EA"/>
                      </a:solidFill>
                      <a:prstDash val="solid"/>
                      <a:round/>
                      <a:headEnd type="none" w="med" len="med"/>
                      <a:tailEnd type="none" w="med" len="med"/>
                    </a:lnT>
                    <a:lnB w="9525" cap="flat" cmpd="sng" algn="ctr">
                      <a:solidFill>
                        <a:srgbClr val="E3E6EA"/>
                      </a:solidFill>
                      <a:prstDash val="solid"/>
                      <a:round/>
                      <a:headEnd type="none" w="med" len="med"/>
                      <a:tailEnd type="none" w="med" len="med"/>
                    </a:lnB>
                    <a:solidFill>
                      <a:srgbClr val="EAF6F0"/>
                    </a:solidFill>
                  </a:tcPr>
                </a:tc>
              </a:tr>
            </a:tbl>
          </a:graphicData>
        </a:graphic>
      </p:graphicFrame>
      <p:sp>
        <p:nvSpPr>
          <p:cNvPr id="8" name="Shape 5"/>
          <p:cNvSpPr/>
          <p:nvPr/>
        </p:nvSpPr>
        <p:spPr>
          <a:xfrm>
            <a:off x="457200" y="5943600"/>
            <a:ext cx="11274552" cy="457200"/>
          </a:xfrm>
          <a:prstGeom prst="rect">
            <a:avLst/>
          </a:prstGeom>
          <a:solidFill>
            <a:srgbClr val="EAF6F0"/>
          </a:solidFill>
          <a:ln w="12700">
            <a:solidFill>
              <a:srgbClr val="00915A"/>
            </a:solidFill>
            <a:prstDash val="solid"/>
          </a:ln>
        </p:spPr>
      </p:sp>
      <p:sp>
        <p:nvSpPr>
          <p:cNvPr id="9" name="Text 6"/>
          <p:cNvSpPr/>
          <p:nvPr/>
        </p:nvSpPr>
        <p:spPr>
          <a:xfrm>
            <a:off x="640080" y="5943600"/>
            <a:ext cx="10908792" cy="457200"/>
          </a:xfrm>
          <a:prstGeom prst="rect">
            <a:avLst/>
          </a:prstGeom>
          <a:noFill/>
          <a:ln/>
        </p:spPr>
        <p:txBody>
          <a:bodyPr wrap="square" lIns="0" tIns="0" rIns="0" bIns="0" rtlCol="0" anchor="ctr"/>
          <a:lstStyle/>
          <a:p>
            <a:pPr indent="0" marL="0">
              <a:buNone/>
            </a:pPr>
            <a:r>
              <a:rPr lang="en-US" sz="1150" b="1" dirty="0">
                <a:solidFill>
                  <a:srgbClr val="00703F"/>
                </a:solidFill>
                <a:latin typeface="Arial" pitchFamily="34" charset="0"/>
                <a:ea typeface="Arial" pitchFamily="34" charset="-122"/>
                <a:cs typeface="Arial" pitchFamily="34" charset="-120"/>
              </a:rPr>
              <a:t>Together, DevLake's delivery-flow metrics and 2S CAB's release-readiness view could offer one connected picture within our own domain.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915A"/>
          </a:solidFill>
          <a:ln w="12700">
            <a:solidFill>
              <a:srgbClr val="00915A"/>
            </a:solidFill>
            <a:prstDash val="solid"/>
          </a:ln>
        </p:spPr>
      </p:sp>
      <p:sp>
        <p:nvSpPr>
          <p:cNvPr id="3" name="Text 1"/>
          <p:cNvSpPr/>
          <p:nvPr/>
        </p:nvSpPr>
        <p:spPr>
          <a:xfrm>
            <a:off x="457200" y="228600"/>
            <a:ext cx="11247120" cy="274320"/>
          </a:xfrm>
          <a:prstGeom prst="rect">
            <a:avLst/>
          </a:prstGeom>
          <a:noFill/>
          <a:ln/>
        </p:spPr>
        <p:txBody>
          <a:bodyPr wrap="square" lIns="0" tIns="0" rIns="0" bIns="0" rtlCol="0" anchor="ctr"/>
          <a:lstStyle/>
          <a:p>
            <a:pPr indent="0" marL="0">
              <a:buNone/>
            </a:pPr>
            <a:r>
              <a:rPr lang="en-US" sz="1100" b="1" spc="200" kern="0" dirty="0">
                <a:solidFill>
                  <a:srgbClr val="00915A"/>
                </a:solidFill>
                <a:latin typeface="Arial" pitchFamily="34" charset="0"/>
                <a:ea typeface="Arial" pitchFamily="34" charset="-122"/>
                <a:cs typeface="Arial" pitchFamily="34" charset="-120"/>
              </a:rPr>
              <a:t>IN PLAIN WORDS</a:t>
            </a:r>
            <a:endParaRPr lang="en-US" sz="1100" dirty="0"/>
          </a:p>
        </p:txBody>
      </p:sp>
      <p:sp>
        <p:nvSpPr>
          <p:cNvPr id="4" name="Text 2"/>
          <p:cNvSpPr/>
          <p:nvPr/>
        </p:nvSpPr>
        <p:spPr>
          <a:xfrm>
            <a:off x="457200" y="475488"/>
            <a:ext cx="11247120" cy="548640"/>
          </a:xfrm>
          <a:prstGeom prst="rect">
            <a:avLst/>
          </a:prstGeom>
          <a:noFill/>
          <a:ln/>
        </p:spPr>
        <p:txBody>
          <a:bodyPr wrap="square" lIns="0" tIns="0" rIns="0" bIns="0" rtlCol="0" anchor="ctr"/>
          <a:lstStyle/>
          <a:p>
            <a:pPr indent="0" marL="0">
              <a:buNone/>
            </a:pPr>
            <a:r>
              <a:rPr lang="en-US" sz="2400" b="1" dirty="0">
                <a:solidFill>
                  <a:srgbClr val="1F2328"/>
                </a:solidFill>
                <a:latin typeface="Arial" pitchFamily="34" charset="0"/>
                <a:ea typeface="Arial" pitchFamily="34" charset="-122"/>
                <a:cs typeface="Arial" pitchFamily="34" charset="-120"/>
              </a:rPr>
              <a:t>What each level of the organisation can gain from engineering metrics</a:t>
            </a:r>
            <a:endParaRPr lang="en-US" sz="2400" dirty="0"/>
          </a:p>
        </p:txBody>
      </p:sp>
      <p:sp>
        <p:nvSpPr>
          <p:cNvPr id="5" name="Text 3"/>
          <p:cNvSpPr/>
          <p:nvPr/>
        </p:nvSpPr>
        <p:spPr>
          <a:xfrm>
            <a:off x="457200" y="6510528"/>
            <a:ext cx="73152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Engineering Metrics  |  Tool Comparison</a:t>
            </a:r>
            <a:endParaRPr lang="en-US" sz="900" dirty="0"/>
          </a:p>
        </p:txBody>
      </p:sp>
      <p:sp>
        <p:nvSpPr>
          <p:cNvPr id="6" name="Text 4"/>
          <p:cNvSpPr/>
          <p:nvPr/>
        </p:nvSpPr>
        <p:spPr>
          <a:xfrm>
            <a:off x="11247120" y="649224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
        <p:nvSpPr>
          <p:cNvPr id="7" name="Shape 5"/>
          <p:cNvSpPr/>
          <p:nvPr/>
        </p:nvSpPr>
        <p:spPr>
          <a:xfrm>
            <a:off x="457200" y="1234440"/>
            <a:ext cx="11274552" cy="868680"/>
          </a:xfrm>
          <a:prstGeom prst="rect">
            <a:avLst/>
          </a:prstGeom>
          <a:solidFill>
            <a:srgbClr val="EAF6F0"/>
          </a:solidFill>
          <a:ln w="12700">
            <a:solidFill>
              <a:srgbClr val="EAF6F0"/>
            </a:solidFill>
            <a:prstDash val="solid"/>
          </a:ln>
        </p:spPr>
      </p:sp>
      <p:sp>
        <p:nvSpPr>
          <p:cNvPr id="8" name="Shape 6"/>
          <p:cNvSpPr/>
          <p:nvPr/>
        </p:nvSpPr>
        <p:spPr>
          <a:xfrm>
            <a:off x="457200" y="1234440"/>
            <a:ext cx="73152" cy="868680"/>
          </a:xfrm>
          <a:prstGeom prst="rect">
            <a:avLst/>
          </a:prstGeom>
          <a:solidFill>
            <a:srgbClr val="00915A"/>
          </a:solidFill>
          <a:ln w="12700">
            <a:solidFill>
              <a:srgbClr val="00915A"/>
            </a:solidFill>
            <a:prstDash val="solid"/>
          </a:ln>
        </p:spPr>
      </p:sp>
      <p:sp>
        <p:nvSpPr>
          <p:cNvPr id="9" name="Text 7"/>
          <p:cNvSpPr/>
          <p:nvPr/>
        </p:nvSpPr>
        <p:spPr>
          <a:xfrm>
            <a:off x="731520" y="1261872"/>
            <a:ext cx="10789920" cy="822960"/>
          </a:xfrm>
          <a:prstGeom prst="rect">
            <a:avLst/>
          </a:prstGeom>
          <a:noFill/>
          <a:ln/>
        </p:spPr>
        <p:txBody>
          <a:bodyPr wrap="square" lIns="0" tIns="0" rIns="0" bIns="0" rtlCol="0" anchor="ctr"/>
          <a:lstStyle/>
          <a:p>
            <a:pPr indent="0" marL="0">
              <a:buNone/>
            </a:pPr>
            <a:r>
              <a:rPr lang="en-US" sz="1300" b="1" dirty="0">
                <a:solidFill>
                  <a:srgbClr val="00703F"/>
                </a:solidFill>
                <a:latin typeface="Arial" pitchFamily="34" charset="0"/>
                <a:ea typeface="Arial" pitchFamily="34" charset="-122"/>
                <a:cs typeface="Arial" pitchFamily="34" charset="-120"/>
              </a:rPr>
              <a:t>Why PR cycle time is helpful</a:t>
            </a:r>
            <a:endParaRPr lang="en-US" sz="1300" dirty="0"/>
          </a:p>
          <a:p>
            <a:pPr indent="0" marL="0">
              <a:buNone/>
            </a:pPr>
            <a:r>
              <a:rPr lang="en-US" sz="1100" dirty="0">
                <a:solidFill>
                  <a:srgbClr val="3C4248"/>
                </a:solidFill>
                <a:latin typeface="Arial" pitchFamily="34" charset="0"/>
                <a:ea typeface="Arial" pitchFamily="34" charset="-122"/>
                <a:cs typeface="Arial" pitchFamily="34" charset="-120"/>
              </a:rPr>
              <a:t>It shows how quickly a change travels from first code to release, and so how much we deliver. With AI assistants now available to every developer, the trend should show more features shipped and fewer bugs. These metrics help us confirm this with data.</a:t>
            </a:r>
            <a:endParaRPr lang="en-US" sz="1300" dirty="0"/>
          </a:p>
        </p:txBody>
      </p:sp>
      <p:sp>
        <p:nvSpPr>
          <p:cNvPr id="10" name="Shape 8"/>
          <p:cNvSpPr/>
          <p:nvPr/>
        </p:nvSpPr>
        <p:spPr>
          <a:xfrm>
            <a:off x="457200" y="2240280"/>
            <a:ext cx="3611880" cy="3108960"/>
          </a:xfrm>
          <a:prstGeom prst="rect">
            <a:avLst/>
          </a:prstGeom>
          <a:solidFill>
            <a:srgbClr val="F7F9F8"/>
          </a:solidFill>
          <a:ln w="9525">
            <a:solidFill>
              <a:srgbClr val="E3E6EA"/>
            </a:solidFill>
            <a:prstDash val="solid"/>
          </a:ln>
        </p:spPr>
      </p:sp>
      <p:sp>
        <p:nvSpPr>
          <p:cNvPr id="11" name="Shape 9"/>
          <p:cNvSpPr/>
          <p:nvPr/>
        </p:nvSpPr>
        <p:spPr>
          <a:xfrm>
            <a:off x="457200" y="2240280"/>
            <a:ext cx="3611880" cy="548640"/>
          </a:xfrm>
          <a:prstGeom prst="rect">
            <a:avLst/>
          </a:prstGeom>
          <a:solidFill>
            <a:srgbClr val="00915A"/>
          </a:solidFill>
          <a:ln w="12700">
            <a:solidFill>
              <a:srgbClr val="00915A"/>
            </a:solidFill>
            <a:prstDash val="solid"/>
          </a:ln>
        </p:spPr>
      </p:sp>
      <p:sp>
        <p:nvSpPr>
          <p:cNvPr id="12" name="Text 10"/>
          <p:cNvSpPr/>
          <p:nvPr/>
        </p:nvSpPr>
        <p:spPr>
          <a:xfrm>
            <a:off x="640080" y="2240280"/>
            <a:ext cx="3246120"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Head of Department</a:t>
            </a:r>
            <a:endParaRPr lang="en-US" sz="1350" dirty="0"/>
          </a:p>
          <a:p>
            <a:pPr indent="0" marL="0">
              <a:buNone/>
            </a:pPr>
            <a:r>
              <a:rPr lang="en-US" sz="950" dirty="0">
                <a:solidFill>
                  <a:srgbClr val="D9F0E6"/>
                </a:solidFill>
                <a:latin typeface="Arial" pitchFamily="34" charset="0"/>
                <a:ea typeface="Arial" pitchFamily="34" charset="-122"/>
                <a:cs typeface="Arial" pitchFamily="34" charset="-120"/>
              </a:rPr>
              <a:t>All applications, one view</a:t>
            </a:r>
            <a:endParaRPr lang="en-US" sz="1350" dirty="0"/>
          </a:p>
        </p:txBody>
      </p:sp>
      <p:sp>
        <p:nvSpPr>
          <p:cNvPr id="13" name="Text 11"/>
          <p:cNvSpPr/>
          <p:nvPr/>
        </p:nvSpPr>
        <p:spPr>
          <a:xfrm>
            <a:off x="594360" y="2862072"/>
            <a:ext cx="3337560" cy="242316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Delivery trend: </a:t>
            </a:r>
            <a:pPr indent="0" marL="0">
              <a:spcAft>
                <a:spcPts val="400"/>
              </a:spcAft>
              <a:buNone/>
            </a:pPr>
            <a:r>
              <a:rPr lang="en-US" sz="1050" dirty="0">
                <a:solidFill>
                  <a:srgbClr val="3C4248"/>
                </a:solidFill>
                <a:latin typeface="Arial" pitchFamily="34" charset="0"/>
                <a:ea typeface="Arial" pitchFamily="34" charset="-122"/>
                <a:cs typeface="Arial" pitchFamily="34" charset="-120"/>
              </a:rPr>
              <a:t>is feature output rising across applications, and are bugs falling as AI adoption grows?</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Best practices: </a:t>
            </a:r>
            <a:pPr indent="0" marL="0">
              <a:spcAft>
                <a:spcPts val="400"/>
              </a:spcAft>
              <a:buNone/>
            </a:pPr>
            <a:r>
              <a:rPr lang="en-US" sz="1050" dirty="0">
                <a:solidFill>
                  <a:srgbClr val="3C4248"/>
                </a:solidFill>
                <a:latin typeface="Arial" pitchFamily="34" charset="0"/>
                <a:ea typeface="Arial" pitchFamily="34" charset="-122"/>
                <a:cs typeface="Arial" pitchFamily="34" charset="-120"/>
              </a:rPr>
              <a:t>learn from the applications with the fastest reviews and smallest changes, and share what works</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Resource leverage: </a:t>
            </a:r>
            <a:pPr indent="0" marL="0">
              <a:spcAft>
                <a:spcPts val="400"/>
              </a:spcAft>
              <a:buNone/>
            </a:pPr>
            <a:r>
              <a:rPr lang="en-US" sz="1050" dirty="0">
                <a:solidFill>
                  <a:srgbClr val="3C4248"/>
                </a:solidFill>
                <a:latin typeface="Arial" pitchFamily="34" charset="0"/>
                <a:ea typeface="Arial" pitchFamily="34" charset="-122"/>
                <a:cs typeface="Arial" pitchFamily="34" charset="-120"/>
              </a:rPr>
              <a:t>see where capacity is stretched or idle and rebalance people across applications</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Shared libraries: </a:t>
            </a:r>
            <a:pPr indent="0" marL="0">
              <a:spcAft>
                <a:spcPts val="400"/>
              </a:spcAft>
              <a:buNone/>
            </a:pPr>
            <a:r>
              <a:rPr lang="en-US" sz="1050" dirty="0">
                <a:solidFill>
                  <a:srgbClr val="3C4248"/>
                </a:solidFill>
                <a:latin typeface="Arial" pitchFamily="34" charset="0"/>
                <a:ea typeface="Arial" pitchFamily="34" charset="-122"/>
                <a:cs typeface="Arial" pitchFamily="34" charset="-120"/>
              </a:rPr>
              <a:t>duplicated code and common hotspot files point to candidates for reuse</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Standards and risk: </a:t>
            </a:r>
            <a:pPr indent="0" marL="0">
              <a:spcAft>
                <a:spcPts val="400"/>
              </a:spcAft>
              <a:buNone/>
            </a:pPr>
            <a:r>
              <a:rPr lang="en-US" sz="1050" dirty="0">
                <a:solidFill>
                  <a:srgbClr val="3C4248"/>
                </a:solidFill>
                <a:latin typeface="Arial" pitchFamily="34" charset="0"/>
                <a:ea typeface="Arial" pitchFamily="34" charset="-122"/>
                <a:cs typeface="Arial" pitchFamily="34" charset="-120"/>
              </a:rPr>
              <a:t>compare applications on quality, build health and unreviewed changes</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Investment case: </a:t>
            </a:r>
            <a:pPr indent="0" marL="0">
              <a:spcAft>
                <a:spcPts val="400"/>
              </a:spcAft>
              <a:buNone/>
            </a:pPr>
            <a:r>
              <a:rPr lang="en-US" sz="1050" dirty="0">
                <a:solidFill>
                  <a:srgbClr val="3C4248"/>
                </a:solidFill>
                <a:latin typeface="Arial" pitchFamily="34" charset="0"/>
                <a:ea typeface="Arial" pitchFamily="34" charset="-122"/>
                <a:cs typeface="Arial" pitchFamily="34" charset="-120"/>
              </a:rPr>
              <a:t>back tooling and AI decisions with before and after evidence</a:t>
            </a:r>
            <a:endParaRPr lang="en-US" sz="1050" dirty="0"/>
          </a:p>
        </p:txBody>
      </p:sp>
      <p:sp>
        <p:nvSpPr>
          <p:cNvPr id="14" name="Shape 12"/>
          <p:cNvSpPr/>
          <p:nvPr/>
        </p:nvSpPr>
        <p:spPr>
          <a:xfrm>
            <a:off x="4288536" y="2240280"/>
            <a:ext cx="3611880" cy="3108960"/>
          </a:xfrm>
          <a:prstGeom prst="rect">
            <a:avLst/>
          </a:prstGeom>
          <a:solidFill>
            <a:srgbClr val="F7F9F8"/>
          </a:solidFill>
          <a:ln w="9525">
            <a:solidFill>
              <a:srgbClr val="E3E6EA"/>
            </a:solidFill>
            <a:prstDash val="solid"/>
          </a:ln>
        </p:spPr>
      </p:sp>
      <p:sp>
        <p:nvSpPr>
          <p:cNvPr id="15" name="Shape 13"/>
          <p:cNvSpPr/>
          <p:nvPr/>
        </p:nvSpPr>
        <p:spPr>
          <a:xfrm>
            <a:off x="4288536" y="2240280"/>
            <a:ext cx="3611880" cy="548640"/>
          </a:xfrm>
          <a:prstGeom prst="rect">
            <a:avLst/>
          </a:prstGeom>
          <a:solidFill>
            <a:srgbClr val="00915A"/>
          </a:solidFill>
          <a:ln w="12700">
            <a:solidFill>
              <a:srgbClr val="00915A"/>
            </a:solidFill>
            <a:prstDash val="solid"/>
          </a:ln>
        </p:spPr>
      </p:sp>
      <p:sp>
        <p:nvSpPr>
          <p:cNvPr id="16" name="Text 14"/>
          <p:cNvSpPr/>
          <p:nvPr/>
        </p:nvSpPr>
        <p:spPr>
          <a:xfrm>
            <a:off x="4471416" y="2240280"/>
            <a:ext cx="3246120"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Application Manager</a:t>
            </a:r>
            <a:endParaRPr lang="en-US" sz="1350" dirty="0"/>
          </a:p>
          <a:p>
            <a:pPr indent="0" marL="0">
              <a:buNone/>
            </a:pPr>
            <a:r>
              <a:rPr lang="en-US" sz="950" dirty="0">
                <a:solidFill>
                  <a:srgbClr val="D9F0E6"/>
                </a:solidFill>
                <a:latin typeface="Arial" pitchFamily="34" charset="0"/>
                <a:ea typeface="Arial" pitchFamily="34" charset="-122"/>
                <a:cs typeface="Arial" pitchFamily="34" charset="-120"/>
              </a:rPr>
              <a:t>One application, in depth</a:t>
            </a:r>
            <a:endParaRPr lang="en-US" sz="1350" dirty="0"/>
          </a:p>
        </p:txBody>
      </p:sp>
      <p:sp>
        <p:nvSpPr>
          <p:cNvPr id="17" name="Text 15"/>
          <p:cNvSpPr/>
          <p:nvPr/>
        </p:nvSpPr>
        <p:spPr>
          <a:xfrm>
            <a:off x="4425696" y="2862072"/>
            <a:ext cx="3337560" cy="242316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Delivery speed: </a:t>
            </a:r>
            <a:pPr indent="0" marL="0">
              <a:spcAft>
                <a:spcPts val="400"/>
              </a:spcAft>
              <a:buNone/>
            </a:pPr>
            <a:r>
              <a:rPr lang="en-US" sz="1050" dirty="0">
                <a:solidFill>
                  <a:srgbClr val="3C4248"/>
                </a:solidFill>
                <a:latin typeface="Arial" pitchFamily="34" charset="0"/>
                <a:ea typeface="Arial" pitchFamily="34" charset="-122"/>
                <a:cs typeface="Arial" pitchFamily="34" charset="-120"/>
              </a:rPr>
              <a:t>how long a change takes from code to release, and where it waits</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Predictability: </a:t>
            </a:r>
            <a:pPr indent="0" marL="0">
              <a:spcAft>
                <a:spcPts val="400"/>
              </a:spcAft>
              <a:buNone/>
            </a:pPr>
            <a:r>
              <a:rPr lang="en-US" sz="1050" dirty="0">
                <a:solidFill>
                  <a:srgbClr val="3C4248"/>
                </a:solidFill>
                <a:latin typeface="Arial" pitchFamily="34" charset="0"/>
                <a:ea typeface="Arial" pitchFamily="34" charset="-122"/>
                <a:cs typeface="Arial" pitchFamily="34" charset="-120"/>
              </a:rPr>
              <a:t>are we delivering what each sprint planned, and is the backlog shrinking?</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Quality: </a:t>
            </a:r>
            <a:pPr indent="0" marL="0">
              <a:spcAft>
                <a:spcPts val="400"/>
              </a:spcAft>
              <a:buNone/>
            </a:pPr>
            <a:r>
              <a:rPr lang="en-US" sz="1050" dirty="0">
                <a:solidFill>
                  <a:srgbClr val="3C4248"/>
                </a:solidFill>
                <a:latin typeface="Arial" pitchFamily="34" charset="0"/>
                <a:ea typeface="Arial" pitchFamily="34" charset="-122"/>
                <a:cs typeface="Arial" pitchFamily="34" charset="-120"/>
              </a:rPr>
              <a:t>new versus closed bugs, age of open critical defects, test coverage</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Release confidence: </a:t>
            </a:r>
            <a:pPr indent="0" marL="0">
              <a:spcAft>
                <a:spcPts val="400"/>
              </a:spcAft>
              <a:buNone/>
            </a:pPr>
            <a:r>
              <a:rPr lang="en-US" sz="1050" dirty="0">
                <a:solidFill>
                  <a:srgbClr val="3C4248"/>
                </a:solidFill>
                <a:latin typeface="Arial" pitchFamily="34" charset="0"/>
                <a:ea typeface="Arial" pitchFamily="34" charset="-122"/>
                <a:cs typeface="Arial" pitchFamily="34" charset="-120"/>
              </a:rPr>
              <a:t>build success and code-quality trends ahead of a release decision</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Capacity: </a:t>
            </a:r>
            <a:pPr indent="0" marL="0">
              <a:spcAft>
                <a:spcPts val="400"/>
              </a:spcAft>
              <a:buNone/>
            </a:pPr>
            <a:r>
              <a:rPr lang="en-US" sz="1050" dirty="0">
                <a:solidFill>
                  <a:srgbClr val="3C4248"/>
                </a:solidFill>
                <a:latin typeface="Arial" pitchFamily="34" charset="0"/>
                <a:ea typeface="Arial" pitchFamily="34" charset="-122"/>
                <a:cs typeface="Arial" pitchFamily="34" charset="-120"/>
              </a:rPr>
              <a:t>workload spread across the team and reliance on a few key people</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Early warning: </a:t>
            </a:r>
            <a:pPr indent="0" marL="0">
              <a:spcAft>
                <a:spcPts val="400"/>
              </a:spcAft>
              <a:buNone/>
            </a:pPr>
            <a:r>
              <a:rPr lang="en-US" sz="1050" dirty="0">
                <a:solidFill>
                  <a:srgbClr val="3C4248"/>
                </a:solidFill>
                <a:latin typeface="Arial" pitchFamily="34" charset="0"/>
                <a:ea typeface="Arial" pitchFamily="34" charset="-122"/>
                <a:cs typeface="Arial" pitchFamily="34" charset="-120"/>
              </a:rPr>
              <a:t>large or unreviewed changes flagged before they become incidents</a:t>
            </a:r>
            <a:endParaRPr lang="en-US" sz="1050" dirty="0"/>
          </a:p>
        </p:txBody>
      </p:sp>
      <p:sp>
        <p:nvSpPr>
          <p:cNvPr id="18" name="Shape 16"/>
          <p:cNvSpPr/>
          <p:nvPr/>
        </p:nvSpPr>
        <p:spPr>
          <a:xfrm>
            <a:off x="8119872" y="2240280"/>
            <a:ext cx="3611880" cy="3108960"/>
          </a:xfrm>
          <a:prstGeom prst="rect">
            <a:avLst/>
          </a:prstGeom>
          <a:solidFill>
            <a:srgbClr val="F7F9F8"/>
          </a:solidFill>
          <a:ln w="9525">
            <a:solidFill>
              <a:srgbClr val="E3E6EA"/>
            </a:solidFill>
            <a:prstDash val="solid"/>
          </a:ln>
        </p:spPr>
      </p:sp>
      <p:sp>
        <p:nvSpPr>
          <p:cNvPr id="19" name="Shape 17"/>
          <p:cNvSpPr/>
          <p:nvPr/>
        </p:nvSpPr>
        <p:spPr>
          <a:xfrm>
            <a:off x="8119872" y="2240280"/>
            <a:ext cx="3611880" cy="548640"/>
          </a:xfrm>
          <a:prstGeom prst="rect">
            <a:avLst/>
          </a:prstGeom>
          <a:solidFill>
            <a:srgbClr val="00915A"/>
          </a:solidFill>
          <a:ln w="12700">
            <a:solidFill>
              <a:srgbClr val="00915A"/>
            </a:solidFill>
            <a:prstDash val="solid"/>
          </a:ln>
        </p:spPr>
      </p:sp>
      <p:sp>
        <p:nvSpPr>
          <p:cNvPr id="20" name="Text 18"/>
          <p:cNvSpPr/>
          <p:nvPr/>
        </p:nvSpPr>
        <p:spPr>
          <a:xfrm>
            <a:off x="8302752" y="2240280"/>
            <a:ext cx="3246120"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Teams</a:t>
            </a:r>
            <a:endParaRPr lang="en-US" sz="1350" dirty="0"/>
          </a:p>
          <a:p>
            <a:pPr indent="0" marL="0">
              <a:buNone/>
            </a:pPr>
            <a:r>
              <a:rPr lang="en-US" sz="950" dirty="0">
                <a:solidFill>
                  <a:srgbClr val="D9F0E6"/>
                </a:solidFill>
                <a:latin typeface="Arial" pitchFamily="34" charset="0"/>
                <a:ea typeface="Arial" pitchFamily="34" charset="-122"/>
                <a:cs typeface="Arial" pitchFamily="34" charset="-120"/>
              </a:rPr>
              <a:t>Day to day</a:t>
            </a:r>
            <a:endParaRPr lang="en-US" sz="1350" dirty="0"/>
          </a:p>
        </p:txBody>
      </p:sp>
      <p:sp>
        <p:nvSpPr>
          <p:cNvPr id="21" name="Text 19"/>
          <p:cNvSpPr/>
          <p:nvPr/>
        </p:nvSpPr>
        <p:spPr>
          <a:xfrm>
            <a:off x="8257032" y="2862072"/>
            <a:ext cx="3337560" cy="242316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Bottlenecks: </a:t>
            </a:r>
            <a:pPr indent="0" marL="0">
              <a:spcAft>
                <a:spcPts val="400"/>
              </a:spcAft>
              <a:buNone/>
            </a:pPr>
            <a:r>
              <a:rPr lang="en-US" sz="1050" dirty="0">
                <a:solidFill>
                  <a:srgbClr val="3C4248"/>
                </a:solidFill>
                <a:latin typeface="Arial" pitchFamily="34" charset="0"/>
                <a:ea typeface="Arial" pitchFamily="34" charset="-122"/>
                <a:cs typeface="Arial" pitchFamily="34" charset="-120"/>
              </a:rPr>
              <a:t>whether time goes on coding, review pickup or release</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Review habits: </a:t>
            </a:r>
            <a:pPr indent="0" marL="0">
              <a:spcAft>
                <a:spcPts val="400"/>
              </a:spcAft>
              <a:buNone/>
            </a:pPr>
            <a:r>
              <a:rPr lang="en-US" sz="1050" dirty="0">
                <a:solidFill>
                  <a:srgbClr val="3C4248"/>
                </a:solidFill>
                <a:latin typeface="Arial" pitchFamily="34" charset="0"/>
                <a:ea typeface="Arial" pitchFamily="34" charset="-122"/>
                <a:cs typeface="Arial" pitchFamily="34" charset="-120"/>
              </a:rPr>
              <a:t>small, well-reviewed pull requests merge faster</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Own progress: </a:t>
            </a:r>
            <a:pPr indent="0" marL="0">
              <a:spcAft>
                <a:spcPts val="400"/>
              </a:spcAft>
              <a:buNone/>
            </a:pPr>
            <a:r>
              <a:rPr lang="en-US" sz="1050" dirty="0">
                <a:solidFill>
                  <a:srgbClr val="3C4248"/>
                </a:solidFill>
                <a:latin typeface="Arial" pitchFamily="34" charset="0"/>
                <a:ea typeface="Arial" pitchFamily="34" charset="-122"/>
                <a:cs typeface="Arial" pitchFamily="34" charset="-120"/>
              </a:rPr>
              <a:t>throughput and bug trend sprint over sprint</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AI impact: </a:t>
            </a:r>
            <a:pPr indent="0" marL="0">
              <a:spcAft>
                <a:spcPts val="400"/>
              </a:spcAft>
              <a:buNone/>
            </a:pPr>
            <a:r>
              <a:rPr lang="en-US" sz="1050" dirty="0">
                <a:solidFill>
                  <a:srgbClr val="3C4248"/>
                </a:solidFill>
                <a:latin typeface="Arial" pitchFamily="34" charset="0"/>
                <a:ea typeface="Arial" pitchFamily="34" charset="-122"/>
                <a:cs typeface="Arial" pitchFamily="34" charset="-120"/>
              </a:rPr>
              <a:t>does new tooling actually shorten our cycle time?</a:t>
            </a:r>
            <a:endParaRPr lang="en-US" sz="1050" dirty="0"/>
          </a:p>
          <a:p>
            <a:pPr marL="152400" indent="-152400">
              <a:spcAft>
                <a:spcPts val="400"/>
              </a:spcAft>
              <a:buSzPct val="100000"/>
              <a:buChar char="•"/>
            </a:pPr>
            <a:r>
              <a:rPr lang="en-US" sz="1050" b="1" dirty="0">
                <a:solidFill>
                  <a:srgbClr val="00703F"/>
                </a:solidFill>
                <a:latin typeface="Arial" pitchFamily="34" charset="0"/>
                <a:ea typeface="Arial" pitchFamily="34" charset="-122"/>
                <a:cs typeface="Arial" pitchFamily="34" charset="-120"/>
              </a:rPr>
              <a:t>Shared learning: </a:t>
            </a:r>
            <a:pPr indent="0" marL="0">
              <a:spcAft>
                <a:spcPts val="400"/>
              </a:spcAft>
              <a:buNone/>
            </a:pPr>
            <a:r>
              <a:rPr lang="en-US" sz="1050" dirty="0">
                <a:solidFill>
                  <a:srgbClr val="3C4248"/>
                </a:solidFill>
                <a:latin typeface="Arial" pitchFamily="34" charset="0"/>
                <a:ea typeface="Arial" pitchFamily="34" charset="-122"/>
                <a:cs typeface="Arial" pitchFamily="34" charset="-120"/>
              </a:rPr>
              <a:t>see what high-performing peers do differently</a:t>
            </a:r>
            <a:endParaRPr lang="en-US" sz="1050" dirty="0"/>
          </a:p>
        </p:txBody>
      </p:sp>
      <p:sp>
        <p:nvSpPr>
          <p:cNvPr id="22" name="Shape 20"/>
          <p:cNvSpPr/>
          <p:nvPr/>
        </p:nvSpPr>
        <p:spPr>
          <a:xfrm>
            <a:off x="457200" y="5486400"/>
            <a:ext cx="11274552" cy="868680"/>
          </a:xfrm>
          <a:prstGeom prst="rect">
            <a:avLst/>
          </a:prstGeom>
          <a:solidFill>
            <a:srgbClr val="FFFFFF"/>
          </a:solidFill>
          <a:ln w="15875">
            <a:solidFill>
              <a:srgbClr val="00915A"/>
            </a:solidFill>
            <a:prstDash val="solid"/>
          </a:ln>
        </p:spPr>
      </p:sp>
      <p:sp>
        <p:nvSpPr>
          <p:cNvPr id="23" name="Text 21"/>
          <p:cNvSpPr/>
          <p:nvPr/>
        </p:nvSpPr>
        <p:spPr>
          <a:xfrm>
            <a:off x="685800" y="5504688"/>
            <a:ext cx="10835640" cy="822960"/>
          </a:xfrm>
          <a:prstGeom prst="rect">
            <a:avLst/>
          </a:prstGeom>
          <a:noFill/>
          <a:ln/>
        </p:spPr>
        <p:txBody>
          <a:bodyPr wrap="square" lIns="0" tIns="0" rIns="0" bIns="0" rtlCol="0" anchor="ctr"/>
          <a:lstStyle/>
          <a:p>
            <a:pPr indent="0" marL="0">
              <a:buNone/>
            </a:pPr>
            <a:r>
              <a:rPr lang="en-US" sz="1200" b="1" dirty="0">
                <a:solidFill>
                  <a:srgbClr val="00703F"/>
                </a:solidFill>
                <a:latin typeface="Arial" pitchFamily="34" charset="0"/>
                <a:ea typeface="Arial" pitchFamily="34" charset="-122"/>
                <a:cs typeface="Arial" pitchFamily="34" charset="-120"/>
              </a:rPr>
              <a:t>One common format for all applications</a:t>
            </a:r>
            <a:endParaRPr lang="en-US" sz="1200" dirty="0"/>
          </a:p>
          <a:p>
            <a:pPr indent="0" marL="0">
              <a:buNone/>
            </a:pPr>
            <a:r>
              <a:rPr lang="en-US" sz="1050" dirty="0">
                <a:solidFill>
                  <a:srgbClr val="3C4248"/>
                </a:solidFill>
                <a:latin typeface="Arial" pitchFamily="34" charset="0"/>
                <a:ea typeface="Arial" pitchFamily="34" charset="-122"/>
                <a:cs typeface="Arial" pitchFamily="34" charset="-120"/>
              </a:rPr>
              <a:t>DevLake converts GitLab, Jira, Jenkins and SonarQube data into one standard structure, so other applications' metrics and dashboards can draw on it as a single source of truth. This works best when teams follow common practices for branching, ticket linking and sizing.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2026-10-06T14:29:23Z</dcterms:created>
  <dcterms:modified xsi:type="dcterms:W3CDTF">2026-10-06T14:29:23Z</dcterms:modified>
</cp:coreProperties>
</file>