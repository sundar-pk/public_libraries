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915A"/>
          </a:solidFill>
          <a:ln w="12700">
            <a:solidFill>
              <a:srgbClr val="00915A"/>
            </a:solidFill>
            <a:prstDash val="solid"/>
          </a:ln>
        </p:spPr>
      </p:sp>
      <p:sp>
        <p:nvSpPr>
          <p:cNvPr id="3" name="Text 1"/>
          <p:cNvSpPr/>
          <p:nvPr/>
        </p:nvSpPr>
        <p:spPr>
          <a:xfrm>
            <a:off x="457200" y="228600"/>
            <a:ext cx="11247120" cy="274320"/>
          </a:xfrm>
          <a:prstGeom prst="rect">
            <a:avLst/>
          </a:prstGeom>
          <a:noFill/>
          <a:ln/>
        </p:spPr>
        <p:txBody>
          <a:bodyPr wrap="square" lIns="0" tIns="0" rIns="0" bIns="0" rtlCol="0" anchor="ctr"/>
          <a:lstStyle/>
          <a:p>
            <a:pPr indent="0" marL="0">
              <a:buNone/>
            </a:pPr>
            <a:r>
              <a:rPr lang="en-US" sz="1100" b="1" spc="200" kern="0" dirty="0">
                <a:solidFill>
                  <a:srgbClr val="00915A"/>
                </a:solidFill>
                <a:latin typeface="Arial" pitchFamily="34" charset="0"/>
                <a:ea typeface="Arial" pitchFamily="34" charset="-122"/>
                <a:cs typeface="Arial" pitchFamily="34" charset="-120"/>
              </a:rPr>
              <a:t>TOOL COMPARISON</a:t>
            </a:r>
            <a:endParaRPr lang="en-US" sz="1100" dirty="0"/>
          </a:p>
        </p:txBody>
      </p:sp>
      <p:sp>
        <p:nvSpPr>
          <p:cNvPr id="4" name="Text 2"/>
          <p:cNvSpPr/>
          <p:nvPr/>
        </p:nvSpPr>
        <p:spPr>
          <a:xfrm>
            <a:off x="457200" y="475488"/>
            <a:ext cx="11247120" cy="548640"/>
          </a:xfrm>
          <a:prstGeom prst="rect">
            <a:avLst/>
          </a:prstGeom>
          <a:noFill/>
          <a:ln/>
        </p:spPr>
        <p:txBody>
          <a:bodyPr wrap="square" lIns="0" tIns="0" rIns="0" bIns="0" rtlCol="0" anchor="ctr"/>
          <a:lstStyle/>
          <a:p>
            <a:pPr indent="0" marL="0">
              <a:buNone/>
            </a:pPr>
            <a:r>
              <a:rPr lang="en-US" sz="2400" b="1" dirty="0">
                <a:solidFill>
                  <a:srgbClr val="1F2328"/>
                </a:solidFill>
                <a:latin typeface="Arial" pitchFamily="34" charset="0"/>
                <a:ea typeface="Arial" pitchFamily="34" charset="-122"/>
                <a:cs typeface="Arial" pitchFamily="34" charset="-120"/>
              </a:rPr>
              <a:t>Choosing the right home for our engineering metrics</a:t>
            </a:r>
            <a:endParaRPr lang="en-US" sz="2400" dirty="0"/>
          </a:p>
        </p:txBody>
      </p:sp>
      <p:sp>
        <p:nvSpPr>
          <p:cNvPr id="5" name="Text 3"/>
          <p:cNvSpPr/>
          <p:nvPr/>
        </p:nvSpPr>
        <p:spPr>
          <a:xfrm>
            <a:off x="457200" y="6510528"/>
            <a:ext cx="73152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Engineering Metrics  |  Tool Comparison</a:t>
            </a:r>
            <a:endParaRPr lang="en-US" sz="900" dirty="0"/>
          </a:p>
        </p:txBody>
      </p:sp>
      <p:sp>
        <p:nvSpPr>
          <p:cNvPr id="6" name="Text 4"/>
          <p:cNvSpPr/>
          <p:nvPr/>
        </p:nvSpPr>
        <p:spPr>
          <a:xfrm>
            <a:off x="11247120" y="649224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a:t>
            </a:r>
            <a:endParaRPr lang="en-US" sz="9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828800"/>
                <a:gridCol w="3108960"/>
                <a:gridCol w="3566160"/>
                <a:gridCol w="2770632"/>
              </a:tblGrid>
              <a:tr h="384048">
                <a:tc>
                  <a:txBody>
                    <a:bodyPr/>
                    <a:lstStyle/>
                    <a:p>
                      <a:pPr algn="ctr" indent="0" marL="0">
                        <a:buNone/>
                      </a:pPr>
                      <a:endParaRPr lang="en-US" sz="11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Tool 1: Apache DevLake</a:t>
                      </a:r>
                      <a:endParaRPr lang="en-US" sz="11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00915A"/>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Tool 2: CIB Engineering Services</a:t>
                      </a:r>
                      <a:endParaRPr lang="en-US" sz="11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5B5470"/>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Tool 3: 2S CAB</a:t>
                      </a:r>
                      <a:endParaRPr lang="en-US" sz="11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00703F"/>
                    </a:solidFill>
                  </a:tcPr>
                </a:tc>
              </a:tr>
              <a:tr h="457200">
                <a:tc>
                  <a:txBody>
                    <a:bodyPr/>
                    <a:lstStyle/>
                    <a:p>
                      <a:pPr indent="0" marL="0">
                        <a:buNone/>
                      </a:pPr>
                      <a:r>
                        <a:rPr lang="en-US" sz="1100" b="1" dirty="0">
                          <a:solidFill>
                            <a:srgbClr val="1F2328"/>
                          </a:solidFill>
                          <a:latin typeface="Arial" pitchFamily="34" charset="0"/>
                          <a:ea typeface="Arial" pitchFamily="34" charset="-122"/>
                          <a:cs typeface="Arial" pitchFamily="34" charset="-120"/>
                        </a:rPr>
                        <a:t>Purpose</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Standardised DORA metrics and team health</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Broad SDLC data collection platform</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Release control: security scans, test results, go / no-go</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r>
              <a:tr h="777240">
                <a:tc>
                  <a:txBody>
                    <a:bodyPr/>
                    <a:lstStyle/>
                    <a:p>
                      <a:pPr indent="0" marL="0">
                        <a:buNone/>
                      </a:pPr>
                      <a:r>
                        <a:rPr lang="en-US" sz="1100" b="1" dirty="0">
                          <a:solidFill>
                            <a:srgbClr val="1F2328"/>
                          </a:solidFill>
                          <a:latin typeface="Arial" pitchFamily="34" charset="0"/>
                          <a:ea typeface="Arial" pitchFamily="34" charset="-122"/>
                          <a:cs typeface="Arial" pitchFamily="34" charset="-120"/>
                        </a:rPr>
                        <a:t>Metrics layer</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All four DORA metrics computed from commit to deployment</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Data is collected well; a formal metrics layer is still to come. Deployment events are not yet linked to commits, so lead time cannot yet be computed</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4E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Not its current focus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328"/>
                          </a:solidFill>
                          <a:latin typeface="Arial" pitchFamily="34" charset="0"/>
                          <a:ea typeface="Arial" pitchFamily="34" charset="-122"/>
                          <a:cs typeface="Arial" pitchFamily="34" charset="-120"/>
                        </a:rPr>
                        <a:t>Team health</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Surfaced workload, review depth and on-time delivery</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Not yet available</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4E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Software craftsman assessments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328"/>
                          </a:solidFill>
                          <a:latin typeface="Arial" pitchFamily="34" charset="0"/>
                          <a:ea typeface="Arial" pitchFamily="34" charset="-122"/>
                          <a:cs typeface="Arial" pitchFamily="34" charset="-120"/>
                        </a:rPr>
                        <a:t>Management view</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Engineering scorecard for senior management</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Data browsers and repository views; no scorecard yet</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4E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Release-status view that managers already use</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r>
              <a:tr h="457200">
                <a:tc>
                  <a:txBody>
                    <a:bodyPr/>
                    <a:lstStyle/>
                    <a:p>
                      <a:pPr indent="0" marL="0">
                        <a:buNone/>
                      </a:pPr>
                      <a:r>
                        <a:rPr lang="en-US" sz="1100" b="1" dirty="0">
                          <a:solidFill>
                            <a:srgbClr val="1F2328"/>
                          </a:solidFill>
                          <a:latin typeface="Arial" pitchFamily="34" charset="0"/>
                          <a:ea typeface="Arial" pitchFamily="34" charset="-122"/>
                          <a:cs typeface="Arial" pitchFamily="34" charset="-120"/>
                        </a:rPr>
                        <a:t>AI impact</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Designed to relate AI usage to delivery outcomes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Tracks Claude Code usage; not yet related to delivery outcomes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4E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Not its current focus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328"/>
                          </a:solidFill>
                          <a:latin typeface="Arial" pitchFamily="34" charset="0"/>
                          <a:ea typeface="Arial" pitchFamily="34" charset="-122"/>
                          <a:cs typeface="Arial" pitchFamily="34" charset="-120"/>
                        </a:rPr>
                        <a:t>Comparability</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Industry-standard DORA definitions, comparable across teams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Custom metrics; not yet comparable across teams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4E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Not its current focus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1F2328"/>
                          </a:solidFill>
                          <a:latin typeface="Arial" pitchFamily="34" charset="0"/>
                          <a:ea typeface="Arial" pitchFamily="34" charset="-122"/>
                          <a:cs typeface="Arial" pitchFamily="34" charset="-120"/>
                        </a:rPr>
                        <a:t>Ownership</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Ours: forked and self-hosted</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Built and owned by another cluster</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Ours: 2S domain application</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r>
              <a:tr h="502920">
                <a:tc>
                  <a:txBody>
                    <a:bodyPr/>
                    <a:lstStyle/>
                    <a:p>
                      <a:pPr indent="0" marL="0">
                        <a:buNone/>
                      </a:pPr>
                      <a:r>
                        <a:rPr lang="en-US" sz="1100" b="1" dirty="0">
                          <a:solidFill>
                            <a:srgbClr val="1F2328"/>
                          </a:solidFill>
                          <a:latin typeface="Arial" pitchFamily="34" charset="0"/>
                          <a:ea typeface="Arial" pitchFamily="34" charset="-122"/>
                          <a:cs typeface="Arial" pitchFamily="34" charset="-120"/>
                        </a:rPr>
                        <a:t>Fit for engineering metrics</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algn="ctr" indent="0" marL="0">
                        <a:buNone/>
                      </a:pPr>
                      <a:r>
                        <a:rPr lang="en-US" sz="1050" b="1" dirty="0">
                          <a:solidFill>
                            <a:srgbClr val="00703F"/>
                          </a:solidFill>
                          <a:latin typeface="Arial" pitchFamily="34" charset="0"/>
                          <a:ea typeface="Arial" pitchFamily="34" charset="-122"/>
                          <a:cs typeface="Arial" pitchFamily="34" charset="-120"/>
                        </a:rPr>
                        <a:t>Strong</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algn="ctr" indent="0" marL="0">
                        <a:buNone/>
                      </a:pPr>
                      <a:r>
                        <a:rPr lang="en-US" sz="1050" b="1" dirty="0">
                          <a:solidFill>
                            <a:srgbClr val="B26A00"/>
                          </a:solidFill>
                          <a:latin typeface="Arial" pitchFamily="34" charset="0"/>
                          <a:ea typeface="Arial" pitchFamily="34" charset="-122"/>
                          <a:cs typeface="Arial" pitchFamily="34" charset="-120"/>
                        </a:rPr>
                        <a:t>Promising; not yet complete for metrics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4E0"/>
                    </a:solidFill>
                  </a:tcPr>
                </a:tc>
                <a:tc>
                  <a:txBody>
                    <a:bodyPr/>
                    <a:lstStyle/>
                    <a:p>
                      <a:pPr algn="ctr" indent="0" marL="0">
                        <a:buNone/>
                      </a:pPr>
                      <a:r>
                        <a:rPr lang="en-US" sz="1050" b="1" dirty="0">
                          <a:solidFill>
                            <a:srgbClr val="00703F"/>
                          </a:solidFill>
                          <a:latin typeface="Arial" pitchFamily="34" charset="0"/>
                          <a:ea typeface="Arial" pitchFamily="34" charset="-122"/>
                          <a:cs typeface="Arial" pitchFamily="34" charset="-120"/>
                        </a:rPr>
                        <a:t>Strong as a home and complement</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r>
            </a:tbl>
          </a:graphicData>
        </a:graphic>
      </p:graphicFrame>
      <p:sp>
        <p:nvSpPr>
          <p:cNvPr id="8" name="Shape 5"/>
          <p:cNvSpPr/>
          <p:nvPr/>
        </p:nvSpPr>
        <p:spPr>
          <a:xfrm>
            <a:off x="457200" y="5943600"/>
            <a:ext cx="11274552" cy="457200"/>
          </a:xfrm>
          <a:prstGeom prst="rect">
            <a:avLst/>
          </a:prstGeom>
          <a:solidFill>
            <a:srgbClr val="EAF6F0"/>
          </a:solidFill>
          <a:ln w="12700">
            <a:solidFill>
              <a:srgbClr val="00915A"/>
            </a:solidFill>
            <a:prstDash val="solid"/>
          </a:ln>
        </p:spPr>
      </p:sp>
      <p:sp>
        <p:nvSpPr>
          <p:cNvPr id="9" name="Text 6"/>
          <p:cNvSpPr/>
          <p:nvPr/>
        </p:nvSpPr>
        <p:spPr>
          <a:xfrm>
            <a:off x="640080" y="5943600"/>
            <a:ext cx="10908792" cy="457200"/>
          </a:xfrm>
          <a:prstGeom prst="rect">
            <a:avLst/>
          </a:prstGeom>
          <a:noFill/>
          <a:ln/>
        </p:spPr>
        <p:txBody>
          <a:bodyPr wrap="square" lIns="0" tIns="0" rIns="0" bIns="0" rtlCol="0" anchor="ctr"/>
          <a:lstStyle/>
          <a:p>
            <a:pPr indent="0" marL="0">
              <a:buNone/>
            </a:pPr>
            <a:r>
              <a:rPr lang="en-US" sz="1150" b="1" dirty="0">
                <a:solidFill>
                  <a:srgbClr val="00703F"/>
                </a:solidFill>
                <a:latin typeface="Arial" pitchFamily="34" charset="0"/>
                <a:ea typeface="Arial" pitchFamily="34" charset="-122"/>
                <a:cs typeface="Arial" pitchFamily="34" charset="-120"/>
              </a:rPr>
              <a:t>Together, DevLake's delivery-flow metrics and 2S CAB's release-readiness view could offer one connected picture within our own domain.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915A"/>
          </a:solidFill>
          <a:ln w="12700">
            <a:solidFill>
              <a:srgbClr val="00915A"/>
            </a:solidFill>
            <a:prstDash val="solid"/>
          </a:ln>
        </p:spPr>
      </p:sp>
      <p:sp>
        <p:nvSpPr>
          <p:cNvPr id="3" name="Text 1"/>
          <p:cNvSpPr/>
          <p:nvPr/>
        </p:nvSpPr>
        <p:spPr>
          <a:xfrm>
            <a:off x="457200" y="228600"/>
            <a:ext cx="11247120" cy="274320"/>
          </a:xfrm>
          <a:prstGeom prst="rect">
            <a:avLst/>
          </a:prstGeom>
          <a:noFill/>
          <a:ln/>
        </p:spPr>
        <p:txBody>
          <a:bodyPr wrap="square" lIns="0" tIns="0" rIns="0" bIns="0" rtlCol="0" anchor="ctr"/>
          <a:lstStyle/>
          <a:p>
            <a:pPr indent="0" marL="0">
              <a:buNone/>
            </a:pPr>
            <a:r>
              <a:rPr lang="en-US" sz="1100" b="1" spc="200" kern="0" dirty="0">
                <a:solidFill>
                  <a:srgbClr val="00915A"/>
                </a:solidFill>
                <a:latin typeface="Arial" pitchFamily="34" charset="0"/>
                <a:ea typeface="Arial" pitchFamily="34" charset="-122"/>
                <a:cs typeface="Arial" pitchFamily="34" charset="-120"/>
              </a:rPr>
              <a:t>IN PLAIN WORDS</a:t>
            </a:r>
            <a:endParaRPr lang="en-US" sz="1100" dirty="0"/>
          </a:p>
        </p:txBody>
      </p:sp>
      <p:sp>
        <p:nvSpPr>
          <p:cNvPr id="4" name="Text 2"/>
          <p:cNvSpPr/>
          <p:nvPr/>
        </p:nvSpPr>
        <p:spPr>
          <a:xfrm>
            <a:off x="457200" y="475488"/>
            <a:ext cx="11247120" cy="548640"/>
          </a:xfrm>
          <a:prstGeom prst="rect">
            <a:avLst/>
          </a:prstGeom>
          <a:noFill/>
          <a:ln/>
        </p:spPr>
        <p:txBody>
          <a:bodyPr wrap="square" lIns="0" tIns="0" rIns="0" bIns="0" rtlCol="0" anchor="ctr"/>
          <a:lstStyle/>
          <a:p>
            <a:pPr indent="0" marL="0">
              <a:buNone/>
            </a:pPr>
            <a:r>
              <a:rPr lang="en-US" sz="2400" b="1" dirty="0">
                <a:solidFill>
                  <a:srgbClr val="1F2328"/>
                </a:solidFill>
                <a:latin typeface="Arial" pitchFamily="34" charset="0"/>
                <a:ea typeface="Arial" pitchFamily="34" charset="-122"/>
                <a:cs typeface="Arial" pitchFamily="34" charset="-120"/>
              </a:rPr>
              <a:t>What each level of the organisation can gain from engineering metrics</a:t>
            </a:r>
            <a:endParaRPr lang="en-US" sz="2400" dirty="0"/>
          </a:p>
        </p:txBody>
      </p:sp>
      <p:sp>
        <p:nvSpPr>
          <p:cNvPr id="5" name="Text 3"/>
          <p:cNvSpPr/>
          <p:nvPr/>
        </p:nvSpPr>
        <p:spPr>
          <a:xfrm>
            <a:off x="457200" y="6510528"/>
            <a:ext cx="73152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Engineering Metrics  |  Tool Comparison</a:t>
            </a:r>
            <a:endParaRPr lang="en-US" sz="900" dirty="0"/>
          </a:p>
        </p:txBody>
      </p:sp>
      <p:sp>
        <p:nvSpPr>
          <p:cNvPr id="6" name="Text 4"/>
          <p:cNvSpPr/>
          <p:nvPr/>
        </p:nvSpPr>
        <p:spPr>
          <a:xfrm>
            <a:off x="11247120" y="649224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a:t>
            </a:r>
            <a:endParaRPr lang="en-US" sz="900" dirty="0"/>
          </a:p>
        </p:txBody>
      </p:sp>
      <p:sp>
        <p:nvSpPr>
          <p:cNvPr id="7" name="Shape 5"/>
          <p:cNvSpPr/>
          <p:nvPr/>
        </p:nvSpPr>
        <p:spPr>
          <a:xfrm>
            <a:off x="457200" y="1188720"/>
            <a:ext cx="11274552" cy="868680"/>
          </a:xfrm>
          <a:prstGeom prst="rect">
            <a:avLst/>
          </a:prstGeom>
          <a:solidFill>
            <a:srgbClr val="EAF6F0"/>
          </a:solidFill>
          <a:ln w="12700">
            <a:solidFill>
              <a:srgbClr val="EAF6F0"/>
            </a:solidFill>
            <a:prstDash val="solid"/>
          </a:ln>
        </p:spPr>
      </p:sp>
      <p:sp>
        <p:nvSpPr>
          <p:cNvPr id="8" name="Shape 6"/>
          <p:cNvSpPr/>
          <p:nvPr/>
        </p:nvSpPr>
        <p:spPr>
          <a:xfrm>
            <a:off x="457200" y="1188720"/>
            <a:ext cx="73152" cy="868680"/>
          </a:xfrm>
          <a:prstGeom prst="rect">
            <a:avLst/>
          </a:prstGeom>
          <a:solidFill>
            <a:srgbClr val="00915A"/>
          </a:solidFill>
          <a:ln w="12700">
            <a:solidFill>
              <a:srgbClr val="00915A"/>
            </a:solidFill>
            <a:prstDash val="solid"/>
          </a:ln>
        </p:spPr>
      </p:sp>
      <p:sp>
        <p:nvSpPr>
          <p:cNvPr id="9" name="Text 7"/>
          <p:cNvSpPr/>
          <p:nvPr/>
        </p:nvSpPr>
        <p:spPr>
          <a:xfrm>
            <a:off x="731520" y="1207008"/>
            <a:ext cx="10789920" cy="822960"/>
          </a:xfrm>
          <a:prstGeom prst="rect">
            <a:avLst/>
          </a:prstGeom>
          <a:noFill/>
          <a:ln/>
        </p:spPr>
        <p:txBody>
          <a:bodyPr wrap="square" lIns="0" tIns="0" rIns="0" bIns="0" rtlCol="0" anchor="ctr"/>
          <a:lstStyle/>
          <a:p>
            <a:pPr indent="0" marL="0">
              <a:buNone/>
            </a:pPr>
            <a:r>
              <a:rPr lang="en-US" sz="1200" b="1" dirty="0">
                <a:solidFill>
                  <a:srgbClr val="00703F"/>
                </a:solidFill>
                <a:latin typeface="Arial" pitchFamily="34" charset="0"/>
                <a:ea typeface="Arial" pitchFamily="34" charset="-122"/>
                <a:cs typeface="Arial" pitchFamily="34" charset="-120"/>
              </a:rPr>
              <a:t>Why PR cycle time is helpful</a:t>
            </a:r>
            <a:endParaRPr lang="en-US" sz="1200" dirty="0"/>
          </a:p>
          <a:p>
            <a:pPr indent="0" marL="0">
              <a:buNone/>
            </a:pPr>
            <a:r>
              <a:rPr lang="en-US" sz="1000" dirty="0">
                <a:solidFill>
                  <a:srgbClr val="3C4248"/>
                </a:solidFill>
                <a:latin typeface="Arial" pitchFamily="34" charset="0"/>
                <a:ea typeface="Arial" pitchFamily="34" charset="-122"/>
                <a:cs typeface="Arial" pitchFamily="34" charset="-120"/>
              </a:rPr>
              <a:t>It shows how quickly a change travels from first code to release, and so how much we deliver. With AI assistants now available to every developer, the trend should show more features shipped and fewer bugs. These metrics help us confirm this with data.</a:t>
            </a:r>
            <a:endParaRPr lang="en-US" sz="1200" dirty="0"/>
          </a:p>
        </p:txBody>
      </p:sp>
      <p:sp>
        <p:nvSpPr>
          <p:cNvPr id="10" name="Shape 8"/>
          <p:cNvSpPr/>
          <p:nvPr/>
        </p:nvSpPr>
        <p:spPr>
          <a:xfrm>
            <a:off x="457200" y="2212848"/>
            <a:ext cx="3611880" cy="3200400"/>
          </a:xfrm>
          <a:prstGeom prst="rect">
            <a:avLst/>
          </a:prstGeom>
          <a:solidFill>
            <a:srgbClr val="F7F9F8"/>
          </a:solidFill>
          <a:ln w="9525">
            <a:solidFill>
              <a:srgbClr val="E3E6EA"/>
            </a:solidFill>
            <a:prstDash val="solid"/>
          </a:ln>
        </p:spPr>
      </p:sp>
      <p:sp>
        <p:nvSpPr>
          <p:cNvPr id="11" name="Shape 9"/>
          <p:cNvSpPr/>
          <p:nvPr/>
        </p:nvSpPr>
        <p:spPr>
          <a:xfrm>
            <a:off x="457200" y="2212848"/>
            <a:ext cx="3611880" cy="548640"/>
          </a:xfrm>
          <a:prstGeom prst="rect">
            <a:avLst/>
          </a:prstGeom>
          <a:solidFill>
            <a:srgbClr val="00915A"/>
          </a:solidFill>
          <a:ln w="12700">
            <a:solidFill>
              <a:srgbClr val="00915A"/>
            </a:solidFill>
            <a:prstDash val="solid"/>
          </a:ln>
        </p:spPr>
      </p:sp>
      <p:sp>
        <p:nvSpPr>
          <p:cNvPr id="12" name="Text 10"/>
          <p:cNvSpPr/>
          <p:nvPr/>
        </p:nvSpPr>
        <p:spPr>
          <a:xfrm>
            <a:off x="640080" y="2212848"/>
            <a:ext cx="3246120" cy="5486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Head of Department</a:t>
            </a:r>
            <a:endParaRPr lang="en-US" sz="1300" dirty="0"/>
          </a:p>
          <a:p>
            <a:pPr indent="0" marL="0">
              <a:buNone/>
            </a:pPr>
            <a:r>
              <a:rPr lang="en-US" sz="950" dirty="0">
                <a:solidFill>
                  <a:srgbClr val="D9F0E6"/>
                </a:solidFill>
                <a:latin typeface="Arial" pitchFamily="34" charset="0"/>
                <a:ea typeface="Arial" pitchFamily="34" charset="-122"/>
                <a:cs typeface="Arial" pitchFamily="34" charset="-120"/>
              </a:rPr>
              <a:t>All applications, one view</a:t>
            </a:r>
            <a:endParaRPr lang="en-US" sz="1300" dirty="0"/>
          </a:p>
        </p:txBody>
      </p:sp>
      <p:sp>
        <p:nvSpPr>
          <p:cNvPr id="13" name="Text 11"/>
          <p:cNvSpPr/>
          <p:nvPr/>
        </p:nvSpPr>
        <p:spPr>
          <a:xfrm>
            <a:off x="621792" y="2852928"/>
            <a:ext cx="3282696" cy="2468880"/>
          </a:xfrm>
          <a:prstGeom prst="rect">
            <a:avLst/>
          </a:prstGeom>
          <a:noFill/>
          <a:ln/>
        </p:spPr>
        <p:txBody>
          <a:bodyPr wrap="square" lIns="0" tIns="0" rIns="0" bIns="0" rtlCol="0" anchor="t"/>
          <a:lstStyle/>
          <a:p>
            <a:pPr indent="0" marL="0">
              <a:spcAft>
                <a:spcPts val="500"/>
              </a:spcAft>
              <a:buNone/>
            </a:pPr>
            <a:r>
              <a:rPr lang="en-US" sz="1000" b="1" dirty="0">
                <a:solidFill>
                  <a:srgbClr val="00703F"/>
                </a:solidFill>
                <a:latin typeface="Arial" pitchFamily="34" charset="0"/>
                <a:ea typeface="Arial" pitchFamily="34" charset="-122"/>
                <a:cs typeface="Arial" pitchFamily="34" charset="-120"/>
              </a:rPr>
              <a:t>Delivery trend: </a:t>
            </a:r>
            <a:pPr indent="0" marL="0">
              <a:spcAft>
                <a:spcPts val="500"/>
              </a:spcAft>
              <a:buNone/>
            </a:pPr>
            <a:r>
              <a:rPr lang="en-US" sz="1000" dirty="0">
                <a:solidFill>
                  <a:srgbClr val="3C4248"/>
                </a:solidFill>
                <a:latin typeface="Arial" pitchFamily="34" charset="0"/>
                <a:ea typeface="Arial" pitchFamily="34" charset="-122"/>
                <a:cs typeface="Arial" pitchFamily="34" charset="-120"/>
              </a:rPr>
              <a:t>is feature output rising across applications, and are bugs falling as AI adoption grows?</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Best practices: </a:t>
            </a:r>
            <a:pPr indent="0" marL="0">
              <a:spcAft>
                <a:spcPts val="500"/>
              </a:spcAft>
              <a:buNone/>
            </a:pPr>
            <a:r>
              <a:rPr lang="en-US" sz="1000" dirty="0">
                <a:solidFill>
                  <a:srgbClr val="3C4248"/>
                </a:solidFill>
                <a:latin typeface="Arial" pitchFamily="34" charset="0"/>
                <a:ea typeface="Arial" pitchFamily="34" charset="-122"/>
                <a:cs typeface="Arial" pitchFamily="34" charset="-120"/>
              </a:rPr>
              <a:t>learn from the applications with the fastest reviews and smallest changes, and share what works</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Resource leverage: </a:t>
            </a:r>
            <a:pPr indent="0" marL="0">
              <a:spcAft>
                <a:spcPts val="500"/>
              </a:spcAft>
              <a:buNone/>
            </a:pPr>
            <a:r>
              <a:rPr lang="en-US" sz="1000" dirty="0">
                <a:solidFill>
                  <a:srgbClr val="3C4248"/>
                </a:solidFill>
                <a:latin typeface="Arial" pitchFamily="34" charset="0"/>
                <a:ea typeface="Arial" pitchFamily="34" charset="-122"/>
                <a:cs typeface="Arial" pitchFamily="34" charset="-120"/>
              </a:rPr>
              <a:t>see where capacity is stretched or idle and balance people across applications</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Shared libraries: </a:t>
            </a:r>
            <a:pPr indent="0" marL="0">
              <a:spcAft>
                <a:spcPts val="500"/>
              </a:spcAft>
              <a:buNone/>
            </a:pPr>
            <a:r>
              <a:rPr lang="en-US" sz="1000" dirty="0">
                <a:solidFill>
                  <a:srgbClr val="3C4248"/>
                </a:solidFill>
                <a:latin typeface="Arial" pitchFamily="34" charset="0"/>
                <a:ea typeface="Arial" pitchFamily="34" charset="-122"/>
                <a:cs typeface="Arial" pitchFamily="34" charset="-120"/>
              </a:rPr>
              <a:t>duplicated code and common hotspot files point to candidates for reuse</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Standards and risk: </a:t>
            </a:r>
            <a:pPr indent="0" marL="0">
              <a:spcAft>
                <a:spcPts val="500"/>
              </a:spcAft>
              <a:buNone/>
            </a:pPr>
            <a:r>
              <a:rPr lang="en-US" sz="1000" dirty="0">
                <a:solidFill>
                  <a:srgbClr val="3C4248"/>
                </a:solidFill>
                <a:latin typeface="Arial" pitchFamily="34" charset="0"/>
                <a:ea typeface="Arial" pitchFamily="34" charset="-122"/>
                <a:cs typeface="Arial" pitchFamily="34" charset="-120"/>
              </a:rPr>
              <a:t>compare applications on quality, build health and unreviewed changes</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Investment case: </a:t>
            </a:r>
            <a:pPr indent="0" marL="0">
              <a:spcAft>
                <a:spcPts val="500"/>
              </a:spcAft>
              <a:buNone/>
            </a:pPr>
            <a:r>
              <a:rPr lang="en-US" sz="1000" dirty="0">
                <a:solidFill>
                  <a:srgbClr val="3C4248"/>
                </a:solidFill>
                <a:latin typeface="Arial" pitchFamily="34" charset="0"/>
                <a:ea typeface="Arial" pitchFamily="34" charset="-122"/>
                <a:cs typeface="Arial" pitchFamily="34" charset="-120"/>
              </a:rPr>
              <a:t>back tooling and AI decisions with before and after evidence</a:t>
            </a:r>
            <a:endParaRPr lang="en-US" sz="1000" dirty="0"/>
          </a:p>
        </p:txBody>
      </p:sp>
      <p:sp>
        <p:nvSpPr>
          <p:cNvPr id="14" name="Shape 12"/>
          <p:cNvSpPr/>
          <p:nvPr/>
        </p:nvSpPr>
        <p:spPr>
          <a:xfrm>
            <a:off x="4288536" y="2212848"/>
            <a:ext cx="3611880" cy="3200400"/>
          </a:xfrm>
          <a:prstGeom prst="rect">
            <a:avLst/>
          </a:prstGeom>
          <a:solidFill>
            <a:srgbClr val="F7F9F8"/>
          </a:solidFill>
          <a:ln w="9525">
            <a:solidFill>
              <a:srgbClr val="E3E6EA"/>
            </a:solidFill>
            <a:prstDash val="solid"/>
          </a:ln>
        </p:spPr>
      </p:sp>
      <p:sp>
        <p:nvSpPr>
          <p:cNvPr id="15" name="Shape 13"/>
          <p:cNvSpPr/>
          <p:nvPr/>
        </p:nvSpPr>
        <p:spPr>
          <a:xfrm>
            <a:off x="4288536" y="2212848"/>
            <a:ext cx="3611880" cy="548640"/>
          </a:xfrm>
          <a:prstGeom prst="rect">
            <a:avLst/>
          </a:prstGeom>
          <a:solidFill>
            <a:srgbClr val="00915A"/>
          </a:solidFill>
          <a:ln w="12700">
            <a:solidFill>
              <a:srgbClr val="00915A"/>
            </a:solidFill>
            <a:prstDash val="solid"/>
          </a:ln>
        </p:spPr>
      </p:sp>
      <p:sp>
        <p:nvSpPr>
          <p:cNvPr id="16" name="Text 14"/>
          <p:cNvSpPr/>
          <p:nvPr/>
        </p:nvSpPr>
        <p:spPr>
          <a:xfrm>
            <a:off x="4471416" y="2212848"/>
            <a:ext cx="3246120" cy="5486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Application Manager</a:t>
            </a:r>
            <a:endParaRPr lang="en-US" sz="1300" dirty="0"/>
          </a:p>
          <a:p>
            <a:pPr indent="0" marL="0">
              <a:buNone/>
            </a:pPr>
            <a:r>
              <a:rPr lang="en-US" sz="950" dirty="0">
                <a:solidFill>
                  <a:srgbClr val="D9F0E6"/>
                </a:solidFill>
                <a:latin typeface="Arial" pitchFamily="34" charset="0"/>
                <a:ea typeface="Arial" pitchFamily="34" charset="-122"/>
                <a:cs typeface="Arial" pitchFamily="34" charset="-120"/>
              </a:rPr>
              <a:t>One application, in depth</a:t>
            </a:r>
            <a:endParaRPr lang="en-US" sz="1300" dirty="0"/>
          </a:p>
        </p:txBody>
      </p:sp>
      <p:sp>
        <p:nvSpPr>
          <p:cNvPr id="17" name="Text 15"/>
          <p:cNvSpPr/>
          <p:nvPr/>
        </p:nvSpPr>
        <p:spPr>
          <a:xfrm>
            <a:off x="4453128" y="2852928"/>
            <a:ext cx="3282696" cy="2468880"/>
          </a:xfrm>
          <a:prstGeom prst="rect">
            <a:avLst/>
          </a:prstGeom>
          <a:noFill/>
          <a:ln/>
        </p:spPr>
        <p:txBody>
          <a:bodyPr wrap="square" lIns="0" tIns="0" rIns="0" bIns="0" rtlCol="0" anchor="t"/>
          <a:lstStyle/>
          <a:p>
            <a:pPr indent="0" marL="0">
              <a:spcAft>
                <a:spcPts val="500"/>
              </a:spcAft>
              <a:buNone/>
            </a:pPr>
            <a:r>
              <a:rPr lang="en-US" sz="1000" b="1" dirty="0">
                <a:solidFill>
                  <a:srgbClr val="00703F"/>
                </a:solidFill>
                <a:latin typeface="Arial" pitchFamily="34" charset="0"/>
                <a:ea typeface="Arial" pitchFamily="34" charset="-122"/>
                <a:cs typeface="Arial" pitchFamily="34" charset="-120"/>
              </a:rPr>
              <a:t>Delivery speed: </a:t>
            </a:r>
            <a:pPr indent="0" marL="0">
              <a:spcAft>
                <a:spcPts val="500"/>
              </a:spcAft>
              <a:buNone/>
            </a:pPr>
            <a:r>
              <a:rPr lang="en-US" sz="1000" dirty="0">
                <a:solidFill>
                  <a:srgbClr val="3C4248"/>
                </a:solidFill>
                <a:latin typeface="Arial" pitchFamily="34" charset="0"/>
                <a:ea typeface="Arial" pitchFamily="34" charset="-122"/>
                <a:cs typeface="Arial" pitchFamily="34" charset="-120"/>
              </a:rPr>
              <a:t>how long a change takes from code to release, and where it waits</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Predictability: </a:t>
            </a:r>
            <a:pPr indent="0" marL="0">
              <a:spcAft>
                <a:spcPts val="500"/>
              </a:spcAft>
              <a:buNone/>
            </a:pPr>
            <a:r>
              <a:rPr lang="en-US" sz="1000" dirty="0">
                <a:solidFill>
                  <a:srgbClr val="3C4248"/>
                </a:solidFill>
                <a:latin typeface="Arial" pitchFamily="34" charset="0"/>
                <a:ea typeface="Arial" pitchFamily="34" charset="-122"/>
                <a:cs typeface="Arial" pitchFamily="34" charset="-120"/>
              </a:rPr>
              <a:t>are we delivering what each sprint planned, and is the backlog shrinking?</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Quality: </a:t>
            </a:r>
            <a:pPr indent="0" marL="0">
              <a:spcAft>
                <a:spcPts val="500"/>
              </a:spcAft>
              <a:buNone/>
            </a:pPr>
            <a:r>
              <a:rPr lang="en-US" sz="1000" dirty="0">
                <a:solidFill>
                  <a:srgbClr val="3C4248"/>
                </a:solidFill>
                <a:latin typeface="Arial" pitchFamily="34" charset="0"/>
                <a:ea typeface="Arial" pitchFamily="34" charset="-122"/>
                <a:cs typeface="Arial" pitchFamily="34" charset="-120"/>
              </a:rPr>
              <a:t>new versus closed bugs, age of open critical defects, test coverage</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Release confidence: </a:t>
            </a:r>
            <a:pPr indent="0" marL="0">
              <a:spcAft>
                <a:spcPts val="500"/>
              </a:spcAft>
              <a:buNone/>
            </a:pPr>
            <a:r>
              <a:rPr lang="en-US" sz="1000" dirty="0">
                <a:solidFill>
                  <a:srgbClr val="3C4248"/>
                </a:solidFill>
                <a:latin typeface="Arial" pitchFamily="34" charset="0"/>
                <a:ea typeface="Arial" pitchFamily="34" charset="-122"/>
                <a:cs typeface="Arial" pitchFamily="34" charset="-120"/>
              </a:rPr>
              <a:t>build success and code-quality trends ahead of a release decision</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Capacity: </a:t>
            </a:r>
            <a:pPr indent="0" marL="0">
              <a:spcAft>
                <a:spcPts val="500"/>
              </a:spcAft>
              <a:buNone/>
            </a:pPr>
            <a:r>
              <a:rPr lang="en-US" sz="1000" dirty="0">
                <a:solidFill>
                  <a:srgbClr val="3C4248"/>
                </a:solidFill>
                <a:latin typeface="Arial" pitchFamily="34" charset="0"/>
                <a:ea typeface="Arial" pitchFamily="34" charset="-122"/>
                <a:cs typeface="Arial" pitchFamily="34" charset="-120"/>
              </a:rPr>
              <a:t>workload spread across the team and reliance on a few key people</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Early warning: </a:t>
            </a:r>
            <a:pPr indent="0" marL="0">
              <a:spcAft>
                <a:spcPts val="500"/>
              </a:spcAft>
              <a:buNone/>
            </a:pPr>
            <a:r>
              <a:rPr lang="en-US" sz="1000" dirty="0">
                <a:solidFill>
                  <a:srgbClr val="3C4248"/>
                </a:solidFill>
                <a:latin typeface="Arial" pitchFamily="34" charset="0"/>
                <a:ea typeface="Arial" pitchFamily="34" charset="-122"/>
                <a:cs typeface="Arial" pitchFamily="34" charset="-120"/>
              </a:rPr>
              <a:t>large or unreviewed changes flagged before they become incidents</a:t>
            </a:r>
            <a:endParaRPr lang="en-US" sz="1000" dirty="0"/>
          </a:p>
        </p:txBody>
      </p:sp>
      <p:sp>
        <p:nvSpPr>
          <p:cNvPr id="18" name="Shape 16"/>
          <p:cNvSpPr/>
          <p:nvPr/>
        </p:nvSpPr>
        <p:spPr>
          <a:xfrm>
            <a:off x="8119872" y="2212848"/>
            <a:ext cx="3611880" cy="3200400"/>
          </a:xfrm>
          <a:prstGeom prst="rect">
            <a:avLst/>
          </a:prstGeom>
          <a:solidFill>
            <a:srgbClr val="F7F9F8"/>
          </a:solidFill>
          <a:ln w="9525">
            <a:solidFill>
              <a:srgbClr val="E3E6EA"/>
            </a:solidFill>
            <a:prstDash val="solid"/>
          </a:ln>
        </p:spPr>
      </p:sp>
      <p:sp>
        <p:nvSpPr>
          <p:cNvPr id="19" name="Shape 17"/>
          <p:cNvSpPr/>
          <p:nvPr/>
        </p:nvSpPr>
        <p:spPr>
          <a:xfrm>
            <a:off x="8119872" y="2212848"/>
            <a:ext cx="3611880" cy="548640"/>
          </a:xfrm>
          <a:prstGeom prst="rect">
            <a:avLst/>
          </a:prstGeom>
          <a:solidFill>
            <a:srgbClr val="00915A"/>
          </a:solidFill>
          <a:ln w="12700">
            <a:solidFill>
              <a:srgbClr val="00915A"/>
            </a:solidFill>
            <a:prstDash val="solid"/>
          </a:ln>
        </p:spPr>
      </p:sp>
      <p:sp>
        <p:nvSpPr>
          <p:cNvPr id="20" name="Text 18"/>
          <p:cNvSpPr/>
          <p:nvPr/>
        </p:nvSpPr>
        <p:spPr>
          <a:xfrm>
            <a:off x="8302752" y="2212848"/>
            <a:ext cx="3246120" cy="5486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Teams</a:t>
            </a:r>
            <a:endParaRPr lang="en-US" sz="1300" dirty="0"/>
          </a:p>
          <a:p>
            <a:pPr indent="0" marL="0">
              <a:buNone/>
            </a:pPr>
            <a:r>
              <a:rPr lang="en-US" sz="950" dirty="0">
                <a:solidFill>
                  <a:srgbClr val="D9F0E6"/>
                </a:solidFill>
                <a:latin typeface="Arial" pitchFamily="34" charset="0"/>
                <a:ea typeface="Arial" pitchFamily="34" charset="-122"/>
                <a:cs typeface="Arial" pitchFamily="34" charset="-120"/>
              </a:rPr>
              <a:t>Day to day</a:t>
            </a:r>
            <a:endParaRPr lang="en-US" sz="1300" dirty="0"/>
          </a:p>
        </p:txBody>
      </p:sp>
      <p:sp>
        <p:nvSpPr>
          <p:cNvPr id="21" name="Text 19"/>
          <p:cNvSpPr/>
          <p:nvPr/>
        </p:nvSpPr>
        <p:spPr>
          <a:xfrm>
            <a:off x="8284464" y="2852928"/>
            <a:ext cx="3282696" cy="2468880"/>
          </a:xfrm>
          <a:prstGeom prst="rect">
            <a:avLst/>
          </a:prstGeom>
          <a:noFill/>
          <a:ln/>
        </p:spPr>
        <p:txBody>
          <a:bodyPr wrap="square" lIns="0" tIns="0" rIns="0" bIns="0" rtlCol="0" anchor="t"/>
          <a:lstStyle/>
          <a:p>
            <a:pPr indent="0" marL="0">
              <a:spcAft>
                <a:spcPts val="500"/>
              </a:spcAft>
              <a:buNone/>
            </a:pPr>
            <a:r>
              <a:rPr lang="en-US" sz="1000" b="1" dirty="0">
                <a:solidFill>
                  <a:srgbClr val="00703F"/>
                </a:solidFill>
                <a:latin typeface="Arial" pitchFamily="34" charset="0"/>
                <a:ea typeface="Arial" pitchFamily="34" charset="-122"/>
                <a:cs typeface="Arial" pitchFamily="34" charset="-120"/>
              </a:rPr>
              <a:t>Bottlenecks: </a:t>
            </a:r>
            <a:pPr indent="0" marL="0">
              <a:spcAft>
                <a:spcPts val="500"/>
              </a:spcAft>
              <a:buNone/>
            </a:pPr>
            <a:r>
              <a:rPr lang="en-US" sz="1000" dirty="0">
                <a:solidFill>
                  <a:srgbClr val="3C4248"/>
                </a:solidFill>
                <a:latin typeface="Arial" pitchFamily="34" charset="0"/>
                <a:ea typeface="Arial" pitchFamily="34" charset="-122"/>
                <a:cs typeface="Arial" pitchFamily="34" charset="-120"/>
              </a:rPr>
              <a:t>whether time goes on coding, review pickup or release</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Review habits: </a:t>
            </a:r>
            <a:pPr indent="0" marL="0">
              <a:spcAft>
                <a:spcPts val="500"/>
              </a:spcAft>
              <a:buNone/>
            </a:pPr>
            <a:r>
              <a:rPr lang="en-US" sz="1000" dirty="0">
                <a:solidFill>
                  <a:srgbClr val="3C4248"/>
                </a:solidFill>
                <a:latin typeface="Arial" pitchFamily="34" charset="0"/>
                <a:ea typeface="Arial" pitchFamily="34" charset="-122"/>
                <a:cs typeface="Arial" pitchFamily="34" charset="-120"/>
              </a:rPr>
              <a:t>small, well-reviewed pull requests merge faster</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Own progress: </a:t>
            </a:r>
            <a:pPr indent="0" marL="0">
              <a:spcAft>
                <a:spcPts val="500"/>
              </a:spcAft>
              <a:buNone/>
            </a:pPr>
            <a:r>
              <a:rPr lang="en-US" sz="1000" dirty="0">
                <a:solidFill>
                  <a:srgbClr val="3C4248"/>
                </a:solidFill>
                <a:latin typeface="Arial" pitchFamily="34" charset="0"/>
                <a:ea typeface="Arial" pitchFamily="34" charset="-122"/>
                <a:cs typeface="Arial" pitchFamily="34" charset="-120"/>
              </a:rPr>
              <a:t>throughput and bug trend sprint over sprint</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AI impact: </a:t>
            </a:r>
            <a:pPr indent="0" marL="0">
              <a:spcAft>
                <a:spcPts val="500"/>
              </a:spcAft>
              <a:buNone/>
            </a:pPr>
            <a:r>
              <a:rPr lang="en-US" sz="1000" dirty="0">
                <a:solidFill>
                  <a:srgbClr val="3C4248"/>
                </a:solidFill>
                <a:latin typeface="Arial" pitchFamily="34" charset="0"/>
                <a:ea typeface="Arial" pitchFamily="34" charset="-122"/>
                <a:cs typeface="Arial" pitchFamily="34" charset="-120"/>
              </a:rPr>
              <a:t>does new tooling actually shorten our cycle time?</a:t>
            </a:r>
            <a:endParaRPr lang="en-US" sz="1000" dirty="0"/>
          </a:p>
          <a:p>
            <a:pPr indent="0" marL="0">
              <a:spcAft>
                <a:spcPts val="500"/>
              </a:spcAft>
              <a:buNone/>
            </a:pPr>
            <a:r>
              <a:rPr lang="en-US" sz="1000" b="1" dirty="0">
                <a:solidFill>
                  <a:srgbClr val="00703F"/>
                </a:solidFill>
                <a:latin typeface="Arial" pitchFamily="34" charset="0"/>
                <a:ea typeface="Arial" pitchFamily="34" charset="-122"/>
                <a:cs typeface="Arial" pitchFamily="34" charset="-120"/>
              </a:rPr>
              <a:t>Shared learning: </a:t>
            </a:r>
            <a:pPr indent="0" marL="0">
              <a:spcAft>
                <a:spcPts val="500"/>
              </a:spcAft>
              <a:buNone/>
            </a:pPr>
            <a:r>
              <a:rPr lang="en-US" sz="1000" dirty="0">
                <a:solidFill>
                  <a:srgbClr val="3C4248"/>
                </a:solidFill>
                <a:latin typeface="Arial" pitchFamily="34" charset="0"/>
                <a:ea typeface="Arial" pitchFamily="34" charset="-122"/>
                <a:cs typeface="Arial" pitchFamily="34" charset="-120"/>
              </a:rPr>
              <a:t>see what high-performing peers do differently</a:t>
            </a:r>
            <a:endParaRPr lang="en-US" sz="1000" dirty="0"/>
          </a:p>
        </p:txBody>
      </p:sp>
      <p:sp>
        <p:nvSpPr>
          <p:cNvPr id="22" name="Shape 20"/>
          <p:cNvSpPr/>
          <p:nvPr/>
        </p:nvSpPr>
        <p:spPr>
          <a:xfrm>
            <a:off x="457200" y="5577840"/>
            <a:ext cx="11274552" cy="777240"/>
          </a:xfrm>
          <a:prstGeom prst="rect">
            <a:avLst/>
          </a:prstGeom>
          <a:solidFill>
            <a:srgbClr val="FFFFFF"/>
          </a:solidFill>
          <a:ln w="15875">
            <a:solidFill>
              <a:srgbClr val="00915A"/>
            </a:solidFill>
            <a:prstDash val="solid"/>
          </a:ln>
        </p:spPr>
      </p:sp>
      <p:sp>
        <p:nvSpPr>
          <p:cNvPr id="23" name="Text 21"/>
          <p:cNvSpPr/>
          <p:nvPr/>
        </p:nvSpPr>
        <p:spPr>
          <a:xfrm>
            <a:off x="685800" y="5596128"/>
            <a:ext cx="10835640" cy="731520"/>
          </a:xfrm>
          <a:prstGeom prst="rect">
            <a:avLst/>
          </a:prstGeom>
          <a:noFill/>
          <a:ln/>
        </p:spPr>
        <p:txBody>
          <a:bodyPr wrap="square" lIns="0" tIns="0" rIns="0" bIns="0" rtlCol="0" anchor="ctr"/>
          <a:lstStyle/>
          <a:p>
            <a:pPr indent="0" marL="0">
              <a:buNone/>
            </a:pPr>
            <a:r>
              <a:rPr lang="en-US" sz="1150" b="1" dirty="0">
                <a:solidFill>
                  <a:srgbClr val="00703F"/>
                </a:solidFill>
                <a:latin typeface="Arial" pitchFamily="34" charset="0"/>
                <a:ea typeface="Arial" pitchFamily="34" charset="-122"/>
                <a:cs typeface="Arial" pitchFamily="34" charset="-120"/>
              </a:rPr>
              <a:t>One common format for all applications</a:t>
            </a:r>
            <a:endParaRPr lang="en-US" sz="1150" dirty="0"/>
          </a:p>
          <a:p>
            <a:pPr indent="0" marL="0">
              <a:buNone/>
            </a:pPr>
            <a:r>
              <a:rPr lang="en-US" sz="1000" dirty="0">
                <a:solidFill>
                  <a:srgbClr val="3C4248"/>
                </a:solidFill>
                <a:latin typeface="Arial" pitchFamily="34" charset="0"/>
                <a:ea typeface="Arial" pitchFamily="34" charset="-122"/>
                <a:cs typeface="Arial" pitchFamily="34" charset="-120"/>
              </a:rPr>
              <a:t>DevLake converts GitLab, Jira, Jenkins and SonarQube data into one standard structure, so other applications' metrics and dashboards can draw on it as a single source of truth. This works best when teams follow common practices for branching, ticket linking and sizing.</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915A"/>
          </a:solidFill>
          <a:ln w="12700">
            <a:solidFill>
              <a:srgbClr val="00915A"/>
            </a:solidFill>
            <a:prstDash val="solid"/>
          </a:ln>
        </p:spPr>
      </p:sp>
      <p:sp>
        <p:nvSpPr>
          <p:cNvPr id="3" name="Text 1"/>
          <p:cNvSpPr/>
          <p:nvPr/>
        </p:nvSpPr>
        <p:spPr>
          <a:xfrm>
            <a:off x="457200" y="228600"/>
            <a:ext cx="11247120" cy="274320"/>
          </a:xfrm>
          <a:prstGeom prst="rect">
            <a:avLst/>
          </a:prstGeom>
          <a:noFill/>
          <a:ln/>
        </p:spPr>
        <p:txBody>
          <a:bodyPr wrap="square" lIns="0" tIns="0" rIns="0" bIns="0" rtlCol="0" anchor="ctr"/>
          <a:lstStyle/>
          <a:p>
            <a:pPr indent="0" marL="0">
              <a:buNone/>
            </a:pPr>
            <a:r>
              <a:rPr lang="en-US" sz="1100" b="1" spc="200" kern="0" dirty="0">
                <a:solidFill>
                  <a:srgbClr val="00915A"/>
                </a:solidFill>
                <a:latin typeface="Arial" pitchFamily="34" charset="0"/>
                <a:ea typeface="Arial" pitchFamily="34" charset="-122"/>
                <a:cs typeface="Arial" pitchFamily="34" charset="-120"/>
              </a:rPr>
              <a:t>ARE WE ON THE RIGHT TRACK?</a:t>
            </a:r>
            <a:endParaRPr lang="en-US" sz="1100" dirty="0"/>
          </a:p>
        </p:txBody>
      </p:sp>
      <p:sp>
        <p:nvSpPr>
          <p:cNvPr id="4" name="Text 2"/>
          <p:cNvSpPr/>
          <p:nvPr/>
        </p:nvSpPr>
        <p:spPr>
          <a:xfrm>
            <a:off x="457200" y="475488"/>
            <a:ext cx="11247120" cy="548640"/>
          </a:xfrm>
          <a:prstGeom prst="rect">
            <a:avLst/>
          </a:prstGeom>
          <a:noFill/>
          <a:ln/>
        </p:spPr>
        <p:txBody>
          <a:bodyPr wrap="square" lIns="0" tIns="0" rIns="0" bIns="0" rtlCol="0" anchor="ctr"/>
          <a:lstStyle/>
          <a:p>
            <a:pPr indent="0" marL="0">
              <a:buNone/>
            </a:pPr>
            <a:r>
              <a:rPr lang="en-US" sz="2400" b="1" dirty="0">
                <a:solidFill>
                  <a:srgbClr val="1F2328"/>
                </a:solidFill>
                <a:latin typeface="Arial" pitchFamily="34" charset="0"/>
                <a:ea typeface="Arial" pitchFamily="34" charset="-122"/>
                <a:cs typeface="Arial" pitchFamily="34" charset="-120"/>
              </a:rPr>
              <a:t>Three simple checks, read as a monthly trend</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300" dirty="0">
                <a:solidFill>
                  <a:srgbClr val="3C4248"/>
                </a:solidFill>
                <a:latin typeface="Arial" pitchFamily="34" charset="0"/>
                <a:ea typeface="Arial" pitchFamily="34" charset="-122"/>
                <a:cs typeface="Arial" pitchFamily="34" charset="-120"/>
              </a:rPr>
              <a:t>Our goal: deliver more with our current resources and AI, without compromising quality.</a:t>
            </a:r>
            <a:endParaRPr lang="en-US" sz="1300" dirty="0"/>
          </a:p>
        </p:txBody>
      </p:sp>
      <p:sp>
        <p:nvSpPr>
          <p:cNvPr id="6" name="Shape 4"/>
          <p:cNvSpPr/>
          <p:nvPr/>
        </p:nvSpPr>
        <p:spPr>
          <a:xfrm>
            <a:off x="457200" y="1554480"/>
            <a:ext cx="3611880" cy="3246120"/>
          </a:xfrm>
          <a:prstGeom prst="rect">
            <a:avLst/>
          </a:prstGeom>
          <a:solidFill>
            <a:srgbClr val="F7F9F8"/>
          </a:solidFill>
          <a:ln w="9525">
            <a:solidFill>
              <a:srgbClr val="E3E6EA"/>
            </a:solidFill>
            <a:prstDash val="solid"/>
          </a:ln>
        </p:spPr>
      </p:sp>
      <p:sp>
        <p:nvSpPr>
          <p:cNvPr id="7" name="Shape 5"/>
          <p:cNvSpPr/>
          <p:nvPr/>
        </p:nvSpPr>
        <p:spPr>
          <a:xfrm>
            <a:off x="457200" y="1554480"/>
            <a:ext cx="3611880" cy="868680"/>
          </a:xfrm>
          <a:prstGeom prst="rect">
            <a:avLst/>
          </a:prstGeom>
          <a:solidFill>
            <a:srgbClr val="00915A"/>
          </a:solidFill>
          <a:ln w="12700">
            <a:solidFill>
              <a:srgbClr val="00915A"/>
            </a:solidFill>
            <a:prstDash val="solid"/>
          </a:ln>
        </p:spPr>
      </p:sp>
      <p:sp>
        <p:nvSpPr>
          <p:cNvPr id="8" name="Shape 6"/>
          <p:cNvSpPr/>
          <p:nvPr/>
        </p:nvSpPr>
        <p:spPr>
          <a:xfrm>
            <a:off x="640080" y="1737360"/>
            <a:ext cx="502920" cy="502920"/>
          </a:xfrm>
          <a:prstGeom prst="ellipse">
            <a:avLst/>
          </a:prstGeom>
          <a:solidFill>
            <a:srgbClr val="FFFFFF"/>
          </a:solidFill>
          <a:ln w="12700">
            <a:solidFill>
              <a:srgbClr val="FFFFFF"/>
            </a:solidFill>
            <a:prstDash val="solid"/>
          </a:ln>
        </p:spPr>
      </p:sp>
      <p:sp>
        <p:nvSpPr>
          <p:cNvPr id="9" name="Text 7"/>
          <p:cNvSpPr/>
          <p:nvPr/>
        </p:nvSpPr>
        <p:spPr>
          <a:xfrm>
            <a:off x="640080" y="1737360"/>
            <a:ext cx="502920" cy="502920"/>
          </a:xfrm>
          <a:prstGeom prst="rect">
            <a:avLst/>
          </a:prstGeom>
          <a:noFill/>
          <a:ln/>
        </p:spPr>
        <p:txBody>
          <a:bodyPr wrap="square" lIns="0" tIns="0" rIns="0" bIns="0" rtlCol="0" anchor="ctr"/>
          <a:lstStyle/>
          <a:p>
            <a:pPr algn="ctr" indent="0" marL="0">
              <a:buNone/>
            </a:pPr>
            <a:r>
              <a:rPr lang="en-US" sz="1800" b="1" dirty="0">
                <a:solidFill>
                  <a:srgbClr val="00915A"/>
                </a:solidFill>
                <a:latin typeface="Arial" pitchFamily="34" charset="0"/>
                <a:ea typeface="Arial" pitchFamily="34" charset="-122"/>
                <a:cs typeface="Arial" pitchFamily="34" charset="-120"/>
              </a:rPr>
              <a:t>1</a:t>
            </a:r>
            <a:endParaRPr lang="en-US" sz="1800" dirty="0"/>
          </a:p>
        </p:txBody>
      </p:sp>
      <p:sp>
        <p:nvSpPr>
          <p:cNvPr id="10" name="Text 8"/>
          <p:cNvSpPr/>
          <p:nvPr/>
        </p:nvSpPr>
        <p:spPr>
          <a:xfrm>
            <a:off x="1325880" y="1554480"/>
            <a:ext cx="2606040" cy="86868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Are we delivering more?</a:t>
            </a:r>
            <a:endParaRPr lang="en-US" sz="1450" dirty="0"/>
          </a:p>
          <a:p>
            <a:pPr indent="0" marL="0">
              <a:buNone/>
            </a:pPr>
            <a:r>
              <a:rPr lang="en-US" sz="1000" dirty="0">
                <a:solidFill>
                  <a:srgbClr val="D9F0E6"/>
                </a:solidFill>
                <a:latin typeface="Arial" pitchFamily="34" charset="0"/>
                <a:ea typeface="Arial" pitchFamily="34" charset="-122"/>
                <a:cs typeface="Arial" pitchFamily="34" charset="-120"/>
              </a:rPr>
              <a:t>Delivery and speed</a:t>
            </a:r>
            <a:endParaRPr lang="en-US" sz="1450" dirty="0"/>
          </a:p>
        </p:txBody>
      </p:sp>
      <p:sp>
        <p:nvSpPr>
          <p:cNvPr id="11" name="Text 9"/>
          <p:cNvSpPr/>
          <p:nvPr/>
        </p:nvSpPr>
        <p:spPr>
          <a:xfrm>
            <a:off x="640080" y="2542032"/>
            <a:ext cx="3246120" cy="256032"/>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What we look at</a:t>
            </a:r>
            <a:endParaRPr lang="en-US" sz="1000" dirty="0"/>
          </a:p>
        </p:txBody>
      </p:sp>
      <p:sp>
        <p:nvSpPr>
          <p:cNvPr id="12" name="Text 10"/>
          <p:cNvSpPr/>
          <p:nvPr/>
        </p:nvSpPr>
        <p:spPr>
          <a:xfrm>
            <a:off x="640080" y="2816352"/>
            <a:ext cx="3246120" cy="128016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C4248"/>
                </a:solidFill>
                <a:latin typeface="Arial" pitchFamily="34" charset="0"/>
                <a:ea typeface="Arial" pitchFamily="34" charset="-122"/>
                <a:cs typeface="Arial" pitchFamily="34" charset="-120"/>
              </a:rPr>
              <a:t>Features and issues delivered</a:t>
            </a:r>
            <a:endParaRPr lang="en-US" sz="1150" dirty="0"/>
          </a:p>
          <a:p>
            <a:pPr marL="152400" indent="-152400">
              <a:spcAft>
                <a:spcPts val="400"/>
              </a:spcAft>
              <a:buSzPct val="100000"/>
              <a:buChar char="•"/>
            </a:pPr>
            <a:r>
              <a:rPr lang="en-US" sz="1150" dirty="0">
                <a:solidFill>
                  <a:srgbClr val="3C4248"/>
                </a:solidFill>
                <a:latin typeface="Arial" pitchFamily="34" charset="0"/>
                <a:ea typeface="Arial" pitchFamily="34" charset="-122"/>
                <a:cs typeface="Arial" pitchFamily="34" charset="-120"/>
              </a:rPr>
              <a:t>Pull requests merged</a:t>
            </a:r>
            <a:endParaRPr lang="en-US" sz="1150" dirty="0"/>
          </a:p>
          <a:p>
            <a:pPr marL="152400" indent="-152400">
              <a:spcAft>
                <a:spcPts val="400"/>
              </a:spcAft>
              <a:buSzPct val="100000"/>
              <a:buChar char="•"/>
            </a:pPr>
            <a:r>
              <a:rPr lang="en-US" sz="1150" dirty="0">
                <a:solidFill>
                  <a:srgbClr val="3C4248"/>
                </a:solidFill>
                <a:latin typeface="Arial" pitchFamily="34" charset="0"/>
                <a:ea typeface="Arial" pitchFamily="34" charset="-122"/>
                <a:cs typeface="Arial" pitchFamily="34" charset="-120"/>
              </a:rPr>
              <a:t>PR cycle time, and where work waits</a:t>
            </a:r>
            <a:endParaRPr lang="en-US" sz="1150" dirty="0"/>
          </a:p>
          <a:p>
            <a:pPr marL="152400" indent="-152400">
              <a:spcAft>
                <a:spcPts val="400"/>
              </a:spcAft>
              <a:buSzPct val="100000"/>
              <a:buChar char="•"/>
            </a:pPr>
            <a:r>
              <a:rPr lang="en-US" sz="1150" dirty="0">
                <a:solidFill>
                  <a:srgbClr val="3C4248"/>
                </a:solidFill>
                <a:latin typeface="Arial" pitchFamily="34" charset="0"/>
                <a:ea typeface="Arial" pitchFamily="34" charset="-122"/>
                <a:cs typeface="Arial" pitchFamily="34" charset="-120"/>
              </a:rPr>
              <a:t>Issue delivery rate and lead time</a:t>
            </a:r>
            <a:endParaRPr lang="en-US" sz="1150" dirty="0"/>
          </a:p>
        </p:txBody>
      </p:sp>
      <p:sp>
        <p:nvSpPr>
          <p:cNvPr id="13" name="Shape 11"/>
          <p:cNvSpPr/>
          <p:nvPr/>
        </p:nvSpPr>
        <p:spPr>
          <a:xfrm>
            <a:off x="640080" y="4160520"/>
            <a:ext cx="3246120" cy="457200"/>
          </a:xfrm>
          <a:prstGeom prst="rect">
            <a:avLst/>
          </a:prstGeom>
          <a:solidFill>
            <a:srgbClr val="EAF6F0"/>
          </a:solidFill>
          <a:ln w="12700">
            <a:solidFill>
              <a:srgbClr val="EAF6F0"/>
            </a:solidFill>
            <a:prstDash val="solid"/>
          </a:ln>
        </p:spPr>
      </p:sp>
      <p:sp>
        <p:nvSpPr>
          <p:cNvPr id="14" name="Text 12"/>
          <p:cNvSpPr/>
          <p:nvPr/>
        </p:nvSpPr>
        <p:spPr>
          <a:xfrm>
            <a:off x="731520" y="4160520"/>
            <a:ext cx="3063240" cy="457200"/>
          </a:xfrm>
          <a:prstGeom prst="rect">
            <a:avLst/>
          </a:prstGeom>
          <a:noFill/>
          <a:ln/>
        </p:spPr>
        <p:txBody>
          <a:bodyPr wrap="square" lIns="0" tIns="0" rIns="0" bIns="0" rtlCol="0" anchor="ctr"/>
          <a:lstStyle/>
          <a:p>
            <a:pPr indent="0" marL="0">
              <a:buNone/>
            </a:pPr>
            <a:r>
              <a:rPr lang="en-US" sz="1100" b="1" dirty="0">
                <a:solidFill>
                  <a:srgbClr val="00703F"/>
                </a:solidFill>
                <a:latin typeface="Arial" pitchFamily="34" charset="0"/>
                <a:ea typeface="Arial" pitchFamily="34" charset="-122"/>
                <a:cs typeface="Arial" pitchFamily="34" charset="-120"/>
              </a:rPr>
              <a:t>A good sign: </a:t>
            </a:r>
            <a:pPr indent="0" marL="0">
              <a:buNone/>
            </a:pPr>
            <a:r>
              <a:rPr lang="en-US" sz="1100" dirty="0">
                <a:solidFill>
                  <a:srgbClr val="3C4248"/>
                </a:solidFill>
                <a:latin typeface="Arial" pitchFamily="34" charset="0"/>
                <a:ea typeface="Arial" pitchFamily="34" charset="-122"/>
                <a:cs typeface="Arial" pitchFamily="34" charset="-120"/>
              </a:rPr>
              <a:t>Delivery rising, cycle time falling</a:t>
            </a:r>
            <a:endParaRPr lang="en-US" sz="1100" dirty="0"/>
          </a:p>
        </p:txBody>
      </p:sp>
      <p:sp>
        <p:nvSpPr>
          <p:cNvPr id="15" name="Shape 13"/>
          <p:cNvSpPr/>
          <p:nvPr/>
        </p:nvSpPr>
        <p:spPr>
          <a:xfrm>
            <a:off x="4288536" y="1554480"/>
            <a:ext cx="3611880" cy="3246120"/>
          </a:xfrm>
          <a:prstGeom prst="rect">
            <a:avLst/>
          </a:prstGeom>
          <a:solidFill>
            <a:srgbClr val="F7F9F8"/>
          </a:solidFill>
          <a:ln w="9525">
            <a:solidFill>
              <a:srgbClr val="E3E6EA"/>
            </a:solidFill>
            <a:prstDash val="solid"/>
          </a:ln>
        </p:spPr>
      </p:sp>
      <p:sp>
        <p:nvSpPr>
          <p:cNvPr id="16" name="Shape 14"/>
          <p:cNvSpPr/>
          <p:nvPr/>
        </p:nvSpPr>
        <p:spPr>
          <a:xfrm>
            <a:off x="4288536" y="1554480"/>
            <a:ext cx="3611880" cy="868680"/>
          </a:xfrm>
          <a:prstGeom prst="rect">
            <a:avLst/>
          </a:prstGeom>
          <a:solidFill>
            <a:srgbClr val="00915A"/>
          </a:solidFill>
          <a:ln w="12700">
            <a:solidFill>
              <a:srgbClr val="00915A"/>
            </a:solidFill>
            <a:prstDash val="solid"/>
          </a:ln>
        </p:spPr>
      </p:sp>
      <p:sp>
        <p:nvSpPr>
          <p:cNvPr id="17" name="Shape 15"/>
          <p:cNvSpPr/>
          <p:nvPr/>
        </p:nvSpPr>
        <p:spPr>
          <a:xfrm>
            <a:off x="4471416" y="1737360"/>
            <a:ext cx="502920" cy="502920"/>
          </a:xfrm>
          <a:prstGeom prst="ellipse">
            <a:avLst/>
          </a:prstGeom>
          <a:solidFill>
            <a:srgbClr val="FFFFFF"/>
          </a:solidFill>
          <a:ln w="12700">
            <a:solidFill>
              <a:srgbClr val="FFFFFF"/>
            </a:solidFill>
            <a:prstDash val="solid"/>
          </a:ln>
        </p:spPr>
      </p:sp>
      <p:sp>
        <p:nvSpPr>
          <p:cNvPr id="18" name="Text 16"/>
          <p:cNvSpPr/>
          <p:nvPr/>
        </p:nvSpPr>
        <p:spPr>
          <a:xfrm>
            <a:off x="4471416" y="1737360"/>
            <a:ext cx="502920" cy="502920"/>
          </a:xfrm>
          <a:prstGeom prst="rect">
            <a:avLst/>
          </a:prstGeom>
          <a:noFill/>
          <a:ln/>
        </p:spPr>
        <p:txBody>
          <a:bodyPr wrap="square" lIns="0" tIns="0" rIns="0" bIns="0" rtlCol="0" anchor="ctr"/>
          <a:lstStyle/>
          <a:p>
            <a:pPr algn="ctr" indent="0" marL="0">
              <a:buNone/>
            </a:pPr>
            <a:r>
              <a:rPr lang="en-US" sz="1800" b="1" dirty="0">
                <a:solidFill>
                  <a:srgbClr val="00915A"/>
                </a:solidFill>
                <a:latin typeface="Arial" pitchFamily="34" charset="0"/>
                <a:ea typeface="Arial" pitchFamily="34" charset="-122"/>
                <a:cs typeface="Arial" pitchFamily="34" charset="-120"/>
              </a:rPr>
              <a:t>2</a:t>
            </a:r>
            <a:endParaRPr lang="en-US" sz="1800" dirty="0"/>
          </a:p>
        </p:txBody>
      </p:sp>
      <p:sp>
        <p:nvSpPr>
          <p:cNvPr id="19" name="Text 17"/>
          <p:cNvSpPr/>
          <p:nvPr/>
        </p:nvSpPr>
        <p:spPr>
          <a:xfrm>
            <a:off x="5157216" y="1554480"/>
            <a:ext cx="2606040" cy="86868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With the same resources?</a:t>
            </a:r>
            <a:endParaRPr lang="en-US" sz="1450" dirty="0"/>
          </a:p>
          <a:p>
            <a:pPr indent="0" marL="0">
              <a:buNone/>
            </a:pPr>
            <a:r>
              <a:rPr lang="en-US" sz="1000" dirty="0">
                <a:solidFill>
                  <a:srgbClr val="D9F0E6"/>
                </a:solidFill>
                <a:latin typeface="Arial" pitchFamily="34" charset="0"/>
                <a:ea typeface="Arial" pitchFamily="34" charset="-122"/>
                <a:cs typeface="Arial" pitchFamily="34" charset="-120"/>
              </a:rPr>
              <a:t>Capacity and workload</a:t>
            </a:r>
            <a:endParaRPr lang="en-US" sz="1450" dirty="0"/>
          </a:p>
        </p:txBody>
      </p:sp>
      <p:sp>
        <p:nvSpPr>
          <p:cNvPr id="20" name="Text 18"/>
          <p:cNvSpPr/>
          <p:nvPr/>
        </p:nvSpPr>
        <p:spPr>
          <a:xfrm>
            <a:off x="4471416" y="2542032"/>
            <a:ext cx="3246120" cy="256032"/>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What we look at</a:t>
            </a:r>
            <a:endParaRPr lang="en-US" sz="1000" dirty="0"/>
          </a:p>
        </p:txBody>
      </p:sp>
      <p:sp>
        <p:nvSpPr>
          <p:cNvPr id="21" name="Text 19"/>
          <p:cNvSpPr/>
          <p:nvPr/>
        </p:nvSpPr>
        <p:spPr>
          <a:xfrm>
            <a:off x="4471416" y="2816352"/>
            <a:ext cx="3246120" cy="128016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C4248"/>
                </a:solidFill>
                <a:latin typeface="Arial" pitchFamily="34" charset="0"/>
                <a:ea typeface="Arial" pitchFamily="34" charset="-122"/>
                <a:cs typeface="Arial" pitchFamily="34" charset="-120"/>
              </a:rPr>
              <a:t>Delivery read against team size</a:t>
            </a:r>
            <a:endParaRPr lang="en-US" sz="1150" dirty="0"/>
          </a:p>
          <a:p>
            <a:pPr marL="152400" indent="-152400">
              <a:spcAft>
                <a:spcPts val="400"/>
              </a:spcAft>
              <a:buSzPct val="100000"/>
              <a:buChar char="•"/>
            </a:pPr>
            <a:r>
              <a:rPr lang="en-US" sz="1150" dirty="0">
                <a:solidFill>
                  <a:srgbClr val="3C4248"/>
                </a:solidFill>
                <a:latin typeface="Arial" pitchFamily="34" charset="0"/>
                <a:ea typeface="Arial" pitchFamily="34" charset="-122"/>
                <a:cs typeface="Arial" pitchFamily="34" charset="-120"/>
              </a:rPr>
              <a:t>Workload spread across contributors</a:t>
            </a:r>
            <a:endParaRPr lang="en-US" sz="1150" dirty="0"/>
          </a:p>
          <a:p>
            <a:pPr marL="152400" indent="-152400">
              <a:spcAft>
                <a:spcPts val="400"/>
              </a:spcAft>
              <a:buSzPct val="100000"/>
              <a:buChar char="•"/>
            </a:pPr>
            <a:r>
              <a:rPr lang="en-US" sz="1150" dirty="0">
                <a:solidFill>
                  <a:srgbClr val="3C4248"/>
                </a:solidFill>
                <a:latin typeface="Arial" pitchFamily="34" charset="0"/>
                <a:ea typeface="Arial" pitchFamily="34" charset="-122"/>
                <a:cs typeface="Arial" pitchFamily="34" charset="-120"/>
              </a:rPr>
              <a:t>Reliance on a few key people</a:t>
            </a:r>
            <a:endParaRPr lang="en-US" sz="1150" dirty="0"/>
          </a:p>
          <a:p>
            <a:pPr marL="152400" indent="-152400">
              <a:spcAft>
                <a:spcPts val="400"/>
              </a:spcAft>
              <a:buSzPct val="100000"/>
              <a:buChar char="•"/>
            </a:pPr>
            <a:r>
              <a:rPr lang="en-US" sz="1150" dirty="0">
                <a:solidFill>
                  <a:srgbClr val="3C4248"/>
                </a:solidFill>
                <a:latin typeface="Arial" pitchFamily="34" charset="0"/>
                <a:ea typeface="Arial" pitchFamily="34" charset="-122"/>
                <a:cs typeface="Arial" pitchFamily="34" charset="-120"/>
              </a:rPr>
              <a:t>Coding activity and review load</a:t>
            </a:r>
            <a:endParaRPr lang="en-US" sz="1150" dirty="0"/>
          </a:p>
        </p:txBody>
      </p:sp>
      <p:sp>
        <p:nvSpPr>
          <p:cNvPr id="22" name="Shape 20"/>
          <p:cNvSpPr/>
          <p:nvPr/>
        </p:nvSpPr>
        <p:spPr>
          <a:xfrm>
            <a:off x="4471416" y="4160520"/>
            <a:ext cx="3246120" cy="457200"/>
          </a:xfrm>
          <a:prstGeom prst="rect">
            <a:avLst/>
          </a:prstGeom>
          <a:solidFill>
            <a:srgbClr val="EAF6F0"/>
          </a:solidFill>
          <a:ln w="12700">
            <a:solidFill>
              <a:srgbClr val="EAF6F0"/>
            </a:solidFill>
            <a:prstDash val="solid"/>
          </a:ln>
        </p:spPr>
      </p:sp>
      <p:sp>
        <p:nvSpPr>
          <p:cNvPr id="23" name="Text 21"/>
          <p:cNvSpPr/>
          <p:nvPr/>
        </p:nvSpPr>
        <p:spPr>
          <a:xfrm>
            <a:off x="4562856" y="4160520"/>
            <a:ext cx="3063240" cy="457200"/>
          </a:xfrm>
          <a:prstGeom prst="rect">
            <a:avLst/>
          </a:prstGeom>
          <a:noFill/>
          <a:ln/>
        </p:spPr>
        <p:txBody>
          <a:bodyPr wrap="square" lIns="0" tIns="0" rIns="0" bIns="0" rtlCol="0" anchor="ctr"/>
          <a:lstStyle/>
          <a:p>
            <a:pPr indent="0" marL="0">
              <a:buNone/>
            </a:pPr>
            <a:r>
              <a:rPr lang="en-US" sz="1100" b="1" dirty="0">
                <a:solidFill>
                  <a:srgbClr val="00703F"/>
                </a:solidFill>
                <a:latin typeface="Arial" pitchFamily="34" charset="0"/>
                <a:ea typeface="Arial" pitchFamily="34" charset="-122"/>
                <a:cs typeface="Arial" pitchFamily="34" charset="-120"/>
              </a:rPr>
              <a:t>A good sign: </a:t>
            </a:r>
            <a:pPr indent="0" marL="0">
              <a:buNone/>
            </a:pPr>
            <a:r>
              <a:rPr lang="en-US" sz="1100" dirty="0">
                <a:solidFill>
                  <a:srgbClr val="3C4248"/>
                </a:solidFill>
                <a:latin typeface="Arial" pitchFamily="34" charset="0"/>
                <a:ea typeface="Arial" pitchFamily="34" charset="-122"/>
                <a:cs typeface="Arial" pitchFamily="34" charset="-120"/>
              </a:rPr>
              <a:t>More output, evenly shared</a:t>
            </a:r>
            <a:endParaRPr lang="en-US" sz="1100" dirty="0"/>
          </a:p>
        </p:txBody>
      </p:sp>
      <p:sp>
        <p:nvSpPr>
          <p:cNvPr id="24" name="Shape 22"/>
          <p:cNvSpPr/>
          <p:nvPr/>
        </p:nvSpPr>
        <p:spPr>
          <a:xfrm>
            <a:off x="8119872" y="1554480"/>
            <a:ext cx="3611880" cy="3246120"/>
          </a:xfrm>
          <a:prstGeom prst="rect">
            <a:avLst/>
          </a:prstGeom>
          <a:solidFill>
            <a:srgbClr val="F7F9F8"/>
          </a:solidFill>
          <a:ln w="9525">
            <a:solidFill>
              <a:srgbClr val="E3E6EA"/>
            </a:solidFill>
            <a:prstDash val="solid"/>
          </a:ln>
        </p:spPr>
      </p:sp>
      <p:sp>
        <p:nvSpPr>
          <p:cNvPr id="25" name="Shape 23"/>
          <p:cNvSpPr/>
          <p:nvPr/>
        </p:nvSpPr>
        <p:spPr>
          <a:xfrm>
            <a:off x="8119872" y="1554480"/>
            <a:ext cx="3611880" cy="868680"/>
          </a:xfrm>
          <a:prstGeom prst="rect">
            <a:avLst/>
          </a:prstGeom>
          <a:solidFill>
            <a:srgbClr val="00915A"/>
          </a:solidFill>
          <a:ln w="12700">
            <a:solidFill>
              <a:srgbClr val="00915A"/>
            </a:solidFill>
            <a:prstDash val="solid"/>
          </a:ln>
        </p:spPr>
      </p:sp>
      <p:sp>
        <p:nvSpPr>
          <p:cNvPr id="26" name="Shape 24"/>
          <p:cNvSpPr/>
          <p:nvPr/>
        </p:nvSpPr>
        <p:spPr>
          <a:xfrm>
            <a:off x="8302752" y="1737360"/>
            <a:ext cx="502920" cy="502920"/>
          </a:xfrm>
          <a:prstGeom prst="ellipse">
            <a:avLst/>
          </a:prstGeom>
          <a:solidFill>
            <a:srgbClr val="FFFFFF"/>
          </a:solidFill>
          <a:ln w="12700">
            <a:solidFill>
              <a:srgbClr val="FFFFFF"/>
            </a:solidFill>
            <a:prstDash val="solid"/>
          </a:ln>
        </p:spPr>
      </p:sp>
      <p:sp>
        <p:nvSpPr>
          <p:cNvPr id="27" name="Text 25"/>
          <p:cNvSpPr/>
          <p:nvPr/>
        </p:nvSpPr>
        <p:spPr>
          <a:xfrm>
            <a:off x="8302752" y="1737360"/>
            <a:ext cx="502920" cy="502920"/>
          </a:xfrm>
          <a:prstGeom prst="rect">
            <a:avLst/>
          </a:prstGeom>
          <a:noFill/>
          <a:ln/>
        </p:spPr>
        <p:txBody>
          <a:bodyPr wrap="square" lIns="0" tIns="0" rIns="0" bIns="0" rtlCol="0" anchor="ctr"/>
          <a:lstStyle/>
          <a:p>
            <a:pPr algn="ctr" indent="0" marL="0">
              <a:buNone/>
            </a:pPr>
            <a:r>
              <a:rPr lang="en-US" sz="1800" b="1" dirty="0">
                <a:solidFill>
                  <a:srgbClr val="00915A"/>
                </a:solidFill>
                <a:latin typeface="Arial" pitchFamily="34" charset="0"/>
                <a:ea typeface="Arial" pitchFamily="34" charset="-122"/>
                <a:cs typeface="Arial" pitchFamily="34" charset="-120"/>
              </a:rPr>
              <a:t>3</a:t>
            </a:r>
            <a:endParaRPr lang="en-US" sz="1800" dirty="0"/>
          </a:p>
        </p:txBody>
      </p:sp>
      <p:sp>
        <p:nvSpPr>
          <p:cNvPr id="28" name="Text 26"/>
          <p:cNvSpPr/>
          <p:nvPr/>
        </p:nvSpPr>
        <p:spPr>
          <a:xfrm>
            <a:off x="8988552" y="1554480"/>
            <a:ext cx="2606040" cy="86868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Is AI helping, not hurting?</a:t>
            </a:r>
            <a:endParaRPr lang="en-US" sz="1450" dirty="0"/>
          </a:p>
          <a:p>
            <a:pPr indent="0" marL="0">
              <a:buNone/>
            </a:pPr>
            <a:r>
              <a:rPr lang="en-US" sz="1000" dirty="0">
                <a:solidFill>
                  <a:srgbClr val="D9F0E6"/>
                </a:solidFill>
                <a:latin typeface="Arial" pitchFamily="34" charset="0"/>
                <a:ea typeface="Arial" pitchFamily="34" charset="-122"/>
                <a:cs typeface="Arial" pitchFamily="34" charset="-120"/>
              </a:rPr>
              <a:t>Quality guardrails</a:t>
            </a:r>
            <a:endParaRPr lang="en-US" sz="1450" dirty="0"/>
          </a:p>
        </p:txBody>
      </p:sp>
      <p:sp>
        <p:nvSpPr>
          <p:cNvPr id="29" name="Text 27"/>
          <p:cNvSpPr/>
          <p:nvPr/>
        </p:nvSpPr>
        <p:spPr>
          <a:xfrm>
            <a:off x="8302752" y="2542032"/>
            <a:ext cx="3246120" cy="256032"/>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What we look at</a:t>
            </a:r>
            <a:endParaRPr lang="en-US" sz="1000" dirty="0"/>
          </a:p>
        </p:txBody>
      </p:sp>
      <p:sp>
        <p:nvSpPr>
          <p:cNvPr id="30" name="Text 28"/>
          <p:cNvSpPr/>
          <p:nvPr/>
        </p:nvSpPr>
        <p:spPr>
          <a:xfrm>
            <a:off x="8302752" y="2816352"/>
            <a:ext cx="3246120" cy="128016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3C4248"/>
                </a:solidFill>
                <a:latin typeface="Arial" pitchFamily="34" charset="0"/>
                <a:ea typeface="Arial" pitchFamily="34" charset="-122"/>
                <a:cs typeface="Arial" pitchFamily="34" charset="-120"/>
              </a:rPr>
              <a:t>New versus closed bugs, outstanding bugs</a:t>
            </a:r>
            <a:endParaRPr lang="en-US" sz="1150" dirty="0"/>
          </a:p>
          <a:p>
            <a:pPr marL="152400" indent="-152400">
              <a:spcAft>
                <a:spcPts val="400"/>
              </a:spcAft>
              <a:buSzPct val="100000"/>
              <a:buChar char="•"/>
            </a:pPr>
            <a:r>
              <a:rPr lang="en-US" sz="1150" dirty="0">
                <a:solidFill>
                  <a:srgbClr val="3C4248"/>
                </a:solidFill>
                <a:latin typeface="Arial" pitchFamily="34" charset="0"/>
                <a:ea typeface="Arial" pitchFamily="34" charset="-122"/>
                <a:cs typeface="Arial" pitchFamily="34" charset="-120"/>
              </a:rPr>
              <a:t>Changes merged without review</a:t>
            </a:r>
            <a:endParaRPr lang="en-US" sz="1150" dirty="0"/>
          </a:p>
          <a:p>
            <a:pPr marL="152400" indent="-152400">
              <a:spcAft>
                <a:spcPts val="400"/>
              </a:spcAft>
              <a:buSzPct val="100000"/>
              <a:buChar char="•"/>
            </a:pPr>
            <a:r>
              <a:rPr lang="en-US" sz="1150" dirty="0">
                <a:solidFill>
                  <a:srgbClr val="3C4248"/>
                </a:solidFill>
                <a:latin typeface="Arial" pitchFamily="34" charset="0"/>
                <a:ea typeface="Arial" pitchFamily="34" charset="-122"/>
                <a:cs typeface="Arial" pitchFamily="34" charset="-120"/>
              </a:rPr>
              <a:t>PR size, build success, test coverage</a:t>
            </a:r>
            <a:endParaRPr lang="en-US" sz="1150" dirty="0"/>
          </a:p>
          <a:p>
            <a:pPr marL="152400" indent="-152400">
              <a:spcAft>
                <a:spcPts val="400"/>
              </a:spcAft>
              <a:buSzPct val="100000"/>
              <a:buChar char="•"/>
            </a:pPr>
            <a:r>
              <a:rPr lang="en-US" sz="1150" dirty="0">
                <a:solidFill>
                  <a:srgbClr val="3C4248"/>
                </a:solidFill>
                <a:latin typeface="Arial" pitchFamily="34" charset="0"/>
                <a:ea typeface="Arial" pitchFamily="34" charset="-122"/>
                <a:cs typeface="Arial" pitchFamily="34" charset="-120"/>
              </a:rPr>
              <a:t>Age of open critical defects</a:t>
            </a:r>
            <a:endParaRPr lang="en-US" sz="1150" dirty="0"/>
          </a:p>
        </p:txBody>
      </p:sp>
      <p:sp>
        <p:nvSpPr>
          <p:cNvPr id="31" name="Shape 29"/>
          <p:cNvSpPr/>
          <p:nvPr/>
        </p:nvSpPr>
        <p:spPr>
          <a:xfrm>
            <a:off x="8302752" y="4160520"/>
            <a:ext cx="3246120" cy="457200"/>
          </a:xfrm>
          <a:prstGeom prst="rect">
            <a:avLst/>
          </a:prstGeom>
          <a:solidFill>
            <a:srgbClr val="EAF6F0"/>
          </a:solidFill>
          <a:ln w="12700">
            <a:solidFill>
              <a:srgbClr val="EAF6F0"/>
            </a:solidFill>
            <a:prstDash val="solid"/>
          </a:ln>
        </p:spPr>
      </p:sp>
      <p:sp>
        <p:nvSpPr>
          <p:cNvPr id="32" name="Text 30"/>
          <p:cNvSpPr/>
          <p:nvPr/>
        </p:nvSpPr>
        <p:spPr>
          <a:xfrm>
            <a:off x="8394192" y="4160520"/>
            <a:ext cx="3063240" cy="457200"/>
          </a:xfrm>
          <a:prstGeom prst="rect">
            <a:avLst/>
          </a:prstGeom>
          <a:noFill/>
          <a:ln/>
        </p:spPr>
        <p:txBody>
          <a:bodyPr wrap="square" lIns="0" tIns="0" rIns="0" bIns="0" rtlCol="0" anchor="ctr"/>
          <a:lstStyle/>
          <a:p>
            <a:pPr indent="0" marL="0">
              <a:buNone/>
            </a:pPr>
            <a:r>
              <a:rPr lang="en-US" sz="1100" b="1" dirty="0">
                <a:solidFill>
                  <a:srgbClr val="00703F"/>
                </a:solidFill>
                <a:latin typeface="Arial" pitchFamily="34" charset="0"/>
                <a:ea typeface="Arial" pitchFamily="34" charset="-122"/>
                <a:cs typeface="Arial" pitchFamily="34" charset="-120"/>
              </a:rPr>
              <a:t>A good sign: </a:t>
            </a:r>
            <a:pPr indent="0" marL="0">
              <a:buNone/>
            </a:pPr>
            <a:r>
              <a:rPr lang="en-US" sz="1100" dirty="0">
                <a:solidFill>
                  <a:srgbClr val="3C4248"/>
                </a:solidFill>
                <a:latin typeface="Arial" pitchFamily="34" charset="0"/>
                <a:ea typeface="Arial" pitchFamily="34" charset="-122"/>
                <a:cs typeface="Arial" pitchFamily="34" charset="-120"/>
              </a:rPr>
              <a:t>Faster, with quality holding or improving</a:t>
            </a:r>
            <a:endParaRPr lang="en-US" sz="1100" dirty="0"/>
          </a:p>
        </p:txBody>
      </p:sp>
      <p:sp>
        <p:nvSpPr>
          <p:cNvPr id="33" name="Text 31"/>
          <p:cNvSpPr/>
          <p:nvPr/>
        </p:nvSpPr>
        <p:spPr>
          <a:xfrm>
            <a:off x="457200" y="4937760"/>
            <a:ext cx="5486400" cy="274320"/>
          </a:xfrm>
          <a:prstGeom prst="rect">
            <a:avLst/>
          </a:prstGeom>
          <a:noFill/>
          <a:ln/>
        </p:spPr>
        <p:txBody>
          <a:bodyPr wrap="square" lIns="0" tIns="0" rIns="0" bIns="0" rtlCol="0" anchor="ctr"/>
          <a:lstStyle/>
          <a:p>
            <a:pPr indent="0" marL="0">
              <a:buNone/>
            </a:pPr>
            <a:r>
              <a:rPr lang="en-US" sz="1200" b="1" dirty="0">
                <a:solidFill>
                  <a:srgbClr val="1F2328"/>
                </a:solidFill>
                <a:latin typeface="Arial" pitchFamily="34" charset="0"/>
                <a:ea typeface="Arial" pitchFamily="34" charset="-122"/>
                <a:cs typeface="Arial" pitchFamily="34" charset="-120"/>
              </a:rPr>
              <a:t>Our simple monthly reading</a:t>
            </a:r>
            <a:endParaRPr lang="en-US" sz="1200" dirty="0"/>
          </a:p>
        </p:txBody>
      </p:sp>
      <p:sp>
        <p:nvSpPr>
          <p:cNvPr id="34" name="Shape 32"/>
          <p:cNvSpPr/>
          <p:nvPr/>
        </p:nvSpPr>
        <p:spPr>
          <a:xfrm>
            <a:off x="457200" y="5257800"/>
            <a:ext cx="3611880" cy="777240"/>
          </a:xfrm>
          <a:prstGeom prst="rect">
            <a:avLst/>
          </a:prstGeom>
          <a:solidFill>
            <a:srgbClr val="EAF6F0"/>
          </a:solidFill>
          <a:ln w="12700">
            <a:solidFill>
              <a:srgbClr val="EAF6F0"/>
            </a:solidFill>
            <a:prstDash val="solid"/>
          </a:ln>
        </p:spPr>
      </p:sp>
      <p:sp>
        <p:nvSpPr>
          <p:cNvPr id="35" name="Shape 33"/>
          <p:cNvSpPr/>
          <p:nvPr/>
        </p:nvSpPr>
        <p:spPr>
          <a:xfrm>
            <a:off x="457200" y="5257800"/>
            <a:ext cx="64008" cy="777240"/>
          </a:xfrm>
          <a:prstGeom prst="rect">
            <a:avLst/>
          </a:prstGeom>
          <a:solidFill>
            <a:srgbClr val="00915A"/>
          </a:solidFill>
          <a:ln w="12700">
            <a:solidFill>
              <a:srgbClr val="00915A"/>
            </a:solidFill>
            <a:prstDash val="solid"/>
          </a:ln>
        </p:spPr>
      </p:sp>
      <p:sp>
        <p:nvSpPr>
          <p:cNvPr id="36" name="Text 34"/>
          <p:cNvSpPr/>
          <p:nvPr/>
        </p:nvSpPr>
        <p:spPr>
          <a:xfrm>
            <a:off x="640080" y="5257800"/>
            <a:ext cx="3337560" cy="777240"/>
          </a:xfrm>
          <a:prstGeom prst="rect">
            <a:avLst/>
          </a:prstGeom>
          <a:noFill/>
          <a:ln/>
        </p:spPr>
        <p:txBody>
          <a:bodyPr wrap="square" lIns="0" tIns="0" rIns="0" bIns="0" rtlCol="0" anchor="ctr"/>
          <a:lstStyle/>
          <a:p>
            <a:pPr indent="0" marL="0">
              <a:buNone/>
            </a:pPr>
            <a:r>
              <a:rPr lang="en-US" sz="1200" b="1" dirty="0">
                <a:solidFill>
                  <a:srgbClr val="00915A"/>
                </a:solidFill>
                <a:latin typeface="Arial" pitchFamily="34" charset="0"/>
                <a:ea typeface="Arial" pitchFamily="34" charset="-122"/>
                <a:cs typeface="Arial" pitchFamily="34" charset="-120"/>
              </a:rPr>
              <a:t>On track</a:t>
            </a:r>
            <a:endParaRPr lang="en-US" sz="1200" dirty="0"/>
          </a:p>
          <a:p>
            <a:pPr indent="0" marL="0">
              <a:buNone/>
            </a:pPr>
            <a:r>
              <a:rPr lang="en-US" sz="1050" dirty="0">
                <a:solidFill>
                  <a:srgbClr val="3C4248"/>
                </a:solidFill>
                <a:latin typeface="Arial" pitchFamily="34" charset="0"/>
                <a:ea typeface="Arial" pitchFamily="34" charset="-122"/>
                <a:cs typeface="Arial" pitchFamily="34" charset="-120"/>
              </a:rPr>
              <a:t>Delivery up, cycle time down, bugs flat or falling, workload balanced</a:t>
            </a:r>
            <a:endParaRPr lang="en-US" sz="1200" dirty="0"/>
          </a:p>
        </p:txBody>
      </p:sp>
      <p:sp>
        <p:nvSpPr>
          <p:cNvPr id="37" name="Shape 35"/>
          <p:cNvSpPr/>
          <p:nvPr/>
        </p:nvSpPr>
        <p:spPr>
          <a:xfrm>
            <a:off x="4288536" y="5257800"/>
            <a:ext cx="3611880" cy="777240"/>
          </a:xfrm>
          <a:prstGeom prst="rect">
            <a:avLst/>
          </a:prstGeom>
          <a:solidFill>
            <a:srgbClr val="FFF4E0"/>
          </a:solidFill>
          <a:ln w="12700">
            <a:solidFill>
              <a:srgbClr val="FFF4E0"/>
            </a:solidFill>
            <a:prstDash val="solid"/>
          </a:ln>
        </p:spPr>
      </p:sp>
      <p:sp>
        <p:nvSpPr>
          <p:cNvPr id="38" name="Shape 36"/>
          <p:cNvSpPr/>
          <p:nvPr/>
        </p:nvSpPr>
        <p:spPr>
          <a:xfrm>
            <a:off x="4288536" y="5257800"/>
            <a:ext cx="64008" cy="777240"/>
          </a:xfrm>
          <a:prstGeom prst="rect">
            <a:avLst/>
          </a:prstGeom>
          <a:solidFill>
            <a:srgbClr val="B26A00"/>
          </a:solidFill>
          <a:ln w="12700">
            <a:solidFill>
              <a:srgbClr val="B26A00"/>
            </a:solidFill>
            <a:prstDash val="solid"/>
          </a:ln>
        </p:spPr>
      </p:sp>
      <p:sp>
        <p:nvSpPr>
          <p:cNvPr id="39" name="Text 37"/>
          <p:cNvSpPr/>
          <p:nvPr/>
        </p:nvSpPr>
        <p:spPr>
          <a:xfrm>
            <a:off x="4471416" y="5257800"/>
            <a:ext cx="3337560" cy="777240"/>
          </a:xfrm>
          <a:prstGeom prst="rect">
            <a:avLst/>
          </a:prstGeom>
          <a:noFill/>
          <a:ln/>
        </p:spPr>
        <p:txBody>
          <a:bodyPr wrap="square" lIns="0" tIns="0" rIns="0" bIns="0" rtlCol="0" anchor="ctr"/>
          <a:lstStyle/>
          <a:p>
            <a:pPr indent="0" marL="0">
              <a:buNone/>
            </a:pPr>
            <a:r>
              <a:rPr lang="en-US" sz="1200" b="1" dirty="0">
                <a:solidFill>
                  <a:srgbClr val="B26A00"/>
                </a:solidFill>
                <a:latin typeface="Arial" pitchFamily="34" charset="0"/>
                <a:ea typeface="Arial" pitchFamily="34" charset="-122"/>
                <a:cs typeface="Arial" pitchFamily="34" charset="-120"/>
              </a:rPr>
              <a:t>Needs attention</a:t>
            </a:r>
            <a:endParaRPr lang="en-US" sz="1200" dirty="0"/>
          </a:p>
          <a:p>
            <a:pPr indent="0" marL="0">
              <a:buNone/>
            </a:pPr>
            <a:r>
              <a:rPr lang="en-US" sz="1050" dirty="0">
                <a:solidFill>
                  <a:srgbClr val="3C4248"/>
                </a:solidFill>
                <a:latin typeface="Arial" pitchFamily="34" charset="0"/>
                <a:ea typeface="Arial" pitchFamily="34" charset="-122"/>
                <a:cs typeface="Arial" pitchFamily="34" charset="-120"/>
              </a:rPr>
              <a:t>Faster but quality down, or output reliant on a few people</a:t>
            </a:r>
            <a:endParaRPr lang="en-US" sz="1200" dirty="0"/>
          </a:p>
        </p:txBody>
      </p:sp>
      <p:sp>
        <p:nvSpPr>
          <p:cNvPr id="40" name="Shape 38"/>
          <p:cNvSpPr/>
          <p:nvPr/>
        </p:nvSpPr>
        <p:spPr>
          <a:xfrm>
            <a:off x="8119872" y="5257800"/>
            <a:ext cx="3611880" cy="777240"/>
          </a:xfrm>
          <a:prstGeom prst="rect">
            <a:avLst/>
          </a:prstGeom>
          <a:solidFill>
            <a:srgbClr val="F1F3F5"/>
          </a:solidFill>
          <a:ln w="12700">
            <a:solidFill>
              <a:srgbClr val="F1F3F5"/>
            </a:solidFill>
            <a:prstDash val="solid"/>
          </a:ln>
        </p:spPr>
      </p:sp>
      <p:sp>
        <p:nvSpPr>
          <p:cNvPr id="41" name="Shape 39"/>
          <p:cNvSpPr/>
          <p:nvPr/>
        </p:nvSpPr>
        <p:spPr>
          <a:xfrm>
            <a:off x="8119872" y="5257800"/>
            <a:ext cx="64008" cy="777240"/>
          </a:xfrm>
          <a:prstGeom prst="rect">
            <a:avLst/>
          </a:prstGeom>
          <a:solidFill>
            <a:srgbClr val="6B7280"/>
          </a:solidFill>
          <a:ln w="12700">
            <a:solidFill>
              <a:srgbClr val="6B7280"/>
            </a:solidFill>
            <a:prstDash val="solid"/>
          </a:ln>
        </p:spPr>
      </p:sp>
      <p:sp>
        <p:nvSpPr>
          <p:cNvPr id="42" name="Text 40"/>
          <p:cNvSpPr/>
          <p:nvPr/>
        </p:nvSpPr>
        <p:spPr>
          <a:xfrm>
            <a:off x="8302752" y="5257800"/>
            <a:ext cx="3337560" cy="777240"/>
          </a:xfrm>
          <a:prstGeom prst="rect">
            <a:avLst/>
          </a:prstGeom>
          <a:noFill/>
          <a:ln/>
        </p:spPr>
        <p:txBody>
          <a:bodyPr wrap="square" lIns="0" tIns="0" rIns="0" bIns="0" rtlCol="0" anchor="ctr"/>
          <a:lstStyle/>
          <a:p>
            <a:pPr indent="0" marL="0">
              <a:buNone/>
            </a:pPr>
            <a:r>
              <a:rPr lang="en-US" sz="1200" b="1" dirty="0">
                <a:solidFill>
                  <a:srgbClr val="6B7280"/>
                </a:solidFill>
                <a:latin typeface="Arial" pitchFamily="34" charset="0"/>
                <a:ea typeface="Arial" pitchFamily="34" charset="-122"/>
                <a:cs typeface="Arial" pitchFamily="34" charset="-120"/>
              </a:rPr>
              <a:t>Not yet improving</a:t>
            </a:r>
            <a:endParaRPr lang="en-US" sz="1200" dirty="0"/>
          </a:p>
          <a:p>
            <a:pPr indent="0" marL="0">
              <a:buNone/>
            </a:pPr>
            <a:r>
              <a:rPr lang="en-US" sz="1050" dirty="0">
                <a:solidFill>
                  <a:srgbClr val="3C4248"/>
                </a:solidFill>
                <a:latin typeface="Arial" pitchFamily="34" charset="0"/>
                <a:ea typeface="Arial" pitchFamily="34" charset="-122"/>
                <a:cs typeface="Arial" pitchFamily="34" charset="-120"/>
              </a:rPr>
              <a:t>No movement from our starting point, so we look at where work waits</a:t>
            </a:r>
            <a:endParaRPr lang="en-US" sz="1200" dirty="0"/>
          </a:p>
        </p:txBody>
      </p:sp>
      <p:sp>
        <p:nvSpPr>
          <p:cNvPr id="43" name="Text 41"/>
          <p:cNvSpPr/>
          <p:nvPr/>
        </p:nvSpPr>
        <p:spPr>
          <a:xfrm>
            <a:off x="457200" y="6108192"/>
            <a:ext cx="11274552" cy="365760"/>
          </a:xfrm>
          <a:prstGeom prst="rect">
            <a:avLst/>
          </a:prstGeom>
          <a:noFill/>
          <a:ln/>
        </p:spPr>
        <p:txBody>
          <a:bodyPr wrap="square" lIns="0" tIns="0" rIns="0" bIns="0" rtlCol="0" anchor="ctr"/>
          <a:lstStyle/>
          <a:p>
            <a:pPr indent="0" marL="0">
              <a:buNone/>
            </a:pPr>
            <a:r>
              <a:rPr lang="en-US" sz="950" i="1" dirty="0">
                <a:solidFill>
                  <a:srgbClr val="6B7280"/>
                </a:solidFill>
                <a:latin typeface="Arial" pitchFamily="34" charset="0"/>
                <a:ea typeface="Arial" pitchFamily="34" charset="-122"/>
                <a:cs typeface="Arial" pitchFamily="34" charset="-120"/>
              </a:rPr>
              <a:t>Built on a baseline from the data we already collect. A trend alongside AI adoption is a strong indication; we can link it more directly by comparing before and after, or tagging AI-assisted work.</a:t>
            </a:r>
            <a:endParaRPr lang="en-US" sz="950" dirty="0"/>
          </a:p>
        </p:txBody>
      </p:sp>
      <p:sp>
        <p:nvSpPr>
          <p:cNvPr id="44" name="Text 42"/>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Engineering Metrics  |  Tool Comparison</a:t>
            </a:r>
            <a:endParaRPr lang="en-US" sz="900" dirty="0"/>
          </a:p>
        </p:txBody>
      </p:sp>
      <p:sp>
        <p:nvSpPr>
          <p:cNvPr id="45" name="Text 43"/>
          <p:cNvSpPr/>
          <p:nvPr/>
        </p:nvSpPr>
        <p:spPr>
          <a:xfrm>
            <a:off x="11247120" y="649224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2026-10-07T13:25:06Z</dcterms:created>
  <dcterms:modified xsi:type="dcterms:W3CDTF">2026-10-07T13:25:06Z</dcterms:modified>
</cp:coreProperties>
</file>