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11430000" cy="457200"/>
          </a:xfrm>
          <a:prstGeom prst="rect">
            <a:avLst/>
          </a:prstGeom>
          <a:noFill/>
          <a:ln/>
        </p:spPr>
        <p:txBody>
          <a:bodyPr wrap="square" rtlCol="0" anchor="ctr"/>
          <a:lstStyle/>
          <a:p>
            <a:pPr indent="0" marL="0">
              <a:buNone/>
            </a:pPr>
            <a:r>
              <a:rPr lang="en-US" sz="2000" b="1" dirty="0">
                <a:solidFill>
                  <a:srgbClr val="1F2328"/>
                </a:solidFill>
                <a:latin typeface="Arial" pitchFamily="34" charset="0"/>
                <a:ea typeface="Arial" pitchFamily="34" charset="-122"/>
                <a:cs typeface="Arial" pitchFamily="34" charset="-120"/>
              </a:rPr>
              <a:t>How DevLake Traces Commits Through Long-Lived Branches</a:t>
            </a:r>
            <a:endParaRPr lang="en-US" sz="2000" dirty="0"/>
          </a:p>
        </p:txBody>
      </p:sp>
      <p:sp>
        <p:nvSpPr>
          <p:cNvPr id="3" name="Text 1"/>
          <p:cNvSpPr/>
          <p:nvPr/>
        </p:nvSpPr>
        <p:spPr>
          <a:xfrm>
            <a:off x="365760" y="621792"/>
            <a:ext cx="11430000" cy="292608"/>
          </a:xfrm>
          <a:prstGeom prst="rect">
            <a:avLst/>
          </a:prstGeom>
          <a:noFill/>
          <a:ln/>
        </p:spPr>
        <p:txBody>
          <a:bodyPr wrap="square" rtlCol="0" anchor="ctr"/>
          <a:lstStyle/>
          <a:p>
            <a:pPr indent="0" marL="0">
              <a:buNone/>
            </a:pPr>
            <a:r>
              <a:rPr lang="en-US" sz="1100" i="1" dirty="0">
                <a:solidFill>
                  <a:srgbClr val="6B7280"/>
                </a:solidFill>
                <a:latin typeface="Arial" pitchFamily="34" charset="0"/>
                <a:ea typeface="Arial" pitchFamily="34" charset="-122"/>
                <a:cs typeface="Arial" pitchFamily="34" charset="-120"/>
              </a:rPr>
              <a:t>Tracing depends on whether commit SHAs survive the final merge into the release branch — not on branch age itself.</a:t>
            </a:r>
            <a:endParaRPr lang="en-US" sz="1100" dirty="0"/>
          </a:p>
        </p:txBody>
      </p:sp>
      <p:sp>
        <p:nvSpPr>
          <p:cNvPr id="4" name="Shape 2"/>
          <p:cNvSpPr/>
          <p:nvPr/>
        </p:nvSpPr>
        <p:spPr>
          <a:xfrm>
            <a:off x="365760" y="914400"/>
            <a:ext cx="11430000" cy="329184"/>
          </a:xfrm>
          <a:prstGeom prst="roundRect">
            <a:avLst>
              <a:gd name="adj" fmla="val 13889"/>
            </a:avLst>
          </a:prstGeom>
          <a:solidFill>
            <a:srgbClr val="EAF6F0"/>
          </a:solidFill>
          <a:ln/>
        </p:spPr>
      </p:sp>
      <p:sp>
        <p:nvSpPr>
          <p:cNvPr id="5" name="Text 3"/>
          <p:cNvSpPr/>
          <p:nvPr/>
        </p:nvSpPr>
        <p:spPr>
          <a:xfrm>
            <a:off x="502920" y="914400"/>
            <a:ext cx="11155680" cy="329184"/>
          </a:xfrm>
          <a:prstGeom prst="rect">
            <a:avLst/>
          </a:prstGeom>
          <a:noFill/>
          <a:ln/>
        </p:spPr>
        <p:txBody>
          <a:bodyPr wrap="square" rtlCol="0" anchor="ctr"/>
          <a:lstStyle/>
          <a:p>
            <a:pPr indent="0" marL="0">
              <a:buNone/>
            </a:pPr>
            <a:r>
              <a:rPr lang="en-US" sz="1250" b="1" dirty="0">
                <a:solidFill>
                  <a:srgbClr val="00703F"/>
                </a:solidFill>
                <a:latin typeface="Arial" pitchFamily="34" charset="0"/>
                <a:ea typeface="Arial" pitchFamily="34" charset="-122"/>
                <a:cs typeface="Arial" pitchFamily="34" charset="-120"/>
              </a:rPr>
              <a:t>CASE 1 — Final merge preserves original commit SHAs (regular merge commit)</a:t>
            </a:r>
            <a:endParaRPr lang="en-US" sz="1250" dirty="0"/>
          </a:p>
        </p:txBody>
      </p:sp>
      <p:sp>
        <p:nvSpPr>
          <p:cNvPr id="6" name="Text 4"/>
          <p:cNvSpPr/>
          <p:nvPr/>
        </p:nvSpPr>
        <p:spPr>
          <a:xfrm>
            <a:off x="365760" y="1417320"/>
            <a:ext cx="1417320" cy="365760"/>
          </a:xfrm>
          <a:prstGeom prst="rect">
            <a:avLst/>
          </a:prstGeom>
          <a:noFill/>
          <a:ln/>
        </p:spPr>
        <p:txBody>
          <a:bodyPr wrap="square" rtlCol="0" anchor="ctr"/>
          <a:lstStyle/>
          <a:p>
            <a:pPr indent="0" marL="0">
              <a:buNone/>
            </a:pPr>
            <a:r>
              <a:rPr lang="en-US" sz="1050" b="1" dirty="0">
                <a:solidFill>
                  <a:srgbClr val="1F2328"/>
                </a:solidFill>
                <a:latin typeface="Arial" pitchFamily="34" charset="0"/>
                <a:ea typeface="Arial" pitchFamily="34" charset="-122"/>
                <a:cs typeface="Arial" pitchFamily="34" charset="-120"/>
              </a:rPr>
              <a:t>Feature Branch</a:t>
            </a:r>
            <a:endParaRPr lang="en-US" sz="1050" dirty="0"/>
          </a:p>
        </p:txBody>
      </p:sp>
      <p:sp>
        <p:nvSpPr>
          <p:cNvPr id="7" name="Text 5"/>
          <p:cNvSpPr/>
          <p:nvPr/>
        </p:nvSpPr>
        <p:spPr>
          <a:xfrm>
            <a:off x="365760" y="2148840"/>
            <a:ext cx="1417320" cy="365760"/>
          </a:xfrm>
          <a:prstGeom prst="rect">
            <a:avLst/>
          </a:prstGeom>
          <a:noFill/>
          <a:ln/>
        </p:spPr>
        <p:txBody>
          <a:bodyPr wrap="square" rtlCol="0" anchor="ctr"/>
          <a:lstStyle/>
          <a:p>
            <a:pPr indent="0" marL="0">
              <a:buNone/>
            </a:pPr>
            <a:r>
              <a:rPr lang="en-US" sz="1050" b="1" dirty="0">
                <a:solidFill>
                  <a:srgbClr val="1F2328"/>
                </a:solidFill>
                <a:latin typeface="Arial" pitchFamily="34" charset="0"/>
                <a:ea typeface="Arial" pitchFamily="34" charset="-122"/>
                <a:cs typeface="Arial" pitchFamily="34" charset="-120"/>
              </a:rPr>
              <a:t>Integration Branch</a:t>
            </a:r>
            <a:endParaRPr lang="en-US" sz="1050" dirty="0"/>
          </a:p>
        </p:txBody>
      </p:sp>
      <p:sp>
        <p:nvSpPr>
          <p:cNvPr id="8" name="Text 6"/>
          <p:cNvSpPr/>
          <p:nvPr/>
        </p:nvSpPr>
        <p:spPr>
          <a:xfrm>
            <a:off x="365760" y="2880360"/>
            <a:ext cx="1417320" cy="365760"/>
          </a:xfrm>
          <a:prstGeom prst="rect">
            <a:avLst/>
          </a:prstGeom>
          <a:noFill/>
          <a:ln/>
        </p:spPr>
        <p:txBody>
          <a:bodyPr wrap="square" rtlCol="0" anchor="ctr"/>
          <a:lstStyle/>
          <a:p>
            <a:pPr indent="0" marL="0">
              <a:buNone/>
            </a:pPr>
            <a:r>
              <a:rPr lang="en-US" sz="1050" b="1" dirty="0">
                <a:solidFill>
                  <a:srgbClr val="1F2328"/>
                </a:solidFill>
                <a:latin typeface="Arial" pitchFamily="34" charset="0"/>
                <a:ea typeface="Arial" pitchFamily="34" charset="-122"/>
                <a:cs typeface="Arial" pitchFamily="34" charset="-120"/>
              </a:rPr>
              <a:t>Release Branch</a:t>
            </a:r>
            <a:endParaRPr lang="en-US" sz="1050" dirty="0"/>
          </a:p>
        </p:txBody>
      </p:sp>
      <p:sp>
        <p:nvSpPr>
          <p:cNvPr id="9" name="Shape 7"/>
          <p:cNvSpPr/>
          <p:nvPr/>
        </p:nvSpPr>
        <p:spPr>
          <a:xfrm>
            <a:off x="1828800" y="1600200"/>
            <a:ext cx="7863840" cy="0"/>
          </a:xfrm>
          <a:prstGeom prst="line">
            <a:avLst/>
          </a:prstGeom>
          <a:noFill/>
          <a:ln w="12700">
            <a:solidFill>
              <a:srgbClr val="EDEFEC"/>
            </a:solidFill>
            <a:prstDash val="solid"/>
          </a:ln>
        </p:spPr>
      </p:sp>
      <p:sp>
        <p:nvSpPr>
          <p:cNvPr id="10" name="Shape 8"/>
          <p:cNvSpPr/>
          <p:nvPr/>
        </p:nvSpPr>
        <p:spPr>
          <a:xfrm>
            <a:off x="1828800" y="2331720"/>
            <a:ext cx="7863840" cy="0"/>
          </a:xfrm>
          <a:prstGeom prst="line">
            <a:avLst/>
          </a:prstGeom>
          <a:noFill/>
          <a:ln w="12700">
            <a:solidFill>
              <a:srgbClr val="EDEFEC"/>
            </a:solidFill>
            <a:prstDash val="solid"/>
          </a:ln>
        </p:spPr>
      </p:sp>
      <p:sp>
        <p:nvSpPr>
          <p:cNvPr id="11" name="Shape 9"/>
          <p:cNvSpPr/>
          <p:nvPr/>
        </p:nvSpPr>
        <p:spPr>
          <a:xfrm>
            <a:off x="1828800" y="3063240"/>
            <a:ext cx="7863840" cy="0"/>
          </a:xfrm>
          <a:prstGeom prst="line">
            <a:avLst/>
          </a:prstGeom>
          <a:noFill/>
          <a:ln w="12700">
            <a:solidFill>
              <a:srgbClr val="EDEFEC"/>
            </a:solidFill>
            <a:prstDash val="solid"/>
          </a:ln>
        </p:spPr>
      </p:sp>
      <p:sp>
        <p:nvSpPr>
          <p:cNvPr id="12" name="Shape 10"/>
          <p:cNvSpPr/>
          <p:nvPr/>
        </p:nvSpPr>
        <p:spPr>
          <a:xfrm>
            <a:off x="1828800" y="1417320"/>
            <a:ext cx="566928" cy="365760"/>
          </a:xfrm>
          <a:prstGeom prst="roundRect">
            <a:avLst>
              <a:gd name="adj" fmla="val 15000"/>
            </a:avLst>
          </a:prstGeom>
          <a:solidFill>
            <a:srgbClr val="EAF0FA"/>
          </a:solidFill>
          <a:ln w="15875">
            <a:solidFill>
              <a:srgbClr val="2E5AAC"/>
            </a:solidFill>
            <a:prstDash val="solid"/>
          </a:ln>
        </p:spPr>
      </p:sp>
      <p:sp>
        <p:nvSpPr>
          <p:cNvPr id="13" name="Text 11"/>
          <p:cNvSpPr/>
          <p:nvPr/>
        </p:nvSpPr>
        <p:spPr>
          <a:xfrm>
            <a:off x="1828800" y="1417320"/>
            <a:ext cx="566928" cy="365760"/>
          </a:xfrm>
          <a:prstGeom prst="rect">
            <a:avLst/>
          </a:prstGeom>
          <a:noFill/>
          <a:ln/>
        </p:spPr>
        <p:txBody>
          <a:bodyPr wrap="square" rtlCol="0" anchor="ctr"/>
          <a:lstStyle/>
          <a:p>
            <a:pPr algn="ctr" indent="0" marL="0">
              <a:buNone/>
            </a:pPr>
            <a:r>
              <a:rPr lang="en-US" sz="950" b="1" dirty="0">
                <a:solidFill>
                  <a:srgbClr val="2E5AAC"/>
                </a:solidFill>
                <a:latin typeface="Consolas" pitchFamily="34" charset="0"/>
                <a:ea typeface="Consolas" pitchFamily="34" charset="-122"/>
                <a:cs typeface="Consolas" pitchFamily="34" charset="-120"/>
              </a:rPr>
              <a:t>a1</a:t>
            </a:r>
            <a:endParaRPr lang="en-US" sz="950" dirty="0"/>
          </a:p>
        </p:txBody>
      </p:sp>
      <p:sp>
        <p:nvSpPr>
          <p:cNvPr id="14" name="Shape 12"/>
          <p:cNvSpPr/>
          <p:nvPr/>
        </p:nvSpPr>
        <p:spPr>
          <a:xfrm>
            <a:off x="2395728" y="1600200"/>
            <a:ext cx="210312" cy="0"/>
          </a:xfrm>
          <a:prstGeom prst="line">
            <a:avLst/>
          </a:prstGeom>
          <a:noFill/>
          <a:ln w="19050">
            <a:solidFill>
              <a:srgbClr val="C9D2CC"/>
            </a:solidFill>
            <a:prstDash val="solid"/>
            <a:tailEnd type="triangle"/>
          </a:ln>
        </p:spPr>
      </p:sp>
      <p:sp>
        <p:nvSpPr>
          <p:cNvPr id="15" name="Shape 13"/>
          <p:cNvSpPr/>
          <p:nvPr/>
        </p:nvSpPr>
        <p:spPr>
          <a:xfrm>
            <a:off x="2606040" y="1417320"/>
            <a:ext cx="566928" cy="365760"/>
          </a:xfrm>
          <a:prstGeom prst="roundRect">
            <a:avLst>
              <a:gd name="adj" fmla="val 15000"/>
            </a:avLst>
          </a:prstGeom>
          <a:solidFill>
            <a:srgbClr val="EAF0FA"/>
          </a:solidFill>
          <a:ln w="15875">
            <a:solidFill>
              <a:srgbClr val="2E5AAC"/>
            </a:solidFill>
            <a:prstDash val="solid"/>
          </a:ln>
        </p:spPr>
      </p:sp>
      <p:sp>
        <p:nvSpPr>
          <p:cNvPr id="16" name="Text 14"/>
          <p:cNvSpPr/>
          <p:nvPr/>
        </p:nvSpPr>
        <p:spPr>
          <a:xfrm>
            <a:off x="2606040" y="1417320"/>
            <a:ext cx="566928" cy="365760"/>
          </a:xfrm>
          <a:prstGeom prst="rect">
            <a:avLst/>
          </a:prstGeom>
          <a:noFill/>
          <a:ln/>
        </p:spPr>
        <p:txBody>
          <a:bodyPr wrap="square" rtlCol="0" anchor="ctr"/>
          <a:lstStyle/>
          <a:p>
            <a:pPr algn="ctr" indent="0" marL="0">
              <a:buNone/>
            </a:pPr>
            <a:r>
              <a:rPr lang="en-US" sz="950" b="1" dirty="0">
                <a:solidFill>
                  <a:srgbClr val="2E5AAC"/>
                </a:solidFill>
                <a:latin typeface="Consolas" pitchFamily="34" charset="0"/>
                <a:ea typeface="Consolas" pitchFamily="34" charset="-122"/>
                <a:cs typeface="Consolas" pitchFamily="34" charset="-120"/>
              </a:rPr>
              <a:t>a2</a:t>
            </a:r>
            <a:endParaRPr lang="en-US" sz="950" dirty="0"/>
          </a:p>
        </p:txBody>
      </p:sp>
      <p:sp>
        <p:nvSpPr>
          <p:cNvPr id="17" name="Shape 15"/>
          <p:cNvSpPr/>
          <p:nvPr/>
        </p:nvSpPr>
        <p:spPr>
          <a:xfrm>
            <a:off x="3172968" y="1600200"/>
            <a:ext cx="210312" cy="0"/>
          </a:xfrm>
          <a:prstGeom prst="line">
            <a:avLst/>
          </a:prstGeom>
          <a:noFill/>
          <a:ln w="19050">
            <a:solidFill>
              <a:srgbClr val="C9D2CC"/>
            </a:solidFill>
            <a:prstDash val="solid"/>
            <a:tailEnd type="triangle"/>
          </a:ln>
        </p:spPr>
      </p:sp>
      <p:sp>
        <p:nvSpPr>
          <p:cNvPr id="18" name="Shape 16"/>
          <p:cNvSpPr/>
          <p:nvPr/>
        </p:nvSpPr>
        <p:spPr>
          <a:xfrm>
            <a:off x="3383280" y="1417320"/>
            <a:ext cx="566928" cy="365760"/>
          </a:xfrm>
          <a:prstGeom prst="roundRect">
            <a:avLst>
              <a:gd name="adj" fmla="val 15000"/>
            </a:avLst>
          </a:prstGeom>
          <a:solidFill>
            <a:srgbClr val="EAF0FA"/>
          </a:solidFill>
          <a:ln w="15875">
            <a:solidFill>
              <a:srgbClr val="2E5AAC"/>
            </a:solidFill>
            <a:prstDash val="solid"/>
          </a:ln>
        </p:spPr>
      </p:sp>
      <p:sp>
        <p:nvSpPr>
          <p:cNvPr id="19" name="Text 17"/>
          <p:cNvSpPr/>
          <p:nvPr/>
        </p:nvSpPr>
        <p:spPr>
          <a:xfrm>
            <a:off x="3383280" y="1417320"/>
            <a:ext cx="566928" cy="365760"/>
          </a:xfrm>
          <a:prstGeom prst="rect">
            <a:avLst/>
          </a:prstGeom>
          <a:noFill/>
          <a:ln/>
        </p:spPr>
        <p:txBody>
          <a:bodyPr wrap="square" rtlCol="0" anchor="ctr"/>
          <a:lstStyle/>
          <a:p>
            <a:pPr algn="ctr" indent="0" marL="0">
              <a:buNone/>
            </a:pPr>
            <a:r>
              <a:rPr lang="en-US" sz="950" b="1" dirty="0">
                <a:solidFill>
                  <a:srgbClr val="2E5AAC"/>
                </a:solidFill>
                <a:latin typeface="Consolas" pitchFamily="34" charset="0"/>
                <a:ea typeface="Consolas" pitchFamily="34" charset="-122"/>
                <a:cs typeface="Consolas" pitchFamily="34" charset="-120"/>
              </a:rPr>
              <a:t>a3</a:t>
            </a:r>
            <a:endParaRPr lang="en-US" sz="950" dirty="0"/>
          </a:p>
        </p:txBody>
      </p:sp>
      <p:sp>
        <p:nvSpPr>
          <p:cNvPr id="20" name="Shape 18"/>
          <p:cNvSpPr/>
          <p:nvPr/>
        </p:nvSpPr>
        <p:spPr>
          <a:xfrm>
            <a:off x="2743200" y="1783080"/>
            <a:ext cx="0" cy="365760"/>
          </a:xfrm>
          <a:prstGeom prst="line">
            <a:avLst/>
          </a:prstGeom>
          <a:noFill/>
          <a:ln w="19050">
            <a:solidFill>
              <a:srgbClr val="6B7280"/>
            </a:solidFill>
            <a:prstDash val="solid"/>
            <a:tailEnd type="triangle"/>
          </a:ln>
        </p:spPr>
      </p:sp>
      <p:sp>
        <p:nvSpPr>
          <p:cNvPr id="21" name="Shape 19"/>
          <p:cNvSpPr/>
          <p:nvPr/>
        </p:nvSpPr>
        <p:spPr>
          <a:xfrm>
            <a:off x="2468880" y="2148840"/>
            <a:ext cx="566928" cy="365760"/>
          </a:xfrm>
          <a:prstGeom prst="roundRect">
            <a:avLst>
              <a:gd name="adj" fmla="val 15000"/>
            </a:avLst>
          </a:prstGeom>
          <a:solidFill>
            <a:srgbClr val="EAF6F0"/>
          </a:solidFill>
          <a:ln w="15875">
            <a:solidFill>
              <a:srgbClr val="00703F"/>
            </a:solidFill>
            <a:prstDash val="solid"/>
          </a:ln>
        </p:spPr>
      </p:sp>
      <p:sp>
        <p:nvSpPr>
          <p:cNvPr id="22" name="Text 20"/>
          <p:cNvSpPr/>
          <p:nvPr/>
        </p:nvSpPr>
        <p:spPr>
          <a:xfrm>
            <a:off x="2468880" y="2148840"/>
            <a:ext cx="566928" cy="365760"/>
          </a:xfrm>
          <a:prstGeom prst="rect">
            <a:avLst/>
          </a:prstGeom>
          <a:noFill/>
          <a:ln/>
        </p:spPr>
        <p:txBody>
          <a:bodyPr wrap="square" rtlCol="0" anchor="ctr"/>
          <a:lstStyle/>
          <a:p>
            <a:pPr algn="ctr" indent="0" marL="0">
              <a:buNone/>
            </a:pPr>
            <a:r>
              <a:rPr lang="en-US" sz="950" b="1" dirty="0">
                <a:solidFill>
                  <a:srgbClr val="00703F"/>
                </a:solidFill>
                <a:latin typeface="Consolas" pitchFamily="34" charset="0"/>
                <a:ea typeface="Consolas" pitchFamily="34" charset="-122"/>
                <a:cs typeface="Consolas" pitchFamily="34" charset="-120"/>
              </a:rPr>
              <a:t>M1</a:t>
            </a:r>
            <a:endParaRPr lang="en-US" sz="950" dirty="0"/>
          </a:p>
        </p:txBody>
      </p:sp>
      <p:sp>
        <p:nvSpPr>
          <p:cNvPr id="23" name="Text 21"/>
          <p:cNvSpPr/>
          <p:nvPr/>
        </p:nvSpPr>
        <p:spPr>
          <a:xfrm>
            <a:off x="3154680" y="2148840"/>
            <a:ext cx="2194560" cy="365760"/>
          </a:xfrm>
          <a:prstGeom prst="rect">
            <a:avLst/>
          </a:prstGeom>
          <a:noFill/>
          <a:ln/>
        </p:spPr>
        <p:txBody>
          <a:bodyPr wrap="square" rtlCol="0" anchor="ctr"/>
          <a:lstStyle/>
          <a:p>
            <a:pPr indent="0" marL="0">
              <a:buNone/>
            </a:pPr>
            <a:r>
              <a:rPr lang="en-US" sz="900" i="1" dirty="0">
                <a:solidFill>
                  <a:srgbClr val="6B7280"/>
                </a:solidFill>
                <a:latin typeface="Arial" pitchFamily="34" charset="0"/>
                <a:ea typeface="Arial" pitchFamily="34" charset="-122"/>
                <a:cs typeface="Arial" pitchFamily="34" charset="-120"/>
              </a:rPr>
              <a:t>merges a1, a2, a3</a:t>
            </a:r>
            <a:endParaRPr lang="en-US" sz="900" dirty="0"/>
          </a:p>
        </p:txBody>
      </p:sp>
      <p:sp>
        <p:nvSpPr>
          <p:cNvPr id="24" name="Shape 22"/>
          <p:cNvSpPr/>
          <p:nvPr/>
        </p:nvSpPr>
        <p:spPr>
          <a:xfrm>
            <a:off x="2148840" y="2587752"/>
            <a:ext cx="3520440" cy="0"/>
          </a:xfrm>
          <a:prstGeom prst="line">
            <a:avLst/>
          </a:prstGeom>
          <a:noFill/>
          <a:ln w="12700">
            <a:solidFill>
              <a:srgbClr val="C9D2CC"/>
            </a:solidFill>
            <a:prstDash val="dash"/>
          </a:ln>
        </p:spPr>
      </p:sp>
      <p:sp>
        <p:nvSpPr>
          <p:cNvPr id="25" name="Text 23"/>
          <p:cNvSpPr/>
          <p:nvPr/>
        </p:nvSpPr>
        <p:spPr>
          <a:xfrm>
            <a:off x="2468880" y="2606040"/>
            <a:ext cx="2926080" cy="182880"/>
          </a:xfrm>
          <a:prstGeom prst="rect">
            <a:avLst/>
          </a:prstGeom>
          <a:noFill/>
          <a:ln/>
        </p:spPr>
        <p:txBody>
          <a:bodyPr wrap="square" rtlCol="0" anchor="ctr"/>
          <a:lstStyle/>
          <a:p>
            <a:pPr indent="0" marL="0">
              <a:buNone/>
            </a:pPr>
            <a:r>
              <a:rPr lang="en-US" sz="800" i="1" dirty="0">
                <a:solidFill>
                  <a:srgbClr val="6B7280"/>
                </a:solidFill>
                <a:latin typeface="Arial" pitchFamily="34" charset="0"/>
                <a:ea typeface="Arial" pitchFamily="34" charset="-122"/>
                <a:cs typeface="Arial" pitchFamily="34" charset="-120"/>
              </a:rPr>
              <a:t>sits in integration for weeks</a:t>
            </a:r>
            <a:endParaRPr lang="en-US" sz="800" dirty="0"/>
          </a:p>
        </p:txBody>
      </p:sp>
      <p:sp>
        <p:nvSpPr>
          <p:cNvPr id="26" name="Shape 24"/>
          <p:cNvSpPr/>
          <p:nvPr/>
        </p:nvSpPr>
        <p:spPr>
          <a:xfrm>
            <a:off x="2743200" y="2514600"/>
            <a:ext cx="0" cy="365760"/>
          </a:xfrm>
          <a:prstGeom prst="line">
            <a:avLst/>
          </a:prstGeom>
          <a:noFill/>
          <a:ln w="19050">
            <a:solidFill>
              <a:srgbClr val="6B7280"/>
            </a:solidFill>
            <a:prstDash val="solid"/>
            <a:tailEnd type="triangle"/>
          </a:ln>
        </p:spPr>
      </p:sp>
      <p:sp>
        <p:nvSpPr>
          <p:cNvPr id="27" name="Shape 25"/>
          <p:cNvSpPr/>
          <p:nvPr/>
        </p:nvSpPr>
        <p:spPr>
          <a:xfrm>
            <a:off x="2468880" y="2880360"/>
            <a:ext cx="566928" cy="365760"/>
          </a:xfrm>
          <a:prstGeom prst="roundRect">
            <a:avLst>
              <a:gd name="adj" fmla="val 15000"/>
            </a:avLst>
          </a:prstGeom>
          <a:solidFill>
            <a:srgbClr val="EAF6F0"/>
          </a:solidFill>
          <a:ln w="15875">
            <a:solidFill>
              <a:srgbClr val="00703F"/>
            </a:solidFill>
            <a:prstDash val="solid"/>
          </a:ln>
        </p:spPr>
      </p:sp>
      <p:sp>
        <p:nvSpPr>
          <p:cNvPr id="28" name="Text 26"/>
          <p:cNvSpPr/>
          <p:nvPr/>
        </p:nvSpPr>
        <p:spPr>
          <a:xfrm>
            <a:off x="2468880" y="2880360"/>
            <a:ext cx="566928" cy="365760"/>
          </a:xfrm>
          <a:prstGeom prst="rect">
            <a:avLst/>
          </a:prstGeom>
          <a:noFill/>
          <a:ln/>
        </p:spPr>
        <p:txBody>
          <a:bodyPr wrap="square" rtlCol="0" anchor="ctr"/>
          <a:lstStyle/>
          <a:p>
            <a:pPr algn="ctr" indent="0" marL="0">
              <a:buNone/>
            </a:pPr>
            <a:r>
              <a:rPr lang="en-US" sz="950" b="1" dirty="0">
                <a:solidFill>
                  <a:srgbClr val="00703F"/>
                </a:solidFill>
                <a:latin typeface="Consolas" pitchFamily="34" charset="0"/>
                <a:ea typeface="Consolas" pitchFamily="34" charset="-122"/>
                <a:cs typeface="Consolas" pitchFamily="34" charset="-120"/>
              </a:rPr>
              <a:t>M2</a:t>
            </a:r>
            <a:endParaRPr lang="en-US" sz="950" dirty="0"/>
          </a:p>
        </p:txBody>
      </p:sp>
      <p:sp>
        <p:nvSpPr>
          <p:cNvPr id="29" name="Shape 27"/>
          <p:cNvSpPr/>
          <p:nvPr/>
        </p:nvSpPr>
        <p:spPr>
          <a:xfrm>
            <a:off x="5120640" y="2834640"/>
            <a:ext cx="457200" cy="457200"/>
          </a:xfrm>
          <a:prstGeom prst="ellipse">
            <a:avLst/>
          </a:prstGeom>
          <a:solidFill>
            <a:srgbClr val="1F2328"/>
          </a:solidFill>
          <a:ln/>
        </p:spPr>
      </p:sp>
      <p:sp>
        <p:nvSpPr>
          <p:cNvPr id="30" name="Text 28"/>
          <p:cNvSpPr/>
          <p:nvPr/>
        </p:nvSpPr>
        <p:spPr>
          <a:xfrm>
            <a:off x="5120640" y="2834640"/>
            <a:ext cx="457200"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D</a:t>
            </a:r>
            <a:endParaRPr lang="en-US" sz="1200" dirty="0"/>
          </a:p>
        </p:txBody>
      </p:sp>
      <p:sp>
        <p:nvSpPr>
          <p:cNvPr id="31" name="Text 29"/>
          <p:cNvSpPr/>
          <p:nvPr/>
        </p:nvSpPr>
        <p:spPr>
          <a:xfrm>
            <a:off x="4617720" y="3319272"/>
            <a:ext cx="1463040" cy="228600"/>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Deployment N</a:t>
            </a:r>
            <a:endParaRPr lang="en-US" sz="800" dirty="0"/>
          </a:p>
        </p:txBody>
      </p:sp>
      <p:sp>
        <p:nvSpPr>
          <p:cNvPr id="32" name="Shape 30"/>
          <p:cNvSpPr/>
          <p:nvPr/>
        </p:nvSpPr>
        <p:spPr>
          <a:xfrm>
            <a:off x="3035808" y="3063240"/>
            <a:ext cx="2084832" cy="0"/>
          </a:xfrm>
          <a:prstGeom prst="line">
            <a:avLst/>
          </a:prstGeom>
          <a:noFill/>
          <a:ln w="19050">
            <a:solidFill>
              <a:srgbClr val="6B7280"/>
            </a:solidFill>
            <a:prstDash val="solid"/>
            <a:tailEnd type="triangle"/>
          </a:ln>
        </p:spPr>
      </p:sp>
      <p:sp>
        <p:nvSpPr>
          <p:cNvPr id="33" name="Shape 31"/>
          <p:cNvSpPr/>
          <p:nvPr/>
        </p:nvSpPr>
        <p:spPr>
          <a:xfrm>
            <a:off x="6080760" y="1325880"/>
            <a:ext cx="5715000" cy="2331720"/>
          </a:xfrm>
          <a:prstGeom prst="roundRect">
            <a:avLst>
              <a:gd name="adj" fmla="val 3137"/>
            </a:avLst>
          </a:prstGeom>
          <a:solidFill>
            <a:srgbClr val="EAF6F0"/>
          </a:solidFill>
          <a:ln w="15875">
            <a:solidFill>
              <a:srgbClr val="00703F"/>
            </a:solidFill>
            <a:prstDash val="solid"/>
          </a:ln>
        </p:spPr>
      </p:sp>
      <p:sp>
        <p:nvSpPr>
          <p:cNvPr id="34" name="Text 32"/>
          <p:cNvSpPr/>
          <p:nvPr/>
        </p:nvSpPr>
        <p:spPr>
          <a:xfrm>
            <a:off x="6217920" y="1417320"/>
            <a:ext cx="548640" cy="548640"/>
          </a:xfrm>
          <a:prstGeom prst="rect">
            <a:avLst/>
          </a:prstGeom>
          <a:noFill/>
          <a:ln/>
        </p:spPr>
        <p:txBody>
          <a:bodyPr wrap="square" rtlCol="0" anchor="ctr"/>
          <a:lstStyle/>
          <a:p>
            <a:pPr indent="0" marL="0">
              <a:buNone/>
            </a:pPr>
            <a:r>
              <a:rPr lang="en-US" sz="2400" b="1" dirty="0">
                <a:solidFill>
                  <a:srgbClr val="00703F"/>
                </a:solidFill>
                <a:latin typeface="Arial" pitchFamily="34" charset="0"/>
                <a:ea typeface="Arial" pitchFamily="34" charset="-122"/>
                <a:cs typeface="Arial" pitchFamily="34" charset="-120"/>
              </a:rPr>
              <a:t>✓</a:t>
            </a:r>
            <a:endParaRPr lang="en-US" sz="2400" dirty="0"/>
          </a:p>
        </p:txBody>
      </p:sp>
      <p:sp>
        <p:nvSpPr>
          <p:cNvPr id="35" name="Text 33"/>
          <p:cNvSpPr/>
          <p:nvPr/>
        </p:nvSpPr>
        <p:spPr>
          <a:xfrm>
            <a:off x="6217920" y="1920240"/>
            <a:ext cx="5440680" cy="1737360"/>
          </a:xfrm>
          <a:prstGeom prst="rect">
            <a:avLst/>
          </a:prstGeom>
          <a:noFill/>
          <a:ln/>
        </p:spPr>
        <p:txBody>
          <a:bodyPr wrap="square" rtlCol="0" anchor="t"/>
          <a:lstStyle/>
          <a:p>
            <a:pPr indent="0" marL="0">
              <a:lnSpc>
                <a:spcPct val="122000"/>
              </a:lnSpc>
              <a:buNone/>
            </a:pPr>
            <a:r>
              <a:rPr lang="en-US" sz="1000" dirty="0">
                <a:solidFill>
                  <a:srgbClr val="3C4248"/>
                </a:solidFill>
                <a:latin typeface="Arial" pitchFamily="34" charset="0"/>
                <a:ea typeface="Arial" pitchFamily="34" charset="-122"/>
                <a:cs typeface="Arial" pitchFamily="34" charset="-120"/>
              </a:rPr>
              <a:t>DevLake diffs Deployment N-1 → N on the release branch and finds a1, a2, a3 still present (same SHAs). It traces them back to the original PR and correctly reports a long PR Cycle Time / Lead Time — reflecting the real wait in integration. This is the intended, working behavior.</a:t>
            </a:r>
            <a:endParaRPr lang="en-US" sz="1000" dirty="0"/>
          </a:p>
        </p:txBody>
      </p:sp>
      <p:sp>
        <p:nvSpPr>
          <p:cNvPr id="36" name="Shape 34"/>
          <p:cNvSpPr/>
          <p:nvPr/>
        </p:nvSpPr>
        <p:spPr>
          <a:xfrm>
            <a:off x="365760" y="3977640"/>
            <a:ext cx="11430000" cy="329184"/>
          </a:xfrm>
          <a:prstGeom prst="roundRect">
            <a:avLst>
              <a:gd name="adj" fmla="val 13889"/>
            </a:avLst>
          </a:prstGeom>
          <a:solidFill>
            <a:srgbClr val="FCEBEA"/>
          </a:solidFill>
          <a:ln/>
        </p:spPr>
      </p:sp>
      <p:sp>
        <p:nvSpPr>
          <p:cNvPr id="37" name="Text 35"/>
          <p:cNvSpPr/>
          <p:nvPr/>
        </p:nvSpPr>
        <p:spPr>
          <a:xfrm>
            <a:off x="502920" y="3977640"/>
            <a:ext cx="11155680" cy="329184"/>
          </a:xfrm>
          <a:prstGeom prst="rect">
            <a:avLst/>
          </a:prstGeom>
          <a:noFill/>
          <a:ln/>
        </p:spPr>
        <p:txBody>
          <a:bodyPr wrap="square" rtlCol="0" anchor="ctr"/>
          <a:lstStyle/>
          <a:p>
            <a:pPr indent="0" marL="0">
              <a:buNone/>
            </a:pPr>
            <a:r>
              <a:rPr lang="en-US" sz="1250" b="1" dirty="0">
                <a:solidFill>
                  <a:srgbClr val="B3261E"/>
                </a:solidFill>
                <a:latin typeface="Arial" pitchFamily="34" charset="0"/>
                <a:ea typeface="Arial" pitchFamily="34" charset="-122"/>
                <a:cs typeface="Arial" pitchFamily="34" charset="-120"/>
              </a:rPr>
              <a:t>CASE 2 — Final merge squashes or rebases (new commit SHA created)</a:t>
            </a:r>
            <a:endParaRPr lang="en-US" sz="1250" dirty="0"/>
          </a:p>
        </p:txBody>
      </p:sp>
      <p:sp>
        <p:nvSpPr>
          <p:cNvPr id="38" name="Text 36"/>
          <p:cNvSpPr/>
          <p:nvPr/>
        </p:nvSpPr>
        <p:spPr>
          <a:xfrm>
            <a:off x="365760" y="4480560"/>
            <a:ext cx="1417320" cy="365760"/>
          </a:xfrm>
          <a:prstGeom prst="rect">
            <a:avLst/>
          </a:prstGeom>
          <a:noFill/>
          <a:ln/>
        </p:spPr>
        <p:txBody>
          <a:bodyPr wrap="square" rtlCol="0" anchor="ctr"/>
          <a:lstStyle/>
          <a:p>
            <a:pPr indent="0" marL="0">
              <a:buNone/>
            </a:pPr>
            <a:r>
              <a:rPr lang="en-US" sz="1050" b="1" dirty="0">
                <a:solidFill>
                  <a:srgbClr val="1F2328"/>
                </a:solidFill>
                <a:latin typeface="Arial" pitchFamily="34" charset="0"/>
                <a:ea typeface="Arial" pitchFamily="34" charset="-122"/>
                <a:cs typeface="Arial" pitchFamily="34" charset="-120"/>
              </a:rPr>
              <a:t>Feature Branch</a:t>
            </a:r>
            <a:endParaRPr lang="en-US" sz="1050" dirty="0"/>
          </a:p>
        </p:txBody>
      </p:sp>
      <p:sp>
        <p:nvSpPr>
          <p:cNvPr id="39" name="Text 37"/>
          <p:cNvSpPr/>
          <p:nvPr/>
        </p:nvSpPr>
        <p:spPr>
          <a:xfrm>
            <a:off x="365760" y="5212080"/>
            <a:ext cx="1417320" cy="365760"/>
          </a:xfrm>
          <a:prstGeom prst="rect">
            <a:avLst/>
          </a:prstGeom>
          <a:noFill/>
          <a:ln/>
        </p:spPr>
        <p:txBody>
          <a:bodyPr wrap="square" rtlCol="0" anchor="ctr"/>
          <a:lstStyle/>
          <a:p>
            <a:pPr indent="0" marL="0">
              <a:buNone/>
            </a:pPr>
            <a:r>
              <a:rPr lang="en-US" sz="1050" b="1" dirty="0">
                <a:solidFill>
                  <a:srgbClr val="1F2328"/>
                </a:solidFill>
                <a:latin typeface="Arial" pitchFamily="34" charset="0"/>
                <a:ea typeface="Arial" pitchFamily="34" charset="-122"/>
                <a:cs typeface="Arial" pitchFamily="34" charset="-120"/>
              </a:rPr>
              <a:t>Integration Branch</a:t>
            </a:r>
            <a:endParaRPr lang="en-US" sz="1050" dirty="0"/>
          </a:p>
        </p:txBody>
      </p:sp>
      <p:sp>
        <p:nvSpPr>
          <p:cNvPr id="40" name="Text 38"/>
          <p:cNvSpPr/>
          <p:nvPr/>
        </p:nvSpPr>
        <p:spPr>
          <a:xfrm>
            <a:off x="365760" y="5943600"/>
            <a:ext cx="1417320" cy="365760"/>
          </a:xfrm>
          <a:prstGeom prst="rect">
            <a:avLst/>
          </a:prstGeom>
          <a:noFill/>
          <a:ln/>
        </p:spPr>
        <p:txBody>
          <a:bodyPr wrap="square" rtlCol="0" anchor="ctr"/>
          <a:lstStyle/>
          <a:p>
            <a:pPr indent="0" marL="0">
              <a:buNone/>
            </a:pPr>
            <a:r>
              <a:rPr lang="en-US" sz="1050" b="1" dirty="0">
                <a:solidFill>
                  <a:srgbClr val="1F2328"/>
                </a:solidFill>
                <a:latin typeface="Arial" pitchFamily="34" charset="0"/>
                <a:ea typeface="Arial" pitchFamily="34" charset="-122"/>
                <a:cs typeface="Arial" pitchFamily="34" charset="-120"/>
              </a:rPr>
              <a:t>Release Branch</a:t>
            </a:r>
            <a:endParaRPr lang="en-US" sz="1050" dirty="0"/>
          </a:p>
        </p:txBody>
      </p:sp>
      <p:sp>
        <p:nvSpPr>
          <p:cNvPr id="41" name="Shape 39"/>
          <p:cNvSpPr/>
          <p:nvPr/>
        </p:nvSpPr>
        <p:spPr>
          <a:xfrm>
            <a:off x="1828800" y="4663440"/>
            <a:ext cx="7863840" cy="0"/>
          </a:xfrm>
          <a:prstGeom prst="line">
            <a:avLst/>
          </a:prstGeom>
          <a:noFill/>
          <a:ln w="12700">
            <a:solidFill>
              <a:srgbClr val="EDEFEC"/>
            </a:solidFill>
            <a:prstDash val="solid"/>
          </a:ln>
        </p:spPr>
      </p:sp>
      <p:sp>
        <p:nvSpPr>
          <p:cNvPr id="42" name="Shape 40"/>
          <p:cNvSpPr/>
          <p:nvPr/>
        </p:nvSpPr>
        <p:spPr>
          <a:xfrm>
            <a:off x="1828800" y="5394960"/>
            <a:ext cx="7863840" cy="0"/>
          </a:xfrm>
          <a:prstGeom prst="line">
            <a:avLst/>
          </a:prstGeom>
          <a:noFill/>
          <a:ln w="12700">
            <a:solidFill>
              <a:srgbClr val="EDEFEC"/>
            </a:solidFill>
            <a:prstDash val="solid"/>
          </a:ln>
        </p:spPr>
      </p:sp>
      <p:sp>
        <p:nvSpPr>
          <p:cNvPr id="43" name="Shape 41"/>
          <p:cNvSpPr/>
          <p:nvPr/>
        </p:nvSpPr>
        <p:spPr>
          <a:xfrm>
            <a:off x="1828800" y="6126480"/>
            <a:ext cx="7863840" cy="0"/>
          </a:xfrm>
          <a:prstGeom prst="line">
            <a:avLst/>
          </a:prstGeom>
          <a:noFill/>
          <a:ln w="12700">
            <a:solidFill>
              <a:srgbClr val="EDEFEC"/>
            </a:solidFill>
            <a:prstDash val="solid"/>
          </a:ln>
        </p:spPr>
      </p:sp>
      <p:sp>
        <p:nvSpPr>
          <p:cNvPr id="44" name="Shape 42"/>
          <p:cNvSpPr/>
          <p:nvPr/>
        </p:nvSpPr>
        <p:spPr>
          <a:xfrm>
            <a:off x="1828800" y="4480560"/>
            <a:ext cx="566928" cy="365760"/>
          </a:xfrm>
          <a:prstGeom prst="roundRect">
            <a:avLst>
              <a:gd name="adj" fmla="val 15000"/>
            </a:avLst>
          </a:prstGeom>
          <a:solidFill>
            <a:srgbClr val="EAF0FA"/>
          </a:solidFill>
          <a:ln w="15875">
            <a:solidFill>
              <a:srgbClr val="2E5AAC"/>
            </a:solidFill>
            <a:prstDash val="solid"/>
          </a:ln>
        </p:spPr>
      </p:sp>
      <p:sp>
        <p:nvSpPr>
          <p:cNvPr id="45" name="Text 43"/>
          <p:cNvSpPr/>
          <p:nvPr/>
        </p:nvSpPr>
        <p:spPr>
          <a:xfrm>
            <a:off x="1828800" y="4480560"/>
            <a:ext cx="566928" cy="365760"/>
          </a:xfrm>
          <a:prstGeom prst="rect">
            <a:avLst/>
          </a:prstGeom>
          <a:noFill/>
          <a:ln/>
        </p:spPr>
        <p:txBody>
          <a:bodyPr wrap="square" rtlCol="0" anchor="ctr"/>
          <a:lstStyle/>
          <a:p>
            <a:pPr algn="ctr" indent="0" marL="0">
              <a:buNone/>
            </a:pPr>
            <a:r>
              <a:rPr lang="en-US" sz="950" b="1" dirty="0">
                <a:solidFill>
                  <a:srgbClr val="2E5AAC"/>
                </a:solidFill>
                <a:latin typeface="Consolas" pitchFamily="34" charset="0"/>
                <a:ea typeface="Consolas" pitchFamily="34" charset="-122"/>
                <a:cs typeface="Consolas" pitchFamily="34" charset="-120"/>
              </a:rPr>
              <a:t>a1</a:t>
            </a:r>
            <a:endParaRPr lang="en-US" sz="950" dirty="0"/>
          </a:p>
        </p:txBody>
      </p:sp>
      <p:sp>
        <p:nvSpPr>
          <p:cNvPr id="46" name="Shape 44"/>
          <p:cNvSpPr/>
          <p:nvPr/>
        </p:nvSpPr>
        <p:spPr>
          <a:xfrm>
            <a:off x="2395728" y="4663440"/>
            <a:ext cx="210312" cy="0"/>
          </a:xfrm>
          <a:prstGeom prst="line">
            <a:avLst/>
          </a:prstGeom>
          <a:noFill/>
          <a:ln w="19050">
            <a:solidFill>
              <a:srgbClr val="C9D2CC"/>
            </a:solidFill>
            <a:prstDash val="solid"/>
            <a:tailEnd type="triangle"/>
          </a:ln>
        </p:spPr>
      </p:sp>
      <p:sp>
        <p:nvSpPr>
          <p:cNvPr id="47" name="Shape 45"/>
          <p:cNvSpPr/>
          <p:nvPr/>
        </p:nvSpPr>
        <p:spPr>
          <a:xfrm>
            <a:off x="2606040" y="4480560"/>
            <a:ext cx="566928" cy="365760"/>
          </a:xfrm>
          <a:prstGeom prst="roundRect">
            <a:avLst>
              <a:gd name="adj" fmla="val 15000"/>
            </a:avLst>
          </a:prstGeom>
          <a:solidFill>
            <a:srgbClr val="EAF0FA"/>
          </a:solidFill>
          <a:ln w="15875">
            <a:solidFill>
              <a:srgbClr val="2E5AAC"/>
            </a:solidFill>
            <a:prstDash val="solid"/>
          </a:ln>
        </p:spPr>
      </p:sp>
      <p:sp>
        <p:nvSpPr>
          <p:cNvPr id="48" name="Text 46"/>
          <p:cNvSpPr/>
          <p:nvPr/>
        </p:nvSpPr>
        <p:spPr>
          <a:xfrm>
            <a:off x="2606040" y="4480560"/>
            <a:ext cx="566928" cy="365760"/>
          </a:xfrm>
          <a:prstGeom prst="rect">
            <a:avLst/>
          </a:prstGeom>
          <a:noFill/>
          <a:ln/>
        </p:spPr>
        <p:txBody>
          <a:bodyPr wrap="square" rtlCol="0" anchor="ctr"/>
          <a:lstStyle/>
          <a:p>
            <a:pPr algn="ctr" indent="0" marL="0">
              <a:buNone/>
            </a:pPr>
            <a:r>
              <a:rPr lang="en-US" sz="950" b="1" dirty="0">
                <a:solidFill>
                  <a:srgbClr val="2E5AAC"/>
                </a:solidFill>
                <a:latin typeface="Consolas" pitchFamily="34" charset="0"/>
                <a:ea typeface="Consolas" pitchFamily="34" charset="-122"/>
                <a:cs typeface="Consolas" pitchFamily="34" charset="-120"/>
              </a:rPr>
              <a:t>a2</a:t>
            </a:r>
            <a:endParaRPr lang="en-US" sz="950" dirty="0"/>
          </a:p>
        </p:txBody>
      </p:sp>
      <p:sp>
        <p:nvSpPr>
          <p:cNvPr id="49" name="Shape 47"/>
          <p:cNvSpPr/>
          <p:nvPr/>
        </p:nvSpPr>
        <p:spPr>
          <a:xfrm>
            <a:off x="3172968" y="4663440"/>
            <a:ext cx="210312" cy="0"/>
          </a:xfrm>
          <a:prstGeom prst="line">
            <a:avLst/>
          </a:prstGeom>
          <a:noFill/>
          <a:ln w="19050">
            <a:solidFill>
              <a:srgbClr val="C9D2CC"/>
            </a:solidFill>
            <a:prstDash val="solid"/>
            <a:tailEnd type="triangle"/>
          </a:ln>
        </p:spPr>
      </p:sp>
      <p:sp>
        <p:nvSpPr>
          <p:cNvPr id="50" name="Shape 48"/>
          <p:cNvSpPr/>
          <p:nvPr/>
        </p:nvSpPr>
        <p:spPr>
          <a:xfrm>
            <a:off x="3383280" y="4480560"/>
            <a:ext cx="566928" cy="365760"/>
          </a:xfrm>
          <a:prstGeom prst="roundRect">
            <a:avLst>
              <a:gd name="adj" fmla="val 15000"/>
            </a:avLst>
          </a:prstGeom>
          <a:solidFill>
            <a:srgbClr val="EAF0FA"/>
          </a:solidFill>
          <a:ln w="15875">
            <a:solidFill>
              <a:srgbClr val="2E5AAC"/>
            </a:solidFill>
            <a:prstDash val="solid"/>
          </a:ln>
        </p:spPr>
      </p:sp>
      <p:sp>
        <p:nvSpPr>
          <p:cNvPr id="51" name="Text 49"/>
          <p:cNvSpPr/>
          <p:nvPr/>
        </p:nvSpPr>
        <p:spPr>
          <a:xfrm>
            <a:off x="3383280" y="4480560"/>
            <a:ext cx="566928" cy="365760"/>
          </a:xfrm>
          <a:prstGeom prst="rect">
            <a:avLst/>
          </a:prstGeom>
          <a:noFill/>
          <a:ln/>
        </p:spPr>
        <p:txBody>
          <a:bodyPr wrap="square" rtlCol="0" anchor="ctr"/>
          <a:lstStyle/>
          <a:p>
            <a:pPr algn="ctr" indent="0" marL="0">
              <a:buNone/>
            </a:pPr>
            <a:r>
              <a:rPr lang="en-US" sz="950" b="1" dirty="0">
                <a:solidFill>
                  <a:srgbClr val="2E5AAC"/>
                </a:solidFill>
                <a:latin typeface="Consolas" pitchFamily="34" charset="0"/>
                <a:ea typeface="Consolas" pitchFamily="34" charset="-122"/>
                <a:cs typeface="Consolas" pitchFamily="34" charset="-120"/>
              </a:rPr>
              <a:t>a3</a:t>
            </a:r>
            <a:endParaRPr lang="en-US" sz="950" dirty="0"/>
          </a:p>
        </p:txBody>
      </p:sp>
      <p:sp>
        <p:nvSpPr>
          <p:cNvPr id="52" name="Shape 50"/>
          <p:cNvSpPr/>
          <p:nvPr/>
        </p:nvSpPr>
        <p:spPr>
          <a:xfrm>
            <a:off x="2743200" y="4846320"/>
            <a:ext cx="0" cy="365760"/>
          </a:xfrm>
          <a:prstGeom prst="line">
            <a:avLst/>
          </a:prstGeom>
          <a:noFill/>
          <a:ln w="19050">
            <a:solidFill>
              <a:srgbClr val="6B7280"/>
            </a:solidFill>
            <a:prstDash val="solid"/>
            <a:tailEnd type="triangle"/>
          </a:ln>
        </p:spPr>
      </p:sp>
      <p:sp>
        <p:nvSpPr>
          <p:cNvPr id="53" name="Shape 51"/>
          <p:cNvSpPr/>
          <p:nvPr/>
        </p:nvSpPr>
        <p:spPr>
          <a:xfrm>
            <a:off x="2468880" y="5212080"/>
            <a:ext cx="566928" cy="365760"/>
          </a:xfrm>
          <a:prstGeom prst="roundRect">
            <a:avLst>
              <a:gd name="adj" fmla="val 15000"/>
            </a:avLst>
          </a:prstGeom>
          <a:solidFill>
            <a:srgbClr val="EAF6F0"/>
          </a:solidFill>
          <a:ln w="15875">
            <a:solidFill>
              <a:srgbClr val="00703F"/>
            </a:solidFill>
            <a:prstDash val="solid"/>
          </a:ln>
        </p:spPr>
      </p:sp>
      <p:sp>
        <p:nvSpPr>
          <p:cNvPr id="54" name="Text 52"/>
          <p:cNvSpPr/>
          <p:nvPr/>
        </p:nvSpPr>
        <p:spPr>
          <a:xfrm>
            <a:off x="2468880" y="5212080"/>
            <a:ext cx="566928" cy="365760"/>
          </a:xfrm>
          <a:prstGeom prst="rect">
            <a:avLst/>
          </a:prstGeom>
          <a:noFill/>
          <a:ln/>
        </p:spPr>
        <p:txBody>
          <a:bodyPr wrap="square" rtlCol="0" anchor="ctr"/>
          <a:lstStyle/>
          <a:p>
            <a:pPr algn="ctr" indent="0" marL="0">
              <a:buNone/>
            </a:pPr>
            <a:r>
              <a:rPr lang="en-US" sz="950" b="1" dirty="0">
                <a:solidFill>
                  <a:srgbClr val="00703F"/>
                </a:solidFill>
                <a:latin typeface="Consolas" pitchFamily="34" charset="0"/>
                <a:ea typeface="Consolas" pitchFamily="34" charset="-122"/>
                <a:cs typeface="Consolas" pitchFamily="34" charset="-120"/>
              </a:rPr>
              <a:t>M1</a:t>
            </a:r>
            <a:endParaRPr lang="en-US" sz="950" dirty="0"/>
          </a:p>
        </p:txBody>
      </p:sp>
      <p:sp>
        <p:nvSpPr>
          <p:cNvPr id="55" name="Text 53"/>
          <p:cNvSpPr/>
          <p:nvPr/>
        </p:nvSpPr>
        <p:spPr>
          <a:xfrm>
            <a:off x="3154680" y="5212080"/>
            <a:ext cx="2194560" cy="365760"/>
          </a:xfrm>
          <a:prstGeom prst="rect">
            <a:avLst/>
          </a:prstGeom>
          <a:noFill/>
          <a:ln/>
        </p:spPr>
        <p:txBody>
          <a:bodyPr wrap="square" rtlCol="0" anchor="ctr"/>
          <a:lstStyle/>
          <a:p>
            <a:pPr indent="0" marL="0">
              <a:buNone/>
            </a:pPr>
            <a:r>
              <a:rPr lang="en-US" sz="900" i="1" dirty="0">
                <a:solidFill>
                  <a:srgbClr val="6B7280"/>
                </a:solidFill>
                <a:latin typeface="Arial" pitchFamily="34" charset="0"/>
                <a:ea typeface="Arial" pitchFamily="34" charset="-122"/>
                <a:cs typeface="Arial" pitchFamily="34" charset="-120"/>
              </a:rPr>
              <a:t>merges a1, a2, a3</a:t>
            </a:r>
            <a:endParaRPr lang="en-US" sz="900" dirty="0"/>
          </a:p>
        </p:txBody>
      </p:sp>
      <p:sp>
        <p:nvSpPr>
          <p:cNvPr id="56" name="Shape 54"/>
          <p:cNvSpPr/>
          <p:nvPr/>
        </p:nvSpPr>
        <p:spPr>
          <a:xfrm>
            <a:off x="2148840" y="5650992"/>
            <a:ext cx="3520440" cy="0"/>
          </a:xfrm>
          <a:prstGeom prst="line">
            <a:avLst/>
          </a:prstGeom>
          <a:noFill/>
          <a:ln w="12700">
            <a:solidFill>
              <a:srgbClr val="C9D2CC"/>
            </a:solidFill>
            <a:prstDash val="dash"/>
          </a:ln>
        </p:spPr>
      </p:sp>
      <p:sp>
        <p:nvSpPr>
          <p:cNvPr id="57" name="Text 55"/>
          <p:cNvSpPr/>
          <p:nvPr/>
        </p:nvSpPr>
        <p:spPr>
          <a:xfrm>
            <a:off x="2468880" y="5669280"/>
            <a:ext cx="2926080" cy="182880"/>
          </a:xfrm>
          <a:prstGeom prst="rect">
            <a:avLst/>
          </a:prstGeom>
          <a:noFill/>
          <a:ln/>
        </p:spPr>
        <p:txBody>
          <a:bodyPr wrap="square" rtlCol="0" anchor="ctr"/>
          <a:lstStyle/>
          <a:p>
            <a:pPr indent="0" marL="0">
              <a:buNone/>
            </a:pPr>
            <a:r>
              <a:rPr lang="en-US" sz="800" i="1" dirty="0">
                <a:solidFill>
                  <a:srgbClr val="6B7280"/>
                </a:solidFill>
                <a:latin typeface="Arial" pitchFamily="34" charset="0"/>
                <a:ea typeface="Arial" pitchFamily="34" charset="-122"/>
                <a:cs typeface="Arial" pitchFamily="34" charset="-120"/>
              </a:rPr>
              <a:t>sits in integration for weeks</a:t>
            </a:r>
            <a:endParaRPr lang="en-US" sz="800" dirty="0"/>
          </a:p>
        </p:txBody>
      </p:sp>
      <p:sp>
        <p:nvSpPr>
          <p:cNvPr id="58" name="Shape 56"/>
          <p:cNvSpPr/>
          <p:nvPr/>
        </p:nvSpPr>
        <p:spPr>
          <a:xfrm>
            <a:off x="2743200" y="5577840"/>
            <a:ext cx="0" cy="365760"/>
          </a:xfrm>
          <a:prstGeom prst="line">
            <a:avLst/>
          </a:prstGeom>
          <a:noFill/>
          <a:ln w="19050">
            <a:solidFill>
              <a:srgbClr val="6B7280"/>
            </a:solidFill>
            <a:prstDash val="solid"/>
            <a:tailEnd type="triangle"/>
          </a:ln>
        </p:spPr>
      </p:sp>
      <p:sp>
        <p:nvSpPr>
          <p:cNvPr id="59" name="Shape 57"/>
          <p:cNvSpPr/>
          <p:nvPr/>
        </p:nvSpPr>
        <p:spPr>
          <a:xfrm>
            <a:off x="2468880" y="5943600"/>
            <a:ext cx="566928" cy="365760"/>
          </a:xfrm>
          <a:prstGeom prst="roundRect">
            <a:avLst>
              <a:gd name="adj" fmla="val 15000"/>
            </a:avLst>
          </a:prstGeom>
          <a:solidFill>
            <a:srgbClr val="FCEBEA"/>
          </a:solidFill>
          <a:ln w="15875">
            <a:solidFill>
              <a:srgbClr val="B3261E"/>
            </a:solidFill>
            <a:prstDash val="solid"/>
          </a:ln>
        </p:spPr>
      </p:sp>
      <p:sp>
        <p:nvSpPr>
          <p:cNvPr id="60" name="Text 58"/>
          <p:cNvSpPr/>
          <p:nvPr/>
        </p:nvSpPr>
        <p:spPr>
          <a:xfrm>
            <a:off x="2468880" y="5943600"/>
            <a:ext cx="566928" cy="365760"/>
          </a:xfrm>
          <a:prstGeom prst="rect">
            <a:avLst/>
          </a:prstGeom>
          <a:noFill/>
          <a:ln/>
        </p:spPr>
        <p:txBody>
          <a:bodyPr wrap="square" rtlCol="0" anchor="ctr"/>
          <a:lstStyle/>
          <a:p>
            <a:pPr algn="ctr" indent="0" marL="0">
              <a:buNone/>
            </a:pPr>
            <a:r>
              <a:rPr lang="en-US" sz="950" b="1" dirty="0">
                <a:solidFill>
                  <a:srgbClr val="B3261E"/>
                </a:solidFill>
                <a:latin typeface="Consolas" pitchFamily="34" charset="0"/>
                <a:ea typeface="Consolas" pitchFamily="34" charset="-122"/>
                <a:cs typeface="Consolas" pitchFamily="34" charset="-120"/>
              </a:rPr>
              <a:t>S1</a:t>
            </a:r>
            <a:endParaRPr lang="en-US" sz="950" dirty="0"/>
          </a:p>
        </p:txBody>
      </p:sp>
      <p:sp>
        <p:nvSpPr>
          <p:cNvPr id="61" name="Shape 59"/>
          <p:cNvSpPr/>
          <p:nvPr/>
        </p:nvSpPr>
        <p:spPr>
          <a:xfrm>
            <a:off x="5120640" y="5897880"/>
            <a:ext cx="457200" cy="457200"/>
          </a:xfrm>
          <a:prstGeom prst="ellipse">
            <a:avLst/>
          </a:prstGeom>
          <a:solidFill>
            <a:srgbClr val="1F2328"/>
          </a:solidFill>
          <a:ln/>
        </p:spPr>
      </p:sp>
      <p:sp>
        <p:nvSpPr>
          <p:cNvPr id="62" name="Text 60"/>
          <p:cNvSpPr/>
          <p:nvPr/>
        </p:nvSpPr>
        <p:spPr>
          <a:xfrm>
            <a:off x="5120640" y="5897880"/>
            <a:ext cx="457200"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D</a:t>
            </a:r>
            <a:endParaRPr lang="en-US" sz="1200" dirty="0"/>
          </a:p>
        </p:txBody>
      </p:sp>
      <p:sp>
        <p:nvSpPr>
          <p:cNvPr id="63" name="Text 61"/>
          <p:cNvSpPr/>
          <p:nvPr/>
        </p:nvSpPr>
        <p:spPr>
          <a:xfrm>
            <a:off x="4617720" y="6382512"/>
            <a:ext cx="1463040" cy="228600"/>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Deployment N</a:t>
            </a:r>
            <a:endParaRPr lang="en-US" sz="800" dirty="0"/>
          </a:p>
        </p:txBody>
      </p:sp>
      <p:sp>
        <p:nvSpPr>
          <p:cNvPr id="64" name="Shape 62"/>
          <p:cNvSpPr/>
          <p:nvPr/>
        </p:nvSpPr>
        <p:spPr>
          <a:xfrm>
            <a:off x="3035808" y="6126480"/>
            <a:ext cx="2084832" cy="0"/>
          </a:xfrm>
          <a:prstGeom prst="line">
            <a:avLst/>
          </a:prstGeom>
          <a:noFill/>
          <a:ln w="19050">
            <a:solidFill>
              <a:srgbClr val="6B7280"/>
            </a:solidFill>
            <a:prstDash val="solid"/>
            <a:tailEnd type="triangle"/>
          </a:ln>
        </p:spPr>
      </p:sp>
      <p:sp>
        <p:nvSpPr>
          <p:cNvPr id="65" name="Shape 63"/>
          <p:cNvSpPr/>
          <p:nvPr/>
        </p:nvSpPr>
        <p:spPr>
          <a:xfrm>
            <a:off x="6080760" y="4389120"/>
            <a:ext cx="5715000" cy="2331720"/>
          </a:xfrm>
          <a:prstGeom prst="roundRect">
            <a:avLst>
              <a:gd name="adj" fmla="val 3137"/>
            </a:avLst>
          </a:prstGeom>
          <a:solidFill>
            <a:srgbClr val="FCEBEA"/>
          </a:solidFill>
          <a:ln w="15875">
            <a:solidFill>
              <a:srgbClr val="B3261E"/>
            </a:solidFill>
            <a:prstDash val="solid"/>
          </a:ln>
        </p:spPr>
      </p:sp>
      <p:sp>
        <p:nvSpPr>
          <p:cNvPr id="66" name="Text 64"/>
          <p:cNvSpPr/>
          <p:nvPr/>
        </p:nvSpPr>
        <p:spPr>
          <a:xfrm>
            <a:off x="6217920" y="4480560"/>
            <a:ext cx="548640" cy="548640"/>
          </a:xfrm>
          <a:prstGeom prst="rect">
            <a:avLst/>
          </a:prstGeom>
          <a:noFill/>
          <a:ln/>
        </p:spPr>
        <p:txBody>
          <a:bodyPr wrap="square" rtlCol="0" anchor="ctr"/>
          <a:lstStyle/>
          <a:p>
            <a:pPr indent="0" marL="0">
              <a:buNone/>
            </a:pPr>
            <a:r>
              <a:rPr lang="en-US" sz="2400" b="1" dirty="0">
                <a:solidFill>
                  <a:srgbClr val="B3261E"/>
                </a:solidFill>
                <a:latin typeface="Arial" pitchFamily="34" charset="0"/>
                <a:ea typeface="Arial" pitchFamily="34" charset="-122"/>
                <a:cs typeface="Arial" pitchFamily="34" charset="-120"/>
              </a:rPr>
              <a:t>✗</a:t>
            </a:r>
            <a:endParaRPr lang="en-US" sz="2400" dirty="0"/>
          </a:p>
        </p:txBody>
      </p:sp>
      <p:sp>
        <p:nvSpPr>
          <p:cNvPr id="67" name="Text 65"/>
          <p:cNvSpPr/>
          <p:nvPr/>
        </p:nvSpPr>
        <p:spPr>
          <a:xfrm>
            <a:off x="6217920" y="4983480"/>
            <a:ext cx="5440680" cy="1737360"/>
          </a:xfrm>
          <a:prstGeom prst="rect">
            <a:avLst/>
          </a:prstGeom>
          <a:noFill/>
          <a:ln/>
        </p:spPr>
        <p:txBody>
          <a:bodyPr wrap="square" rtlCol="0" anchor="t"/>
          <a:lstStyle/>
          <a:p>
            <a:pPr indent="0" marL="0">
              <a:lnSpc>
                <a:spcPct val="122000"/>
              </a:lnSpc>
              <a:buNone/>
            </a:pPr>
            <a:r>
              <a:rPr lang="en-US" sz="1000" dirty="0">
                <a:solidFill>
                  <a:srgbClr val="3C4248"/>
                </a:solidFill>
                <a:latin typeface="Arial" pitchFamily="34" charset="0"/>
                <a:ea typeface="Arial" pitchFamily="34" charset="-122"/>
                <a:cs typeface="Arial" pitchFamily="34" charset="-120"/>
              </a:rPr>
              <a:t>The squash/rebase creates a brand-new commit (S1, a new SHA, not the same object as a1/a2/a3) with no link back to the original commits. DevLake's diff finds S1 but cannot match it to the original PR. Result: PR Deploy Time is recorded as NULL for that PR, and it silently drops out of the Lead Time for Changes calculation.</a:t>
            </a:r>
            <a:endParaRPr lang="en-US" sz="1000" dirty="0"/>
          </a:p>
        </p:txBody>
      </p:sp>
      <p:sp>
        <p:nvSpPr>
          <p:cNvPr id="68" name="Shape 66"/>
          <p:cNvSpPr/>
          <p:nvPr/>
        </p:nvSpPr>
        <p:spPr>
          <a:xfrm>
            <a:off x="365760" y="6446520"/>
            <a:ext cx="11430000" cy="347472"/>
          </a:xfrm>
          <a:prstGeom prst="roundRect">
            <a:avLst>
              <a:gd name="adj" fmla="val 13158"/>
            </a:avLst>
          </a:prstGeom>
          <a:solidFill>
            <a:srgbClr val="1F2328"/>
          </a:solidFill>
          <a:ln/>
        </p:spPr>
      </p:sp>
      <p:sp>
        <p:nvSpPr>
          <p:cNvPr id="69" name="Text 67"/>
          <p:cNvSpPr/>
          <p:nvPr/>
        </p:nvSpPr>
        <p:spPr>
          <a:xfrm>
            <a:off x="548640" y="6446520"/>
            <a:ext cx="11064240" cy="34747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Takeaway: DevLake's accuracy here depends on your git merge strategy at the release boundary — not on how long a branch lives.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11430000" cy="457200"/>
          </a:xfrm>
          <a:prstGeom prst="rect">
            <a:avLst/>
          </a:prstGeom>
          <a:noFill/>
          <a:ln/>
        </p:spPr>
        <p:txBody>
          <a:bodyPr wrap="square" rtlCol="0" anchor="ctr"/>
          <a:lstStyle/>
          <a:p>
            <a:pPr indent="0" marL="0">
              <a:buNone/>
            </a:pPr>
            <a:r>
              <a:rPr lang="en-US" sz="2000" b="1" dirty="0">
                <a:solidFill>
                  <a:srgbClr val="1F2328"/>
                </a:solidFill>
                <a:latin typeface="Arial" pitchFamily="34" charset="0"/>
                <a:ea typeface="Arial" pitchFamily="34" charset="-122"/>
                <a:cs typeface="Arial" pitchFamily="34" charset="-120"/>
              </a:rPr>
              <a:t>Two More Scenarios: Branch Deletion &amp; Naming Variance</a:t>
            </a:r>
            <a:endParaRPr lang="en-US" sz="2000" dirty="0"/>
          </a:p>
        </p:txBody>
      </p:sp>
      <p:sp>
        <p:nvSpPr>
          <p:cNvPr id="3" name="Text 1"/>
          <p:cNvSpPr/>
          <p:nvPr/>
        </p:nvSpPr>
        <p:spPr>
          <a:xfrm>
            <a:off x="365760" y="621792"/>
            <a:ext cx="11430000" cy="292608"/>
          </a:xfrm>
          <a:prstGeom prst="rect">
            <a:avLst/>
          </a:prstGeom>
          <a:noFill/>
          <a:ln/>
        </p:spPr>
        <p:txBody>
          <a:bodyPr wrap="square" rtlCol="0" anchor="ctr"/>
          <a:lstStyle/>
          <a:p>
            <a:pPr indent="0" marL="0">
              <a:buNone/>
            </a:pPr>
            <a:r>
              <a:rPr lang="en-US" sz="1100" i="1" dirty="0">
                <a:solidFill>
                  <a:srgbClr val="6B7280"/>
                </a:solidFill>
                <a:latin typeface="Arial" pitchFamily="34" charset="0"/>
                <a:ea typeface="Arial" pitchFamily="34" charset="-122"/>
                <a:cs typeface="Arial" pitchFamily="34" charset="-120"/>
              </a:rPr>
              <a:t>Neither of these is a squash/rebase issue — both have a different mechanism and a different answer.</a:t>
            </a:r>
            <a:endParaRPr lang="en-US" sz="1100" dirty="0"/>
          </a:p>
        </p:txBody>
      </p:sp>
      <p:sp>
        <p:nvSpPr>
          <p:cNvPr id="4" name="Shape 2"/>
          <p:cNvSpPr/>
          <p:nvPr/>
        </p:nvSpPr>
        <p:spPr>
          <a:xfrm>
            <a:off x="365760" y="960120"/>
            <a:ext cx="11430000" cy="329184"/>
          </a:xfrm>
          <a:prstGeom prst="roundRect">
            <a:avLst>
              <a:gd name="adj" fmla="val 13889"/>
            </a:avLst>
          </a:prstGeom>
          <a:solidFill>
            <a:srgbClr val="EAF6F0"/>
          </a:solidFill>
          <a:ln/>
        </p:spPr>
      </p:sp>
      <p:sp>
        <p:nvSpPr>
          <p:cNvPr id="5" name="Text 3"/>
          <p:cNvSpPr/>
          <p:nvPr/>
        </p:nvSpPr>
        <p:spPr>
          <a:xfrm>
            <a:off x="502920" y="960120"/>
            <a:ext cx="11155680" cy="329184"/>
          </a:xfrm>
          <a:prstGeom prst="rect">
            <a:avLst/>
          </a:prstGeom>
          <a:noFill/>
          <a:ln/>
        </p:spPr>
        <p:txBody>
          <a:bodyPr wrap="square" rtlCol="0" anchor="ctr"/>
          <a:lstStyle/>
          <a:p>
            <a:pPr indent="0" marL="0">
              <a:buNone/>
            </a:pPr>
            <a:r>
              <a:rPr lang="en-US" sz="1250" b="1" dirty="0">
                <a:solidFill>
                  <a:srgbClr val="00703F"/>
                </a:solidFill>
                <a:latin typeface="Arial" pitchFamily="34" charset="0"/>
                <a:ea typeface="Arial" pitchFamily="34" charset="-122"/>
                <a:cs typeface="Arial" pitchFamily="34" charset="-120"/>
              </a:rPr>
              <a:t>CASE 3 — Feature branch deleted after merge (e.g. GitLab/GitHub “delete source branch”)</a:t>
            </a:r>
            <a:endParaRPr lang="en-US" sz="1250" dirty="0"/>
          </a:p>
        </p:txBody>
      </p:sp>
      <p:sp>
        <p:nvSpPr>
          <p:cNvPr id="6" name="Text 4"/>
          <p:cNvSpPr/>
          <p:nvPr/>
        </p:nvSpPr>
        <p:spPr>
          <a:xfrm>
            <a:off x="365760" y="1463040"/>
            <a:ext cx="1417320" cy="365760"/>
          </a:xfrm>
          <a:prstGeom prst="rect">
            <a:avLst/>
          </a:prstGeom>
          <a:noFill/>
          <a:ln/>
        </p:spPr>
        <p:txBody>
          <a:bodyPr wrap="square" rtlCol="0" anchor="ctr"/>
          <a:lstStyle/>
          <a:p>
            <a:pPr indent="0" marL="0">
              <a:buNone/>
            </a:pPr>
            <a:r>
              <a:rPr lang="en-US" sz="1050" b="1" dirty="0">
                <a:solidFill>
                  <a:srgbClr val="1F2328"/>
                </a:solidFill>
                <a:latin typeface="Arial" pitchFamily="34" charset="0"/>
                <a:ea typeface="Arial" pitchFamily="34" charset="-122"/>
                <a:cs typeface="Arial" pitchFamily="34" charset="-120"/>
              </a:rPr>
              <a:t>Feature Branch</a:t>
            </a:r>
            <a:endParaRPr lang="en-US" sz="1050" dirty="0"/>
          </a:p>
        </p:txBody>
      </p:sp>
      <p:sp>
        <p:nvSpPr>
          <p:cNvPr id="7" name="Text 5"/>
          <p:cNvSpPr/>
          <p:nvPr/>
        </p:nvSpPr>
        <p:spPr>
          <a:xfrm>
            <a:off x="365760" y="2651760"/>
            <a:ext cx="1417320" cy="365760"/>
          </a:xfrm>
          <a:prstGeom prst="rect">
            <a:avLst/>
          </a:prstGeom>
          <a:noFill/>
          <a:ln/>
        </p:spPr>
        <p:txBody>
          <a:bodyPr wrap="square" rtlCol="0" anchor="ctr"/>
          <a:lstStyle/>
          <a:p>
            <a:pPr indent="0" marL="0">
              <a:buNone/>
            </a:pPr>
            <a:r>
              <a:rPr lang="en-US" sz="1050" b="1" dirty="0">
                <a:solidFill>
                  <a:srgbClr val="1F2328"/>
                </a:solidFill>
                <a:latin typeface="Arial" pitchFamily="34" charset="0"/>
                <a:ea typeface="Arial" pitchFamily="34" charset="-122"/>
                <a:cs typeface="Arial" pitchFamily="34" charset="-120"/>
              </a:rPr>
              <a:t>Release Branch</a:t>
            </a:r>
            <a:endParaRPr lang="en-US" sz="1050" dirty="0"/>
          </a:p>
        </p:txBody>
      </p:sp>
      <p:sp>
        <p:nvSpPr>
          <p:cNvPr id="8" name="Shape 6"/>
          <p:cNvSpPr/>
          <p:nvPr/>
        </p:nvSpPr>
        <p:spPr>
          <a:xfrm>
            <a:off x="1828800" y="1463040"/>
            <a:ext cx="566928" cy="365760"/>
          </a:xfrm>
          <a:prstGeom prst="roundRect">
            <a:avLst>
              <a:gd name="adj" fmla="val 15000"/>
            </a:avLst>
          </a:prstGeom>
          <a:solidFill>
            <a:srgbClr val="EAF0FA"/>
          </a:solidFill>
          <a:ln w="15875">
            <a:solidFill>
              <a:srgbClr val="2E5AAC"/>
            </a:solidFill>
            <a:prstDash val="solid"/>
          </a:ln>
        </p:spPr>
      </p:sp>
      <p:sp>
        <p:nvSpPr>
          <p:cNvPr id="9" name="Text 7"/>
          <p:cNvSpPr/>
          <p:nvPr/>
        </p:nvSpPr>
        <p:spPr>
          <a:xfrm>
            <a:off x="1828800" y="1463040"/>
            <a:ext cx="566928" cy="365760"/>
          </a:xfrm>
          <a:prstGeom prst="rect">
            <a:avLst/>
          </a:prstGeom>
          <a:noFill/>
          <a:ln/>
        </p:spPr>
        <p:txBody>
          <a:bodyPr wrap="square" rtlCol="0" anchor="ctr"/>
          <a:lstStyle/>
          <a:p>
            <a:pPr algn="ctr" indent="0" marL="0">
              <a:buNone/>
            </a:pPr>
            <a:r>
              <a:rPr lang="en-US" sz="950" b="1" dirty="0">
                <a:solidFill>
                  <a:srgbClr val="2E5AAC"/>
                </a:solidFill>
                <a:latin typeface="Consolas" pitchFamily="34" charset="0"/>
                <a:ea typeface="Consolas" pitchFamily="34" charset="-122"/>
                <a:cs typeface="Consolas" pitchFamily="34" charset="-120"/>
              </a:rPr>
              <a:t>a1</a:t>
            </a:r>
            <a:endParaRPr lang="en-US" sz="950" dirty="0"/>
          </a:p>
        </p:txBody>
      </p:sp>
      <p:sp>
        <p:nvSpPr>
          <p:cNvPr id="10" name="Shape 8"/>
          <p:cNvSpPr/>
          <p:nvPr/>
        </p:nvSpPr>
        <p:spPr>
          <a:xfrm>
            <a:off x="2395728" y="1645920"/>
            <a:ext cx="210312" cy="0"/>
          </a:xfrm>
          <a:prstGeom prst="line">
            <a:avLst/>
          </a:prstGeom>
          <a:noFill/>
          <a:ln w="19050">
            <a:solidFill>
              <a:srgbClr val="C9D2CC"/>
            </a:solidFill>
            <a:prstDash val="solid"/>
            <a:tailEnd type="triangle"/>
          </a:ln>
        </p:spPr>
      </p:sp>
      <p:sp>
        <p:nvSpPr>
          <p:cNvPr id="11" name="Shape 9"/>
          <p:cNvSpPr/>
          <p:nvPr/>
        </p:nvSpPr>
        <p:spPr>
          <a:xfrm>
            <a:off x="2606040" y="1463040"/>
            <a:ext cx="566928" cy="365760"/>
          </a:xfrm>
          <a:prstGeom prst="roundRect">
            <a:avLst>
              <a:gd name="adj" fmla="val 15000"/>
            </a:avLst>
          </a:prstGeom>
          <a:solidFill>
            <a:srgbClr val="EAF0FA"/>
          </a:solidFill>
          <a:ln w="15875">
            <a:solidFill>
              <a:srgbClr val="2E5AAC"/>
            </a:solidFill>
            <a:prstDash val="solid"/>
          </a:ln>
        </p:spPr>
      </p:sp>
      <p:sp>
        <p:nvSpPr>
          <p:cNvPr id="12" name="Text 10"/>
          <p:cNvSpPr/>
          <p:nvPr/>
        </p:nvSpPr>
        <p:spPr>
          <a:xfrm>
            <a:off x="2606040" y="1463040"/>
            <a:ext cx="566928" cy="365760"/>
          </a:xfrm>
          <a:prstGeom prst="rect">
            <a:avLst/>
          </a:prstGeom>
          <a:noFill/>
          <a:ln/>
        </p:spPr>
        <p:txBody>
          <a:bodyPr wrap="square" rtlCol="0" anchor="ctr"/>
          <a:lstStyle/>
          <a:p>
            <a:pPr algn="ctr" indent="0" marL="0">
              <a:buNone/>
            </a:pPr>
            <a:r>
              <a:rPr lang="en-US" sz="950" b="1" dirty="0">
                <a:solidFill>
                  <a:srgbClr val="2E5AAC"/>
                </a:solidFill>
                <a:latin typeface="Consolas" pitchFamily="34" charset="0"/>
                <a:ea typeface="Consolas" pitchFamily="34" charset="-122"/>
                <a:cs typeface="Consolas" pitchFamily="34" charset="-120"/>
              </a:rPr>
              <a:t>a2</a:t>
            </a:r>
            <a:endParaRPr lang="en-US" sz="950" dirty="0"/>
          </a:p>
        </p:txBody>
      </p:sp>
      <p:sp>
        <p:nvSpPr>
          <p:cNvPr id="13" name="Shape 11"/>
          <p:cNvSpPr/>
          <p:nvPr/>
        </p:nvSpPr>
        <p:spPr>
          <a:xfrm>
            <a:off x="3172968" y="1645920"/>
            <a:ext cx="210312" cy="0"/>
          </a:xfrm>
          <a:prstGeom prst="line">
            <a:avLst/>
          </a:prstGeom>
          <a:noFill/>
          <a:ln w="19050">
            <a:solidFill>
              <a:srgbClr val="C9D2CC"/>
            </a:solidFill>
            <a:prstDash val="solid"/>
            <a:tailEnd type="triangle"/>
          </a:ln>
        </p:spPr>
      </p:sp>
      <p:sp>
        <p:nvSpPr>
          <p:cNvPr id="14" name="Shape 12"/>
          <p:cNvSpPr/>
          <p:nvPr/>
        </p:nvSpPr>
        <p:spPr>
          <a:xfrm>
            <a:off x="3383280" y="1463040"/>
            <a:ext cx="566928" cy="365760"/>
          </a:xfrm>
          <a:prstGeom prst="roundRect">
            <a:avLst>
              <a:gd name="adj" fmla="val 15000"/>
            </a:avLst>
          </a:prstGeom>
          <a:solidFill>
            <a:srgbClr val="EAF0FA"/>
          </a:solidFill>
          <a:ln w="15875">
            <a:solidFill>
              <a:srgbClr val="2E5AAC"/>
            </a:solidFill>
            <a:prstDash val="solid"/>
          </a:ln>
        </p:spPr>
      </p:sp>
      <p:sp>
        <p:nvSpPr>
          <p:cNvPr id="15" name="Text 13"/>
          <p:cNvSpPr/>
          <p:nvPr/>
        </p:nvSpPr>
        <p:spPr>
          <a:xfrm>
            <a:off x="3383280" y="1463040"/>
            <a:ext cx="566928" cy="365760"/>
          </a:xfrm>
          <a:prstGeom prst="rect">
            <a:avLst/>
          </a:prstGeom>
          <a:noFill/>
          <a:ln/>
        </p:spPr>
        <p:txBody>
          <a:bodyPr wrap="square" rtlCol="0" anchor="ctr"/>
          <a:lstStyle/>
          <a:p>
            <a:pPr algn="ctr" indent="0" marL="0">
              <a:buNone/>
            </a:pPr>
            <a:r>
              <a:rPr lang="en-US" sz="950" b="1" dirty="0">
                <a:solidFill>
                  <a:srgbClr val="2E5AAC"/>
                </a:solidFill>
                <a:latin typeface="Consolas" pitchFamily="34" charset="0"/>
                <a:ea typeface="Consolas" pitchFamily="34" charset="-122"/>
                <a:cs typeface="Consolas" pitchFamily="34" charset="-120"/>
              </a:rPr>
              <a:t>a3</a:t>
            </a:r>
            <a:endParaRPr lang="en-US" sz="950" dirty="0"/>
          </a:p>
        </p:txBody>
      </p:sp>
      <p:sp>
        <p:nvSpPr>
          <p:cNvPr id="16" name="Shape 14"/>
          <p:cNvSpPr/>
          <p:nvPr/>
        </p:nvSpPr>
        <p:spPr>
          <a:xfrm>
            <a:off x="2743200" y="1828800"/>
            <a:ext cx="0" cy="822960"/>
          </a:xfrm>
          <a:prstGeom prst="line">
            <a:avLst/>
          </a:prstGeom>
          <a:noFill/>
          <a:ln w="19050">
            <a:solidFill>
              <a:srgbClr val="6B7280"/>
            </a:solidFill>
            <a:prstDash val="solid"/>
            <a:tailEnd type="triangle"/>
          </a:ln>
        </p:spPr>
      </p:sp>
      <p:sp>
        <p:nvSpPr>
          <p:cNvPr id="17" name="Shape 15"/>
          <p:cNvSpPr/>
          <p:nvPr/>
        </p:nvSpPr>
        <p:spPr>
          <a:xfrm>
            <a:off x="2468880" y="2651760"/>
            <a:ext cx="566928" cy="365760"/>
          </a:xfrm>
          <a:prstGeom prst="roundRect">
            <a:avLst>
              <a:gd name="adj" fmla="val 15000"/>
            </a:avLst>
          </a:prstGeom>
          <a:solidFill>
            <a:srgbClr val="EAF6F0"/>
          </a:solidFill>
          <a:ln w="15875">
            <a:solidFill>
              <a:srgbClr val="00703F"/>
            </a:solidFill>
            <a:prstDash val="solid"/>
          </a:ln>
        </p:spPr>
      </p:sp>
      <p:sp>
        <p:nvSpPr>
          <p:cNvPr id="18" name="Text 16"/>
          <p:cNvSpPr/>
          <p:nvPr/>
        </p:nvSpPr>
        <p:spPr>
          <a:xfrm>
            <a:off x="2468880" y="2651760"/>
            <a:ext cx="566928" cy="365760"/>
          </a:xfrm>
          <a:prstGeom prst="rect">
            <a:avLst/>
          </a:prstGeom>
          <a:noFill/>
          <a:ln/>
        </p:spPr>
        <p:txBody>
          <a:bodyPr wrap="square" rtlCol="0" anchor="ctr"/>
          <a:lstStyle/>
          <a:p>
            <a:pPr algn="ctr" indent="0" marL="0">
              <a:buNone/>
            </a:pPr>
            <a:r>
              <a:rPr lang="en-US" sz="950" b="1" dirty="0">
                <a:solidFill>
                  <a:srgbClr val="00703F"/>
                </a:solidFill>
                <a:latin typeface="Consolas" pitchFamily="34" charset="0"/>
                <a:ea typeface="Consolas" pitchFamily="34" charset="-122"/>
                <a:cs typeface="Consolas" pitchFamily="34" charset="-120"/>
              </a:rPr>
              <a:t>M2</a:t>
            </a:r>
            <a:endParaRPr lang="en-US" sz="950" dirty="0"/>
          </a:p>
        </p:txBody>
      </p:sp>
      <p:sp>
        <p:nvSpPr>
          <p:cNvPr id="19" name="Text 17"/>
          <p:cNvSpPr/>
          <p:nvPr/>
        </p:nvSpPr>
        <p:spPr>
          <a:xfrm>
            <a:off x="3154680" y="2651760"/>
            <a:ext cx="2194560" cy="365760"/>
          </a:xfrm>
          <a:prstGeom prst="rect">
            <a:avLst/>
          </a:prstGeom>
          <a:noFill/>
          <a:ln/>
        </p:spPr>
        <p:txBody>
          <a:bodyPr wrap="square" rtlCol="0" anchor="ctr"/>
          <a:lstStyle/>
          <a:p>
            <a:pPr indent="0" marL="0">
              <a:buNone/>
            </a:pPr>
            <a:r>
              <a:rPr lang="en-US" sz="900" i="1" dirty="0">
                <a:solidFill>
                  <a:srgbClr val="6B7280"/>
                </a:solidFill>
                <a:latin typeface="Arial" pitchFamily="34" charset="0"/>
                <a:ea typeface="Arial" pitchFamily="34" charset="-122"/>
                <a:cs typeface="Arial" pitchFamily="34" charset="-120"/>
              </a:rPr>
              <a:t>merges a1, a2, a3</a:t>
            </a:r>
            <a:endParaRPr lang="en-US" sz="900" dirty="0"/>
          </a:p>
        </p:txBody>
      </p:sp>
      <p:sp>
        <p:nvSpPr>
          <p:cNvPr id="20" name="Shape 18"/>
          <p:cNvSpPr/>
          <p:nvPr/>
        </p:nvSpPr>
        <p:spPr>
          <a:xfrm>
            <a:off x="1828800" y="2029968"/>
            <a:ext cx="2121408" cy="347472"/>
          </a:xfrm>
          <a:prstGeom prst="roundRect">
            <a:avLst>
              <a:gd name="adj" fmla="val 15789"/>
            </a:avLst>
          </a:prstGeom>
          <a:solidFill>
            <a:srgbClr val="F1F1F1"/>
          </a:solidFill>
          <a:ln w="12700">
            <a:solidFill>
              <a:srgbClr val="6B7280"/>
            </a:solidFill>
            <a:prstDash val="dash"/>
          </a:ln>
        </p:spPr>
      </p:sp>
      <p:sp>
        <p:nvSpPr>
          <p:cNvPr id="21" name="Text 19"/>
          <p:cNvSpPr/>
          <p:nvPr/>
        </p:nvSpPr>
        <p:spPr>
          <a:xfrm>
            <a:off x="1828800" y="2029968"/>
            <a:ext cx="2121408" cy="347472"/>
          </a:xfrm>
          <a:prstGeom prst="rect">
            <a:avLst/>
          </a:prstGeom>
          <a:noFill/>
          <a:ln/>
        </p:spPr>
        <p:txBody>
          <a:bodyPr wrap="square" rtlCol="0" anchor="ctr"/>
          <a:lstStyle/>
          <a:p>
            <a:pPr algn="ctr" indent="0" marL="0">
              <a:buNone/>
            </a:pPr>
            <a:r>
              <a:rPr lang="en-US" sz="950" strike="sngStrike" dirty="0">
                <a:solidFill>
                  <a:srgbClr val="6B7280"/>
                </a:solidFill>
                <a:latin typeface="Arial" pitchFamily="34" charset="0"/>
                <a:ea typeface="Arial" pitchFamily="34" charset="-122"/>
                <a:cs typeface="Arial" pitchFamily="34" charset="-120"/>
              </a:rPr>
              <a:t>feature/x  —  DELETED</a:t>
            </a:r>
            <a:endParaRPr lang="en-US" sz="950" dirty="0"/>
          </a:p>
        </p:txBody>
      </p:sp>
      <p:sp>
        <p:nvSpPr>
          <p:cNvPr id="22" name="Shape 20"/>
          <p:cNvSpPr/>
          <p:nvPr/>
        </p:nvSpPr>
        <p:spPr>
          <a:xfrm>
            <a:off x="6949440" y="1371600"/>
            <a:ext cx="4846320" cy="2148840"/>
          </a:xfrm>
          <a:prstGeom prst="roundRect">
            <a:avLst>
              <a:gd name="adj" fmla="val 3404"/>
            </a:avLst>
          </a:prstGeom>
          <a:solidFill>
            <a:srgbClr val="EAF6F0"/>
          </a:solidFill>
          <a:ln w="15875">
            <a:solidFill>
              <a:srgbClr val="00703F"/>
            </a:solidFill>
            <a:prstDash val="solid"/>
          </a:ln>
        </p:spPr>
      </p:sp>
      <p:sp>
        <p:nvSpPr>
          <p:cNvPr id="23" name="Text 21"/>
          <p:cNvSpPr/>
          <p:nvPr/>
        </p:nvSpPr>
        <p:spPr>
          <a:xfrm>
            <a:off x="7086600" y="1463040"/>
            <a:ext cx="548640" cy="457200"/>
          </a:xfrm>
          <a:prstGeom prst="rect">
            <a:avLst/>
          </a:prstGeom>
          <a:noFill/>
          <a:ln/>
        </p:spPr>
        <p:txBody>
          <a:bodyPr wrap="square" rtlCol="0" anchor="ctr"/>
          <a:lstStyle/>
          <a:p>
            <a:pPr indent="0" marL="0">
              <a:buNone/>
            </a:pPr>
            <a:r>
              <a:rPr lang="en-US" sz="2200" b="1" dirty="0">
                <a:solidFill>
                  <a:srgbClr val="00703F"/>
                </a:solidFill>
                <a:latin typeface="Arial" pitchFamily="34" charset="0"/>
                <a:ea typeface="Arial" pitchFamily="34" charset="-122"/>
                <a:cs typeface="Arial" pitchFamily="34" charset="-120"/>
              </a:rPr>
              <a:t>✓</a:t>
            </a:r>
            <a:endParaRPr lang="en-US" sz="2200" dirty="0"/>
          </a:p>
        </p:txBody>
      </p:sp>
      <p:sp>
        <p:nvSpPr>
          <p:cNvPr id="24" name="Text 22"/>
          <p:cNvSpPr/>
          <p:nvPr/>
        </p:nvSpPr>
        <p:spPr>
          <a:xfrm>
            <a:off x="7086600" y="1920240"/>
            <a:ext cx="4572000" cy="1600200"/>
          </a:xfrm>
          <a:prstGeom prst="rect">
            <a:avLst/>
          </a:prstGeom>
          <a:noFill/>
          <a:ln/>
        </p:spPr>
        <p:txBody>
          <a:bodyPr wrap="square" rtlCol="0" anchor="t"/>
          <a:lstStyle/>
          <a:p>
            <a:pPr indent="0" marL="0">
              <a:lnSpc>
                <a:spcPct val="120000"/>
              </a:lnSpc>
              <a:buNone/>
            </a:pPr>
            <a:r>
              <a:rPr lang="en-US" sz="950" dirty="0">
                <a:solidFill>
                  <a:srgbClr val="3C4248"/>
                </a:solidFill>
                <a:latin typeface="Arial" pitchFamily="34" charset="0"/>
                <a:ea typeface="Arial" pitchFamily="34" charset="-122"/>
                <a:cs typeface="Arial" pitchFamily="34" charset="-120"/>
              </a:rPr>
              <a:t>Deleting the feature branch only removes the pointer, not the commit objects. Since a1/a2/a3 are still reachable through the release branch's history, DevLake's gitextractor (which walks history, not branch names) traces them the same as if the branch still existed. The PR record also persists in GitLab/GitHub's API with its source-branch name retained. This is independent of Case 1/2 above — only merge strategy matters, never branch survival.</a:t>
            </a:r>
            <a:endParaRPr lang="en-US" sz="950" dirty="0"/>
          </a:p>
        </p:txBody>
      </p:sp>
      <p:sp>
        <p:nvSpPr>
          <p:cNvPr id="25" name="Shape 23"/>
          <p:cNvSpPr/>
          <p:nvPr/>
        </p:nvSpPr>
        <p:spPr>
          <a:xfrm>
            <a:off x="365760" y="3657600"/>
            <a:ext cx="11430000" cy="329184"/>
          </a:xfrm>
          <a:prstGeom prst="roundRect">
            <a:avLst>
              <a:gd name="adj" fmla="val 13889"/>
            </a:avLst>
          </a:prstGeom>
          <a:solidFill>
            <a:srgbClr val="EAF0FA"/>
          </a:solidFill>
          <a:ln/>
        </p:spPr>
      </p:sp>
      <p:sp>
        <p:nvSpPr>
          <p:cNvPr id="26" name="Text 24"/>
          <p:cNvSpPr/>
          <p:nvPr/>
        </p:nvSpPr>
        <p:spPr>
          <a:xfrm>
            <a:off x="502920" y="3657600"/>
            <a:ext cx="11155680" cy="329184"/>
          </a:xfrm>
          <a:prstGeom prst="rect">
            <a:avLst/>
          </a:prstGeom>
          <a:noFill/>
          <a:ln/>
        </p:spPr>
        <p:txBody>
          <a:bodyPr wrap="square" rtlCol="0" anchor="ctr"/>
          <a:lstStyle/>
          <a:p>
            <a:pPr indent="0" marL="0">
              <a:buNone/>
            </a:pPr>
            <a:r>
              <a:rPr lang="en-US" sz="1250" b="1" dirty="0">
                <a:solidFill>
                  <a:srgbClr val="2E5AAC"/>
                </a:solidFill>
                <a:latin typeface="Arial" pitchFamily="34" charset="0"/>
                <a:ea typeface="Arial" pitchFamily="34" charset="-122"/>
                <a:cs typeface="Arial" pitchFamily="34" charset="-120"/>
              </a:rPr>
              <a:t>CASE 4 — Some apps release from “master”, others from “main”</a:t>
            </a:r>
            <a:endParaRPr lang="en-US" sz="1250" dirty="0"/>
          </a:p>
        </p:txBody>
      </p:sp>
      <p:sp>
        <p:nvSpPr>
          <p:cNvPr id="27" name="Shape 25"/>
          <p:cNvSpPr/>
          <p:nvPr/>
        </p:nvSpPr>
        <p:spPr>
          <a:xfrm>
            <a:off x="731520" y="4251960"/>
            <a:ext cx="2286000" cy="777240"/>
          </a:xfrm>
          <a:prstGeom prst="roundRect">
            <a:avLst>
              <a:gd name="adj" fmla="val 9412"/>
            </a:avLst>
          </a:prstGeom>
          <a:solidFill>
            <a:srgbClr val="F7F9F8"/>
          </a:solidFill>
          <a:ln w="12700">
            <a:solidFill>
              <a:srgbClr val="C9D2CC"/>
            </a:solidFill>
            <a:prstDash val="solid"/>
          </a:ln>
        </p:spPr>
      </p:sp>
      <p:sp>
        <p:nvSpPr>
          <p:cNvPr id="28" name="Text 26"/>
          <p:cNvSpPr/>
          <p:nvPr/>
        </p:nvSpPr>
        <p:spPr>
          <a:xfrm>
            <a:off x="868680" y="4325112"/>
            <a:ext cx="2011680" cy="256032"/>
          </a:xfrm>
          <a:prstGeom prst="rect">
            <a:avLst/>
          </a:prstGeom>
          <a:noFill/>
          <a:ln/>
        </p:spPr>
        <p:txBody>
          <a:bodyPr wrap="square" rtlCol="0" anchor="ctr"/>
          <a:lstStyle/>
          <a:p>
            <a:pPr indent="0" marL="0">
              <a:buNone/>
            </a:pPr>
            <a:r>
              <a:rPr lang="en-US" sz="1050" b="1" dirty="0">
                <a:solidFill>
                  <a:srgbClr val="1F2328"/>
                </a:solidFill>
                <a:latin typeface="Arial" pitchFamily="34" charset="0"/>
                <a:ea typeface="Arial" pitchFamily="34" charset="-122"/>
                <a:cs typeface="Arial" pitchFamily="34" charset="-120"/>
              </a:rPr>
              <a:t>Repo A (legacy)</a:t>
            </a:r>
            <a:endParaRPr lang="en-US" sz="1050" dirty="0"/>
          </a:p>
        </p:txBody>
      </p:sp>
      <p:sp>
        <p:nvSpPr>
          <p:cNvPr id="29" name="Text 27"/>
          <p:cNvSpPr/>
          <p:nvPr/>
        </p:nvSpPr>
        <p:spPr>
          <a:xfrm>
            <a:off x="868680" y="4599432"/>
            <a:ext cx="2011680" cy="182880"/>
          </a:xfrm>
          <a:prstGeom prst="rect">
            <a:avLst/>
          </a:prstGeom>
          <a:noFill/>
          <a:ln/>
        </p:spPr>
        <p:txBody>
          <a:bodyPr wrap="square" rtlCol="0" anchor="ctr"/>
          <a:lstStyle/>
          <a:p>
            <a:pPr indent="0" marL="0">
              <a:buNone/>
            </a:pPr>
            <a:r>
              <a:rPr lang="en-US" sz="850" dirty="0">
                <a:solidFill>
                  <a:srgbClr val="6B7280"/>
                </a:solidFill>
                <a:latin typeface="Arial" pitchFamily="34" charset="0"/>
                <a:ea typeface="Arial" pitchFamily="34" charset="-122"/>
                <a:cs typeface="Arial" pitchFamily="34" charset="-120"/>
              </a:rPr>
              <a:t>release branch:</a:t>
            </a:r>
            <a:endParaRPr lang="en-US" sz="850" dirty="0"/>
          </a:p>
        </p:txBody>
      </p:sp>
      <p:sp>
        <p:nvSpPr>
          <p:cNvPr id="30" name="Text 28"/>
          <p:cNvSpPr/>
          <p:nvPr/>
        </p:nvSpPr>
        <p:spPr>
          <a:xfrm>
            <a:off x="868680" y="4764024"/>
            <a:ext cx="2011680" cy="237744"/>
          </a:xfrm>
          <a:prstGeom prst="rect">
            <a:avLst/>
          </a:prstGeom>
          <a:noFill/>
          <a:ln/>
        </p:spPr>
        <p:txBody>
          <a:bodyPr wrap="square" rtlCol="0" anchor="ctr"/>
          <a:lstStyle/>
          <a:p>
            <a:pPr indent="0" marL="0">
              <a:buNone/>
            </a:pPr>
            <a:r>
              <a:rPr lang="en-US" sz="1200" b="1" dirty="0">
                <a:solidFill>
                  <a:srgbClr val="2E5AAC"/>
                </a:solidFill>
                <a:latin typeface="Consolas" pitchFamily="34" charset="0"/>
                <a:ea typeface="Consolas" pitchFamily="34" charset="-122"/>
                <a:cs typeface="Consolas" pitchFamily="34" charset="-120"/>
              </a:rPr>
              <a:t>master</a:t>
            </a:r>
            <a:endParaRPr lang="en-US" sz="1200" dirty="0"/>
          </a:p>
        </p:txBody>
      </p:sp>
      <p:sp>
        <p:nvSpPr>
          <p:cNvPr id="31" name="Shape 29"/>
          <p:cNvSpPr/>
          <p:nvPr/>
        </p:nvSpPr>
        <p:spPr>
          <a:xfrm>
            <a:off x="731520" y="5212080"/>
            <a:ext cx="2286000" cy="777240"/>
          </a:xfrm>
          <a:prstGeom prst="roundRect">
            <a:avLst>
              <a:gd name="adj" fmla="val 9412"/>
            </a:avLst>
          </a:prstGeom>
          <a:solidFill>
            <a:srgbClr val="F7F9F8"/>
          </a:solidFill>
          <a:ln w="12700">
            <a:solidFill>
              <a:srgbClr val="C9D2CC"/>
            </a:solidFill>
            <a:prstDash val="solid"/>
          </a:ln>
        </p:spPr>
      </p:sp>
      <p:sp>
        <p:nvSpPr>
          <p:cNvPr id="32" name="Text 30"/>
          <p:cNvSpPr/>
          <p:nvPr/>
        </p:nvSpPr>
        <p:spPr>
          <a:xfrm>
            <a:off x="868680" y="5285232"/>
            <a:ext cx="2011680" cy="256032"/>
          </a:xfrm>
          <a:prstGeom prst="rect">
            <a:avLst/>
          </a:prstGeom>
          <a:noFill/>
          <a:ln/>
        </p:spPr>
        <p:txBody>
          <a:bodyPr wrap="square" rtlCol="0" anchor="ctr"/>
          <a:lstStyle/>
          <a:p>
            <a:pPr indent="0" marL="0">
              <a:buNone/>
            </a:pPr>
            <a:r>
              <a:rPr lang="en-US" sz="1050" b="1" dirty="0">
                <a:solidFill>
                  <a:srgbClr val="1F2328"/>
                </a:solidFill>
                <a:latin typeface="Arial" pitchFamily="34" charset="0"/>
                <a:ea typeface="Arial" pitchFamily="34" charset="-122"/>
                <a:cs typeface="Arial" pitchFamily="34" charset="-120"/>
              </a:rPr>
              <a:t>Repo B (new)</a:t>
            </a:r>
            <a:endParaRPr lang="en-US" sz="1050" dirty="0"/>
          </a:p>
        </p:txBody>
      </p:sp>
      <p:sp>
        <p:nvSpPr>
          <p:cNvPr id="33" name="Text 31"/>
          <p:cNvSpPr/>
          <p:nvPr/>
        </p:nvSpPr>
        <p:spPr>
          <a:xfrm>
            <a:off x="868680" y="5559552"/>
            <a:ext cx="2011680" cy="182880"/>
          </a:xfrm>
          <a:prstGeom prst="rect">
            <a:avLst/>
          </a:prstGeom>
          <a:noFill/>
          <a:ln/>
        </p:spPr>
        <p:txBody>
          <a:bodyPr wrap="square" rtlCol="0" anchor="ctr"/>
          <a:lstStyle/>
          <a:p>
            <a:pPr indent="0" marL="0">
              <a:buNone/>
            </a:pPr>
            <a:r>
              <a:rPr lang="en-US" sz="850" dirty="0">
                <a:solidFill>
                  <a:srgbClr val="6B7280"/>
                </a:solidFill>
                <a:latin typeface="Arial" pitchFamily="34" charset="0"/>
                <a:ea typeface="Arial" pitchFamily="34" charset="-122"/>
                <a:cs typeface="Arial" pitchFamily="34" charset="-120"/>
              </a:rPr>
              <a:t>release branch:</a:t>
            </a:r>
            <a:endParaRPr lang="en-US" sz="850" dirty="0"/>
          </a:p>
        </p:txBody>
      </p:sp>
      <p:sp>
        <p:nvSpPr>
          <p:cNvPr id="34" name="Text 32"/>
          <p:cNvSpPr/>
          <p:nvPr/>
        </p:nvSpPr>
        <p:spPr>
          <a:xfrm>
            <a:off x="868680" y="5724144"/>
            <a:ext cx="2011680" cy="237744"/>
          </a:xfrm>
          <a:prstGeom prst="rect">
            <a:avLst/>
          </a:prstGeom>
          <a:noFill/>
          <a:ln/>
        </p:spPr>
        <p:txBody>
          <a:bodyPr wrap="square" rtlCol="0" anchor="ctr"/>
          <a:lstStyle/>
          <a:p>
            <a:pPr indent="0" marL="0">
              <a:buNone/>
            </a:pPr>
            <a:r>
              <a:rPr lang="en-US" sz="1200" b="1" dirty="0">
                <a:solidFill>
                  <a:srgbClr val="2E5AAC"/>
                </a:solidFill>
                <a:latin typeface="Consolas" pitchFamily="34" charset="0"/>
                <a:ea typeface="Consolas" pitchFamily="34" charset="-122"/>
                <a:cs typeface="Consolas" pitchFamily="34" charset="-120"/>
              </a:rPr>
              <a:t>main</a:t>
            </a:r>
            <a:endParaRPr lang="en-US" sz="1200" dirty="0"/>
          </a:p>
        </p:txBody>
      </p:sp>
      <p:sp>
        <p:nvSpPr>
          <p:cNvPr id="35" name="Shape 33"/>
          <p:cNvSpPr/>
          <p:nvPr/>
        </p:nvSpPr>
        <p:spPr>
          <a:xfrm>
            <a:off x="3017520" y="4636008"/>
            <a:ext cx="914400" cy="256032"/>
          </a:xfrm>
          <a:prstGeom prst="line">
            <a:avLst/>
          </a:prstGeom>
          <a:noFill/>
          <a:ln w="19050">
            <a:solidFill>
              <a:srgbClr val="C9D2CC"/>
            </a:solidFill>
            <a:prstDash val="solid"/>
            <a:tailEnd type="triangle"/>
          </a:ln>
        </p:spPr>
      </p:sp>
      <p:sp>
        <p:nvSpPr>
          <p:cNvPr id="36" name="Shape 34"/>
          <p:cNvSpPr/>
          <p:nvPr/>
        </p:nvSpPr>
        <p:spPr>
          <a:xfrm flipV="1">
            <a:off x="3017520" y="4892040"/>
            <a:ext cx="914400" cy="704088"/>
          </a:xfrm>
          <a:prstGeom prst="line">
            <a:avLst/>
          </a:prstGeom>
          <a:noFill/>
          <a:ln w="19050">
            <a:solidFill>
              <a:srgbClr val="C9D2CC"/>
            </a:solidFill>
            <a:prstDash val="solid"/>
            <a:tailEnd type="triangle"/>
          </a:ln>
        </p:spPr>
      </p:sp>
      <p:sp>
        <p:nvSpPr>
          <p:cNvPr id="37" name="Shape 35"/>
          <p:cNvSpPr/>
          <p:nvPr/>
        </p:nvSpPr>
        <p:spPr>
          <a:xfrm>
            <a:off x="3977640" y="4572000"/>
            <a:ext cx="3291840" cy="1005840"/>
          </a:xfrm>
          <a:prstGeom prst="roundRect">
            <a:avLst>
              <a:gd name="adj" fmla="val 7273"/>
            </a:avLst>
          </a:prstGeom>
          <a:solidFill>
            <a:srgbClr val="1F2328"/>
          </a:solidFill>
          <a:ln/>
        </p:spPr>
      </p:sp>
      <p:sp>
        <p:nvSpPr>
          <p:cNvPr id="38" name="Text 36"/>
          <p:cNvSpPr/>
          <p:nvPr/>
        </p:nvSpPr>
        <p:spPr>
          <a:xfrm>
            <a:off x="4114800" y="4663440"/>
            <a:ext cx="3017520" cy="256032"/>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DevLake Production Regex</a:t>
            </a:r>
            <a:endParaRPr lang="en-US" sz="950" dirty="0"/>
          </a:p>
        </p:txBody>
      </p:sp>
      <p:sp>
        <p:nvSpPr>
          <p:cNvPr id="39" name="Text 37"/>
          <p:cNvSpPr/>
          <p:nvPr/>
        </p:nvSpPr>
        <p:spPr>
          <a:xfrm>
            <a:off x="4114800" y="4910328"/>
            <a:ext cx="3017520" cy="292608"/>
          </a:xfrm>
          <a:prstGeom prst="rect">
            <a:avLst/>
          </a:prstGeom>
          <a:noFill/>
          <a:ln/>
        </p:spPr>
        <p:txBody>
          <a:bodyPr wrap="square" rtlCol="0" anchor="ctr"/>
          <a:lstStyle/>
          <a:p>
            <a:pPr indent="0" marL="0">
              <a:buNone/>
            </a:pPr>
            <a:r>
              <a:rPr lang="en-US" sz="1300" b="1" dirty="0">
                <a:solidFill>
                  <a:srgbClr val="8FE3B8"/>
                </a:solidFill>
                <a:latin typeface="Consolas" pitchFamily="34" charset="0"/>
                <a:ea typeface="Consolas" pitchFamily="34" charset="-122"/>
                <a:cs typeface="Consolas" pitchFamily="34" charset="-120"/>
              </a:rPr>
              <a:t>^(main|master)$</a:t>
            </a:r>
            <a:endParaRPr lang="en-US" sz="1300" dirty="0"/>
          </a:p>
        </p:txBody>
      </p:sp>
      <p:sp>
        <p:nvSpPr>
          <p:cNvPr id="40" name="Text 38"/>
          <p:cNvSpPr/>
          <p:nvPr/>
        </p:nvSpPr>
        <p:spPr>
          <a:xfrm>
            <a:off x="4114800" y="5221224"/>
            <a:ext cx="3017520" cy="219456"/>
          </a:xfrm>
          <a:prstGeom prst="rect">
            <a:avLst/>
          </a:prstGeom>
          <a:noFill/>
          <a:ln/>
        </p:spPr>
        <p:txBody>
          <a:bodyPr wrap="square" rtlCol="0" anchor="ctr"/>
          <a:lstStyle/>
          <a:p>
            <a:pPr indent="0" marL="0">
              <a:buNone/>
            </a:pPr>
            <a:r>
              <a:rPr lang="en-US" sz="800" i="1" dirty="0">
                <a:solidFill>
                  <a:srgbClr val="C9D2CC"/>
                </a:solidFill>
                <a:latin typeface="Arial" pitchFamily="34" charset="0"/>
                <a:ea typeface="Arial" pitchFamily="34" charset="-122"/>
                <a:cs typeface="Arial" pitchFamily="34" charset="-120"/>
              </a:rPr>
              <a:t>configured once, applied to both</a:t>
            </a:r>
            <a:endParaRPr lang="en-US" sz="800" dirty="0"/>
          </a:p>
        </p:txBody>
      </p:sp>
      <p:sp>
        <p:nvSpPr>
          <p:cNvPr id="41" name="Shape 39"/>
          <p:cNvSpPr/>
          <p:nvPr/>
        </p:nvSpPr>
        <p:spPr>
          <a:xfrm flipV="1">
            <a:off x="7269480" y="4636008"/>
            <a:ext cx="594360" cy="256032"/>
          </a:xfrm>
          <a:prstGeom prst="line">
            <a:avLst/>
          </a:prstGeom>
          <a:noFill/>
          <a:ln w="19050">
            <a:solidFill>
              <a:srgbClr val="C9D2CC"/>
            </a:solidFill>
            <a:prstDash val="solid"/>
            <a:tailEnd type="triangle"/>
          </a:ln>
        </p:spPr>
      </p:sp>
      <p:sp>
        <p:nvSpPr>
          <p:cNvPr id="42" name="Shape 40"/>
          <p:cNvSpPr/>
          <p:nvPr/>
        </p:nvSpPr>
        <p:spPr>
          <a:xfrm>
            <a:off x="7269480" y="4892040"/>
            <a:ext cx="594360" cy="704088"/>
          </a:xfrm>
          <a:prstGeom prst="line">
            <a:avLst/>
          </a:prstGeom>
          <a:noFill/>
          <a:ln w="19050">
            <a:solidFill>
              <a:srgbClr val="C9D2CC"/>
            </a:solidFill>
            <a:prstDash val="solid"/>
            <a:tailEnd type="triangle"/>
          </a:ln>
        </p:spPr>
      </p:sp>
      <p:sp>
        <p:nvSpPr>
          <p:cNvPr id="43" name="Text 41"/>
          <p:cNvSpPr/>
          <p:nvPr/>
        </p:nvSpPr>
        <p:spPr>
          <a:xfrm>
            <a:off x="7909560" y="4507992"/>
            <a:ext cx="1005840" cy="256032"/>
          </a:xfrm>
          <a:prstGeom prst="rect">
            <a:avLst/>
          </a:prstGeom>
          <a:noFill/>
          <a:ln/>
        </p:spPr>
        <p:txBody>
          <a:bodyPr wrap="square" rtlCol="0" anchor="ctr"/>
          <a:lstStyle/>
          <a:p>
            <a:pPr indent="0" marL="0">
              <a:buNone/>
            </a:pPr>
            <a:r>
              <a:rPr lang="en-US" sz="950" b="1" dirty="0">
                <a:solidFill>
                  <a:srgbClr val="00703F"/>
                </a:solidFill>
                <a:latin typeface="Arial" pitchFamily="34" charset="0"/>
                <a:ea typeface="Arial" pitchFamily="34" charset="-122"/>
                <a:cs typeface="Arial" pitchFamily="34" charset="-120"/>
              </a:rPr>
              <a:t>✓ matches</a:t>
            </a:r>
            <a:endParaRPr lang="en-US" sz="950" dirty="0"/>
          </a:p>
        </p:txBody>
      </p:sp>
      <p:sp>
        <p:nvSpPr>
          <p:cNvPr id="44" name="Text 42"/>
          <p:cNvSpPr/>
          <p:nvPr/>
        </p:nvSpPr>
        <p:spPr>
          <a:xfrm>
            <a:off x="7909560" y="5468112"/>
            <a:ext cx="1005840" cy="256032"/>
          </a:xfrm>
          <a:prstGeom prst="rect">
            <a:avLst/>
          </a:prstGeom>
          <a:noFill/>
          <a:ln/>
        </p:spPr>
        <p:txBody>
          <a:bodyPr wrap="square" rtlCol="0" anchor="ctr"/>
          <a:lstStyle/>
          <a:p>
            <a:pPr indent="0" marL="0">
              <a:buNone/>
            </a:pPr>
            <a:r>
              <a:rPr lang="en-US" sz="950" b="1" dirty="0">
                <a:solidFill>
                  <a:srgbClr val="00703F"/>
                </a:solidFill>
                <a:latin typeface="Arial" pitchFamily="34" charset="0"/>
                <a:ea typeface="Arial" pitchFamily="34" charset="-122"/>
                <a:cs typeface="Arial" pitchFamily="34" charset="-120"/>
              </a:rPr>
              <a:t>✓ matches</a:t>
            </a:r>
            <a:endParaRPr lang="en-US" sz="950" dirty="0"/>
          </a:p>
        </p:txBody>
      </p:sp>
      <p:sp>
        <p:nvSpPr>
          <p:cNvPr id="45" name="Shape 43"/>
          <p:cNvSpPr/>
          <p:nvPr/>
        </p:nvSpPr>
        <p:spPr>
          <a:xfrm>
            <a:off x="9006840" y="4114800"/>
            <a:ext cx="2788920" cy="2240280"/>
          </a:xfrm>
          <a:prstGeom prst="roundRect">
            <a:avLst>
              <a:gd name="adj" fmla="val 3265"/>
            </a:avLst>
          </a:prstGeom>
          <a:solidFill>
            <a:srgbClr val="EAF0FA"/>
          </a:solidFill>
          <a:ln w="15875">
            <a:solidFill>
              <a:srgbClr val="2E5AAC"/>
            </a:solidFill>
            <a:prstDash val="solid"/>
          </a:ln>
        </p:spPr>
      </p:sp>
      <p:sp>
        <p:nvSpPr>
          <p:cNvPr id="46" name="Text 44"/>
          <p:cNvSpPr/>
          <p:nvPr/>
        </p:nvSpPr>
        <p:spPr>
          <a:xfrm>
            <a:off x="9144000" y="4206240"/>
            <a:ext cx="2514600" cy="2057400"/>
          </a:xfrm>
          <a:prstGeom prst="rect">
            <a:avLst/>
          </a:prstGeom>
          <a:noFill/>
          <a:ln/>
        </p:spPr>
        <p:txBody>
          <a:bodyPr wrap="square" rtlCol="0" anchor="t"/>
          <a:lstStyle/>
          <a:p>
            <a:pPr indent="0" marL="0">
              <a:lnSpc>
                <a:spcPct val="115000"/>
              </a:lnSpc>
              <a:buNone/>
            </a:pPr>
            <a:r>
              <a:rPr lang="en-US" sz="870" dirty="0">
                <a:solidFill>
                  <a:srgbClr val="3C4248"/>
                </a:solidFill>
                <a:latin typeface="Arial" pitchFamily="34" charset="0"/>
                <a:ea typeface="Arial" pitchFamily="34" charset="-122"/>
                <a:cs typeface="Arial" pitchFamily="34" charset="-120"/>
              </a:rPr>
              <a:t>DevLake does not auto-detect the release branch — a human configures this regex per repo. One broad pattern like ^(main|master)$ covers both naming conventions without per-app customization.</a:t>
            </a:r>
            <a:endParaRPr lang="en-US" sz="870" dirty="0"/>
          </a:p>
          <a:p>
            <a:pPr indent="0" marL="0">
              <a:lnSpc>
                <a:spcPct val="115000"/>
              </a:lnSpc>
              <a:buNone/>
            </a:pPr>
            <a:endParaRPr lang="en-US" sz="870" dirty="0"/>
          </a:p>
          <a:p>
            <a:pPr indent="0" marL="0">
              <a:lnSpc>
                <a:spcPct val="115000"/>
              </a:lnSpc>
              <a:buNone/>
            </a:pPr>
            <a:r>
              <a:rPr lang="en-US" sz="870" dirty="0">
                <a:solidFill>
                  <a:srgbClr val="3C4248"/>
                </a:solidFill>
                <a:latin typeface="Arial" pitchFamily="34" charset="0"/>
                <a:ea typeface="Arial" pitchFamily="34" charset="-122"/>
                <a:cs typeface="Arial" pitchFamily="34" charset="-120"/>
              </a:rPr>
              <a:t>Watch-out: apps using other names (release/*, prod, trunk) need to be folded into the regex too — verify your actual branch-naming inventory across all 400 apps before rollout, since DevLake's UI doesn't yet validate a regex against real data automatically.</a:t>
            </a:r>
            <a:endParaRPr lang="en-US" sz="870" dirty="0"/>
          </a:p>
        </p:txBody>
      </p:sp>
      <p:sp>
        <p:nvSpPr>
          <p:cNvPr id="47" name="Shape 45"/>
          <p:cNvSpPr/>
          <p:nvPr/>
        </p:nvSpPr>
        <p:spPr>
          <a:xfrm>
            <a:off x="365760" y="6355080"/>
            <a:ext cx="11430000" cy="384048"/>
          </a:xfrm>
          <a:prstGeom prst="roundRect">
            <a:avLst>
              <a:gd name="adj" fmla="val 11905"/>
            </a:avLst>
          </a:prstGeom>
          <a:solidFill>
            <a:srgbClr val="1F2328"/>
          </a:solidFill>
          <a:ln/>
        </p:spPr>
      </p:sp>
      <p:sp>
        <p:nvSpPr>
          <p:cNvPr id="48" name="Text 46"/>
          <p:cNvSpPr/>
          <p:nvPr/>
        </p:nvSpPr>
        <p:spPr>
          <a:xfrm>
            <a:off x="548640" y="6355080"/>
            <a:ext cx="11064240" cy="384048"/>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Takeaway: branch deletion is always safe; branch-name variance is always solvable with one well-designed regex — neither depends on merge strategy.</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2026-08-31T16:35:42Z</dcterms:created>
  <dcterms:modified xsi:type="dcterms:W3CDTF">2026-08-31T16:35:42Z</dcterms:modified>
</cp:coreProperties>
</file>