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minutes. Confident and plain; every statement here describes what the capability does or how work is structured, so none of it depends on a statistic. Open (0:45). Thank everyone. The idea for the session: we would like AI to be part of how we plan and deliver, so that deliverables reach clients sooner. Point 1 (1:30). Start from a draft, not a blank page. AI can prepare a first draft of a user story, a design flow, a piece of code, a set of test cases or a release note in moments. A draft is a starting point, and a person reviews and decides. What changes is the starting position of the team, not who is accountable. Point 2 (1:30). Run work side by side, not in a queue. Every hand-off between phases is a place where work waits. When acceptance criteria are written, test cases can be drafted straight away, so testing design does not wait for the build to finish. Documentation and release notes can be drafted while the change is being built. The picture (1:00). Same deliverable, same phases. Today they run mostly one after another. With AI, each phase can be shorter because it starts from a draft, and some work runs side by side, for example test design alongside build. The dashed box is the time we can gain: the deliverable can go live sooner. State clearly that this is an illustration of the idea, not a measurement and not a promised percentage. We will measure real results on our own deliverables, which is the "Outcome measured" point on the next slide. Time to market (0:15). Time to market is working time plus waiting time. AI reduces blank-page time and waiting time between phases. People remain accountable for every decision. Close. Same phases, same owners; AI changes the starting point and the waiting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minutes. Calm and confident; the tone is "this is how we plan", not "this is what you must do". Risks we plan for (1:00). Be matter-of-fact, not alarming. Ransomware and AI-assisted scams are harder to spot, because the same technology that helps us also helps attackers write convincing messages and imitate voices. Older platforms are harder to patch and to recover, which is why legacy and security belong in the same conversation. AI tools with wide access can expose client data, so access is designed, not assumed. AI output can be wrong, and over-trust is a real risk, which is why people stay accountable and review every AI draft. Part of every backlog (2:00). Six standing points that travel with every backlog we plan, so nobody has to remember them separately. 1. AI considered: each epic notes where AI can speed up planning, build, test or run, even if the answer is "not here". 2. Legacy decision: where an epic touches a legacy component, it carries a note: protect (harden it and prove recovery), wrap (keep the core steady and put AI and new services around it) or re-engineer (rebuild, starting from an AI-drafted understanding of what the old code does). 3. Security by design: a threat and access review is a standing story in each epic, not an afterthought. 4. Controlled AI: limited access, human approval for anything that moves money, and activity logs. 5. Recovery ready: products on older platforms keep evidence of tested restores, because having a backup is not the same as being able to recover. 6. Outcome measured: each AI use has a measure (cycle time, cost, quality) that is reviewed after release, so we learn what works. Close (0:30). These points travel with every backlog, so speed and safety are planned together. Thank everyone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8F5"/>
        </a:solidFill>
      </p:bgPr>
    </p:bg>
    <p:spTree>
      <p:nvGrpSpPr>
        <p:cNvPr id="1" name=""/>
        <p:cNvGrpSpPr/>
        <p:nvPr/>
      </p:nvGrpSpPr>
      <p:grpSpPr>
        <a:xfrm>
          <a:off x="0" y="0"/>
          <a:ext cx="0" cy="0"/>
          <a:chOff x="0" y="0"/>
          <a:chExt cx="0" cy="0"/>
        </a:xfrm>
      </p:grpSpPr>
      <p:sp>
        <p:nvSpPr>
          <p:cNvPr id="2" name="Title Placeholder 1"/>
          <p:cNvSpPr/>
          <p:nvPr>
            <p:ph type="title"/>
          </p:nvPr>
        </p:nvSpPr>
        <p:spPr>
          <a:xfrm>
            <a:off x="1041400" y="1178520"/>
            <a:ext cx="10337800" cy="419100"/>
          </a:xfrm>
          <a:prstGeom prst="rect">
            <a:avLst/>
          </a:prstGeom>
          <a:noFill/>
          <a:ln/>
        </p:spPr>
        <p:txBody>
          <a:bodyPr wrap="square" lIns="0" tIns="0" rIns="0" bIns="0" rtlCol="0" anchor="t"/>
          <a:lstStyle>
            <a:lvl1pPr algn="l" indent="0" marL="0">
              <a:lnSpc>
                <a:spcPct val="115000"/>
              </a:lnSpc>
              <a:buNone/>
              <a:defRPr lang="en-US" sz="3000" dirty="0">
                <a:solidFill>
                  <a:srgbClr val="10241B"/>
                </a:solidFill>
                <a:latin typeface="Arial" pitchFamily="34" charset="0"/>
                <a:ea typeface="Arial" pitchFamily="34" charset="-122"/>
                <a:cs typeface="Arial"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1041400" y="1902420"/>
            <a:ext cx="10337800" cy="4142780"/>
          </a:xfrm>
          <a:prstGeom prst="rect">
            <a:avLst/>
          </a:prstGeom>
          <a:noFill/>
          <a:ln/>
        </p:spPr>
        <p:txBody>
          <a:bodyPr wrap="square" lIns="0" tIns="0" rIns="0" bIns="0" rtlCol="0" anchor="t"/>
          <a:lstStyle>
            <a:lvl1pPr algn="l" indent="0" marL="0">
              <a:lnSpc>
                <a:spcPct val="140000"/>
              </a:lnSpc>
              <a:buNone/>
              <a:defRPr lang="en-US" sz="1600" dirty="0">
                <a:solidFill>
                  <a:srgbClr val="10241B"/>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8F5"/>
        </a:solidFill>
      </p:bgPr>
    </p:bg>
    <p:spTree>
      <p:nvGrpSpPr>
        <p:cNvPr id="1" name=""/>
        <p:cNvGrpSpPr/>
        <p:nvPr/>
      </p:nvGrpSpPr>
      <p:grpSpPr>
        <a:xfrm>
          <a:off x="0" y="0"/>
          <a:ext cx="0" cy="0"/>
          <a:chOff x="0" y="0"/>
          <a:chExt cx="0" cy="0"/>
        </a:xfrm>
      </p:grpSpPr>
      <p:sp>
        <p:nvSpPr>
          <p:cNvPr id="2" name="Title Placeholder 1"/>
          <p:cNvSpPr/>
          <p:nvPr>
            <p:ph type="title"/>
          </p:nvPr>
        </p:nvSpPr>
        <p:spPr>
          <a:xfrm>
            <a:off x="1041400" y="1178520"/>
            <a:ext cx="10337800" cy="419100"/>
          </a:xfrm>
          <a:prstGeom prst="rect">
            <a:avLst/>
          </a:prstGeom>
          <a:noFill/>
          <a:ln/>
        </p:spPr>
        <p:txBody>
          <a:bodyPr wrap="square" lIns="0" tIns="0" rIns="0" bIns="0" rtlCol="0" anchor="t"/>
          <a:lstStyle>
            <a:lvl1pPr algn="l" indent="0" marL="0">
              <a:lnSpc>
                <a:spcPct val="115000"/>
              </a:lnSpc>
              <a:buNone/>
              <a:defRPr lang="en-US" sz="3000" dirty="0">
                <a:solidFill>
                  <a:srgbClr val="10241B"/>
                </a:solidFill>
                <a:latin typeface="Arial" pitchFamily="34" charset="0"/>
                <a:ea typeface="Arial" pitchFamily="34" charset="-122"/>
                <a:cs typeface="Arial"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1041400" y="1902420"/>
            <a:ext cx="10337800" cy="4142780"/>
          </a:xfrm>
          <a:prstGeom prst="rect">
            <a:avLst/>
          </a:prstGeom>
          <a:noFill/>
          <a:ln/>
        </p:spPr>
        <p:txBody>
          <a:bodyPr wrap="square" lIns="0" tIns="0" rIns="0" bIns="0" rtlCol="0" anchor="t"/>
          <a:lstStyle>
            <a:lvl1pPr algn="l" indent="0" marL="0">
              <a:lnSpc>
                <a:spcPct val="140000"/>
              </a:lnSpc>
              <a:buNone/>
              <a:defRPr lang="en-US" sz="1600" dirty="0">
                <a:solidFill>
                  <a:srgbClr val="10241B"/>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5"/>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solidFill>
            <a:srgbClr val="00915A"/>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6B43"/>
                </a:solidFill>
                <a:latin typeface="Arial" pitchFamily="34" charset="0"/>
                <a:ea typeface="Arial" pitchFamily="34" charset="-122"/>
                <a:cs typeface="Arial" pitchFamily="34" charset="-120"/>
              </a:rPr>
              <a:t>1 OF 2 · AN AI-BASED SDLC</a:t>
            </a:r>
            <a:endParaRPr lang="en-US" sz="1200" dirty="0"/>
          </a:p>
        </p:txBody>
      </p:sp>
      <p:sp>
        <p:nvSpPr>
          <p:cNvPr id="4" name="Shape 2"/>
          <p:cNvSpPr/>
          <p:nvPr/>
        </p:nvSpPr>
        <p:spPr>
          <a:xfrm>
            <a:off x="850900" y="1178520"/>
            <a:ext cx="0" cy="419100"/>
          </a:xfrm>
          <a:prstGeom prst="line">
            <a:avLst/>
          </a:prstGeom>
          <a:noFill/>
          <a:ln w="76200">
            <a:solidFill>
              <a:srgbClr val="00915A"/>
            </a:solidFill>
            <a:prstDash val="solid"/>
          </a:ln>
        </p:spPr>
      </p:sp>
      <p:sp>
        <p:nvSpPr>
          <p:cNvPr id="5" name="Text 3"/>
          <p:cNvSpPr/>
          <p:nvPr>
            <p:ph type="title"/>
          </p:nvPr>
        </p:nvSpPr>
        <p:spPr>
          <a:xfrm>
            <a:off x="1041400" y="1178520"/>
            <a:ext cx="10647934"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0241B"/>
                </a:solidFill>
                <a:latin typeface="Arial" pitchFamily="34" charset="0"/>
                <a:ea typeface="Arial" pitchFamily="34" charset="-122"/>
                <a:cs typeface="Arial" pitchFamily="34" charset="-120"/>
              </a:rPr>
              <a:t>AI shortens our path from idea to client</a:t>
            </a:r>
            <a:endParaRPr lang="en-US" sz="3000" dirty="0"/>
          </a:p>
        </p:txBody>
      </p:sp>
      <p:sp>
        <p:nvSpPr>
          <p:cNvPr id="6" name="Shape 4"/>
          <p:cNvSpPr/>
          <p:nvPr/>
        </p:nvSpPr>
        <p:spPr>
          <a:xfrm>
            <a:off x="819150" y="1756370"/>
            <a:ext cx="3924300" cy="2829520"/>
          </a:xfrm>
          <a:prstGeom prst="roundRect">
            <a:avLst>
              <a:gd name="adj" fmla="val 3366"/>
            </a:avLst>
          </a:prstGeom>
          <a:solidFill>
            <a:srgbClr val="FBFDFB"/>
          </a:solidFill>
          <a:ln w="12700">
            <a:solidFill>
              <a:srgbClr val="CFE3D8"/>
            </a:solidFill>
            <a:prstDash val="solid"/>
          </a:ln>
        </p:spPr>
      </p:sp>
      <p:sp>
        <p:nvSpPr>
          <p:cNvPr id="7" name="Text 5"/>
          <p:cNvSpPr/>
          <p:nvPr/>
        </p:nvSpPr>
        <p:spPr>
          <a:xfrm>
            <a:off x="1003300" y="1940520"/>
            <a:ext cx="36626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6B43"/>
                </a:solidFill>
                <a:latin typeface="Arial" pitchFamily="34" charset="0"/>
                <a:ea typeface="Arial" pitchFamily="34" charset="-122"/>
                <a:cs typeface="Arial" pitchFamily="34" charset="-120"/>
              </a:rPr>
              <a:t>1 ·</a:t>
            </a:r>
            <a:r>
              <a:rPr lang="en-US" sz="1500" b="1" dirty="0">
                <a:solidFill>
                  <a:srgbClr val="10241B"/>
                </a:solidFill>
                <a:latin typeface="Arial" pitchFamily="34" charset="0"/>
                <a:ea typeface="Arial" pitchFamily="34" charset="-122"/>
                <a:cs typeface="Arial" pitchFamily="34" charset="-120"/>
              </a:rPr>
              <a:t> Start from a draft, not a blank page</a:t>
            </a:r>
            <a:endParaRPr lang="en-US" sz="1500" dirty="0"/>
          </a:p>
        </p:txBody>
      </p:sp>
      <p:sp>
        <p:nvSpPr>
          <p:cNvPr id="8" name="Text 6"/>
          <p:cNvSpPr/>
          <p:nvPr/>
        </p:nvSpPr>
        <p:spPr>
          <a:xfrm>
            <a:off x="1003300" y="2219920"/>
            <a:ext cx="36626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5249"/>
                </a:solidFill>
                <a:latin typeface="Arial" pitchFamily="34" charset="0"/>
                <a:ea typeface="Arial" pitchFamily="34" charset="-122"/>
                <a:cs typeface="Arial" pitchFamily="34" charset="-120"/>
              </a:rPr>
              <a:t>AI prepares first drafts of stories, designs, code, tests and release notes. People review and decide.</a:t>
            </a:r>
            <a:endParaRPr lang="en-US" sz="1200" dirty="0"/>
          </a:p>
        </p:txBody>
      </p:sp>
      <p:sp>
        <p:nvSpPr>
          <p:cNvPr id="9" name="Text 7"/>
          <p:cNvSpPr/>
          <p:nvPr/>
        </p:nvSpPr>
        <p:spPr>
          <a:xfrm>
            <a:off x="1003300" y="2798961"/>
            <a:ext cx="366268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6B43"/>
                </a:solidFill>
                <a:latin typeface="Arial" pitchFamily="34" charset="0"/>
                <a:ea typeface="Arial" pitchFamily="34" charset="-122"/>
                <a:cs typeface="Arial" pitchFamily="34" charset="-120"/>
              </a:rPr>
              <a:t>2 ·</a:t>
            </a:r>
            <a:r>
              <a:rPr lang="en-US" sz="1500" b="1" dirty="0">
                <a:solidFill>
                  <a:srgbClr val="10241B"/>
                </a:solidFill>
                <a:latin typeface="Arial" pitchFamily="34" charset="0"/>
                <a:ea typeface="Arial" pitchFamily="34" charset="-122"/>
                <a:cs typeface="Arial" pitchFamily="34" charset="-120"/>
              </a:rPr>
              <a:t> Run work side by side, not in a queue</a:t>
            </a:r>
            <a:endParaRPr lang="en-US" sz="1500" dirty="0"/>
          </a:p>
        </p:txBody>
      </p:sp>
      <p:sp>
        <p:nvSpPr>
          <p:cNvPr id="10" name="Text 8"/>
          <p:cNvSpPr/>
          <p:nvPr/>
        </p:nvSpPr>
        <p:spPr>
          <a:xfrm>
            <a:off x="1003300" y="3306961"/>
            <a:ext cx="366268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5249"/>
                </a:solidFill>
                <a:latin typeface="Arial" pitchFamily="34" charset="0"/>
                <a:ea typeface="Arial" pitchFamily="34" charset="-122"/>
                <a:cs typeface="Arial" pitchFamily="34" charset="-120"/>
              </a:rPr>
              <a:t>Tests can start as soon as acceptance criteria exist, and documentation can be drafted while the change is built.</a:t>
            </a:r>
            <a:endParaRPr lang="en-US" sz="1200" dirty="0"/>
          </a:p>
        </p:txBody>
      </p:sp>
      <p:sp>
        <p:nvSpPr>
          <p:cNvPr id="11" name="Text 9"/>
          <p:cNvSpPr/>
          <p:nvPr/>
        </p:nvSpPr>
        <p:spPr>
          <a:xfrm>
            <a:off x="4927600" y="1750020"/>
            <a:ext cx="3303191" cy="264120"/>
          </a:xfrm>
          <a:custGeom>
            <a:avLst/>
            <a:gdLst/>
            <a:ahLst/>
            <a:cxnLst/>
            <a:rect l="l" t="t" r="r" b="b"/>
            <a:pathLst>
              <a:path w="3303191" h="264120">
                <a:moveTo>
                  <a:pt x="132060" y="0"/>
                </a:moveTo>
                <a:lnTo>
                  <a:pt x="3171130" y="0"/>
                </a:lnTo>
                <a:arcTo hR="132060" wR="132060" stAng="16200000" swAng="5400000"/>
                <a:lnTo>
                  <a:pt x="3303191" y="132060"/>
                </a:lnTo>
                <a:arcTo hR="132060" wR="132060" stAng="0" swAng="5400000"/>
                <a:lnTo>
                  <a:pt x="132060" y="264120"/>
                </a:lnTo>
                <a:arcTo hR="132060" wR="132060" stAng="5400000" swAng="5400000"/>
                <a:lnTo>
                  <a:pt x="0" y="132060"/>
                </a:lnTo>
                <a:arcTo hR="132060" wR="132060" stAng="10800000" swAng="5400000"/>
                <a:close/>
              </a:path>
            </a:pathLst>
          </a:custGeom>
          <a:solidFill>
            <a:srgbClr val="DCF1E7"/>
          </a:solidFill>
          <a:ln/>
        </p:spPr>
        <p:txBody>
          <a:bodyPr wrap="none" lIns="0" tIns="0" rIns="0" bIns="0" rtlCol="0" anchor="ctr">
            <a:normAutofit/>
          </a:bodyPr>
          <a:lstStyle/>
          <a:p>
            <a:pPr algn="ctr" indent="0" marL="0">
              <a:lnSpc>
                <a:spcPts val="1680"/>
              </a:lnSpc>
              <a:buNone/>
            </a:pPr>
            <a:r>
              <a:rPr lang="en-US" sz="1200" b="1" dirty="0">
                <a:solidFill>
                  <a:srgbClr val="006B43"/>
                </a:solidFill>
                <a:latin typeface="Arial" pitchFamily="34" charset="0"/>
                <a:ea typeface="Arial" pitchFamily="34" charset="-122"/>
                <a:cs typeface="Arial" pitchFamily="34" charset="-120"/>
              </a:rPr>
              <a:t>The same deliverable, a shorter path to live</a:t>
            </a:r>
            <a:endParaRPr lang="en-US" sz="1200" dirty="0"/>
          </a:p>
        </p:txBody>
      </p:sp>
      <p:sp>
        <p:nvSpPr>
          <p:cNvPr id="12" name="Text 10"/>
          <p:cNvSpPr/>
          <p:nvPr/>
        </p:nvSpPr>
        <p:spPr>
          <a:xfrm>
            <a:off x="4927600" y="2103041"/>
            <a:ext cx="32702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5249"/>
                </a:solidFill>
                <a:latin typeface="Arial" pitchFamily="34" charset="0"/>
                <a:ea typeface="Arial" pitchFamily="34" charset="-122"/>
                <a:cs typeface="Arial" pitchFamily="34" charset="-120"/>
              </a:rPr>
              <a:t>Today: phases run one after another</a:t>
            </a:r>
            <a:endParaRPr lang="en-US" sz="1200" dirty="0"/>
          </a:p>
        </p:txBody>
      </p:sp>
      <p:sp>
        <p:nvSpPr>
          <p:cNvPr id="13" name="Text 11"/>
          <p:cNvSpPr/>
          <p:nvPr/>
        </p:nvSpPr>
        <p:spPr>
          <a:xfrm>
            <a:off x="4927600" y="2344341"/>
            <a:ext cx="952500" cy="330200"/>
          </a:xfrm>
          <a:prstGeom prst="roundRect">
            <a:avLst>
              <a:gd name="adj" fmla="val 19231"/>
            </a:avLst>
          </a:prstGeom>
          <a:solidFill>
            <a:srgbClr val="D9DDD6"/>
          </a:solidFill>
          <a:ln/>
        </p:spPr>
        <p:txBody>
          <a:bodyPr wrap="square" lIns="0" tIns="0" rIns="0" bIns="0" rtlCol="0" anchor="ctr">
            <a:normAutofit/>
          </a:bodyPr>
          <a:lstStyle/>
          <a:p>
            <a:pPr algn="ctr" indent="0" marL="0">
              <a:lnSpc>
                <a:spcPts val="1680"/>
              </a:lnSpc>
              <a:buNone/>
            </a:pPr>
            <a:r>
              <a:rPr lang="en-US" sz="1200" b="1" dirty="0">
                <a:solidFill>
                  <a:srgbClr val="10241B"/>
                </a:solidFill>
                <a:latin typeface="Arial" pitchFamily="34" charset="0"/>
                <a:ea typeface="Arial" pitchFamily="34" charset="-122"/>
                <a:cs typeface="Arial" pitchFamily="34" charset="-120"/>
              </a:rPr>
              <a:t>Plan</a:t>
            </a:r>
            <a:endParaRPr lang="en-US" sz="1200" dirty="0"/>
          </a:p>
        </p:txBody>
      </p:sp>
      <p:sp>
        <p:nvSpPr>
          <p:cNvPr id="14" name="Text 12"/>
          <p:cNvSpPr/>
          <p:nvPr/>
        </p:nvSpPr>
        <p:spPr>
          <a:xfrm>
            <a:off x="5905500" y="2344341"/>
            <a:ext cx="952500" cy="330200"/>
          </a:xfrm>
          <a:prstGeom prst="roundRect">
            <a:avLst>
              <a:gd name="adj" fmla="val 19231"/>
            </a:avLst>
          </a:prstGeom>
          <a:solidFill>
            <a:srgbClr val="D9DDD6"/>
          </a:solidFill>
          <a:ln/>
        </p:spPr>
        <p:txBody>
          <a:bodyPr wrap="square" lIns="0" tIns="0" rIns="0" bIns="0" rtlCol="0" anchor="ctr">
            <a:normAutofit/>
          </a:bodyPr>
          <a:lstStyle/>
          <a:p>
            <a:pPr algn="ctr" indent="0" marL="0">
              <a:lnSpc>
                <a:spcPts val="1680"/>
              </a:lnSpc>
              <a:buNone/>
            </a:pPr>
            <a:r>
              <a:rPr lang="en-US" sz="1200" b="1" dirty="0">
                <a:solidFill>
                  <a:srgbClr val="10241B"/>
                </a:solidFill>
                <a:latin typeface="Arial" pitchFamily="34" charset="0"/>
                <a:ea typeface="Arial" pitchFamily="34" charset="-122"/>
                <a:cs typeface="Arial" pitchFamily="34" charset="-120"/>
              </a:rPr>
              <a:t>Design</a:t>
            </a:r>
            <a:endParaRPr lang="en-US" sz="1200" dirty="0"/>
          </a:p>
        </p:txBody>
      </p:sp>
      <p:sp>
        <p:nvSpPr>
          <p:cNvPr id="15" name="Text 13"/>
          <p:cNvSpPr/>
          <p:nvPr/>
        </p:nvSpPr>
        <p:spPr>
          <a:xfrm>
            <a:off x="6883400" y="2344341"/>
            <a:ext cx="1651000" cy="330200"/>
          </a:xfrm>
          <a:prstGeom prst="roundRect">
            <a:avLst>
              <a:gd name="adj" fmla="val 19231"/>
            </a:avLst>
          </a:prstGeom>
          <a:solidFill>
            <a:srgbClr val="D9DDD6"/>
          </a:solidFill>
          <a:ln/>
        </p:spPr>
        <p:txBody>
          <a:bodyPr wrap="square" lIns="0" tIns="0" rIns="0" bIns="0" rtlCol="0" anchor="ctr">
            <a:normAutofit/>
          </a:bodyPr>
          <a:lstStyle/>
          <a:p>
            <a:pPr algn="ctr" indent="0" marL="0">
              <a:lnSpc>
                <a:spcPts val="1680"/>
              </a:lnSpc>
              <a:buNone/>
            </a:pPr>
            <a:r>
              <a:rPr lang="en-US" sz="1200" b="1" dirty="0">
                <a:solidFill>
                  <a:srgbClr val="10241B"/>
                </a:solidFill>
                <a:latin typeface="Arial" pitchFamily="34" charset="0"/>
                <a:ea typeface="Arial" pitchFamily="34" charset="-122"/>
                <a:cs typeface="Arial" pitchFamily="34" charset="-120"/>
              </a:rPr>
              <a:t>Build</a:t>
            </a:r>
            <a:endParaRPr lang="en-US" sz="1200" dirty="0"/>
          </a:p>
        </p:txBody>
      </p:sp>
      <p:sp>
        <p:nvSpPr>
          <p:cNvPr id="16" name="Text 14"/>
          <p:cNvSpPr/>
          <p:nvPr/>
        </p:nvSpPr>
        <p:spPr>
          <a:xfrm>
            <a:off x="8559800" y="2344341"/>
            <a:ext cx="1206500" cy="330200"/>
          </a:xfrm>
          <a:prstGeom prst="roundRect">
            <a:avLst>
              <a:gd name="adj" fmla="val 19231"/>
            </a:avLst>
          </a:prstGeom>
          <a:solidFill>
            <a:srgbClr val="D9DDD6"/>
          </a:solidFill>
          <a:ln/>
        </p:spPr>
        <p:txBody>
          <a:bodyPr wrap="square" lIns="0" tIns="0" rIns="0" bIns="0" rtlCol="0" anchor="ctr">
            <a:normAutofit/>
          </a:bodyPr>
          <a:lstStyle/>
          <a:p>
            <a:pPr algn="ctr" indent="0" marL="0">
              <a:lnSpc>
                <a:spcPts val="1680"/>
              </a:lnSpc>
              <a:buNone/>
            </a:pPr>
            <a:r>
              <a:rPr lang="en-US" sz="1200" b="1" dirty="0">
                <a:solidFill>
                  <a:srgbClr val="10241B"/>
                </a:solidFill>
                <a:latin typeface="Arial" pitchFamily="34" charset="0"/>
                <a:ea typeface="Arial" pitchFamily="34" charset="-122"/>
                <a:cs typeface="Arial" pitchFamily="34" charset="-120"/>
              </a:rPr>
              <a:t>Test</a:t>
            </a:r>
            <a:endParaRPr lang="en-US" sz="1200" dirty="0"/>
          </a:p>
        </p:txBody>
      </p:sp>
      <p:sp>
        <p:nvSpPr>
          <p:cNvPr id="17" name="Text 15"/>
          <p:cNvSpPr/>
          <p:nvPr/>
        </p:nvSpPr>
        <p:spPr>
          <a:xfrm>
            <a:off x="9791700" y="2344341"/>
            <a:ext cx="762000" cy="330200"/>
          </a:xfrm>
          <a:prstGeom prst="roundRect">
            <a:avLst>
              <a:gd name="adj" fmla="val 19231"/>
            </a:avLst>
          </a:prstGeom>
          <a:solidFill>
            <a:srgbClr val="D9DDD6"/>
          </a:solidFill>
          <a:ln/>
        </p:spPr>
        <p:txBody>
          <a:bodyPr wrap="square" lIns="0" tIns="0" rIns="0" bIns="0" rtlCol="0" anchor="ctr">
            <a:normAutofit/>
          </a:bodyPr>
          <a:lstStyle/>
          <a:p>
            <a:pPr algn="ctr" indent="0" marL="0">
              <a:lnSpc>
                <a:spcPts val="1680"/>
              </a:lnSpc>
              <a:buNone/>
            </a:pPr>
            <a:r>
              <a:rPr lang="en-US" sz="1200" b="1" dirty="0">
                <a:solidFill>
                  <a:srgbClr val="10241B"/>
                </a:solidFill>
                <a:latin typeface="Arial" pitchFamily="34" charset="0"/>
                <a:ea typeface="Arial" pitchFamily="34" charset="-122"/>
                <a:cs typeface="Arial" pitchFamily="34" charset="-120"/>
              </a:rPr>
              <a:t>Release</a:t>
            </a:r>
            <a:endParaRPr lang="en-US" sz="1200" dirty="0"/>
          </a:p>
        </p:txBody>
      </p:sp>
      <p:sp>
        <p:nvSpPr>
          <p:cNvPr id="18" name="Text 16"/>
          <p:cNvSpPr/>
          <p:nvPr/>
        </p:nvSpPr>
        <p:spPr>
          <a:xfrm>
            <a:off x="4927600" y="2814241"/>
            <a:ext cx="45783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6B43"/>
                </a:solidFill>
                <a:latin typeface="Arial" pitchFamily="34" charset="0"/>
                <a:ea typeface="Arial" pitchFamily="34" charset="-122"/>
                <a:cs typeface="Arial" pitchFamily="34" charset="-120"/>
              </a:rPr>
              <a:t>With AI: shorter phases, more side by side</a:t>
            </a:r>
            <a:endParaRPr lang="en-US" sz="1200" dirty="0"/>
          </a:p>
        </p:txBody>
      </p:sp>
      <p:sp>
        <p:nvSpPr>
          <p:cNvPr id="19" name="Text 17"/>
          <p:cNvSpPr/>
          <p:nvPr/>
        </p:nvSpPr>
        <p:spPr>
          <a:xfrm>
            <a:off x="4933950" y="3061891"/>
            <a:ext cx="749300" cy="317500"/>
          </a:xfrm>
          <a:prstGeom prst="roundRect">
            <a:avLst>
              <a:gd name="adj" fmla="val 18000"/>
            </a:avLst>
          </a:prstGeom>
          <a:solidFill>
            <a:srgbClr val="DCF1E7"/>
          </a:solidFill>
          <a:ln w="12700">
            <a:solidFill>
              <a:srgbClr val="00915A"/>
            </a:solidFill>
            <a:prstDash val="solid"/>
          </a:ln>
        </p:spPr>
        <p:txBody>
          <a:bodyPr wrap="square" lIns="0" tIns="0" rIns="0" bIns="0" rtlCol="0" anchor="ctr">
            <a:normAutofit/>
          </a:bodyPr>
          <a:lstStyle/>
          <a:p>
            <a:pPr algn="ctr" indent="0" marL="0">
              <a:lnSpc>
                <a:spcPts val="1680"/>
              </a:lnSpc>
              <a:buNone/>
            </a:pPr>
            <a:r>
              <a:rPr lang="en-US" sz="1200" b="1" dirty="0">
                <a:solidFill>
                  <a:srgbClr val="10241B"/>
                </a:solidFill>
                <a:latin typeface="Arial" pitchFamily="34" charset="0"/>
                <a:ea typeface="Arial" pitchFamily="34" charset="-122"/>
                <a:cs typeface="Arial" pitchFamily="34" charset="-120"/>
              </a:rPr>
              <a:t>Plan</a:t>
            </a:r>
            <a:endParaRPr lang="en-US" sz="1200" dirty="0"/>
          </a:p>
        </p:txBody>
      </p:sp>
      <p:sp>
        <p:nvSpPr>
          <p:cNvPr id="20" name="Text 18"/>
          <p:cNvSpPr/>
          <p:nvPr/>
        </p:nvSpPr>
        <p:spPr>
          <a:xfrm>
            <a:off x="5721350" y="3061891"/>
            <a:ext cx="749300" cy="317500"/>
          </a:xfrm>
          <a:prstGeom prst="roundRect">
            <a:avLst>
              <a:gd name="adj" fmla="val 18000"/>
            </a:avLst>
          </a:prstGeom>
          <a:solidFill>
            <a:srgbClr val="DCF1E7"/>
          </a:solidFill>
          <a:ln w="12700">
            <a:solidFill>
              <a:srgbClr val="00915A"/>
            </a:solidFill>
            <a:prstDash val="solid"/>
          </a:ln>
        </p:spPr>
        <p:txBody>
          <a:bodyPr wrap="square" lIns="0" tIns="0" rIns="0" bIns="0" rtlCol="0" anchor="ctr">
            <a:normAutofit/>
          </a:bodyPr>
          <a:lstStyle/>
          <a:p>
            <a:pPr algn="ctr" indent="0" marL="0">
              <a:lnSpc>
                <a:spcPts val="1680"/>
              </a:lnSpc>
              <a:buNone/>
            </a:pPr>
            <a:r>
              <a:rPr lang="en-US" sz="1200" b="1" dirty="0">
                <a:solidFill>
                  <a:srgbClr val="10241B"/>
                </a:solidFill>
                <a:latin typeface="Arial" pitchFamily="34" charset="0"/>
                <a:ea typeface="Arial" pitchFamily="34" charset="-122"/>
                <a:cs typeface="Arial" pitchFamily="34" charset="-120"/>
              </a:rPr>
              <a:t>Design</a:t>
            </a:r>
            <a:endParaRPr lang="en-US" sz="1200" dirty="0"/>
          </a:p>
        </p:txBody>
      </p:sp>
      <p:sp>
        <p:nvSpPr>
          <p:cNvPr id="21" name="Text 19"/>
          <p:cNvSpPr/>
          <p:nvPr/>
        </p:nvSpPr>
        <p:spPr>
          <a:xfrm>
            <a:off x="6508750" y="3061891"/>
            <a:ext cx="1384300" cy="317500"/>
          </a:xfrm>
          <a:prstGeom prst="roundRect">
            <a:avLst>
              <a:gd name="adj" fmla="val 18000"/>
            </a:avLst>
          </a:prstGeom>
          <a:solidFill>
            <a:srgbClr val="DCF1E7"/>
          </a:solidFill>
          <a:ln w="12700">
            <a:solidFill>
              <a:srgbClr val="00915A"/>
            </a:solidFill>
            <a:prstDash val="solid"/>
          </a:ln>
        </p:spPr>
        <p:txBody>
          <a:bodyPr wrap="square" lIns="0" tIns="0" rIns="0" bIns="0" rtlCol="0" anchor="ctr">
            <a:normAutofit/>
          </a:bodyPr>
          <a:lstStyle/>
          <a:p>
            <a:pPr algn="ctr" indent="0" marL="0">
              <a:lnSpc>
                <a:spcPts val="1680"/>
              </a:lnSpc>
              <a:buNone/>
            </a:pPr>
            <a:r>
              <a:rPr lang="en-US" sz="1200" b="1" dirty="0">
                <a:solidFill>
                  <a:srgbClr val="10241B"/>
                </a:solidFill>
                <a:latin typeface="Arial" pitchFamily="34" charset="0"/>
                <a:ea typeface="Arial" pitchFamily="34" charset="-122"/>
                <a:cs typeface="Arial" pitchFamily="34" charset="-120"/>
              </a:rPr>
              <a:t>Build</a:t>
            </a:r>
            <a:endParaRPr lang="en-US" sz="1200" dirty="0"/>
          </a:p>
        </p:txBody>
      </p:sp>
      <p:sp>
        <p:nvSpPr>
          <p:cNvPr id="22" name="Text 20"/>
          <p:cNvSpPr/>
          <p:nvPr/>
        </p:nvSpPr>
        <p:spPr>
          <a:xfrm>
            <a:off x="7092950" y="3442891"/>
            <a:ext cx="1257300" cy="317500"/>
          </a:xfrm>
          <a:prstGeom prst="roundRect">
            <a:avLst>
              <a:gd name="adj" fmla="val 18000"/>
            </a:avLst>
          </a:prstGeom>
          <a:solidFill>
            <a:srgbClr val="7FE0B4"/>
          </a:solidFill>
          <a:ln w="12700">
            <a:solidFill>
              <a:srgbClr val="00915A"/>
            </a:solidFill>
            <a:prstDash val="solid"/>
          </a:ln>
        </p:spPr>
        <p:txBody>
          <a:bodyPr wrap="square" lIns="0" tIns="0" rIns="0" bIns="0" rtlCol="0" anchor="ctr">
            <a:normAutofit/>
          </a:bodyPr>
          <a:lstStyle/>
          <a:p>
            <a:pPr algn="ctr" indent="0" marL="0">
              <a:lnSpc>
                <a:spcPts val="1680"/>
              </a:lnSpc>
              <a:buNone/>
            </a:pPr>
            <a:r>
              <a:rPr lang="en-US" sz="1200" b="1" dirty="0">
                <a:solidFill>
                  <a:srgbClr val="10241B"/>
                </a:solidFill>
                <a:latin typeface="Arial" pitchFamily="34" charset="0"/>
                <a:ea typeface="Arial" pitchFamily="34" charset="-122"/>
                <a:cs typeface="Arial" pitchFamily="34" charset="-120"/>
              </a:rPr>
              <a:t>Test</a:t>
            </a:r>
            <a:endParaRPr lang="en-US" sz="1200" dirty="0"/>
          </a:p>
        </p:txBody>
      </p:sp>
      <p:sp>
        <p:nvSpPr>
          <p:cNvPr id="23" name="Text 21"/>
          <p:cNvSpPr/>
          <p:nvPr/>
        </p:nvSpPr>
        <p:spPr>
          <a:xfrm>
            <a:off x="8388350" y="3061891"/>
            <a:ext cx="749300" cy="317500"/>
          </a:xfrm>
          <a:prstGeom prst="roundRect">
            <a:avLst>
              <a:gd name="adj" fmla="val 18000"/>
            </a:avLst>
          </a:prstGeom>
          <a:solidFill>
            <a:srgbClr val="DCF1E7"/>
          </a:solidFill>
          <a:ln w="12700">
            <a:solidFill>
              <a:srgbClr val="00915A"/>
            </a:solidFill>
            <a:prstDash val="solid"/>
          </a:ln>
        </p:spPr>
        <p:txBody>
          <a:bodyPr wrap="square" lIns="0" tIns="0" rIns="0" bIns="0" rtlCol="0" anchor="ctr">
            <a:normAutofit/>
          </a:bodyPr>
          <a:lstStyle/>
          <a:p>
            <a:pPr algn="ctr" indent="0" marL="0">
              <a:lnSpc>
                <a:spcPts val="1680"/>
              </a:lnSpc>
              <a:buNone/>
            </a:pPr>
            <a:r>
              <a:rPr lang="en-US" sz="1200" b="1" dirty="0">
                <a:solidFill>
                  <a:srgbClr val="10241B"/>
                </a:solidFill>
                <a:latin typeface="Arial" pitchFamily="34" charset="0"/>
                <a:ea typeface="Arial" pitchFamily="34" charset="-122"/>
                <a:cs typeface="Arial" pitchFamily="34" charset="-120"/>
              </a:rPr>
              <a:t>Release</a:t>
            </a:r>
            <a:endParaRPr lang="en-US" sz="1200" dirty="0"/>
          </a:p>
        </p:txBody>
      </p:sp>
      <p:sp>
        <p:nvSpPr>
          <p:cNvPr id="24" name="Text 22"/>
          <p:cNvSpPr/>
          <p:nvPr/>
        </p:nvSpPr>
        <p:spPr>
          <a:xfrm>
            <a:off x="9175750" y="3061891"/>
            <a:ext cx="1371600" cy="317500"/>
          </a:xfrm>
          <a:prstGeom prst="roundRect">
            <a:avLst>
              <a:gd name="adj" fmla="val 18000"/>
            </a:avLst>
          </a:prstGeom>
          <a:noFill/>
          <a:ln w="12700">
            <a:solidFill>
              <a:srgbClr val="00915A"/>
            </a:solidFill>
            <a:prstDash val="dash"/>
          </a:ln>
        </p:spPr>
        <p:txBody>
          <a:bodyPr wrap="square" lIns="0" tIns="0" rIns="0" bIns="0" rtlCol="0" anchor="ctr">
            <a:normAutofit/>
          </a:bodyPr>
          <a:lstStyle/>
          <a:p>
            <a:pPr algn="ctr" indent="0" marL="0">
              <a:lnSpc>
                <a:spcPts val="1680"/>
              </a:lnSpc>
              <a:buNone/>
            </a:pPr>
            <a:r>
              <a:rPr lang="en-US" sz="1200" b="1" dirty="0">
                <a:solidFill>
                  <a:srgbClr val="006B43"/>
                </a:solidFill>
                <a:latin typeface="Arial" pitchFamily="34" charset="0"/>
                <a:ea typeface="Arial" pitchFamily="34" charset="-122"/>
                <a:cs typeface="Arial" pitchFamily="34" charset="-120"/>
              </a:rPr>
              <a:t>Live sooner</a:t>
            </a:r>
            <a:endParaRPr lang="en-US" sz="1200" dirty="0"/>
          </a:p>
        </p:txBody>
      </p:sp>
      <p:sp>
        <p:nvSpPr>
          <p:cNvPr id="25" name="Text 23"/>
          <p:cNvSpPr/>
          <p:nvPr/>
        </p:nvSpPr>
        <p:spPr>
          <a:xfrm>
            <a:off x="4927600" y="3957241"/>
            <a:ext cx="1863030" cy="264120"/>
          </a:xfrm>
          <a:custGeom>
            <a:avLst/>
            <a:gdLst/>
            <a:ahLst/>
            <a:cxnLst/>
            <a:rect l="l" t="t" r="r" b="b"/>
            <a:pathLst>
              <a:path w="1863030" h="264120">
                <a:moveTo>
                  <a:pt x="132060" y="0"/>
                </a:moveTo>
                <a:lnTo>
                  <a:pt x="1730970" y="0"/>
                </a:lnTo>
                <a:arcTo hR="132060" wR="132060" stAng="16200000" swAng="5400000"/>
                <a:lnTo>
                  <a:pt x="1863030" y="132060"/>
                </a:lnTo>
                <a:arcTo hR="132060" wR="132060" stAng="0" swAng="5400000"/>
                <a:lnTo>
                  <a:pt x="132060" y="264120"/>
                </a:lnTo>
                <a:arcTo hR="132060" wR="132060" stAng="5400000" swAng="5400000"/>
                <a:lnTo>
                  <a:pt x="0" y="132060"/>
                </a:lnTo>
                <a:arcTo hR="132060" wR="132060" stAng="10800000" swAng="5400000"/>
                <a:close/>
              </a:path>
            </a:pathLst>
          </a:custGeom>
          <a:solidFill>
            <a:srgbClr val="DCF1E7"/>
          </a:solidFill>
          <a:ln/>
        </p:spPr>
        <p:txBody>
          <a:bodyPr wrap="none" lIns="0" tIns="0" rIns="0" bIns="0" rtlCol="0" anchor="ctr">
            <a:normAutofit/>
          </a:bodyPr>
          <a:lstStyle/>
          <a:p>
            <a:pPr algn="ctr" indent="0" marL="0">
              <a:lnSpc>
                <a:spcPts val="1680"/>
              </a:lnSpc>
              <a:buNone/>
            </a:pPr>
            <a:r>
              <a:rPr lang="en-US" sz="1200" b="1" dirty="0">
                <a:solidFill>
                  <a:srgbClr val="006B43"/>
                </a:solidFill>
                <a:latin typeface="Arial" pitchFamily="34" charset="0"/>
                <a:ea typeface="Arial" pitchFamily="34" charset="-122"/>
                <a:cs typeface="Arial" pitchFamily="34" charset="-120"/>
              </a:rPr>
              <a:t>Drafts, not blank pages</a:t>
            </a:r>
            <a:endParaRPr lang="en-US" sz="1200" dirty="0"/>
          </a:p>
        </p:txBody>
      </p:sp>
      <p:sp>
        <p:nvSpPr>
          <p:cNvPr id="26" name="Text 24"/>
          <p:cNvSpPr/>
          <p:nvPr/>
        </p:nvSpPr>
        <p:spPr>
          <a:xfrm>
            <a:off x="6866830" y="3957241"/>
            <a:ext cx="1335584" cy="264120"/>
          </a:xfrm>
          <a:custGeom>
            <a:avLst/>
            <a:gdLst/>
            <a:ahLst/>
            <a:cxnLst/>
            <a:rect l="l" t="t" r="r" b="b"/>
            <a:pathLst>
              <a:path w="1335584" h="264120">
                <a:moveTo>
                  <a:pt x="132060" y="0"/>
                </a:moveTo>
                <a:lnTo>
                  <a:pt x="1203523" y="0"/>
                </a:lnTo>
                <a:arcTo hR="132060" wR="132060" stAng="16200000" swAng="5400000"/>
                <a:lnTo>
                  <a:pt x="1335584" y="132060"/>
                </a:lnTo>
                <a:arcTo hR="132060" wR="132060" stAng="0" swAng="5400000"/>
                <a:lnTo>
                  <a:pt x="132060" y="264120"/>
                </a:lnTo>
                <a:arcTo hR="132060" wR="132060" stAng="5400000" swAng="5400000"/>
                <a:lnTo>
                  <a:pt x="0" y="132060"/>
                </a:lnTo>
                <a:arcTo hR="132060" wR="132060" stAng="10800000" swAng="5400000"/>
                <a:close/>
              </a:path>
            </a:pathLst>
          </a:custGeom>
          <a:solidFill>
            <a:srgbClr val="DCF1E7"/>
          </a:solidFill>
          <a:ln/>
        </p:spPr>
        <p:txBody>
          <a:bodyPr wrap="none" lIns="0" tIns="0" rIns="0" bIns="0" rtlCol="0" anchor="ctr">
            <a:normAutofit/>
          </a:bodyPr>
          <a:lstStyle/>
          <a:p>
            <a:pPr algn="ctr" indent="0" marL="0">
              <a:lnSpc>
                <a:spcPts val="1680"/>
              </a:lnSpc>
              <a:buNone/>
            </a:pPr>
            <a:r>
              <a:rPr lang="en-US" sz="1200" b="1" dirty="0">
                <a:solidFill>
                  <a:srgbClr val="006B43"/>
                </a:solidFill>
                <a:latin typeface="Arial" pitchFamily="34" charset="0"/>
                <a:ea typeface="Arial" pitchFamily="34" charset="-122"/>
                <a:cs typeface="Arial" pitchFamily="34" charset="-120"/>
              </a:rPr>
              <a:t>Tests start early</a:t>
            </a:r>
            <a:endParaRPr lang="en-US" sz="1200" dirty="0"/>
          </a:p>
        </p:txBody>
      </p:sp>
      <p:sp>
        <p:nvSpPr>
          <p:cNvPr id="27" name="Text 25"/>
          <p:cNvSpPr/>
          <p:nvPr/>
        </p:nvSpPr>
        <p:spPr>
          <a:xfrm>
            <a:off x="8278614" y="3957241"/>
            <a:ext cx="1913731" cy="264120"/>
          </a:xfrm>
          <a:custGeom>
            <a:avLst/>
            <a:gdLst/>
            <a:ahLst/>
            <a:cxnLst/>
            <a:rect l="l" t="t" r="r" b="b"/>
            <a:pathLst>
              <a:path w="1913731" h="264120">
                <a:moveTo>
                  <a:pt x="132060" y="0"/>
                </a:moveTo>
                <a:lnTo>
                  <a:pt x="1781671" y="0"/>
                </a:lnTo>
                <a:arcTo hR="132060" wR="132060" stAng="16200000" swAng="5400000"/>
                <a:lnTo>
                  <a:pt x="1913731" y="132060"/>
                </a:lnTo>
                <a:arcTo hR="132060" wR="132060" stAng="0" swAng="5400000"/>
                <a:lnTo>
                  <a:pt x="132060" y="264120"/>
                </a:lnTo>
                <a:arcTo hR="132060" wR="132060" stAng="5400000" swAng="5400000"/>
                <a:lnTo>
                  <a:pt x="0" y="132060"/>
                </a:lnTo>
                <a:arcTo hR="132060" wR="132060" stAng="10800000" swAng="5400000"/>
                <a:close/>
              </a:path>
            </a:pathLst>
          </a:custGeom>
          <a:solidFill>
            <a:srgbClr val="DCF1E7"/>
          </a:solidFill>
          <a:ln/>
        </p:spPr>
        <p:txBody>
          <a:bodyPr wrap="none" lIns="0" tIns="0" rIns="0" bIns="0" rtlCol="0" anchor="ctr">
            <a:normAutofit/>
          </a:bodyPr>
          <a:lstStyle/>
          <a:p>
            <a:pPr algn="ctr" indent="0" marL="0">
              <a:lnSpc>
                <a:spcPts val="1680"/>
              </a:lnSpc>
              <a:buNone/>
            </a:pPr>
            <a:r>
              <a:rPr lang="en-US" sz="1200" b="1" dirty="0">
                <a:solidFill>
                  <a:srgbClr val="006B43"/>
                </a:solidFill>
                <a:latin typeface="Arial" pitchFamily="34" charset="0"/>
                <a:ea typeface="Arial" pitchFamily="34" charset="-122"/>
                <a:cs typeface="Arial" pitchFamily="34" charset="-120"/>
              </a:rPr>
              <a:t>Notes drafted alongside</a:t>
            </a:r>
            <a:endParaRPr lang="en-US" sz="1200" dirty="0"/>
          </a:p>
        </p:txBody>
      </p:sp>
      <p:sp>
        <p:nvSpPr>
          <p:cNvPr id="28" name="Text 26"/>
          <p:cNvSpPr/>
          <p:nvPr/>
        </p:nvSpPr>
        <p:spPr>
          <a:xfrm>
            <a:off x="4927600" y="4325541"/>
            <a:ext cx="6645148"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3F5249"/>
                </a:solidFill>
                <a:latin typeface="Arial" pitchFamily="34" charset="0"/>
                <a:ea typeface="Arial" pitchFamily="34" charset="-122"/>
                <a:cs typeface="Arial" pitchFamily="34" charset="-120"/>
              </a:rPr>
              <a:t>Illustration of the idea, not to scale.</a:t>
            </a:r>
            <a:endParaRPr lang="en-US" sz="1200" dirty="0"/>
          </a:p>
        </p:txBody>
      </p:sp>
      <p:sp>
        <p:nvSpPr>
          <p:cNvPr id="29" name="Text 27"/>
          <p:cNvSpPr/>
          <p:nvPr/>
        </p:nvSpPr>
        <p:spPr>
          <a:xfrm>
            <a:off x="812800" y="4744641"/>
            <a:ext cx="10566400" cy="604441"/>
          </a:xfrm>
          <a:prstGeom prst="roundRect">
            <a:avLst>
              <a:gd name="adj" fmla="val 16809"/>
            </a:avLst>
          </a:prstGeom>
          <a:solidFill>
            <a:srgbClr val="063D2A"/>
          </a:solidFill>
          <a:ln/>
        </p:spPr>
        <p:txBody>
          <a:bodyPr wrap="square" lIns="224242" tIns="148042" rIns="0" bIns="122642" rtlCol="0" anchor="t">
            <a:normAutofit/>
          </a:bodyPr>
          <a:lstStyle/>
          <a:p>
            <a:pPr algn="l" indent="0" marL="0">
              <a:lnSpc>
                <a:spcPts val="1960"/>
              </a:lnSpc>
              <a:buNone/>
            </a:pPr>
            <a:r>
              <a:rPr lang="en-US" sz="1400" b="1" dirty="0">
                <a:solidFill>
                  <a:srgbClr val="7FE0B4"/>
                </a:solidFill>
                <a:latin typeface="Arial" pitchFamily="34" charset="0"/>
                <a:ea typeface="Arial" pitchFamily="34" charset="-122"/>
                <a:cs typeface="Arial" pitchFamily="34" charset="-120"/>
              </a:rPr>
              <a:t>Same phases, same owners.</a:t>
            </a:r>
            <a:r>
              <a:rPr lang="en-US" sz="1400" dirty="0">
                <a:solidFill>
                  <a:srgbClr val="F4F8F5"/>
                </a:solidFill>
                <a:latin typeface="Arial" pitchFamily="34" charset="0"/>
                <a:ea typeface="Arial" pitchFamily="34" charset="-122"/>
                <a:cs typeface="Arial" pitchFamily="34" charset="-120"/>
              </a:rPr>
              <a:t> AI changes the starting point and the waiting time.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5"/>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solidFill>
            <a:srgbClr val="00915A"/>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6B43"/>
                </a:solidFill>
                <a:latin typeface="Arial" pitchFamily="34" charset="0"/>
                <a:ea typeface="Arial" pitchFamily="34" charset="-122"/>
                <a:cs typeface="Arial" pitchFamily="34" charset="-120"/>
              </a:rPr>
              <a:t>2 OF 2 · STANDING BACKLOG POINTS</a:t>
            </a:r>
            <a:endParaRPr lang="en-US" sz="1200" dirty="0"/>
          </a:p>
        </p:txBody>
      </p:sp>
      <p:sp>
        <p:nvSpPr>
          <p:cNvPr id="4" name="Shape 2"/>
          <p:cNvSpPr/>
          <p:nvPr/>
        </p:nvSpPr>
        <p:spPr>
          <a:xfrm>
            <a:off x="850900" y="1178520"/>
            <a:ext cx="0" cy="419100"/>
          </a:xfrm>
          <a:prstGeom prst="line">
            <a:avLst/>
          </a:prstGeom>
          <a:noFill/>
          <a:ln w="76200">
            <a:solidFill>
              <a:srgbClr val="00915A"/>
            </a:solidFill>
            <a:prstDash val="solid"/>
          </a:ln>
        </p:spPr>
      </p:sp>
      <p:sp>
        <p:nvSpPr>
          <p:cNvPr id="5" name="Text 3"/>
          <p:cNvSpPr/>
          <p:nvPr>
            <p:ph type="title"/>
          </p:nvPr>
        </p:nvSpPr>
        <p:spPr>
          <a:xfrm>
            <a:off x="1041400" y="1178520"/>
            <a:ext cx="10647934"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0241B"/>
                </a:solidFill>
                <a:latin typeface="Arial" pitchFamily="34" charset="0"/>
                <a:ea typeface="Arial" pitchFamily="34" charset="-122"/>
                <a:cs typeface="Arial" pitchFamily="34" charset="-120"/>
              </a:rPr>
              <a:t>Included in every backlog we plan</a:t>
            </a:r>
            <a:endParaRPr lang="en-US" sz="3000" dirty="0"/>
          </a:p>
        </p:txBody>
      </p:sp>
      <p:sp>
        <p:nvSpPr>
          <p:cNvPr id="6" name="Shape 4"/>
          <p:cNvSpPr/>
          <p:nvPr/>
        </p:nvSpPr>
        <p:spPr>
          <a:xfrm>
            <a:off x="819150" y="1756370"/>
            <a:ext cx="3543300" cy="2765623"/>
          </a:xfrm>
          <a:prstGeom prst="roundRect">
            <a:avLst>
              <a:gd name="adj" fmla="val 3444"/>
            </a:avLst>
          </a:prstGeom>
          <a:solidFill>
            <a:srgbClr val="FBFDFB"/>
          </a:solidFill>
          <a:ln w="12700">
            <a:solidFill>
              <a:srgbClr val="E3D2CC"/>
            </a:solidFill>
            <a:prstDash val="solid"/>
          </a:ln>
        </p:spPr>
      </p:sp>
      <p:sp>
        <p:nvSpPr>
          <p:cNvPr id="7" name="Text 5"/>
          <p:cNvSpPr/>
          <p:nvPr/>
        </p:nvSpPr>
        <p:spPr>
          <a:xfrm>
            <a:off x="1003300" y="1940520"/>
            <a:ext cx="1431230" cy="264120"/>
          </a:xfrm>
          <a:custGeom>
            <a:avLst/>
            <a:gdLst/>
            <a:ahLst/>
            <a:cxnLst/>
            <a:rect l="l" t="t" r="r" b="b"/>
            <a:pathLst>
              <a:path w="1431230" h="264120">
                <a:moveTo>
                  <a:pt x="132060" y="0"/>
                </a:moveTo>
                <a:lnTo>
                  <a:pt x="1299170" y="0"/>
                </a:lnTo>
                <a:arcTo hR="132060" wR="132060" stAng="16200000" swAng="5400000"/>
                <a:lnTo>
                  <a:pt x="1431230" y="132060"/>
                </a:lnTo>
                <a:arcTo hR="132060" wR="132060" stAng="0" swAng="5400000"/>
                <a:lnTo>
                  <a:pt x="132060" y="264120"/>
                </a:lnTo>
                <a:arcTo hR="132060" wR="132060" stAng="5400000" swAng="5400000"/>
                <a:lnTo>
                  <a:pt x="0" y="132060"/>
                </a:lnTo>
                <a:arcTo hR="132060" wR="132060" stAng="10800000" swAng="5400000"/>
                <a:close/>
              </a:path>
            </a:pathLst>
          </a:custGeom>
          <a:solidFill>
            <a:srgbClr val="F3DDD6"/>
          </a:solidFill>
          <a:ln/>
        </p:spPr>
        <p:txBody>
          <a:bodyPr wrap="none" lIns="0" tIns="0" rIns="0" bIns="0" rtlCol="0" anchor="ctr">
            <a:normAutofit/>
          </a:bodyPr>
          <a:lstStyle/>
          <a:p>
            <a:pPr algn="ctr" indent="0" marL="0">
              <a:lnSpc>
                <a:spcPts val="1680"/>
              </a:lnSpc>
              <a:buNone/>
            </a:pPr>
            <a:r>
              <a:rPr lang="en-US" sz="1200" b="1" dirty="0">
                <a:solidFill>
                  <a:srgbClr val="8A2C18"/>
                </a:solidFill>
                <a:latin typeface="Arial" pitchFamily="34" charset="0"/>
                <a:ea typeface="Arial" pitchFamily="34" charset="-122"/>
                <a:cs typeface="Arial" pitchFamily="34" charset="-120"/>
              </a:rPr>
              <a:t>Risks we plan for</a:t>
            </a:r>
            <a:endParaRPr lang="en-US" sz="1200" dirty="0"/>
          </a:p>
        </p:txBody>
      </p:sp>
      <p:sp>
        <p:nvSpPr>
          <p:cNvPr id="8" name="Text 6"/>
          <p:cNvSpPr/>
          <p:nvPr/>
        </p:nvSpPr>
        <p:spPr>
          <a:xfrm>
            <a:off x="1003300" y="2293541"/>
            <a:ext cx="327025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41B"/>
                </a:solidFill>
                <a:latin typeface="Arial" pitchFamily="34" charset="0"/>
                <a:ea typeface="Arial" pitchFamily="34" charset="-122"/>
                <a:cs typeface="Arial" pitchFamily="34" charset="-120"/>
              </a:rPr>
              <a:t>Speed brings exposure</a:t>
            </a:r>
            <a:endParaRPr lang="en-US" sz="1600" dirty="0"/>
          </a:p>
        </p:txBody>
      </p:sp>
      <p:sp>
        <p:nvSpPr>
          <p:cNvPr id="9" name="Text 7"/>
          <p:cNvSpPr/>
          <p:nvPr/>
        </p:nvSpPr>
        <p:spPr>
          <a:xfrm>
            <a:off x="1114806" y="2626221"/>
            <a:ext cx="3151124" cy="1731963"/>
          </a:xfrm>
          <a:prstGeom prst="rect">
            <a:avLst/>
          </a:prstGeom>
          <a:noFill/>
          <a:ln/>
        </p:spPr>
        <p:txBody>
          <a:bodyPr wrap="square" lIns="0" tIns="0" rIns="0" bIns="0" rtlCol="0" anchor="t">
            <a:normAutofit/>
          </a:bodyPr>
          <a:lstStyle/>
          <a:p>
            <a:pPr algn="l" marL="142494" indent="-142494">
              <a:lnSpc>
                <a:spcPts val="1680"/>
              </a:lnSpc>
              <a:buSzPct val="100000"/>
              <a:buChar char="•"/>
            </a:pPr>
            <a:r>
              <a:rPr lang="en-US" sz="1200" dirty="0">
                <a:solidFill>
                  <a:srgbClr val="3F5249"/>
                </a:solidFill>
                <a:latin typeface="Arial" pitchFamily="34" charset="0"/>
                <a:ea typeface="Arial" pitchFamily="34" charset="-122"/>
                <a:cs typeface="Arial" pitchFamily="34" charset="-120"/>
              </a:rPr>
              <a:t>Ransomware and AI-assisted scams are harder to spot.</a:t>
            </a:r>
            <a:endParaRPr lang="en-US" sz="1200" dirty="0"/>
          </a:p>
          <a:p>
            <a:pPr algn="l" marL="142494" indent="-142494">
              <a:lnSpc>
                <a:spcPts val="1680"/>
              </a:lnSpc>
              <a:buSzPct val="100000"/>
              <a:buChar char="•"/>
            </a:pPr>
            <a:r>
              <a:rPr lang="en-US" sz="1200" dirty="0">
                <a:solidFill>
                  <a:srgbClr val="3F5249"/>
                </a:solidFill>
                <a:latin typeface="Arial" pitchFamily="34" charset="0"/>
                <a:ea typeface="Arial" pitchFamily="34" charset="-122"/>
                <a:cs typeface="Arial" pitchFamily="34" charset="-120"/>
              </a:rPr>
              <a:t>Older platforms are harder to patch and to recover.</a:t>
            </a:r>
            <a:endParaRPr lang="en-US" sz="1200" dirty="0"/>
          </a:p>
          <a:p>
            <a:pPr algn="l" marL="142494" indent="-142494">
              <a:lnSpc>
                <a:spcPts val="1680"/>
              </a:lnSpc>
              <a:buSzPct val="100000"/>
              <a:buChar char="•"/>
            </a:pPr>
            <a:r>
              <a:rPr lang="en-US" sz="1200" dirty="0">
                <a:solidFill>
                  <a:srgbClr val="3F5249"/>
                </a:solidFill>
                <a:latin typeface="Arial" pitchFamily="34" charset="0"/>
                <a:ea typeface="Arial" pitchFamily="34" charset="-122"/>
                <a:cs typeface="Arial" pitchFamily="34" charset="-120"/>
              </a:rPr>
              <a:t>AI tools with wide access can expose client data.</a:t>
            </a:r>
            <a:endParaRPr lang="en-US" sz="1200" dirty="0"/>
          </a:p>
          <a:p>
            <a:pPr algn="l" marL="142494" indent="-142494">
              <a:lnSpc>
                <a:spcPts val="1680"/>
              </a:lnSpc>
              <a:buSzPct val="100000"/>
              <a:buChar char="•"/>
            </a:pPr>
            <a:r>
              <a:rPr lang="en-US" sz="1200" dirty="0">
                <a:solidFill>
                  <a:srgbClr val="3F5249"/>
                </a:solidFill>
                <a:latin typeface="Arial" pitchFamily="34" charset="0"/>
                <a:ea typeface="Arial" pitchFamily="34" charset="-122"/>
                <a:cs typeface="Arial" pitchFamily="34" charset="-120"/>
              </a:rPr>
              <a:t>AI output can be wrong, and over-trust is a risk.</a:t>
            </a:r>
            <a:endParaRPr lang="en-US" sz="1200" dirty="0"/>
          </a:p>
        </p:txBody>
      </p:sp>
      <p:sp>
        <p:nvSpPr>
          <p:cNvPr id="10" name="Text 8"/>
          <p:cNvSpPr/>
          <p:nvPr/>
        </p:nvSpPr>
        <p:spPr>
          <a:xfrm>
            <a:off x="4546600" y="1750020"/>
            <a:ext cx="1719362" cy="264120"/>
          </a:xfrm>
          <a:custGeom>
            <a:avLst/>
            <a:gdLst/>
            <a:ahLst/>
            <a:cxnLst/>
            <a:rect l="l" t="t" r="r" b="b"/>
            <a:pathLst>
              <a:path w="1719362" h="264120">
                <a:moveTo>
                  <a:pt x="132060" y="0"/>
                </a:moveTo>
                <a:lnTo>
                  <a:pt x="1587302" y="0"/>
                </a:lnTo>
                <a:arcTo hR="132060" wR="132060" stAng="16200000" swAng="5400000"/>
                <a:lnTo>
                  <a:pt x="1719362" y="132060"/>
                </a:lnTo>
                <a:arcTo hR="132060" wR="132060" stAng="0" swAng="5400000"/>
                <a:lnTo>
                  <a:pt x="132060" y="264120"/>
                </a:lnTo>
                <a:arcTo hR="132060" wR="132060" stAng="5400000" swAng="5400000"/>
                <a:lnTo>
                  <a:pt x="0" y="132060"/>
                </a:lnTo>
                <a:arcTo hR="132060" wR="132060" stAng="10800000" swAng="5400000"/>
                <a:close/>
              </a:path>
            </a:pathLst>
          </a:custGeom>
          <a:solidFill>
            <a:srgbClr val="DCF1E7"/>
          </a:solidFill>
          <a:ln/>
        </p:spPr>
        <p:txBody>
          <a:bodyPr wrap="none" lIns="0" tIns="0" rIns="0" bIns="0" rtlCol="0" anchor="ctr">
            <a:normAutofit/>
          </a:bodyPr>
          <a:lstStyle/>
          <a:p>
            <a:pPr algn="ctr" indent="0" marL="0">
              <a:lnSpc>
                <a:spcPts val="1680"/>
              </a:lnSpc>
              <a:buNone/>
            </a:pPr>
            <a:r>
              <a:rPr lang="en-US" sz="1200" b="1" dirty="0">
                <a:solidFill>
                  <a:srgbClr val="006B43"/>
                </a:solidFill>
                <a:latin typeface="Arial" pitchFamily="34" charset="0"/>
                <a:ea typeface="Arial" pitchFamily="34" charset="-122"/>
                <a:cs typeface="Arial" pitchFamily="34" charset="-120"/>
              </a:rPr>
              <a:t>Part of every backlog</a:t>
            </a:r>
            <a:endParaRPr lang="en-US" sz="1200" dirty="0"/>
          </a:p>
        </p:txBody>
      </p:sp>
      <p:sp>
        <p:nvSpPr>
          <p:cNvPr id="11" name="Shape 9"/>
          <p:cNvSpPr/>
          <p:nvPr/>
        </p:nvSpPr>
        <p:spPr>
          <a:xfrm>
            <a:off x="4552950" y="2109391"/>
            <a:ext cx="2205534" cy="1155502"/>
          </a:xfrm>
          <a:prstGeom prst="roundRect">
            <a:avLst>
              <a:gd name="adj" fmla="val 8243"/>
            </a:avLst>
          </a:prstGeom>
          <a:solidFill>
            <a:srgbClr val="FBFDFB"/>
          </a:solidFill>
          <a:ln w="12700">
            <a:solidFill>
              <a:srgbClr val="CFE3D8"/>
            </a:solidFill>
            <a:prstDash val="solid"/>
          </a:ln>
        </p:spPr>
      </p:sp>
      <p:sp>
        <p:nvSpPr>
          <p:cNvPr id="12" name="Text 10"/>
          <p:cNvSpPr/>
          <p:nvPr/>
        </p:nvSpPr>
        <p:spPr>
          <a:xfrm>
            <a:off x="4686300" y="2242741"/>
            <a:ext cx="1996999"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241B"/>
                </a:solidFill>
                <a:latin typeface="Arial" pitchFamily="34" charset="0"/>
                <a:ea typeface="Arial" pitchFamily="34" charset="-122"/>
                <a:cs typeface="Arial" pitchFamily="34" charset="-120"/>
              </a:rPr>
              <a:t>AI considered</a:t>
            </a:r>
            <a:endParaRPr lang="en-US" sz="1300" dirty="0"/>
          </a:p>
        </p:txBody>
      </p:sp>
      <p:sp>
        <p:nvSpPr>
          <p:cNvPr id="13" name="Text 11"/>
          <p:cNvSpPr/>
          <p:nvPr/>
        </p:nvSpPr>
        <p:spPr>
          <a:xfrm>
            <a:off x="4686300" y="2491581"/>
            <a:ext cx="199699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5249"/>
                </a:solidFill>
                <a:latin typeface="Arial" pitchFamily="34" charset="0"/>
                <a:ea typeface="Arial" pitchFamily="34" charset="-122"/>
                <a:cs typeface="Arial" pitchFamily="34" charset="-120"/>
              </a:rPr>
              <a:t>Each epic notes where AI can speed up plan, build, test or run.</a:t>
            </a:r>
            <a:endParaRPr lang="en-US" sz="1200" dirty="0"/>
          </a:p>
        </p:txBody>
      </p:sp>
      <p:sp>
        <p:nvSpPr>
          <p:cNvPr id="14" name="Shape 12"/>
          <p:cNvSpPr/>
          <p:nvPr/>
        </p:nvSpPr>
        <p:spPr>
          <a:xfrm>
            <a:off x="6860084" y="2109391"/>
            <a:ext cx="2205534" cy="1155502"/>
          </a:xfrm>
          <a:prstGeom prst="roundRect">
            <a:avLst>
              <a:gd name="adj" fmla="val 8243"/>
            </a:avLst>
          </a:prstGeom>
          <a:solidFill>
            <a:srgbClr val="FBFDFB"/>
          </a:solidFill>
          <a:ln w="12700">
            <a:solidFill>
              <a:srgbClr val="CFE3D8"/>
            </a:solidFill>
            <a:prstDash val="solid"/>
          </a:ln>
        </p:spPr>
      </p:sp>
      <p:sp>
        <p:nvSpPr>
          <p:cNvPr id="15" name="Text 13"/>
          <p:cNvSpPr/>
          <p:nvPr/>
        </p:nvSpPr>
        <p:spPr>
          <a:xfrm>
            <a:off x="6993434" y="2242741"/>
            <a:ext cx="1996999"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241B"/>
                </a:solidFill>
                <a:latin typeface="Arial" pitchFamily="34" charset="0"/>
                <a:ea typeface="Arial" pitchFamily="34" charset="-122"/>
                <a:cs typeface="Arial" pitchFamily="34" charset="-120"/>
              </a:rPr>
              <a:t>Legacy decision</a:t>
            </a:r>
            <a:endParaRPr lang="en-US" sz="1300" dirty="0"/>
          </a:p>
        </p:txBody>
      </p:sp>
      <p:sp>
        <p:nvSpPr>
          <p:cNvPr id="16" name="Text 14"/>
          <p:cNvSpPr/>
          <p:nvPr/>
        </p:nvSpPr>
        <p:spPr>
          <a:xfrm>
            <a:off x="6993434" y="2491581"/>
            <a:ext cx="199699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5249"/>
                </a:solidFill>
                <a:latin typeface="Arial" pitchFamily="34" charset="0"/>
                <a:ea typeface="Arial" pitchFamily="34" charset="-122"/>
                <a:cs typeface="Arial" pitchFamily="34" charset="-120"/>
              </a:rPr>
              <a:t>Touched legacy carries a protect, wrap or re-engineer note.</a:t>
            </a:r>
            <a:endParaRPr lang="en-US" sz="1200" dirty="0"/>
          </a:p>
        </p:txBody>
      </p:sp>
      <p:sp>
        <p:nvSpPr>
          <p:cNvPr id="17" name="Shape 15"/>
          <p:cNvSpPr/>
          <p:nvPr/>
        </p:nvSpPr>
        <p:spPr>
          <a:xfrm>
            <a:off x="9167217" y="2109391"/>
            <a:ext cx="2205534" cy="1155502"/>
          </a:xfrm>
          <a:prstGeom prst="roundRect">
            <a:avLst>
              <a:gd name="adj" fmla="val 8243"/>
            </a:avLst>
          </a:prstGeom>
          <a:solidFill>
            <a:srgbClr val="FBFDFB"/>
          </a:solidFill>
          <a:ln w="12700">
            <a:solidFill>
              <a:srgbClr val="CFE3D8"/>
            </a:solidFill>
            <a:prstDash val="solid"/>
          </a:ln>
        </p:spPr>
      </p:sp>
      <p:sp>
        <p:nvSpPr>
          <p:cNvPr id="18" name="Text 16"/>
          <p:cNvSpPr/>
          <p:nvPr/>
        </p:nvSpPr>
        <p:spPr>
          <a:xfrm>
            <a:off x="9300567" y="2242741"/>
            <a:ext cx="1996999"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241B"/>
                </a:solidFill>
                <a:latin typeface="Arial" pitchFamily="34" charset="0"/>
                <a:ea typeface="Arial" pitchFamily="34" charset="-122"/>
                <a:cs typeface="Arial" pitchFamily="34" charset="-120"/>
              </a:rPr>
              <a:t>Security by design</a:t>
            </a:r>
            <a:endParaRPr lang="en-US" sz="1300" dirty="0"/>
          </a:p>
        </p:txBody>
      </p:sp>
      <p:sp>
        <p:nvSpPr>
          <p:cNvPr id="19" name="Text 17"/>
          <p:cNvSpPr/>
          <p:nvPr/>
        </p:nvSpPr>
        <p:spPr>
          <a:xfrm>
            <a:off x="9300567" y="2491581"/>
            <a:ext cx="199699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5249"/>
                </a:solidFill>
                <a:latin typeface="Arial" pitchFamily="34" charset="0"/>
                <a:ea typeface="Arial" pitchFamily="34" charset="-122"/>
                <a:cs typeface="Arial" pitchFamily="34" charset="-120"/>
              </a:rPr>
              <a:t>A threat and access review is a standing story in each epic.</a:t>
            </a:r>
            <a:endParaRPr lang="en-US" sz="1200" dirty="0"/>
          </a:p>
        </p:txBody>
      </p:sp>
      <p:sp>
        <p:nvSpPr>
          <p:cNvPr id="20" name="Shape 18"/>
          <p:cNvSpPr/>
          <p:nvPr/>
        </p:nvSpPr>
        <p:spPr>
          <a:xfrm>
            <a:off x="4552950" y="3366492"/>
            <a:ext cx="2205534" cy="1155502"/>
          </a:xfrm>
          <a:prstGeom prst="roundRect">
            <a:avLst>
              <a:gd name="adj" fmla="val 8243"/>
            </a:avLst>
          </a:prstGeom>
          <a:solidFill>
            <a:srgbClr val="FBFDFB"/>
          </a:solidFill>
          <a:ln w="12700">
            <a:solidFill>
              <a:srgbClr val="CFE3D8"/>
            </a:solidFill>
            <a:prstDash val="solid"/>
          </a:ln>
        </p:spPr>
      </p:sp>
      <p:sp>
        <p:nvSpPr>
          <p:cNvPr id="21" name="Text 19"/>
          <p:cNvSpPr/>
          <p:nvPr/>
        </p:nvSpPr>
        <p:spPr>
          <a:xfrm>
            <a:off x="4686300" y="3499842"/>
            <a:ext cx="1996999"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241B"/>
                </a:solidFill>
                <a:latin typeface="Arial" pitchFamily="34" charset="0"/>
                <a:ea typeface="Arial" pitchFamily="34" charset="-122"/>
                <a:cs typeface="Arial" pitchFamily="34" charset="-120"/>
              </a:rPr>
              <a:t>Controlled AI</a:t>
            </a:r>
            <a:endParaRPr lang="en-US" sz="1300" dirty="0"/>
          </a:p>
        </p:txBody>
      </p:sp>
      <p:sp>
        <p:nvSpPr>
          <p:cNvPr id="22" name="Text 20"/>
          <p:cNvSpPr/>
          <p:nvPr/>
        </p:nvSpPr>
        <p:spPr>
          <a:xfrm>
            <a:off x="4686300" y="3748683"/>
            <a:ext cx="199699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5249"/>
                </a:solidFill>
                <a:latin typeface="Arial" pitchFamily="34" charset="0"/>
                <a:ea typeface="Arial" pitchFamily="34" charset="-122"/>
                <a:cs typeface="Arial" pitchFamily="34" charset="-120"/>
              </a:rPr>
              <a:t>Limited access, human approval for payments, activity logs.</a:t>
            </a:r>
            <a:endParaRPr lang="en-US" sz="1200" dirty="0"/>
          </a:p>
        </p:txBody>
      </p:sp>
      <p:sp>
        <p:nvSpPr>
          <p:cNvPr id="23" name="Shape 21"/>
          <p:cNvSpPr/>
          <p:nvPr/>
        </p:nvSpPr>
        <p:spPr>
          <a:xfrm>
            <a:off x="6860084" y="3366492"/>
            <a:ext cx="2205534" cy="1155502"/>
          </a:xfrm>
          <a:prstGeom prst="roundRect">
            <a:avLst>
              <a:gd name="adj" fmla="val 8243"/>
            </a:avLst>
          </a:prstGeom>
          <a:solidFill>
            <a:srgbClr val="FBFDFB"/>
          </a:solidFill>
          <a:ln w="12700">
            <a:solidFill>
              <a:srgbClr val="CFE3D8"/>
            </a:solidFill>
            <a:prstDash val="solid"/>
          </a:ln>
        </p:spPr>
      </p:sp>
      <p:sp>
        <p:nvSpPr>
          <p:cNvPr id="24" name="Text 22"/>
          <p:cNvSpPr/>
          <p:nvPr/>
        </p:nvSpPr>
        <p:spPr>
          <a:xfrm>
            <a:off x="6993434" y="3499842"/>
            <a:ext cx="1996999"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241B"/>
                </a:solidFill>
                <a:latin typeface="Arial" pitchFamily="34" charset="0"/>
                <a:ea typeface="Arial" pitchFamily="34" charset="-122"/>
                <a:cs typeface="Arial" pitchFamily="34" charset="-120"/>
              </a:rPr>
              <a:t>Recovery ready</a:t>
            </a:r>
            <a:endParaRPr lang="en-US" sz="1300" dirty="0"/>
          </a:p>
        </p:txBody>
      </p:sp>
      <p:sp>
        <p:nvSpPr>
          <p:cNvPr id="25" name="Text 23"/>
          <p:cNvSpPr/>
          <p:nvPr/>
        </p:nvSpPr>
        <p:spPr>
          <a:xfrm>
            <a:off x="6993434" y="3748683"/>
            <a:ext cx="199699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5249"/>
                </a:solidFill>
                <a:latin typeface="Arial" pitchFamily="34" charset="0"/>
                <a:ea typeface="Arial" pitchFamily="34" charset="-122"/>
                <a:cs typeface="Arial" pitchFamily="34" charset="-120"/>
              </a:rPr>
              <a:t>Tested restore evidence for products on older platforms.</a:t>
            </a:r>
            <a:endParaRPr lang="en-US" sz="1200" dirty="0"/>
          </a:p>
        </p:txBody>
      </p:sp>
      <p:sp>
        <p:nvSpPr>
          <p:cNvPr id="26" name="Shape 24"/>
          <p:cNvSpPr/>
          <p:nvPr/>
        </p:nvSpPr>
        <p:spPr>
          <a:xfrm>
            <a:off x="9167217" y="3366492"/>
            <a:ext cx="2205534" cy="1155502"/>
          </a:xfrm>
          <a:prstGeom prst="roundRect">
            <a:avLst>
              <a:gd name="adj" fmla="val 8243"/>
            </a:avLst>
          </a:prstGeom>
          <a:solidFill>
            <a:srgbClr val="FBFDFB"/>
          </a:solidFill>
          <a:ln w="12700">
            <a:solidFill>
              <a:srgbClr val="CFE3D8"/>
            </a:solidFill>
            <a:prstDash val="solid"/>
          </a:ln>
        </p:spPr>
      </p:sp>
      <p:sp>
        <p:nvSpPr>
          <p:cNvPr id="27" name="Text 25"/>
          <p:cNvSpPr/>
          <p:nvPr/>
        </p:nvSpPr>
        <p:spPr>
          <a:xfrm>
            <a:off x="9300567" y="3499842"/>
            <a:ext cx="1996999"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241B"/>
                </a:solidFill>
                <a:latin typeface="Arial" pitchFamily="34" charset="0"/>
                <a:ea typeface="Arial" pitchFamily="34" charset="-122"/>
                <a:cs typeface="Arial" pitchFamily="34" charset="-120"/>
              </a:rPr>
              <a:t>Outcome measured</a:t>
            </a:r>
            <a:endParaRPr lang="en-US" sz="1300" dirty="0"/>
          </a:p>
        </p:txBody>
      </p:sp>
      <p:sp>
        <p:nvSpPr>
          <p:cNvPr id="28" name="Text 26"/>
          <p:cNvSpPr/>
          <p:nvPr/>
        </p:nvSpPr>
        <p:spPr>
          <a:xfrm>
            <a:off x="9300567" y="3748683"/>
            <a:ext cx="199699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5249"/>
                </a:solidFill>
                <a:latin typeface="Arial" pitchFamily="34" charset="0"/>
                <a:ea typeface="Arial" pitchFamily="34" charset="-122"/>
                <a:cs typeface="Arial" pitchFamily="34" charset="-120"/>
              </a:rPr>
              <a:t>Each AI use has a measure, reviewed after release.</a:t>
            </a:r>
            <a:endParaRPr lang="en-US" sz="1200" dirty="0"/>
          </a:p>
        </p:txBody>
      </p:sp>
      <p:sp>
        <p:nvSpPr>
          <p:cNvPr id="29" name="Text 27"/>
          <p:cNvSpPr/>
          <p:nvPr/>
        </p:nvSpPr>
        <p:spPr>
          <a:xfrm>
            <a:off x="812800" y="4680744"/>
            <a:ext cx="10566400" cy="604441"/>
          </a:xfrm>
          <a:prstGeom prst="roundRect">
            <a:avLst>
              <a:gd name="adj" fmla="val 16809"/>
            </a:avLst>
          </a:prstGeom>
          <a:solidFill>
            <a:srgbClr val="063D2A"/>
          </a:solidFill>
          <a:ln/>
        </p:spPr>
        <p:txBody>
          <a:bodyPr wrap="square" lIns="224242" tIns="148042" rIns="0" bIns="122642" rtlCol="0" anchor="t">
            <a:normAutofit/>
          </a:bodyPr>
          <a:lstStyle/>
          <a:p>
            <a:pPr algn="l" indent="0" marL="0">
              <a:lnSpc>
                <a:spcPts val="1960"/>
              </a:lnSpc>
              <a:buNone/>
            </a:pPr>
            <a:r>
              <a:rPr lang="en-US" sz="1400" dirty="0">
                <a:solidFill>
                  <a:srgbClr val="F4F8F5"/>
                </a:solidFill>
                <a:latin typeface="Arial" pitchFamily="34" charset="0"/>
                <a:ea typeface="Arial" pitchFamily="34" charset="-122"/>
                <a:cs typeface="Arial" pitchFamily="34" charset="-120"/>
              </a:rPr>
              <a:t>These points travel with every backlog, so </a:t>
            </a:r>
            <a:r>
              <a:rPr lang="en-US" sz="1400" b="1" dirty="0">
                <a:solidFill>
                  <a:srgbClr val="7FE0B4"/>
                </a:solidFill>
                <a:latin typeface="Arial" pitchFamily="34" charset="0"/>
                <a:ea typeface="Arial" pitchFamily="34" charset="-122"/>
                <a:cs typeface="Arial" pitchFamily="34" charset="-120"/>
              </a:rPr>
              <a:t>speed and safety</a:t>
            </a:r>
            <a:r>
              <a:rPr lang="en-US" sz="1400" dirty="0">
                <a:solidFill>
                  <a:srgbClr val="F4F8F5"/>
                </a:solidFill>
                <a:latin typeface="Arial" pitchFamily="34" charset="0"/>
                <a:ea typeface="Arial" pitchFamily="34" charset="-122"/>
                <a:cs typeface="Arial" pitchFamily="34" charset="-120"/>
              </a:rPr>
              <a:t> are planned together.</a:t>
            </a:r>
            <a:endParaRPr lang="en-US" sz="1400" dirty="0"/>
          </a:p>
        </p:txBody>
      </p:sp>
    </p:spTree>
  </p:cSld>
  <p:clrMapOvr>
    <a:masterClrMapping/>
  </p:clrMapOvr>
</p:sld>
</file>

<file path=ppt/theme/theme1.xml><?xml version="1.0" encoding="utf-8"?>
<a:theme xmlns:a="http://schemas.openxmlformats.org/drawingml/2006/main" name="An AI-Based SDLC for Product Owners">
  <a:themeElements>
    <a:clrScheme name="An AI-Based SDLC for Product Owners">
      <a:dk1>
        <a:srgbClr val="10241B"/>
      </a:dk1>
      <a:lt1>
        <a:srgbClr val="F4F8F5"/>
      </a:lt1>
      <a:dk2>
        <a:srgbClr val="495952"/>
      </a:dk2>
      <a:lt2>
        <a:srgbClr val="DDE3DF"/>
      </a:lt2>
      <a:accent1>
        <a:srgbClr val="006B43"/>
      </a:accent1>
      <a:accent2>
        <a:srgbClr val="00915A"/>
      </a:accent2>
      <a:accent3>
        <a:srgbClr val="063D2A"/>
      </a:accent3>
      <a:accent4>
        <a:srgbClr val="7FE0B4"/>
      </a:accent4>
      <a:accent5>
        <a:srgbClr val="8A2C18"/>
      </a:accent5>
      <a:accent6>
        <a:srgbClr val="3F5249"/>
      </a:accent6>
      <a:hlink>
        <a:srgbClr val="0563C1"/>
      </a:hlink>
      <a:folHlink>
        <a:srgbClr val="954F72"/>
      </a:folHlink>
    </a:clrScheme>
    <a:fontScheme name="An AI-Based SDLC for Product Owner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AI-Based SDLC for Product Owners</dc:title>
  <dc:subject/>
  <dc:creator/>
  <cp:lastModifiedBy/>
  <cp:revision>1</cp:revision>
  <dcterms:created xsi:type="dcterms:W3CDTF">2026-10-25T13:10:50Z</dcterms:created>
  <dcterms:modified xsi:type="dcterms:W3CDTF">2026-10-25T13:10:50Z</dcterms:modified>
</cp:coreProperties>
</file>