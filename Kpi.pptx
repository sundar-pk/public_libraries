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PRs merged</c:v>
                </c:pt>
              </c:strCache>
            </c:strRef>
          </c:tx>
          <c:spPr>
            <a:solidFill>
              <a:srgbClr val="0091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C42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  <c:pt idx="6">
                    <c:v>May</c:v>
                  </c:pt>
                  <c:pt idx="7">
                    <c:v>Jun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163</c:v>
                </c:pt>
                <c:pt idx="1">
                  <c:v>160</c:v>
                </c:pt>
                <c:pt idx="2">
                  <c:v>253</c:v>
                </c:pt>
                <c:pt idx="3">
                  <c:v>289</c:v>
                </c:pt>
                <c:pt idx="4">
                  <c:v>343</c:v>
                </c:pt>
                <c:pt idx="5">
                  <c:v>308</c:v>
                </c:pt>
                <c:pt idx="6">
                  <c:v>290</c:v>
                </c:pt>
                <c:pt idx="7">
                  <c:v>233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C42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APPLICATION  |  DEVLAKE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 today, and the KPIs that can tell the AI story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 TODAY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2148840"/>
          </a:xfrm>
          <a:prstGeom prst="rect">
            <a:avLst/>
          </a:prstGeom>
          <a:solidFill>
            <a:srgbClr val="F7F9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merged per month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stable team of 58 to 66 developers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709160" y="1371600"/>
            <a:ext cx="2514600" cy="1024128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371600"/>
            <a:ext cx="54864" cy="1024128"/>
          </a:xfrm>
          <a:prstGeom prst="rect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371600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~1.9x</a:t>
            </a:r>
            <a:endParaRPr lang="en-US" sz="200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 per month, Feb to May versus Nov and Dec, with the same team size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709160" y="2496312"/>
            <a:ext cx="2514600" cy="1024128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2496312"/>
            <a:ext cx="54864" cy="1024128"/>
          </a:xfrm>
          <a:prstGeom prst="rect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249631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 day</a:t>
            </a:r>
            <a:endParaRPr lang="en-US" sz="200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merge a PR; PR cycle time down from about 63 to about 25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3657600"/>
            <a:ext cx="3337560" cy="1024128"/>
          </a:xfrm>
          <a:prstGeom prst="rect">
            <a:avLst/>
          </a:prstGeom>
          <a:solidFill>
            <a:srgbClr val="F7F9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65760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AND FLOW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 on-time, 85% in October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opened about 43 a month, completed about 29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86200" y="3657600"/>
            <a:ext cx="3337560" cy="1024128"/>
          </a:xfrm>
          <a:prstGeom prst="rect">
            <a:avLst/>
          </a:prstGeom>
          <a:solidFill>
            <a:srgbClr val="F7F9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0" y="365760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SIGNALS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P0/P1 bugs: about 16 a month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trend; 5% of MRs closed unmerged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754880"/>
            <a:ext cx="3337560" cy="1024128"/>
          </a:xfrm>
          <a:prstGeom prst="rect">
            <a:avLst/>
          </a:prstGeom>
          <a:solidFill>
            <a:srgbClr val="F7F9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7548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SIZE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depth 1.4 per PR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merged PR is about 790 lines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886200" y="4754880"/>
            <a:ext cx="3337560" cy="1024128"/>
          </a:xfrm>
          <a:prstGeom prst="rect">
            <a:avLst/>
          </a:prstGeom>
          <a:solidFill>
            <a:srgbClr val="F7F9F8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0" y="4754880"/>
            <a:ext cx="310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LEAD TIME</a:t>
            </a:r>
            <a:endParaRPr lang="en-US" sz="95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days average, issue to done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moving, a useful baseline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52360" y="1097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THAT CAN SHOWCASE AI EVOLUTION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52360" y="1371600"/>
            <a:ext cx="4279392" cy="4407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89520" y="1554480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046720" y="144475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per developer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 divided by developers, month on month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835640" y="1581912"/>
            <a:ext cx="777240" cy="274320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835640" y="1581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589520" y="2258568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21488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 and its stages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Coding, pickup, review and release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0835640" y="2286000"/>
            <a:ext cx="777240" cy="274320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835640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589520" y="2962656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285292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and P0/P1 trend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more while bugs stay flat or fall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0835640" y="2990088"/>
            <a:ext cx="777240" cy="274320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835640" y="2990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589520" y="3666744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952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046720" y="355701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size and review depth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for AI-generated code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10835640" y="3694176"/>
            <a:ext cx="777240" cy="274320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835640" y="3694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589520" y="4370832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8952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46720" y="426110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lead time, on-time delivery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faster coding reach customers sooner?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10835640" y="4398264"/>
            <a:ext cx="777240" cy="274320"/>
          </a:xfrm>
          <a:prstGeom prst="rect">
            <a:avLst/>
          </a:prstGeom>
          <a:solidFill>
            <a:srgbClr val="EAF6F0"/>
          </a:solidFill>
          <a:ln w="12700">
            <a:solidFill>
              <a:srgbClr val="EAF6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835640" y="43982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7589520" y="5074920"/>
            <a:ext cx="329184" cy="329184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58952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8046720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share of work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AI-assisted PRs or Jira items, compare before and after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10835640" y="5102352"/>
            <a:ext cx="777240" cy="27432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835640" y="5102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next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57200" y="5870448"/>
            <a:ext cx="11274552" cy="475488"/>
          </a:xfrm>
          <a:prstGeom prst="rect">
            <a:avLst/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0080" y="5870448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has grown with a steady team, which is a promising baseline. To attribute it to AI, we propose to mark the AI adoption date and tag AI-assisted work.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457200" y="6400800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DevLake STAR dashboards, last 6 to 12 months; October is month to date. Jenkins deployment (DORA) and SonarQube quality data are not yet included.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2026-10-27T09:47:20Z</dcterms:created>
  <dcterms:modified xsi:type="dcterms:W3CDTF">2026-10-27T09:47:20Z</dcterms:modified>
</cp:coreProperties>
</file>