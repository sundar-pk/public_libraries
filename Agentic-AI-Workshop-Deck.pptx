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2.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2.png"/><Relationship Id="rId5" Type="http://schemas.openxmlformats.org/officeDocument/2006/relationships/image" Target="../media/image-5-5.png"/><Relationship Id="rId6" Type="http://schemas.openxmlformats.org/officeDocument/2006/relationships/image" Target="../media/image-5-2.png"/><Relationship Id="rId7" Type="http://schemas.openxmlformats.org/officeDocument/2006/relationships/image" Target="../media/image-5-7.png"/><Relationship Id="rId8" Type="http://schemas.openxmlformats.org/officeDocument/2006/relationships/slideLayout" Target="../slideLayouts/slideLayout2.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2.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2.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2.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2.png"/><Relationship Id="rId4" Type="http://schemas.openxmlformats.org/officeDocument/2006/relationships/slideLayout" Target="../slideLayouts/slideLayout2.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2.png"/><Relationship Id="rId4" Type="http://schemas.openxmlformats.org/officeDocument/2006/relationships/slideLayout" Target="../slideLayouts/slideLayout2.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2.png"/><Relationship Id="rId4" Type="http://schemas.openxmlformats.org/officeDocument/2006/relationships/slideLayout" Target="../slideLayouts/slideLayout2.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3.png"/><Relationship Id="rId6" Type="http://schemas.openxmlformats.org/officeDocument/2006/relationships/image" Target="../media/image-24-6.png"/><Relationship Id="rId7" Type="http://schemas.openxmlformats.org/officeDocument/2006/relationships/image" Target="../media/image-24-3.png"/><Relationship Id="rId8" Type="http://schemas.openxmlformats.org/officeDocument/2006/relationships/image" Target="../media/image-24-8.png"/><Relationship Id="rId9" Type="http://schemas.openxmlformats.org/officeDocument/2006/relationships/image" Target="../media/image-24-3.png"/><Relationship Id="rId10" Type="http://schemas.openxmlformats.org/officeDocument/2006/relationships/image" Target="../media/image-24-10.png"/><Relationship Id="rId11" Type="http://schemas.openxmlformats.org/officeDocument/2006/relationships/slideLayout" Target="../slideLayouts/slideLayout2.xml"/><Relationship Id="rId1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2.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2.png"/><Relationship Id="rId4" Type="http://schemas.openxmlformats.org/officeDocument/2006/relationships/image" Target="../media/image-27-2.png"/><Relationship Id="rId5" Type="http://schemas.openxmlformats.org/officeDocument/2006/relationships/image" Target="../media/image-27-5.png"/><Relationship Id="rId6" Type="http://schemas.openxmlformats.org/officeDocument/2006/relationships/image" Target="../media/image-27-5.png"/><Relationship Id="rId7" Type="http://schemas.openxmlformats.org/officeDocument/2006/relationships/slideLayout" Target="../slideLayouts/slideLayout2.xml"/><Relationship Id="rId8"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slideLayout" Target="../slideLayouts/slideLayout2.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8138160" y="0"/>
            <a:ext cx="4023360" cy="6858000"/>
          </a:xfrm>
          <a:prstGeom prst="rect">
            <a:avLst/>
          </a:prstGeom>
          <a:solidFill>
            <a:srgbClr val="E8F5EF"/>
          </a:solidFill>
          <a:ln/>
        </p:spPr>
      </p:sp>
      <p:sp>
        <p:nvSpPr>
          <p:cNvPr id="3" name="Shape 1"/>
          <p:cNvSpPr/>
          <p:nvPr/>
        </p:nvSpPr>
        <p:spPr>
          <a:xfrm>
            <a:off x="9418320" y="2468880"/>
            <a:ext cx="1920240" cy="1920240"/>
          </a:xfrm>
          <a:prstGeom prst="ellipse">
            <a:avLst/>
          </a:prstGeom>
          <a:solidFill>
            <a:srgbClr val="00915A"/>
          </a:solidFill>
          <a:ln/>
        </p:spPr>
      </p:sp>
      <p:pic>
        <p:nvPicPr>
          <p:cNvPr id="4" name="Image 0" descr="/home/claude/icons/node.png">    </p:cNvPr>
          <p:cNvPicPr>
            <a:picLocks noChangeAspect="1"/>
          </p:cNvPicPr>
          <p:nvPr/>
        </p:nvPicPr>
        <p:blipFill>
          <a:blip r:embed="rId1"/>
          <a:stretch>
            <a:fillRect/>
          </a:stretch>
        </p:blipFill>
        <p:spPr>
          <a:xfrm>
            <a:off x="9921240" y="2971800"/>
            <a:ext cx="914400" cy="914400"/>
          </a:xfrm>
          <a:prstGeom prst="rect">
            <a:avLst/>
          </a:prstGeom>
        </p:spPr>
      </p:pic>
      <p:sp>
        <p:nvSpPr>
          <p:cNvPr id="5" name="Text 2"/>
          <p:cNvSpPr txBox="1"/>
          <p:nvPr/>
        </p:nvSpPr>
        <p:spPr>
          <a:xfrm>
            <a:off x="548640" y="1371600"/>
            <a:ext cx="7132320" cy="320040"/>
          </a:xfrm>
          <a:prstGeom prst="rect">
            <a:avLst/>
          </a:prstGeom>
          <a:noFill/>
          <a:ln/>
        </p:spPr>
        <p:txBody>
          <a:bodyPr wrap="square" lIns="0" tIns="0" rIns="0" bIns="0" rtlCol="0" anchor="ctr"/>
          <a:lstStyle/>
          <a:p>
            <a:pPr indent="0" marL="0">
              <a:buNone/>
            </a:pPr>
            <a:r>
              <a:rPr lang="en-US" sz="1300" b="1" spc="150" kern="0" dirty="0">
                <a:solidFill>
                  <a:srgbClr val="00693F"/>
                </a:solidFill>
                <a:latin typeface="Calibri" pitchFamily="34" charset="0"/>
                <a:ea typeface="Calibri" pitchFamily="34" charset="-122"/>
                <a:cs typeface="Calibri" pitchFamily="34" charset="-120"/>
              </a:rPr>
              <a:t>WORKSHOP · PART 2 OF 2</a:t>
            </a:r>
            <a:endParaRPr lang="en-US" sz="1300" dirty="0"/>
          </a:p>
        </p:txBody>
      </p:sp>
      <p:sp>
        <p:nvSpPr>
          <p:cNvPr id="6" name="Text 3"/>
          <p:cNvSpPr txBox="1"/>
          <p:nvPr/>
        </p:nvSpPr>
        <p:spPr>
          <a:xfrm>
            <a:off x="548640" y="1828800"/>
            <a:ext cx="7406640" cy="1371600"/>
          </a:xfrm>
          <a:prstGeom prst="rect">
            <a:avLst/>
          </a:prstGeom>
          <a:noFill/>
          <a:ln/>
        </p:spPr>
        <p:txBody>
          <a:bodyPr wrap="square" lIns="0" tIns="0" rIns="0" bIns="0" rtlCol="0" anchor="ctr"/>
          <a:lstStyle/>
          <a:p>
            <a:pPr indent="0" marL="0">
              <a:lnSpc>
                <a:spcPts val="4600"/>
              </a:lnSpc>
              <a:buNone/>
            </a:pPr>
            <a:r>
              <a:rPr lang="en-US" sz="4400" b="1" dirty="0">
                <a:solidFill>
                  <a:srgbClr val="1F2A28"/>
                </a:solidFill>
                <a:latin typeface="Calibri" pitchFamily="34" charset="0"/>
                <a:ea typeface="Calibri" pitchFamily="34" charset="-122"/>
                <a:cs typeface="Calibri" pitchFamily="34" charset="-120"/>
              </a:rPr>
              <a:t>Building Agentic AI Systems</a:t>
            </a:r>
            <a:endParaRPr lang="en-US" sz="4400" dirty="0"/>
          </a:p>
        </p:txBody>
      </p:sp>
      <p:sp>
        <p:nvSpPr>
          <p:cNvPr id="7" name="Text 4"/>
          <p:cNvSpPr txBox="1"/>
          <p:nvPr/>
        </p:nvSpPr>
        <p:spPr>
          <a:xfrm>
            <a:off x="548640" y="3246120"/>
            <a:ext cx="7223760" cy="822960"/>
          </a:xfrm>
          <a:prstGeom prst="rect">
            <a:avLst/>
          </a:prstGeom>
          <a:noFill/>
          <a:ln/>
        </p:spPr>
        <p:txBody>
          <a:bodyPr wrap="square" lIns="0" tIns="0" rIns="0" bIns="0" rtlCol="0" anchor="ctr"/>
          <a:lstStyle/>
          <a:p>
            <a:pPr indent="0" marL="0">
              <a:lnSpc>
                <a:spcPts val="2400"/>
              </a:lnSpc>
              <a:buNone/>
            </a:pPr>
            <a:r>
              <a:rPr lang="en-US" sz="1800" dirty="0">
                <a:solidFill>
                  <a:srgbClr val="5B6B67"/>
                </a:solidFill>
                <a:latin typeface="Calibri" pitchFamily="34" charset="0"/>
                <a:ea typeface="Calibri" pitchFamily="34" charset="-122"/>
                <a:cs typeface="Calibri" pitchFamily="34" charset="-120"/>
              </a:rPr>
              <a:t>A hands-on architecture session on LangChain &amp; LangGraph — core orchestration patterns, live-built end to end.</a:t>
            </a:r>
            <a:endParaRPr lang="en-US" sz="1800" dirty="0"/>
          </a:p>
        </p:txBody>
      </p:sp>
      <p:sp>
        <p:nvSpPr>
          <p:cNvPr id="8" name="Shape 5"/>
          <p:cNvSpPr/>
          <p:nvPr/>
        </p:nvSpPr>
        <p:spPr>
          <a:xfrm>
            <a:off x="548640" y="4343400"/>
            <a:ext cx="2743200" cy="0"/>
          </a:xfrm>
          <a:prstGeom prst="line">
            <a:avLst/>
          </a:prstGeom>
          <a:noFill/>
          <a:ln w="25400">
            <a:solidFill>
              <a:srgbClr val="00915A"/>
            </a:solidFill>
            <a:prstDash val="solid"/>
          </a:ln>
        </p:spPr>
      </p:sp>
      <p:sp>
        <p:nvSpPr>
          <p:cNvPr id="9" name="Text 6"/>
          <p:cNvSpPr txBox="1"/>
          <p:nvPr/>
        </p:nvSpPr>
        <p:spPr>
          <a:xfrm>
            <a:off x="548640" y="4572000"/>
            <a:ext cx="7132320" cy="365760"/>
          </a:xfrm>
          <a:prstGeom prst="rect">
            <a:avLst/>
          </a:prstGeom>
          <a:noFill/>
          <a:ln/>
        </p:spPr>
        <p:txBody>
          <a:bodyPr wrap="square" lIns="0" tIns="0" rIns="0" bIns="0" rtlCol="0" anchor="ctr"/>
          <a:lstStyle/>
          <a:p>
            <a:pPr indent="0" marL="0">
              <a:buNone/>
            </a:pPr>
            <a:r>
              <a:rPr lang="en-US" sz="1400" b="1" dirty="0">
                <a:solidFill>
                  <a:srgbClr val="1F2A28"/>
                </a:solidFill>
                <a:latin typeface="Calibri" pitchFamily="34" charset="0"/>
                <a:ea typeface="Calibri" pitchFamily="34" charset="-122"/>
                <a:cs typeface="Calibri" pitchFamily="34" charset="-120"/>
              </a:rPr>
              <a:t>Senior Architects Track  </a:t>
            </a:r>
            <a:pPr indent="0" marL="0">
              <a:buNone/>
            </a:pPr>
            <a:r>
              <a:rPr lang="en-US" sz="1400" dirty="0">
                <a:solidFill>
                  <a:srgbClr val="5B6B67"/>
                </a:solidFill>
                <a:latin typeface="Calibri" pitchFamily="34" charset="0"/>
                <a:ea typeface="Calibri" pitchFamily="34" charset="-122"/>
                <a:cs typeface="Calibri" pitchFamily="34" charset="-120"/>
              </a:rPr>
              <a:t>·  Follows: MCP &amp; Enterprise Tool Integration</a:t>
            </a:r>
            <a:endParaRPr lang="en-US" sz="1400" dirty="0"/>
          </a:p>
        </p:txBody>
      </p:sp>
      <p:sp>
        <p:nvSpPr>
          <p:cNvPr id="10" name="Text 7"/>
          <p:cNvSpPr txBox="1"/>
          <p:nvPr/>
        </p:nvSpPr>
        <p:spPr>
          <a:xfrm>
            <a:off x="548640" y="4937760"/>
            <a:ext cx="7132320" cy="365760"/>
          </a:xfrm>
          <a:prstGeom prst="rect">
            <a:avLst/>
          </a:prstGeom>
          <a:noFill/>
          <a:ln/>
        </p:spPr>
        <p:txBody>
          <a:bodyPr wrap="square" lIns="0" tIns="0" rIns="0" bIns="0" rtlCol="0" anchor="ctr"/>
          <a:lstStyle/>
          <a:p>
            <a:pPr indent="0" marL="0">
              <a:buNone/>
            </a:pPr>
            <a:r>
              <a:rPr lang="en-US" sz="1400" i="1" dirty="0">
                <a:solidFill>
                  <a:srgbClr val="00693F"/>
                </a:solidFill>
                <a:latin typeface="Calibri" pitchFamily="34" charset="0"/>
                <a:ea typeface="Calibri" pitchFamily="34" charset="-122"/>
                <a:cs typeface="Calibri" pitchFamily="34" charset="-120"/>
              </a:rPr>
              <a:t>Live code · real repo · real decisions.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200" b="1" spc="150" kern="0" dirty="0">
                <a:solidFill>
                  <a:srgbClr val="00693F"/>
                </a:solidFill>
                <a:latin typeface="Calibri" pitchFamily="34" charset="0"/>
                <a:ea typeface="Calibri" pitchFamily="34" charset="-122"/>
                <a:cs typeface="Calibri" pitchFamily="34" charset="-120"/>
              </a:rPr>
              <a:t>AGENDA</a:t>
            </a:r>
            <a:endParaRPr lang="en-US" sz="1200" dirty="0"/>
          </a:p>
        </p:txBody>
      </p:sp>
      <p:sp>
        <p:nvSpPr>
          <p:cNvPr id="3" name="Text 1"/>
          <p:cNvSpPr txBox="1"/>
          <p:nvPr/>
        </p:nvSpPr>
        <p:spPr>
          <a:xfrm>
            <a:off x="548640" y="658368"/>
            <a:ext cx="11064240" cy="822960"/>
          </a:xfrm>
          <a:prstGeom prst="rect">
            <a:avLst/>
          </a:prstGeom>
          <a:noFill/>
          <a:ln/>
        </p:spPr>
        <p:txBody>
          <a:bodyPr wrap="square" lIns="0" tIns="0" rIns="0" bIns="0" rtlCol="0" anchor="ctr"/>
          <a:lstStyle/>
          <a:p>
            <a:pPr indent="0" marL="0">
              <a:lnSpc>
                <a:spcPts val="3400"/>
              </a:lnSpc>
              <a:buNone/>
            </a:pPr>
            <a:r>
              <a:rPr lang="en-US" sz="3000" b="1" dirty="0">
                <a:solidFill>
                  <a:srgbClr val="1F2A28"/>
                </a:solidFill>
                <a:latin typeface="Calibri" pitchFamily="34" charset="0"/>
                <a:ea typeface="Calibri" pitchFamily="34" charset="-122"/>
                <a:cs typeface="Calibri" pitchFamily="34" charset="-120"/>
              </a:rPr>
              <a:t>Agenda — the next ~2 hours</a:t>
            </a:r>
            <a:endParaRPr lang="en-US" sz="3000" dirty="0"/>
          </a:p>
        </p:txBody>
      </p:sp>
      <p:sp>
        <p:nvSpPr>
          <p:cNvPr id="4" name="Text 2"/>
          <p:cNvSpPr txBox="1"/>
          <p:nvPr/>
        </p:nvSpPr>
        <p:spPr>
          <a:xfrm>
            <a:off x="548640" y="1371600"/>
            <a:ext cx="8229600" cy="274320"/>
          </a:xfrm>
          <a:prstGeom prst="rect">
            <a:avLst/>
          </a:prstGeom>
          <a:noFill/>
          <a:ln/>
        </p:spPr>
        <p:txBody>
          <a:bodyPr wrap="square" lIns="0" tIns="0" rIns="0" bIns="0" rtlCol="0" anchor="ctr"/>
          <a:lstStyle/>
          <a:p>
            <a:pPr indent="0" marL="0">
              <a:buNone/>
            </a:pPr>
            <a:r>
              <a:rPr lang="en-US" sz="1300" i="1" dirty="0">
                <a:solidFill>
                  <a:srgbClr val="5B6B67"/>
                </a:solidFill>
                <a:latin typeface="Calibri" pitchFamily="34" charset="0"/>
                <a:ea typeface="Calibri" pitchFamily="34" charset="-122"/>
                <a:cs typeface="Calibri" pitchFamily="34" charset="-120"/>
              </a:rPr>
              <a:t>A couple of short breathers are built in along the way.</a:t>
            </a:r>
            <a:endParaRPr lang="en-US" sz="1300" dirty="0"/>
          </a:p>
        </p:txBody>
      </p:sp>
      <p:sp>
        <p:nvSpPr>
          <p:cNvPr id="5" name="Shape 3"/>
          <p:cNvSpPr/>
          <p:nvPr/>
        </p:nvSpPr>
        <p:spPr>
          <a:xfrm>
            <a:off x="548640" y="1892808"/>
            <a:ext cx="365760" cy="365760"/>
          </a:xfrm>
          <a:prstGeom prst="ellipse">
            <a:avLst/>
          </a:prstGeom>
          <a:solidFill>
            <a:srgbClr val="00915A"/>
          </a:solidFill>
          <a:ln/>
        </p:spPr>
      </p:sp>
      <p:pic>
        <p:nvPicPr>
          <p:cNvPr id="6" name="Image 0" descr="/home/claude/icons/clipboard.png">    </p:cNvPr>
          <p:cNvPicPr>
            <a:picLocks noChangeAspect="1"/>
          </p:cNvPicPr>
          <p:nvPr/>
        </p:nvPicPr>
        <p:blipFill>
          <a:blip r:embed="rId1"/>
          <a:stretch>
            <a:fillRect/>
          </a:stretch>
        </p:blipFill>
        <p:spPr>
          <a:xfrm>
            <a:off x="596189" y="1940357"/>
            <a:ext cx="270662" cy="270662"/>
          </a:xfrm>
          <a:prstGeom prst="rect">
            <a:avLst/>
          </a:prstGeom>
        </p:spPr>
      </p:pic>
      <p:sp>
        <p:nvSpPr>
          <p:cNvPr id="7" name="Text 4"/>
          <p:cNvSpPr txBox="1"/>
          <p:nvPr/>
        </p:nvSpPr>
        <p:spPr>
          <a:xfrm>
            <a:off x="1097280" y="1847088"/>
            <a:ext cx="8503920" cy="438912"/>
          </a:xfrm>
          <a:prstGeom prst="rect">
            <a:avLst/>
          </a:prstGeom>
          <a:noFill/>
          <a:ln/>
        </p:spPr>
        <p:txBody>
          <a:bodyPr wrap="square" lIns="0" tIns="0" rIns="0" bIns="0" rtlCol="0" anchor="ctr"/>
          <a:lstStyle/>
          <a:p>
            <a:pPr indent="0" marL="0">
              <a:buNone/>
            </a:pPr>
            <a:r>
              <a:rPr lang="en-US" sz="1550" dirty="0">
                <a:solidFill>
                  <a:srgbClr val="1F2A28"/>
                </a:solidFill>
                <a:latin typeface="Calibri" pitchFamily="34" charset="0"/>
                <a:ea typeface="Calibri" pitchFamily="34" charset="-122"/>
                <a:cs typeface="Calibri" pitchFamily="34" charset="-120"/>
              </a:rPr>
              <a:t>Why LangGraph, not just LangChain</a:t>
            </a:r>
            <a:endParaRPr lang="en-US" sz="1550" dirty="0"/>
          </a:p>
        </p:txBody>
      </p:sp>
      <p:sp>
        <p:nvSpPr>
          <p:cNvPr id="8" name="Text 5"/>
          <p:cNvSpPr txBox="1"/>
          <p:nvPr/>
        </p:nvSpPr>
        <p:spPr>
          <a:xfrm>
            <a:off x="10149840" y="1847088"/>
            <a:ext cx="1463040" cy="438912"/>
          </a:xfrm>
          <a:prstGeom prst="rect">
            <a:avLst/>
          </a:prstGeom>
          <a:noFill/>
          <a:ln/>
        </p:spPr>
        <p:txBody>
          <a:bodyPr wrap="square" lIns="0" tIns="0" rIns="0" bIns="0" rtlCol="0" anchor="ctr"/>
          <a:lstStyle/>
          <a:p>
            <a:pPr algn="r" indent="0" marL="0">
              <a:buNone/>
            </a:pPr>
            <a:r>
              <a:rPr lang="en-US" sz="1400" b="1" dirty="0">
                <a:solidFill>
                  <a:srgbClr val="00693F"/>
                </a:solidFill>
                <a:latin typeface="Calibri" pitchFamily="34" charset="0"/>
                <a:ea typeface="Calibri" pitchFamily="34" charset="-122"/>
                <a:cs typeface="Calibri" pitchFamily="34" charset="-120"/>
              </a:rPr>
              <a:t>10 min</a:t>
            </a:r>
            <a:endParaRPr lang="en-US" sz="1400" dirty="0"/>
          </a:p>
        </p:txBody>
      </p:sp>
      <p:sp>
        <p:nvSpPr>
          <p:cNvPr id="9" name="Shape 6"/>
          <p:cNvSpPr/>
          <p:nvPr/>
        </p:nvSpPr>
        <p:spPr>
          <a:xfrm>
            <a:off x="548640" y="2304288"/>
            <a:ext cx="10698480" cy="0"/>
          </a:xfrm>
          <a:prstGeom prst="line">
            <a:avLst/>
          </a:prstGeom>
          <a:noFill/>
          <a:ln w="9525">
            <a:solidFill>
              <a:srgbClr val="D7E9E1"/>
            </a:solidFill>
            <a:prstDash val="solid"/>
          </a:ln>
        </p:spPr>
      </p:sp>
      <p:sp>
        <p:nvSpPr>
          <p:cNvPr id="10" name="Shape 7"/>
          <p:cNvSpPr/>
          <p:nvPr/>
        </p:nvSpPr>
        <p:spPr>
          <a:xfrm>
            <a:off x="548640" y="2377440"/>
            <a:ext cx="365760" cy="365760"/>
          </a:xfrm>
          <a:prstGeom prst="ellipse">
            <a:avLst/>
          </a:prstGeom>
          <a:solidFill>
            <a:srgbClr val="00915A"/>
          </a:solidFill>
          <a:ln/>
        </p:spPr>
      </p:sp>
      <p:pic>
        <p:nvPicPr>
          <p:cNvPr id="11" name="Image 1" descr="/home/claude/icons/layers2.png">    </p:cNvPr>
          <p:cNvPicPr>
            <a:picLocks noChangeAspect="1"/>
          </p:cNvPicPr>
          <p:nvPr/>
        </p:nvPicPr>
        <p:blipFill>
          <a:blip r:embed="rId2"/>
          <a:stretch>
            <a:fillRect/>
          </a:stretch>
        </p:blipFill>
        <p:spPr>
          <a:xfrm>
            <a:off x="596189" y="2424989"/>
            <a:ext cx="270662" cy="270662"/>
          </a:xfrm>
          <a:prstGeom prst="rect">
            <a:avLst/>
          </a:prstGeom>
        </p:spPr>
      </p:pic>
      <p:sp>
        <p:nvSpPr>
          <p:cNvPr id="12" name="Text 8"/>
          <p:cNvSpPr txBox="1"/>
          <p:nvPr/>
        </p:nvSpPr>
        <p:spPr>
          <a:xfrm>
            <a:off x="1097280" y="2331720"/>
            <a:ext cx="8503920" cy="438912"/>
          </a:xfrm>
          <a:prstGeom prst="rect">
            <a:avLst/>
          </a:prstGeom>
          <a:noFill/>
          <a:ln/>
        </p:spPr>
        <p:txBody>
          <a:bodyPr wrap="square" lIns="0" tIns="0" rIns="0" bIns="0" rtlCol="0" anchor="ctr"/>
          <a:lstStyle/>
          <a:p>
            <a:pPr indent="0" marL="0">
              <a:buNone/>
            </a:pPr>
            <a:r>
              <a:rPr lang="en-US" sz="1550" dirty="0">
                <a:solidFill>
                  <a:srgbClr val="1F2A28"/>
                </a:solidFill>
                <a:latin typeface="Calibri" pitchFamily="34" charset="0"/>
                <a:ea typeface="Calibri" pitchFamily="34" charset="-122"/>
                <a:cs typeface="Calibri" pitchFamily="34" charset="-120"/>
              </a:rPr>
              <a:t>Core mental model: State, Node, Edge, Checkpointer</a:t>
            </a:r>
            <a:endParaRPr lang="en-US" sz="1550" dirty="0"/>
          </a:p>
        </p:txBody>
      </p:sp>
      <p:sp>
        <p:nvSpPr>
          <p:cNvPr id="13" name="Text 9"/>
          <p:cNvSpPr txBox="1"/>
          <p:nvPr/>
        </p:nvSpPr>
        <p:spPr>
          <a:xfrm>
            <a:off x="10149840" y="2331720"/>
            <a:ext cx="1463040" cy="438912"/>
          </a:xfrm>
          <a:prstGeom prst="rect">
            <a:avLst/>
          </a:prstGeom>
          <a:noFill/>
          <a:ln/>
        </p:spPr>
        <p:txBody>
          <a:bodyPr wrap="square" lIns="0" tIns="0" rIns="0" bIns="0" rtlCol="0" anchor="ctr"/>
          <a:lstStyle/>
          <a:p>
            <a:pPr algn="r" indent="0" marL="0">
              <a:buNone/>
            </a:pPr>
            <a:r>
              <a:rPr lang="en-US" sz="1400" b="1" dirty="0">
                <a:solidFill>
                  <a:srgbClr val="00693F"/>
                </a:solidFill>
                <a:latin typeface="Calibri" pitchFamily="34" charset="0"/>
                <a:ea typeface="Calibri" pitchFamily="34" charset="-122"/>
                <a:cs typeface="Calibri" pitchFamily="34" charset="-120"/>
              </a:rPr>
              <a:t>10 min</a:t>
            </a:r>
            <a:endParaRPr lang="en-US" sz="1400" dirty="0"/>
          </a:p>
        </p:txBody>
      </p:sp>
      <p:sp>
        <p:nvSpPr>
          <p:cNvPr id="14" name="Shape 10"/>
          <p:cNvSpPr/>
          <p:nvPr/>
        </p:nvSpPr>
        <p:spPr>
          <a:xfrm>
            <a:off x="548640" y="2788920"/>
            <a:ext cx="10698480" cy="0"/>
          </a:xfrm>
          <a:prstGeom prst="line">
            <a:avLst/>
          </a:prstGeom>
          <a:noFill/>
          <a:ln w="9525">
            <a:solidFill>
              <a:srgbClr val="D7E9E1"/>
            </a:solidFill>
            <a:prstDash val="solid"/>
          </a:ln>
        </p:spPr>
      </p:sp>
      <p:sp>
        <p:nvSpPr>
          <p:cNvPr id="15" name="Shape 11"/>
          <p:cNvSpPr/>
          <p:nvPr/>
        </p:nvSpPr>
        <p:spPr>
          <a:xfrm>
            <a:off x="548640" y="2862072"/>
            <a:ext cx="365760" cy="365760"/>
          </a:xfrm>
          <a:prstGeom prst="ellipse">
            <a:avLst/>
          </a:prstGeom>
          <a:solidFill>
            <a:srgbClr val="00915A"/>
          </a:solidFill>
          <a:ln/>
        </p:spPr>
      </p:sp>
      <p:pic>
        <p:nvPicPr>
          <p:cNvPr id="16" name="Image 2" descr="/home/claude/icons/router.png">    </p:cNvPr>
          <p:cNvPicPr>
            <a:picLocks noChangeAspect="1"/>
          </p:cNvPicPr>
          <p:nvPr/>
        </p:nvPicPr>
        <p:blipFill>
          <a:blip r:embed="rId3"/>
          <a:stretch>
            <a:fillRect/>
          </a:stretch>
        </p:blipFill>
        <p:spPr>
          <a:xfrm>
            <a:off x="596189" y="2909621"/>
            <a:ext cx="270662" cy="270662"/>
          </a:xfrm>
          <a:prstGeom prst="rect">
            <a:avLst/>
          </a:prstGeom>
        </p:spPr>
      </p:pic>
      <p:sp>
        <p:nvSpPr>
          <p:cNvPr id="17" name="Text 12"/>
          <p:cNvSpPr txBox="1"/>
          <p:nvPr/>
        </p:nvSpPr>
        <p:spPr>
          <a:xfrm>
            <a:off x="1097280" y="2816352"/>
            <a:ext cx="8503920" cy="438912"/>
          </a:xfrm>
          <a:prstGeom prst="rect">
            <a:avLst/>
          </a:prstGeom>
          <a:noFill/>
          <a:ln/>
        </p:spPr>
        <p:txBody>
          <a:bodyPr wrap="square" lIns="0" tIns="0" rIns="0" bIns="0" rtlCol="0" anchor="ctr"/>
          <a:lstStyle/>
          <a:p>
            <a:pPr indent="0" marL="0">
              <a:buNone/>
            </a:pPr>
            <a:r>
              <a:rPr lang="en-US" sz="1550" dirty="0">
                <a:solidFill>
                  <a:srgbClr val="1F2A28"/>
                </a:solidFill>
                <a:latin typeface="Calibri" pitchFamily="34" charset="0"/>
                <a:ea typeface="Calibri" pitchFamily="34" charset="-122"/>
                <a:cs typeface="Calibri" pitchFamily="34" charset="-120"/>
              </a:rPr>
              <a:t>The five orchestration patterns</a:t>
            </a:r>
            <a:endParaRPr lang="en-US" sz="1550" dirty="0"/>
          </a:p>
        </p:txBody>
      </p:sp>
      <p:sp>
        <p:nvSpPr>
          <p:cNvPr id="18" name="Text 13"/>
          <p:cNvSpPr txBox="1"/>
          <p:nvPr/>
        </p:nvSpPr>
        <p:spPr>
          <a:xfrm>
            <a:off x="10149840" y="2816352"/>
            <a:ext cx="1463040" cy="438912"/>
          </a:xfrm>
          <a:prstGeom prst="rect">
            <a:avLst/>
          </a:prstGeom>
          <a:noFill/>
          <a:ln/>
        </p:spPr>
        <p:txBody>
          <a:bodyPr wrap="square" lIns="0" tIns="0" rIns="0" bIns="0" rtlCol="0" anchor="ctr"/>
          <a:lstStyle/>
          <a:p>
            <a:pPr algn="r" indent="0" marL="0">
              <a:buNone/>
            </a:pPr>
            <a:r>
              <a:rPr lang="en-US" sz="1400" b="1" dirty="0">
                <a:solidFill>
                  <a:srgbClr val="00693F"/>
                </a:solidFill>
                <a:latin typeface="Calibri" pitchFamily="34" charset="0"/>
                <a:ea typeface="Calibri" pitchFamily="34" charset="-122"/>
                <a:cs typeface="Calibri" pitchFamily="34" charset="-120"/>
              </a:rPr>
              <a:t>10 min</a:t>
            </a:r>
            <a:endParaRPr lang="en-US" sz="1400" dirty="0"/>
          </a:p>
        </p:txBody>
      </p:sp>
      <p:sp>
        <p:nvSpPr>
          <p:cNvPr id="19" name="Shape 14"/>
          <p:cNvSpPr/>
          <p:nvPr/>
        </p:nvSpPr>
        <p:spPr>
          <a:xfrm>
            <a:off x="548640" y="3273552"/>
            <a:ext cx="10698480" cy="0"/>
          </a:xfrm>
          <a:prstGeom prst="line">
            <a:avLst/>
          </a:prstGeom>
          <a:noFill/>
          <a:ln w="9525">
            <a:solidFill>
              <a:srgbClr val="D7E9E1"/>
            </a:solidFill>
            <a:prstDash val="solid"/>
          </a:ln>
        </p:spPr>
      </p:sp>
      <p:sp>
        <p:nvSpPr>
          <p:cNvPr id="20" name="Shape 15"/>
          <p:cNvSpPr/>
          <p:nvPr/>
        </p:nvSpPr>
        <p:spPr>
          <a:xfrm>
            <a:off x="548640" y="3346704"/>
            <a:ext cx="365760" cy="365760"/>
          </a:xfrm>
          <a:prstGeom prst="ellipse">
            <a:avLst/>
          </a:prstGeom>
          <a:solidFill>
            <a:srgbClr val="00915A"/>
          </a:solidFill>
          <a:ln/>
        </p:spPr>
      </p:sp>
      <p:pic>
        <p:nvPicPr>
          <p:cNvPr id="21" name="Image 3" descr="/home/claude/icons/react.png">    </p:cNvPr>
          <p:cNvPicPr>
            <a:picLocks noChangeAspect="1"/>
          </p:cNvPicPr>
          <p:nvPr/>
        </p:nvPicPr>
        <p:blipFill>
          <a:blip r:embed="rId4"/>
          <a:stretch>
            <a:fillRect/>
          </a:stretch>
        </p:blipFill>
        <p:spPr>
          <a:xfrm>
            <a:off x="596189" y="3394253"/>
            <a:ext cx="270662" cy="270662"/>
          </a:xfrm>
          <a:prstGeom prst="rect">
            <a:avLst/>
          </a:prstGeom>
        </p:spPr>
      </p:pic>
      <p:sp>
        <p:nvSpPr>
          <p:cNvPr id="22" name="Text 16"/>
          <p:cNvSpPr txBox="1"/>
          <p:nvPr/>
        </p:nvSpPr>
        <p:spPr>
          <a:xfrm>
            <a:off x="1097280" y="3300984"/>
            <a:ext cx="8503920" cy="438912"/>
          </a:xfrm>
          <a:prstGeom prst="rect">
            <a:avLst/>
          </a:prstGeom>
          <a:noFill/>
          <a:ln/>
        </p:spPr>
        <p:txBody>
          <a:bodyPr wrap="square" lIns="0" tIns="0" rIns="0" bIns="0" rtlCol="0" anchor="ctr"/>
          <a:lstStyle/>
          <a:p>
            <a:pPr indent="0" marL="0">
              <a:buNone/>
            </a:pPr>
            <a:r>
              <a:rPr lang="en-US" sz="1550" dirty="0">
                <a:solidFill>
                  <a:srgbClr val="1F2A28"/>
                </a:solidFill>
                <a:latin typeface="Calibri" pitchFamily="34" charset="0"/>
                <a:ea typeface="Calibri" pitchFamily="34" charset="-122"/>
                <a:cs typeface="Calibri" pitchFamily="34" charset="-120"/>
              </a:rPr>
              <a:t>Live build — ReAct → Router → Memory → Parallel → Human-in-loop</a:t>
            </a:r>
            <a:endParaRPr lang="en-US" sz="1550" dirty="0"/>
          </a:p>
        </p:txBody>
      </p:sp>
      <p:sp>
        <p:nvSpPr>
          <p:cNvPr id="23" name="Text 17"/>
          <p:cNvSpPr txBox="1"/>
          <p:nvPr/>
        </p:nvSpPr>
        <p:spPr>
          <a:xfrm>
            <a:off x="10149840" y="3300984"/>
            <a:ext cx="1463040" cy="438912"/>
          </a:xfrm>
          <a:prstGeom prst="rect">
            <a:avLst/>
          </a:prstGeom>
          <a:noFill/>
          <a:ln/>
        </p:spPr>
        <p:txBody>
          <a:bodyPr wrap="square" lIns="0" tIns="0" rIns="0" bIns="0" rtlCol="0" anchor="ctr"/>
          <a:lstStyle/>
          <a:p>
            <a:pPr algn="r" indent="0" marL="0">
              <a:buNone/>
            </a:pPr>
            <a:r>
              <a:rPr lang="en-US" sz="1400" b="1" dirty="0">
                <a:solidFill>
                  <a:srgbClr val="00693F"/>
                </a:solidFill>
                <a:latin typeface="Calibri" pitchFamily="34" charset="0"/>
                <a:ea typeface="Calibri" pitchFamily="34" charset="-122"/>
                <a:cs typeface="Calibri" pitchFamily="34" charset="-120"/>
              </a:rPr>
              <a:t>50 min</a:t>
            </a:r>
            <a:endParaRPr lang="en-US" sz="1400" dirty="0"/>
          </a:p>
        </p:txBody>
      </p:sp>
      <p:sp>
        <p:nvSpPr>
          <p:cNvPr id="24" name="Shape 18"/>
          <p:cNvSpPr/>
          <p:nvPr/>
        </p:nvSpPr>
        <p:spPr>
          <a:xfrm>
            <a:off x="548640" y="3758184"/>
            <a:ext cx="10698480" cy="0"/>
          </a:xfrm>
          <a:prstGeom prst="line">
            <a:avLst/>
          </a:prstGeom>
          <a:noFill/>
          <a:ln w="9525">
            <a:solidFill>
              <a:srgbClr val="D7E9E1"/>
            </a:solidFill>
            <a:prstDash val="solid"/>
          </a:ln>
        </p:spPr>
      </p:sp>
      <p:sp>
        <p:nvSpPr>
          <p:cNvPr id="25" name="Shape 19"/>
          <p:cNvSpPr/>
          <p:nvPr/>
        </p:nvSpPr>
        <p:spPr>
          <a:xfrm>
            <a:off x="548640" y="3831336"/>
            <a:ext cx="365760" cy="365760"/>
          </a:xfrm>
          <a:prstGeom prst="ellipse">
            <a:avLst/>
          </a:prstGeom>
          <a:solidFill>
            <a:srgbClr val="00915A"/>
          </a:solidFill>
          <a:ln/>
        </p:spPr>
      </p:sp>
      <p:pic>
        <p:nvPicPr>
          <p:cNvPr id="26" name="Image 4" descr="/home/claude/icons/shield.png">    </p:cNvPr>
          <p:cNvPicPr>
            <a:picLocks noChangeAspect="1"/>
          </p:cNvPicPr>
          <p:nvPr/>
        </p:nvPicPr>
        <p:blipFill>
          <a:blip r:embed="rId5"/>
          <a:stretch>
            <a:fillRect/>
          </a:stretch>
        </p:blipFill>
        <p:spPr>
          <a:xfrm>
            <a:off x="596189" y="3878885"/>
            <a:ext cx="270662" cy="270662"/>
          </a:xfrm>
          <a:prstGeom prst="rect">
            <a:avLst/>
          </a:prstGeom>
        </p:spPr>
      </p:pic>
      <p:sp>
        <p:nvSpPr>
          <p:cNvPr id="27" name="Text 20"/>
          <p:cNvSpPr txBox="1"/>
          <p:nvPr/>
        </p:nvSpPr>
        <p:spPr>
          <a:xfrm>
            <a:off x="1097280" y="3785616"/>
            <a:ext cx="8503920" cy="438912"/>
          </a:xfrm>
          <a:prstGeom prst="rect">
            <a:avLst/>
          </a:prstGeom>
          <a:noFill/>
          <a:ln/>
        </p:spPr>
        <p:txBody>
          <a:bodyPr wrap="square" lIns="0" tIns="0" rIns="0" bIns="0" rtlCol="0" anchor="ctr"/>
          <a:lstStyle/>
          <a:p>
            <a:pPr indent="0" marL="0">
              <a:buNone/>
            </a:pPr>
            <a:r>
              <a:rPr lang="en-US" sz="1550" dirty="0">
                <a:solidFill>
                  <a:srgbClr val="1F2A28"/>
                </a:solidFill>
                <a:latin typeface="Calibri" pitchFamily="34" charset="0"/>
                <a:ea typeface="Calibri" pitchFamily="34" charset="-122"/>
                <a:cs typeface="Calibri" pitchFamily="34" charset="-120"/>
              </a:rPr>
              <a:t>Enterprise wiring — internal LLM, auth, streaming</a:t>
            </a:r>
            <a:endParaRPr lang="en-US" sz="1550" dirty="0"/>
          </a:p>
        </p:txBody>
      </p:sp>
      <p:sp>
        <p:nvSpPr>
          <p:cNvPr id="28" name="Text 21"/>
          <p:cNvSpPr txBox="1"/>
          <p:nvPr/>
        </p:nvSpPr>
        <p:spPr>
          <a:xfrm>
            <a:off x="10149840" y="3785616"/>
            <a:ext cx="1463040" cy="438912"/>
          </a:xfrm>
          <a:prstGeom prst="rect">
            <a:avLst/>
          </a:prstGeom>
          <a:noFill/>
          <a:ln/>
        </p:spPr>
        <p:txBody>
          <a:bodyPr wrap="square" lIns="0" tIns="0" rIns="0" bIns="0" rtlCol="0" anchor="ctr"/>
          <a:lstStyle/>
          <a:p>
            <a:pPr algn="r" indent="0" marL="0">
              <a:buNone/>
            </a:pPr>
            <a:r>
              <a:rPr lang="en-US" sz="1400" b="1" dirty="0">
                <a:solidFill>
                  <a:srgbClr val="00693F"/>
                </a:solidFill>
                <a:latin typeface="Calibri" pitchFamily="34" charset="0"/>
                <a:ea typeface="Calibri" pitchFamily="34" charset="-122"/>
                <a:cs typeface="Calibri" pitchFamily="34" charset="-120"/>
              </a:rPr>
              <a:t>10 min</a:t>
            </a:r>
            <a:endParaRPr lang="en-US" sz="1400" dirty="0"/>
          </a:p>
        </p:txBody>
      </p:sp>
      <p:sp>
        <p:nvSpPr>
          <p:cNvPr id="29" name="Shape 22"/>
          <p:cNvSpPr/>
          <p:nvPr/>
        </p:nvSpPr>
        <p:spPr>
          <a:xfrm>
            <a:off x="548640" y="4242816"/>
            <a:ext cx="10698480" cy="0"/>
          </a:xfrm>
          <a:prstGeom prst="line">
            <a:avLst/>
          </a:prstGeom>
          <a:noFill/>
          <a:ln w="9525">
            <a:solidFill>
              <a:srgbClr val="D7E9E1"/>
            </a:solidFill>
            <a:prstDash val="solid"/>
          </a:ln>
        </p:spPr>
      </p:sp>
      <p:sp>
        <p:nvSpPr>
          <p:cNvPr id="30" name="Shape 23"/>
          <p:cNvSpPr/>
          <p:nvPr/>
        </p:nvSpPr>
        <p:spPr>
          <a:xfrm>
            <a:off x="548640" y="4315968"/>
            <a:ext cx="365760" cy="365760"/>
          </a:xfrm>
          <a:prstGeom prst="ellipse">
            <a:avLst/>
          </a:prstGeom>
          <a:solidFill>
            <a:srgbClr val="00915A"/>
          </a:solidFill>
          <a:ln/>
        </p:spPr>
      </p:sp>
      <p:pic>
        <p:nvPicPr>
          <p:cNvPr id="31" name="Image 5" descr="/home/claude/icons/lock.png">    </p:cNvPr>
          <p:cNvPicPr>
            <a:picLocks noChangeAspect="1"/>
          </p:cNvPicPr>
          <p:nvPr/>
        </p:nvPicPr>
        <p:blipFill>
          <a:blip r:embed="rId6"/>
          <a:stretch>
            <a:fillRect/>
          </a:stretch>
        </p:blipFill>
        <p:spPr>
          <a:xfrm>
            <a:off x="596189" y="4363517"/>
            <a:ext cx="270662" cy="270662"/>
          </a:xfrm>
          <a:prstGeom prst="rect">
            <a:avLst/>
          </a:prstGeom>
        </p:spPr>
      </p:pic>
      <p:sp>
        <p:nvSpPr>
          <p:cNvPr id="32" name="Text 24"/>
          <p:cNvSpPr txBox="1"/>
          <p:nvPr/>
        </p:nvSpPr>
        <p:spPr>
          <a:xfrm>
            <a:off x="1097280" y="4270248"/>
            <a:ext cx="8503920" cy="438912"/>
          </a:xfrm>
          <a:prstGeom prst="rect">
            <a:avLst/>
          </a:prstGeom>
          <a:noFill/>
          <a:ln/>
        </p:spPr>
        <p:txBody>
          <a:bodyPr wrap="square" lIns="0" tIns="0" rIns="0" bIns="0" rtlCol="0" anchor="ctr"/>
          <a:lstStyle/>
          <a:p>
            <a:pPr indent="0" marL="0">
              <a:buNone/>
            </a:pPr>
            <a:r>
              <a:rPr lang="en-US" sz="1550" dirty="0">
                <a:solidFill>
                  <a:srgbClr val="1F2A28"/>
                </a:solidFill>
                <a:latin typeface="Calibri" pitchFamily="34" charset="0"/>
                <a:ea typeface="Calibri" pitchFamily="34" charset="-122"/>
                <a:cs typeface="Calibri" pitchFamily="34" charset="-120"/>
              </a:rPr>
              <a:t>Platform specifics — Authentication, Hosting &amp; Agent Registry</a:t>
            </a:r>
            <a:endParaRPr lang="en-US" sz="1550" dirty="0"/>
          </a:p>
        </p:txBody>
      </p:sp>
      <p:sp>
        <p:nvSpPr>
          <p:cNvPr id="33" name="Text 25"/>
          <p:cNvSpPr txBox="1"/>
          <p:nvPr/>
        </p:nvSpPr>
        <p:spPr>
          <a:xfrm>
            <a:off x="10149840" y="4270248"/>
            <a:ext cx="1463040" cy="438912"/>
          </a:xfrm>
          <a:prstGeom prst="rect">
            <a:avLst/>
          </a:prstGeom>
          <a:noFill/>
          <a:ln/>
        </p:spPr>
        <p:txBody>
          <a:bodyPr wrap="square" lIns="0" tIns="0" rIns="0" bIns="0" rtlCol="0" anchor="ctr"/>
          <a:lstStyle/>
          <a:p>
            <a:pPr algn="r" indent="0" marL="0">
              <a:buNone/>
            </a:pPr>
            <a:r>
              <a:rPr lang="en-US" sz="1400" b="1" dirty="0">
                <a:solidFill>
                  <a:srgbClr val="00693F"/>
                </a:solidFill>
                <a:latin typeface="Calibri" pitchFamily="34" charset="0"/>
                <a:ea typeface="Calibri" pitchFamily="34" charset="-122"/>
                <a:cs typeface="Calibri" pitchFamily="34" charset="-120"/>
              </a:rPr>
              <a:t>10 min</a:t>
            </a:r>
            <a:endParaRPr lang="en-US" sz="1400" dirty="0"/>
          </a:p>
        </p:txBody>
      </p:sp>
      <p:sp>
        <p:nvSpPr>
          <p:cNvPr id="34" name="Shape 26"/>
          <p:cNvSpPr/>
          <p:nvPr/>
        </p:nvSpPr>
        <p:spPr>
          <a:xfrm>
            <a:off x="548640" y="4727448"/>
            <a:ext cx="10698480" cy="0"/>
          </a:xfrm>
          <a:prstGeom prst="line">
            <a:avLst/>
          </a:prstGeom>
          <a:noFill/>
          <a:ln w="9525">
            <a:solidFill>
              <a:srgbClr val="D7E9E1"/>
            </a:solidFill>
            <a:prstDash val="solid"/>
          </a:ln>
        </p:spPr>
      </p:sp>
      <p:sp>
        <p:nvSpPr>
          <p:cNvPr id="35" name="Shape 27"/>
          <p:cNvSpPr/>
          <p:nvPr/>
        </p:nvSpPr>
        <p:spPr>
          <a:xfrm>
            <a:off x="548640" y="4800600"/>
            <a:ext cx="365760" cy="365760"/>
          </a:xfrm>
          <a:prstGeom prst="ellipse">
            <a:avLst/>
          </a:prstGeom>
          <a:solidFill>
            <a:srgbClr val="00915A"/>
          </a:solidFill>
          <a:ln/>
        </p:spPr>
      </p:sp>
      <p:pic>
        <p:nvPicPr>
          <p:cNvPr id="36" name="Image 6" descr="/home/claude/icons/sliders.png">    </p:cNvPr>
          <p:cNvPicPr>
            <a:picLocks noChangeAspect="1"/>
          </p:cNvPicPr>
          <p:nvPr/>
        </p:nvPicPr>
        <p:blipFill>
          <a:blip r:embed="rId7"/>
          <a:stretch>
            <a:fillRect/>
          </a:stretch>
        </p:blipFill>
        <p:spPr>
          <a:xfrm>
            <a:off x="596189" y="4848149"/>
            <a:ext cx="270662" cy="270662"/>
          </a:xfrm>
          <a:prstGeom prst="rect">
            <a:avLst/>
          </a:prstGeom>
        </p:spPr>
      </p:pic>
      <p:sp>
        <p:nvSpPr>
          <p:cNvPr id="37" name="Text 28"/>
          <p:cNvSpPr txBox="1"/>
          <p:nvPr/>
        </p:nvSpPr>
        <p:spPr>
          <a:xfrm>
            <a:off x="1097280" y="4754880"/>
            <a:ext cx="8503920" cy="438912"/>
          </a:xfrm>
          <a:prstGeom prst="rect">
            <a:avLst/>
          </a:prstGeom>
          <a:noFill/>
          <a:ln/>
        </p:spPr>
        <p:txBody>
          <a:bodyPr wrap="square" lIns="0" tIns="0" rIns="0" bIns="0" rtlCol="0" anchor="ctr"/>
          <a:lstStyle/>
          <a:p>
            <a:pPr indent="0" marL="0">
              <a:buNone/>
            </a:pPr>
            <a:r>
              <a:rPr lang="en-US" sz="1550" dirty="0">
                <a:solidFill>
                  <a:srgbClr val="1F2A28"/>
                </a:solidFill>
                <a:latin typeface="Calibri" pitchFamily="34" charset="0"/>
                <a:ea typeface="Calibri" pitchFamily="34" charset="-122"/>
                <a:cs typeface="Calibri" pitchFamily="34" charset="-120"/>
              </a:rPr>
              <a:t>DSPy + SIMBA — a heads-up on what’s next</a:t>
            </a:r>
            <a:endParaRPr lang="en-US" sz="1550" dirty="0"/>
          </a:p>
        </p:txBody>
      </p:sp>
      <p:sp>
        <p:nvSpPr>
          <p:cNvPr id="38" name="Text 29"/>
          <p:cNvSpPr txBox="1"/>
          <p:nvPr/>
        </p:nvSpPr>
        <p:spPr>
          <a:xfrm>
            <a:off x="10149840" y="4754880"/>
            <a:ext cx="1463040" cy="438912"/>
          </a:xfrm>
          <a:prstGeom prst="rect">
            <a:avLst/>
          </a:prstGeom>
          <a:noFill/>
          <a:ln/>
        </p:spPr>
        <p:txBody>
          <a:bodyPr wrap="square" lIns="0" tIns="0" rIns="0" bIns="0" rtlCol="0" anchor="ctr"/>
          <a:lstStyle/>
          <a:p>
            <a:pPr algn="r" indent="0" marL="0">
              <a:buNone/>
            </a:pPr>
            <a:r>
              <a:rPr lang="en-US" sz="1400" b="1" dirty="0">
                <a:solidFill>
                  <a:srgbClr val="00693F"/>
                </a:solidFill>
                <a:latin typeface="Calibri" pitchFamily="34" charset="0"/>
                <a:ea typeface="Calibri" pitchFamily="34" charset="-122"/>
                <a:cs typeface="Calibri" pitchFamily="34" charset="-120"/>
              </a:rPr>
              <a:t>15 min</a:t>
            </a:r>
            <a:endParaRPr lang="en-US" sz="1400" dirty="0"/>
          </a:p>
        </p:txBody>
      </p:sp>
      <p:sp>
        <p:nvSpPr>
          <p:cNvPr id="39" name="Shape 30"/>
          <p:cNvSpPr/>
          <p:nvPr/>
        </p:nvSpPr>
        <p:spPr>
          <a:xfrm>
            <a:off x="548640" y="5212080"/>
            <a:ext cx="10698480" cy="0"/>
          </a:xfrm>
          <a:prstGeom prst="line">
            <a:avLst/>
          </a:prstGeom>
          <a:noFill/>
          <a:ln w="9525">
            <a:solidFill>
              <a:srgbClr val="D7E9E1"/>
            </a:solidFill>
            <a:prstDash val="solid"/>
          </a:ln>
        </p:spPr>
      </p:sp>
      <p:sp>
        <p:nvSpPr>
          <p:cNvPr id="40" name="Shape 31"/>
          <p:cNvSpPr/>
          <p:nvPr/>
        </p:nvSpPr>
        <p:spPr>
          <a:xfrm>
            <a:off x="548640" y="5285232"/>
            <a:ext cx="365760" cy="365760"/>
          </a:xfrm>
          <a:prstGeom prst="ellipse">
            <a:avLst/>
          </a:prstGeom>
          <a:solidFill>
            <a:srgbClr val="00915A"/>
          </a:solidFill>
          <a:ln/>
        </p:spPr>
      </p:sp>
      <p:pic>
        <p:nvPicPr>
          <p:cNvPr id="41" name="Image 7" descr="/home/claude/icons/target.png">    </p:cNvPr>
          <p:cNvPicPr>
            <a:picLocks noChangeAspect="1"/>
          </p:cNvPicPr>
          <p:nvPr/>
        </p:nvPicPr>
        <p:blipFill>
          <a:blip r:embed="rId8"/>
          <a:stretch>
            <a:fillRect/>
          </a:stretch>
        </p:blipFill>
        <p:spPr>
          <a:xfrm>
            <a:off x="596189" y="5332781"/>
            <a:ext cx="270662" cy="270662"/>
          </a:xfrm>
          <a:prstGeom prst="rect">
            <a:avLst/>
          </a:prstGeom>
        </p:spPr>
      </p:pic>
      <p:sp>
        <p:nvSpPr>
          <p:cNvPr id="42" name="Text 32"/>
          <p:cNvSpPr txBox="1"/>
          <p:nvPr/>
        </p:nvSpPr>
        <p:spPr>
          <a:xfrm>
            <a:off x="1097280" y="5239512"/>
            <a:ext cx="8503920" cy="438912"/>
          </a:xfrm>
          <a:prstGeom prst="rect">
            <a:avLst/>
          </a:prstGeom>
          <a:noFill/>
          <a:ln/>
        </p:spPr>
        <p:txBody>
          <a:bodyPr wrap="square" lIns="0" tIns="0" rIns="0" bIns="0" rtlCol="0" anchor="ctr"/>
          <a:lstStyle/>
          <a:p>
            <a:pPr indent="0" marL="0">
              <a:buNone/>
            </a:pPr>
            <a:r>
              <a:rPr lang="en-US" sz="1550" dirty="0">
                <a:solidFill>
                  <a:srgbClr val="1F2A28"/>
                </a:solidFill>
                <a:latin typeface="Calibri" pitchFamily="34" charset="0"/>
                <a:ea typeface="Calibri" pitchFamily="34" charset="-122"/>
                <a:cs typeface="Calibri" pitchFamily="34" charset="-120"/>
              </a:rPr>
              <a:t>Hands-on — build one agent</a:t>
            </a:r>
            <a:endParaRPr lang="en-US" sz="1550" dirty="0"/>
          </a:p>
        </p:txBody>
      </p:sp>
      <p:sp>
        <p:nvSpPr>
          <p:cNvPr id="43" name="Text 33"/>
          <p:cNvSpPr txBox="1"/>
          <p:nvPr/>
        </p:nvSpPr>
        <p:spPr>
          <a:xfrm>
            <a:off x="10149840" y="5239512"/>
            <a:ext cx="1463040" cy="438912"/>
          </a:xfrm>
          <a:prstGeom prst="rect">
            <a:avLst/>
          </a:prstGeom>
          <a:noFill/>
          <a:ln/>
        </p:spPr>
        <p:txBody>
          <a:bodyPr wrap="square" lIns="0" tIns="0" rIns="0" bIns="0" rtlCol="0" anchor="ctr"/>
          <a:lstStyle/>
          <a:p>
            <a:pPr algn="r" indent="0" marL="0">
              <a:buNone/>
            </a:pPr>
            <a:r>
              <a:rPr lang="en-US" sz="1400" b="1" dirty="0">
                <a:solidFill>
                  <a:srgbClr val="00693F"/>
                </a:solidFill>
                <a:latin typeface="Calibri" pitchFamily="34" charset="0"/>
                <a:ea typeface="Calibri" pitchFamily="34" charset="-122"/>
                <a:cs typeface="Calibri" pitchFamily="34" charset="-120"/>
              </a:rPr>
              <a:t>30–40 min</a:t>
            </a:r>
            <a:endParaRPr lang="en-US" sz="1400" dirty="0"/>
          </a:p>
        </p:txBody>
      </p:sp>
      <p:sp>
        <p:nvSpPr>
          <p:cNvPr id="44" name="Shape 34"/>
          <p:cNvSpPr/>
          <p:nvPr/>
        </p:nvSpPr>
        <p:spPr>
          <a:xfrm>
            <a:off x="548640" y="5696712"/>
            <a:ext cx="10698480" cy="0"/>
          </a:xfrm>
          <a:prstGeom prst="line">
            <a:avLst/>
          </a:prstGeom>
          <a:noFill/>
          <a:ln w="9525">
            <a:solidFill>
              <a:srgbClr val="D7E9E1"/>
            </a:solidFill>
            <a:prstDash val="solid"/>
          </a:ln>
        </p:spPr>
      </p:sp>
      <p:sp>
        <p:nvSpPr>
          <p:cNvPr id="45" name="Shape 35"/>
          <p:cNvSpPr/>
          <p:nvPr/>
        </p:nvSpPr>
        <p:spPr>
          <a:xfrm>
            <a:off x="548640" y="5769864"/>
            <a:ext cx="365760" cy="365760"/>
          </a:xfrm>
          <a:prstGeom prst="ellipse">
            <a:avLst/>
          </a:prstGeom>
          <a:solidFill>
            <a:srgbClr val="00915A"/>
          </a:solidFill>
          <a:ln/>
        </p:spPr>
      </p:sp>
      <p:pic>
        <p:nvPicPr>
          <p:cNvPr id="46" name="Image 8" descr="/home/claude/icons/flag.png">    </p:cNvPr>
          <p:cNvPicPr>
            <a:picLocks noChangeAspect="1"/>
          </p:cNvPicPr>
          <p:nvPr/>
        </p:nvPicPr>
        <p:blipFill>
          <a:blip r:embed="rId9"/>
          <a:stretch>
            <a:fillRect/>
          </a:stretch>
        </p:blipFill>
        <p:spPr>
          <a:xfrm>
            <a:off x="596189" y="5817413"/>
            <a:ext cx="270662" cy="270662"/>
          </a:xfrm>
          <a:prstGeom prst="rect">
            <a:avLst/>
          </a:prstGeom>
        </p:spPr>
      </p:pic>
      <p:sp>
        <p:nvSpPr>
          <p:cNvPr id="47" name="Text 36"/>
          <p:cNvSpPr txBox="1"/>
          <p:nvPr/>
        </p:nvSpPr>
        <p:spPr>
          <a:xfrm>
            <a:off x="1097280" y="5724144"/>
            <a:ext cx="8503920" cy="438912"/>
          </a:xfrm>
          <a:prstGeom prst="rect">
            <a:avLst/>
          </a:prstGeom>
          <a:noFill/>
          <a:ln/>
        </p:spPr>
        <p:txBody>
          <a:bodyPr wrap="square" lIns="0" tIns="0" rIns="0" bIns="0" rtlCol="0" anchor="ctr"/>
          <a:lstStyle/>
          <a:p>
            <a:pPr indent="0" marL="0">
              <a:buNone/>
            </a:pPr>
            <a:r>
              <a:rPr lang="en-US" sz="1550" dirty="0">
                <a:solidFill>
                  <a:srgbClr val="1F2A28"/>
                </a:solidFill>
                <a:latin typeface="Calibri" pitchFamily="34" charset="0"/>
                <a:ea typeface="Calibri" pitchFamily="34" charset="-122"/>
                <a:cs typeface="Calibri" pitchFamily="34" charset="-120"/>
              </a:rPr>
              <a:t>Wrap-up &amp; questions</a:t>
            </a:r>
            <a:endParaRPr lang="en-US" sz="1550" dirty="0"/>
          </a:p>
        </p:txBody>
      </p:sp>
      <p:sp>
        <p:nvSpPr>
          <p:cNvPr id="48" name="Text 37"/>
          <p:cNvSpPr txBox="1"/>
          <p:nvPr/>
        </p:nvSpPr>
        <p:spPr>
          <a:xfrm>
            <a:off x="10149840" y="5724144"/>
            <a:ext cx="1463040" cy="438912"/>
          </a:xfrm>
          <a:prstGeom prst="rect">
            <a:avLst/>
          </a:prstGeom>
          <a:noFill/>
          <a:ln/>
        </p:spPr>
        <p:txBody>
          <a:bodyPr wrap="square" lIns="0" tIns="0" rIns="0" bIns="0" rtlCol="0" anchor="ctr"/>
          <a:lstStyle/>
          <a:p>
            <a:pPr algn="r" indent="0" marL="0">
              <a:buNone/>
            </a:pPr>
            <a:r>
              <a:rPr lang="en-US" sz="1400" b="1" dirty="0">
                <a:solidFill>
                  <a:srgbClr val="00693F"/>
                </a:solidFill>
                <a:latin typeface="Calibri" pitchFamily="34" charset="0"/>
                <a:ea typeface="Calibri" pitchFamily="34" charset="-122"/>
                <a:cs typeface="Calibri" pitchFamily="34" charset="-120"/>
              </a:rPr>
              <a:t>5–10 min</a:t>
            </a:r>
            <a:endParaRPr lang="en-US" sz="1400" dirty="0"/>
          </a:p>
        </p:txBody>
      </p:sp>
      <p:sp>
        <p:nvSpPr>
          <p:cNvPr id="49" name="Text 38"/>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5B6B67"/>
                </a:solidFill>
                <a:latin typeface="Calibri" pitchFamily="34" charset="0"/>
                <a:ea typeface="Calibri" pitchFamily="34" charset="-122"/>
                <a:cs typeface="Calibri" pitchFamily="34" charset="-120"/>
              </a:rPr>
              <a:t>Agentic AI with LangChain &amp; LangGraph</a:t>
            </a:r>
            <a:endParaRPr lang="en-US" sz="1000" dirty="0"/>
          </a:p>
        </p:txBody>
      </p:sp>
      <p:sp>
        <p:nvSpPr>
          <p:cNvPr id="50" name="Text 39"/>
          <p:cNvSpPr txBox="1"/>
          <p:nvPr/>
        </p:nvSpPr>
        <p:spPr>
          <a:xfrm>
            <a:off x="11064240" y="6473952"/>
            <a:ext cx="548640" cy="274320"/>
          </a:xfrm>
          <a:prstGeom prst="rect">
            <a:avLst/>
          </a:prstGeom>
          <a:noFill/>
          <a:ln/>
        </p:spPr>
        <p:txBody>
          <a:bodyPr wrap="square" lIns="0" tIns="0" rIns="0" bIns="0" rtlCol="0" anchor="ctr"/>
          <a:lstStyle/>
          <a:p>
            <a:pPr algn="r" indent="0" marL="0">
              <a:buNone/>
            </a:pPr>
            <a:r>
              <a:rPr lang="en-US" sz="1000" dirty="0">
                <a:solidFill>
                  <a:srgbClr val="5B6B67"/>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685800"/>
            <a:ext cx="11064240" cy="5486400"/>
          </a:xfrm>
          <a:prstGeom prst="roundRect">
            <a:avLst>
              <a:gd name="adj" fmla="val 2333"/>
            </a:avLst>
          </a:prstGeom>
          <a:solidFill>
            <a:srgbClr val="E8F5EF"/>
          </a:solidFill>
          <a:ln w="19050">
            <a:solidFill>
              <a:srgbClr val="D98E04"/>
            </a:solidFill>
            <a:prstDash val="solid"/>
          </a:ln>
        </p:spPr>
      </p:sp>
      <p:sp>
        <p:nvSpPr>
          <p:cNvPr id="3" name="Shape 1"/>
          <p:cNvSpPr/>
          <p:nvPr/>
        </p:nvSpPr>
        <p:spPr>
          <a:xfrm>
            <a:off x="960120" y="1051560"/>
            <a:ext cx="1737360" cy="365760"/>
          </a:xfrm>
          <a:prstGeom prst="roundRect">
            <a:avLst>
              <a:gd name="adj" fmla="val 50000"/>
            </a:avLst>
          </a:prstGeom>
          <a:solidFill>
            <a:srgbClr val="D98E04"/>
          </a:solidFill>
          <a:ln/>
        </p:spPr>
      </p:sp>
      <p:sp>
        <p:nvSpPr>
          <p:cNvPr id="4" name="Text 2"/>
          <p:cNvSpPr txBox="1"/>
          <p:nvPr/>
        </p:nvSpPr>
        <p:spPr>
          <a:xfrm>
            <a:off x="960120" y="1051560"/>
            <a:ext cx="1737360" cy="365760"/>
          </a:xfrm>
          <a:prstGeom prst="rect">
            <a:avLst/>
          </a:prstGeom>
          <a:noFill/>
          <a:ln/>
        </p:spPr>
        <p:txBody>
          <a:bodyPr wrap="square" lIns="0" tIns="0" rIns="0" bIns="0" rtlCol="0" anchor="ctr"/>
          <a:lstStyle/>
          <a:p>
            <a:pPr algn="ctr" indent="0" marL="0">
              <a:buNone/>
            </a:pPr>
            <a:r>
              <a:rPr lang="en-US" sz="1200" b="1" spc="150" kern="0" dirty="0">
                <a:solidFill>
                  <a:srgbClr val="FFFFFF"/>
                </a:solidFill>
                <a:latin typeface="Calibri" pitchFamily="34" charset="0"/>
                <a:ea typeface="Calibri" pitchFamily="34" charset="-122"/>
                <a:cs typeface="Calibri" pitchFamily="34" charset="-120"/>
              </a:rPr>
              <a:t>ICEBREAKER</a:t>
            </a:r>
            <a:endParaRPr lang="en-US" sz="1200" dirty="0"/>
          </a:p>
        </p:txBody>
      </p:sp>
      <p:sp>
        <p:nvSpPr>
          <p:cNvPr id="5" name="Shape 3"/>
          <p:cNvSpPr/>
          <p:nvPr/>
        </p:nvSpPr>
        <p:spPr>
          <a:xfrm>
            <a:off x="10378440" y="960120"/>
            <a:ext cx="822960" cy="822960"/>
          </a:xfrm>
          <a:prstGeom prst="ellipse">
            <a:avLst/>
          </a:prstGeom>
          <a:solidFill>
            <a:srgbClr val="FFFFFF"/>
          </a:solidFill>
          <a:ln w="19050">
            <a:solidFill>
              <a:srgbClr val="D98E04"/>
            </a:solidFill>
            <a:prstDash val="solid"/>
          </a:ln>
        </p:spPr>
      </p:sp>
      <p:pic>
        <p:nvPicPr>
          <p:cNvPr id="6" name="Image 0" descr="/home/claude/icons/coffee_amber.png">    </p:cNvPr>
          <p:cNvPicPr>
            <a:picLocks noChangeAspect="1"/>
          </p:cNvPicPr>
          <p:nvPr/>
        </p:nvPicPr>
        <p:blipFill>
          <a:blip r:embed="rId1"/>
          <a:stretch>
            <a:fillRect/>
          </a:stretch>
        </p:blipFill>
        <p:spPr>
          <a:xfrm>
            <a:off x="10579608" y="1161288"/>
            <a:ext cx="420624" cy="420624"/>
          </a:xfrm>
          <a:prstGeom prst="rect">
            <a:avLst/>
          </a:prstGeom>
        </p:spPr>
      </p:pic>
      <p:sp>
        <p:nvSpPr>
          <p:cNvPr id="7" name="Text 4"/>
          <p:cNvSpPr txBox="1"/>
          <p:nvPr/>
        </p:nvSpPr>
        <p:spPr>
          <a:xfrm>
            <a:off x="960120" y="1691640"/>
            <a:ext cx="9052560" cy="822960"/>
          </a:xfrm>
          <a:prstGeom prst="rect">
            <a:avLst/>
          </a:prstGeom>
          <a:noFill/>
          <a:ln/>
        </p:spPr>
        <p:txBody>
          <a:bodyPr wrap="square" lIns="0" tIns="0" rIns="0" bIns="0" rtlCol="0" anchor="ctr"/>
          <a:lstStyle/>
          <a:p>
            <a:pPr indent="0" marL="0">
              <a:lnSpc>
                <a:spcPts val="3000"/>
              </a:lnSpc>
              <a:buNone/>
            </a:pPr>
            <a:r>
              <a:rPr lang="en-US" sz="2600" b="1" dirty="0">
                <a:solidFill>
                  <a:srgbClr val="1F2A28"/>
                </a:solidFill>
                <a:latin typeface="Calibri" pitchFamily="34" charset="0"/>
                <a:ea typeface="Calibri" pitchFamily="34" charset="-122"/>
                <a:cs typeface="Calibri" pitchFamily="34" charset="-120"/>
              </a:rPr>
              <a:t>Before diving in — a quick round</a:t>
            </a:r>
            <a:endParaRPr lang="en-US" sz="2600" dirty="0"/>
          </a:p>
        </p:txBody>
      </p:sp>
      <p:sp>
        <p:nvSpPr>
          <p:cNvPr id="8" name="Shape 5"/>
          <p:cNvSpPr/>
          <p:nvPr/>
        </p:nvSpPr>
        <p:spPr>
          <a:xfrm>
            <a:off x="960120" y="2697480"/>
            <a:ext cx="10241280" cy="1417320"/>
          </a:xfrm>
          <a:prstGeom prst="roundRect">
            <a:avLst>
              <a:gd name="adj" fmla="val 6452"/>
            </a:avLst>
          </a:prstGeom>
          <a:solidFill>
            <a:srgbClr val="FFFFFF"/>
          </a:solidFill>
          <a:ln w="12700">
            <a:solidFill>
              <a:srgbClr val="D7E9E1"/>
            </a:solidFill>
            <a:prstDash val="solid"/>
          </a:ln>
          <a:effectLst>
            <a:outerShdw sx="100000" sy="100000" kx="0" ky="0" algn="bl" rotWithShape="0" blurRad="76200" dist="25400" dir="5400000">
              <a:srgbClr val="1F2A28">
                <a:alpha val="18000"/>
              </a:srgbClr>
            </a:outerShdw>
          </a:effectLst>
        </p:spPr>
      </p:sp>
      <p:sp>
        <p:nvSpPr>
          <p:cNvPr id="9" name="Text 6"/>
          <p:cNvSpPr txBox="1"/>
          <p:nvPr/>
        </p:nvSpPr>
        <p:spPr>
          <a:xfrm>
            <a:off x="1234440" y="2697480"/>
            <a:ext cx="9692640" cy="1417320"/>
          </a:xfrm>
          <a:prstGeom prst="rect">
            <a:avLst/>
          </a:prstGeom>
          <a:noFill/>
          <a:ln/>
        </p:spPr>
        <p:txBody>
          <a:bodyPr wrap="square" lIns="0" tIns="0" rIns="0" bIns="0" rtlCol="0" anchor="ctr"/>
          <a:lstStyle/>
          <a:p>
            <a:pPr indent="0" marL="0">
              <a:lnSpc>
                <a:spcPts val="2600"/>
              </a:lnSpc>
              <a:buNone/>
            </a:pPr>
            <a:r>
              <a:rPr lang="en-US" sz="2000" b="1" i="1" dirty="0">
                <a:solidFill>
                  <a:srgbClr val="00693F"/>
                </a:solidFill>
                <a:latin typeface="Calibri" pitchFamily="34" charset="0"/>
                <a:ea typeface="Calibri" pitchFamily="34" charset="-122"/>
                <a:cs typeface="Calibri" pitchFamily="34" charset="-120"/>
              </a:rPr>
              <a:t>“In one sentence: the worst orchestration bug you’ve personally shipped.”</a:t>
            </a:r>
            <a:endParaRPr lang="en-US" sz="2000" dirty="0"/>
          </a:p>
        </p:txBody>
      </p:sp>
      <p:pic>
        <p:nvPicPr>
          <p:cNvPr id="10" name="Image 1" descr="/home/claude/icons/coffee.png">    </p:cNvPr>
          <p:cNvPicPr>
            <a:picLocks noChangeAspect="1"/>
          </p:cNvPicPr>
          <p:nvPr/>
        </p:nvPicPr>
        <p:blipFill>
          <a:blip r:embed="rId2"/>
          <a:stretch>
            <a:fillRect/>
          </a:stretch>
        </p:blipFill>
        <p:spPr>
          <a:xfrm>
            <a:off x="960120" y="4434840"/>
            <a:ext cx="292608" cy="292608"/>
          </a:xfrm>
          <a:prstGeom prst="rect">
            <a:avLst/>
          </a:prstGeom>
        </p:spPr>
      </p:pic>
      <p:sp>
        <p:nvSpPr>
          <p:cNvPr id="11" name="Text 7"/>
          <p:cNvSpPr txBox="1"/>
          <p:nvPr/>
        </p:nvSpPr>
        <p:spPr>
          <a:xfrm>
            <a:off x="1371600" y="4416552"/>
            <a:ext cx="9829800" cy="457200"/>
          </a:xfrm>
          <a:prstGeom prst="rect">
            <a:avLst/>
          </a:prstGeom>
          <a:noFill/>
          <a:ln/>
        </p:spPr>
        <p:txBody>
          <a:bodyPr wrap="square" lIns="0" tIns="0" rIns="0" bIns="0" rtlCol="0" anchor="ctr"/>
          <a:lstStyle/>
          <a:p>
            <a:pPr indent="0" marL="0">
              <a:lnSpc>
                <a:spcPts val="1800"/>
              </a:lnSpc>
              <a:buNone/>
            </a:pPr>
            <a:r>
              <a:rPr lang="en-US" sz="1400" i="1" dirty="0">
                <a:solidFill>
                  <a:srgbClr val="5B6B67"/>
                </a:solidFill>
                <a:latin typeface="Calibri" pitchFamily="34" charset="0"/>
                <a:ea typeface="Calibri" pitchFamily="34" charset="-122"/>
                <a:cs typeface="Calibri" pitchFamily="34" charset="-120"/>
              </a:rPr>
              <a:t>A few volunteers, 15 seconds each — then straight into the material.</a:t>
            </a:r>
            <a:endParaRPr lang="en-US" sz="1400" dirty="0"/>
          </a:p>
        </p:txBody>
      </p:sp>
      <p:sp>
        <p:nvSpPr>
          <p:cNvPr id="12" name="Text 8"/>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5B6B67"/>
                </a:solidFill>
                <a:latin typeface="Calibri" pitchFamily="34" charset="0"/>
                <a:ea typeface="Calibri" pitchFamily="34" charset="-122"/>
                <a:cs typeface="Calibri" pitchFamily="34" charset="-120"/>
              </a:rPr>
              <a:t>Agentic AI with LangChain &amp; LangGraph</a:t>
            </a:r>
            <a:endParaRPr lang="en-US" sz="1000" dirty="0"/>
          </a:p>
        </p:txBody>
      </p:sp>
      <p:sp>
        <p:nvSpPr>
          <p:cNvPr id="13" name="Text 9"/>
          <p:cNvSpPr txBox="1"/>
          <p:nvPr/>
        </p:nvSpPr>
        <p:spPr>
          <a:xfrm>
            <a:off x="11064240" y="6473952"/>
            <a:ext cx="548640" cy="274320"/>
          </a:xfrm>
          <a:prstGeom prst="rect">
            <a:avLst/>
          </a:prstGeom>
          <a:noFill/>
          <a:ln/>
        </p:spPr>
        <p:txBody>
          <a:bodyPr wrap="square" lIns="0" tIns="0" rIns="0" bIns="0" rtlCol="0" anchor="ctr"/>
          <a:lstStyle/>
          <a:p>
            <a:pPr algn="r" indent="0" marL="0">
              <a:buNone/>
            </a:pPr>
            <a:r>
              <a:rPr lang="en-US" sz="1000" dirty="0">
                <a:solidFill>
                  <a:srgbClr val="5B6B67"/>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200" b="1" spc="150" kern="0" dirty="0">
                <a:solidFill>
                  <a:srgbClr val="00693F"/>
                </a:solidFill>
                <a:latin typeface="Calibri" pitchFamily="34" charset="0"/>
                <a:ea typeface="Calibri" pitchFamily="34" charset="-122"/>
                <a:cs typeface="Calibri" pitchFamily="34" charset="-120"/>
              </a:rPr>
              <a:t>ARCHITECTURE DECISION</a:t>
            </a:r>
            <a:endParaRPr lang="en-US" sz="1200" dirty="0"/>
          </a:p>
        </p:txBody>
      </p:sp>
      <p:sp>
        <p:nvSpPr>
          <p:cNvPr id="3" name="Text 1"/>
          <p:cNvSpPr txBox="1"/>
          <p:nvPr/>
        </p:nvSpPr>
        <p:spPr>
          <a:xfrm>
            <a:off x="548640" y="658368"/>
            <a:ext cx="11064240" cy="822960"/>
          </a:xfrm>
          <a:prstGeom prst="rect">
            <a:avLst/>
          </a:prstGeom>
          <a:noFill/>
          <a:ln/>
        </p:spPr>
        <p:txBody>
          <a:bodyPr wrap="square" lIns="0" tIns="0" rIns="0" bIns="0" rtlCol="0" anchor="ctr"/>
          <a:lstStyle/>
          <a:p>
            <a:pPr indent="0" marL="0">
              <a:lnSpc>
                <a:spcPts val="3400"/>
              </a:lnSpc>
              <a:buNone/>
            </a:pPr>
            <a:r>
              <a:rPr lang="en-US" sz="3000" b="1" dirty="0">
                <a:solidFill>
                  <a:srgbClr val="1F2A28"/>
                </a:solidFill>
                <a:latin typeface="Calibri" pitchFamily="34" charset="0"/>
                <a:ea typeface="Calibri" pitchFamily="34" charset="-122"/>
                <a:cs typeface="Calibri" pitchFamily="34" charset="-120"/>
              </a:rPr>
              <a:t>Why LangGraph, not just LangChain</a:t>
            </a:r>
            <a:endParaRPr lang="en-US" sz="3000" dirty="0"/>
          </a:p>
        </p:txBody>
      </p:sp>
      <p:sp>
        <p:nvSpPr>
          <p:cNvPr id="4" name="Shape 2"/>
          <p:cNvSpPr/>
          <p:nvPr/>
        </p:nvSpPr>
        <p:spPr>
          <a:xfrm>
            <a:off x="548640" y="2308860"/>
            <a:ext cx="91440" cy="91440"/>
          </a:xfrm>
          <a:prstGeom prst="ellipse">
            <a:avLst/>
          </a:prstGeom>
          <a:solidFill>
            <a:srgbClr val="00915A"/>
          </a:solidFill>
          <a:ln/>
        </p:spPr>
      </p:sp>
      <p:sp>
        <p:nvSpPr>
          <p:cNvPr id="5" name="Text 3"/>
          <p:cNvSpPr txBox="1"/>
          <p:nvPr/>
        </p:nvSpPr>
        <p:spPr>
          <a:xfrm>
            <a:off x="822960" y="1965960"/>
            <a:ext cx="6309360" cy="777240"/>
          </a:xfrm>
          <a:prstGeom prst="rect">
            <a:avLst/>
          </a:prstGeom>
          <a:noFill/>
          <a:ln/>
        </p:spPr>
        <p:txBody>
          <a:bodyPr wrap="square" lIns="0" tIns="0" rIns="0" bIns="0" rtlCol="0" anchor="ctr"/>
          <a:lstStyle/>
          <a:p>
            <a:pPr indent="0" marL="0">
              <a:lnSpc>
                <a:spcPts val="2100"/>
              </a:lnSpc>
              <a:buNone/>
            </a:pPr>
            <a:r>
              <a:rPr lang="en-US" sz="1600" dirty="0">
                <a:solidFill>
                  <a:srgbClr val="1F2A28"/>
                </a:solidFill>
                <a:latin typeface="Calibri" pitchFamily="34" charset="0"/>
                <a:ea typeface="Calibri" pitchFamily="34" charset="-122"/>
                <a:cs typeface="Calibri" pitchFamily="34" charset="-120"/>
              </a:rPr>
              <a:t>LangChain is a component library — LLM wrappers, prompts, tools, chains. Great for linear flows.</a:t>
            </a:r>
            <a:endParaRPr lang="en-US" sz="1600" dirty="0"/>
          </a:p>
        </p:txBody>
      </p:sp>
      <p:sp>
        <p:nvSpPr>
          <p:cNvPr id="6" name="Shape 4"/>
          <p:cNvSpPr/>
          <p:nvPr/>
        </p:nvSpPr>
        <p:spPr>
          <a:xfrm>
            <a:off x="548640" y="3406140"/>
            <a:ext cx="91440" cy="91440"/>
          </a:xfrm>
          <a:prstGeom prst="ellipse">
            <a:avLst/>
          </a:prstGeom>
          <a:solidFill>
            <a:srgbClr val="00915A"/>
          </a:solidFill>
          <a:ln/>
        </p:spPr>
      </p:sp>
      <p:sp>
        <p:nvSpPr>
          <p:cNvPr id="7" name="Text 5"/>
          <p:cNvSpPr txBox="1"/>
          <p:nvPr/>
        </p:nvSpPr>
        <p:spPr>
          <a:xfrm>
            <a:off x="822960" y="3063240"/>
            <a:ext cx="6309360" cy="777240"/>
          </a:xfrm>
          <a:prstGeom prst="rect">
            <a:avLst/>
          </a:prstGeom>
          <a:noFill/>
          <a:ln/>
        </p:spPr>
        <p:txBody>
          <a:bodyPr wrap="square" lIns="0" tIns="0" rIns="0" bIns="0" rtlCol="0" anchor="ctr"/>
          <a:lstStyle/>
          <a:p>
            <a:pPr indent="0" marL="0">
              <a:lnSpc>
                <a:spcPts val="2100"/>
              </a:lnSpc>
              <a:buNone/>
            </a:pPr>
            <a:r>
              <a:rPr lang="en-US" sz="1600" dirty="0">
                <a:solidFill>
                  <a:srgbClr val="1F2A28"/>
                </a:solidFill>
                <a:latin typeface="Calibri" pitchFamily="34" charset="0"/>
                <a:ea typeface="Calibri" pitchFamily="34" charset="-122"/>
                <a:cs typeface="Calibri" pitchFamily="34" charset="-120"/>
              </a:rPr>
              <a:t>LangGraph is an explicit state machine on top of it: conditional branching, cycles, durable state, native pause/resume.</a:t>
            </a:r>
            <a:endParaRPr lang="en-US" sz="1600" dirty="0"/>
          </a:p>
        </p:txBody>
      </p:sp>
      <p:sp>
        <p:nvSpPr>
          <p:cNvPr id="8" name="Shape 6"/>
          <p:cNvSpPr/>
          <p:nvPr/>
        </p:nvSpPr>
        <p:spPr>
          <a:xfrm>
            <a:off x="548640" y="4503420"/>
            <a:ext cx="91440" cy="91440"/>
          </a:xfrm>
          <a:prstGeom prst="ellipse">
            <a:avLst/>
          </a:prstGeom>
          <a:solidFill>
            <a:srgbClr val="00915A"/>
          </a:solidFill>
          <a:ln/>
        </p:spPr>
      </p:sp>
      <p:sp>
        <p:nvSpPr>
          <p:cNvPr id="9" name="Text 7"/>
          <p:cNvSpPr txBox="1"/>
          <p:nvPr/>
        </p:nvSpPr>
        <p:spPr>
          <a:xfrm>
            <a:off x="822960" y="4160520"/>
            <a:ext cx="6309360" cy="777240"/>
          </a:xfrm>
          <a:prstGeom prst="rect">
            <a:avLst/>
          </a:prstGeom>
          <a:noFill/>
          <a:ln/>
        </p:spPr>
        <p:txBody>
          <a:bodyPr wrap="square" lIns="0" tIns="0" rIns="0" bIns="0" rtlCol="0" anchor="ctr"/>
          <a:lstStyle/>
          <a:p>
            <a:pPr indent="0" marL="0">
              <a:lnSpc>
                <a:spcPts val="2100"/>
              </a:lnSpc>
              <a:buNone/>
            </a:pPr>
            <a:r>
              <a:rPr lang="en-US" sz="1600" dirty="0">
                <a:solidFill>
                  <a:srgbClr val="1F2A28"/>
                </a:solidFill>
                <a:latin typeface="Calibri" pitchFamily="34" charset="0"/>
                <a:ea typeface="Calibri" pitchFamily="34" charset="-122"/>
                <a:cs typeface="Calibri" pitchFamily="34" charset="-120"/>
              </a:rPr>
              <a:t>Think of it as a lightweight workflow engine for LLM calls — not a prompting library.</a:t>
            </a:r>
            <a:endParaRPr lang="en-US" sz="1600" dirty="0"/>
          </a:p>
        </p:txBody>
      </p:sp>
      <p:sp>
        <p:nvSpPr>
          <p:cNvPr id="10" name="Shape 8"/>
          <p:cNvSpPr/>
          <p:nvPr/>
        </p:nvSpPr>
        <p:spPr>
          <a:xfrm>
            <a:off x="7178040" y="1783080"/>
            <a:ext cx="4434840" cy="3063240"/>
          </a:xfrm>
          <a:prstGeom prst="roundRect">
            <a:avLst>
              <a:gd name="adj" fmla="val 3582"/>
            </a:avLst>
          </a:prstGeom>
          <a:solidFill>
            <a:srgbClr val="E8F5EF"/>
          </a:solidFill>
          <a:ln/>
          <a:effectLst>
            <a:outerShdw sx="100000" sy="100000" kx="0" ky="0" algn="bl" rotWithShape="0" blurRad="76200" dist="25400" dir="5400000">
              <a:srgbClr val="1F2A28">
                <a:alpha val="18000"/>
              </a:srgbClr>
            </a:outerShdw>
          </a:effectLst>
        </p:spPr>
      </p:sp>
      <p:pic>
        <p:nvPicPr>
          <p:cNvPr id="11" name="Image 0" descr="/home/claude/icons/target.png">    </p:cNvPr>
          <p:cNvPicPr>
            <a:picLocks noChangeAspect="1"/>
          </p:cNvPicPr>
          <p:nvPr/>
        </p:nvPicPr>
        <p:blipFill>
          <a:blip r:embed="rId1"/>
          <a:stretch>
            <a:fillRect/>
          </a:stretch>
        </p:blipFill>
        <p:spPr>
          <a:xfrm>
            <a:off x="7452360" y="2011680"/>
            <a:ext cx="457200" cy="457200"/>
          </a:xfrm>
          <a:prstGeom prst="rect">
            <a:avLst/>
          </a:prstGeom>
        </p:spPr>
      </p:pic>
      <p:sp>
        <p:nvSpPr>
          <p:cNvPr id="12" name="Text 9"/>
          <p:cNvSpPr txBox="1"/>
          <p:nvPr/>
        </p:nvSpPr>
        <p:spPr>
          <a:xfrm>
            <a:off x="8001000" y="2048256"/>
            <a:ext cx="3383280" cy="365760"/>
          </a:xfrm>
          <a:prstGeom prst="rect">
            <a:avLst/>
          </a:prstGeom>
          <a:noFill/>
          <a:ln/>
        </p:spPr>
        <p:txBody>
          <a:bodyPr wrap="square" lIns="0" tIns="0" rIns="0" bIns="0" rtlCol="0" anchor="ctr"/>
          <a:lstStyle/>
          <a:p>
            <a:pPr indent="0" marL="0">
              <a:buNone/>
            </a:pPr>
            <a:r>
              <a:rPr lang="en-US" sz="1800" b="1" dirty="0">
                <a:solidFill>
                  <a:srgbClr val="00693F"/>
                </a:solidFill>
                <a:latin typeface="Calibri" pitchFamily="34" charset="0"/>
                <a:ea typeface="Calibri" pitchFamily="34" charset="-122"/>
                <a:cs typeface="Calibri" pitchFamily="34" charset="-120"/>
              </a:rPr>
              <a:t>Rule of thumb</a:t>
            </a:r>
            <a:endParaRPr lang="en-US" sz="1800" dirty="0"/>
          </a:p>
        </p:txBody>
      </p:sp>
      <p:sp>
        <p:nvSpPr>
          <p:cNvPr id="13" name="Text 10"/>
          <p:cNvSpPr txBox="1"/>
          <p:nvPr/>
        </p:nvSpPr>
        <p:spPr>
          <a:xfrm>
            <a:off x="7452360" y="2606040"/>
            <a:ext cx="3886200" cy="1188720"/>
          </a:xfrm>
          <a:prstGeom prst="rect">
            <a:avLst/>
          </a:prstGeom>
          <a:noFill/>
          <a:ln/>
        </p:spPr>
        <p:txBody>
          <a:bodyPr wrap="square" lIns="0" tIns="0" rIns="0" bIns="0" rtlCol="0" anchor="ctr"/>
          <a:lstStyle/>
          <a:p>
            <a:pPr indent="0" marL="0">
              <a:lnSpc>
                <a:spcPts val="2000"/>
              </a:lnSpc>
              <a:buNone/>
            </a:pPr>
            <a:r>
              <a:rPr lang="en-US" sz="1500" dirty="0">
                <a:solidFill>
                  <a:srgbClr val="1F2A28"/>
                </a:solidFill>
                <a:latin typeface="Calibri" pitchFamily="34" charset="0"/>
                <a:ea typeface="Calibri" pitchFamily="34" charset="-122"/>
                <a:cs typeface="Calibri" pitchFamily="34" charset="-120"/>
              </a:rPr>
              <a:t>Don’t reach for a graph by default. Reach for it the moment branching, loops, or resumability are needed — otherwise a single LangChain chain is enough.</a:t>
            </a:r>
            <a:endParaRPr lang="en-US" sz="1500" dirty="0"/>
          </a:p>
        </p:txBody>
      </p:sp>
      <p:sp>
        <p:nvSpPr>
          <p:cNvPr id="14" name="Shape 11"/>
          <p:cNvSpPr/>
          <p:nvPr/>
        </p:nvSpPr>
        <p:spPr>
          <a:xfrm>
            <a:off x="7452360" y="3886200"/>
            <a:ext cx="3886200" cy="0"/>
          </a:xfrm>
          <a:prstGeom prst="line">
            <a:avLst/>
          </a:prstGeom>
          <a:noFill/>
          <a:ln w="12700">
            <a:solidFill>
              <a:srgbClr val="00915A"/>
            </a:solidFill>
            <a:prstDash val="dash"/>
          </a:ln>
        </p:spPr>
      </p:sp>
      <p:sp>
        <p:nvSpPr>
          <p:cNvPr id="15" name="Text 12"/>
          <p:cNvSpPr txBox="1"/>
          <p:nvPr/>
        </p:nvSpPr>
        <p:spPr>
          <a:xfrm>
            <a:off x="7452360" y="4023360"/>
            <a:ext cx="3886200" cy="274320"/>
          </a:xfrm>
          <a:prstGeom prst="rect">
            <a:avLst/>
          </a:prstGeom>
          <a:noFill/>
          <a:ln/>
        </p:spPr>
        <p:txBody>
          <a:bodyPr wrap="square" lIns="0" tIns="0" rIns="0" bIns="0" rtlCol="0" anchor="ctr"/>
          <a:lstStyle/>
          <a:p>
            <a:pPr indent="0" marL="0">
              <a:buNone/>
            </a:pPr>
            <a:r>
              <a:rPr lang="en-US" sz="1300" b="1" dirty="0">
                <a:solidFill>
                  <a:srgbClr val="5B6B67"/>
                </a:solidFill>
                <a:latin typeface="Calibri" pitchFamily="34" charset="0"/>
                <a:ea typeface="Calibri" pitchFamily="34" charset="-122"/>
                <a:cs typeface="Calibri" pitchFamily="34" charset="-120"/>
              </a:rPr>
              <a:t>Discussion prompt:</a:t>
            </a:r>
            <a:endParaRPr lang="en-US" sz="1300" dirty="0"/>
          </a:p>
        </p:txBody>
      </p:sp>
      <p:sp>
        <p:nvSpPr>
          <p:cNvPr id="16" name="Text 13"/>
          <p:cNvSpPr txBox="1"/>
          <p:nvPr/>
        </p:nvSpPr>
        <p:spPr>
          <a:xfrm>
            <a:off x="7452360" y="4279392"/>
            <a:ext cx="3886200" cy="502920"/>
          </a:xfrm>
          <a:prstGeom prst="rect">
            <a:avLst/>
          </a:prstGeom>
          <a:noFill/>
          <a:ln/>
        </p:spPr>
        <p:txBody>
          <a:bodyPr wrap="square" lIns="0" tIns="0" rIns="0" bIns="0" rtlCol="0" anchor="ctr"/>
          <a:lstStyle/>
          <a:p>
            <a:pPr indent="0" marL="0">
              <a:lnSpc>
                <a:spcPts val="1800"/>
              </a:lnSpc>
              <a:buNone/>
            </a:pPr>
            <a:r>
              <a:rPr lang="en-US" sz="1400" i="1" dirty="0">
                <a:solidFill>
                  <a:srgbClr val="1F2A28"/>
                </a:solidFill>
                <a:latin typeface="Calibri" pitchFamily="34" charset="0"/>
                <a:ea typeface="Calibri" pitchFamily="34" charset="-122"/>
                <a:cs typeface="Calibri" pitchFamily="34" charset="-120"/>
              </a:rPr>
              <a:t>“Where do we already have a router + specialist pattern — without an LLM?”</a:t>
            </a:r>
            <a:endParaRPr lang="en-US" sz="1400" dirty="0"/>
          </a:p>
        </p:txBody>
      </p:sp>
      <p:sp>
        <p:nvSpPr>
          <p:cNvPr id="17" name="Text 14"/>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5B6B67"/>
                </a:solidFill>
                <a:latin typeface="Calibri" pitchFamily="34" charset="0"/>
                <a:ea typeface="Calibri" pitchFamily="34" charset="-122"/>
                <a:cs typeface="Calibri" pitchFamily="34" charset="-120"/>
              </a:rPr>
              <a:t>Agentic AI with LangChain &amp; LangGraph</a:t>
            </a:r>
            <a:endParaRPr lang="en-US" sz="1000" dirty="0"/>
          </a:p>
        </p:txBody>
      </p:sp>
      <p:sp>
        <p:nvSpPr>
          <p:cNvPr id="18" name="Text 15"/>
          <p:cNvSpPr txBox="1"/>
          <p:nvPr/>
        </p:nvSpPr>
        <p:spPr>
          <a:xfrm>
            <a:off x="11064240" y="6473952"/>
            <a:ext cx="548640" cy="274320"/>
          </a:xfrm>
          <a:prstGeom prst="rect">
            <a:avLst/>
          </a:prstGeom>
          <a:noFill/>
          <a:ln/>
        </p:spPr>
        <p:txBody>
          <a:bodyPr wrap="square" lIns="0" tIns="0" rIns="0" bIns="0" rtlCol="0" anchor="ctr"/>
          <a:lstStyle/>
          <a:p>
            <a:pPr algn="r" indent="0" marL="0">
              <a:buNone/>
            </a:pPr>
            <a:r>
              <a:rPr lang="en-US" sz="1000" dirty="0">
                <a:solidFill>
                  <a:srgbClr val="5B6B67"/>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200" b="1" spc="150" kern="0" dirty="0">
                <a:solidFill>
                  <a:srgbClr val="00693F"/>
                </a:solidFill>
                <a:latin typeface="Calibri" pitchFamily="34" charset="0"/>
                <a:ea typeface="Calibri" pitchFamily="34" charset="-122"/>
                <a:cs typeface="Calibri" pitchFamily="34" charset="-120"/>
              </a:rPr>
              <a:t>FOUNDATIONS</a:t>
            </a:r>
            <a:endParaRPr lang="en-US" sz="1200" dirty="0"/>
          </a:p>
        </p:txBody>
      </p:sp>
      <p:sp>
        <p:nvSpPr>
          <p:cNvPr id="3" name="Text 1"/>
          <p:cNvSpPr txBox="1"/>
          <p:nvPr/>
        </p:nvSpPr>
        <p:spPr>
          <a:xfrm>
            <a:off x="548640" y="658368"/>
            <a:ext cx="11064240" cy="822960"/>
          </a:xfrm>
          <a:prstGeom prst="rect">
            <a:avLst/>
          </a:prstGeom>
          <a:noFill/>
          <a:ln/>
        </p:spPr>
        <p:txBody>
          <a:bodyPr wrap="square" lIns="0" tIns="0" rIns="0" bIns="0" rtlCol="0" anchor="ctr"/>
          <a:lstStyle/>
          <a:p>
            <a:pPr indent="0" marL="0">
              <a:lnSpc>
                <a:spcPts val="3400"/>
              </a:lnSpc>
              <a:buNone/>
            </a:pPr>
            <a:r>
              <a:rPr lang="en-US" sz="3000" b="1" dirty="0">
                <a:solidFill>
                  <a:srgbClr val="1F2A28"/>
                </a:solidFill>
                <a:latin typeface="Calibri" pitchFamily="34" charset="0"/>
                <a:ea typeface="Calibri" pitchFamily="34" charset="-122"/>
                <a:cs typeface="Calibri" pitchFamily="34" charset="-120"/>
              </a:rPr>
              <a:t>Core mental model: four building blocks</a:t>
            </a:r>
            <a:endParaRPr lang="en-US" sz="3000" dirty="0"/>
          </a:p>
        </p:txBody>
      </p:sp>
      <p:sp>
        <p:nvSpPr>
          <p:cNvPr id="4" name="Shape 2"/>
          <p:cNvSpPr/>
          <p:nvPr/>
        </p:nvSpPr>
        <p:spPr>
          <a:xfrm>
            <a:off x="548640" y="1874520"/>
            <a:ext cx="2542032" cy="3063240"/>
          </a:xfrm>
          <a:prstGeom prst="roundRect">
            <a:avLst>
              <a:gd name="adj" fmla="val 3597"/>
            </a:avLst>
          </a:prstGeom>
          <a:solidFill>
            <a:srgbClr val="E8F5EF"/>
          </a:solidFill>
          <a:ln w="12700">
            <a:solidFill>
              <a:srgbClr val="D7E9E1"/>
            </a:solidFill>
            <a:prstDash val="solid"/>
          </a:ln>
        </p:spPr>
      </p:sp>
      <p:sp>
        <p:nvSpPr>
          <p:cNvPr id="5" name="Shape 3"/>
          <p:cNvSpPr/>
          <p:nvPr/>
        </p:nvSpPr>
        <p:spPr>
          <a:xfrm>
            <a:off x="1499616" y="2194560"/>
            <a:ext cx="640080" cy="640080"/>
          </a:xfrm>
          <a:prstGeom prst="ellipse">
            <a:avLst/>
          </a:prstGeom>
          <a:solidFill>
            <a:srgbClr val="00915A"/>
          </a:solidFill>
          <a:ln/>
        </p:spPr>
      </p:sp>
      <p:pic>
        <p:nvPicPr>
          <p:cNvPr id="6" name="Image 0" descr="/home/claude/icons/state.png">    </p:cNvPr>
          <p:cNvPicPr>
            <a:picLocks noChangeAspect="1"/>
          </p:cNvPicPr>
          <p:nvPr/>
        </p:nvPicPr>
        <p:blipFill>
          <a:blip r:embed="rId1"/>
          <a:stretch>
            <a:fillRect/>
          </a:stretch>
        </p:blipFill>
        <p:spPr>
          <a:xfrm>
            <a:off x="1582826" y="2277770"/>
            <a:ext cx="473659" cy="473659"/>
          </a:xfrm>
          <a:prstGeom prst="rect">
            <a:avLst/>
          </a:prstGeom>
        </p:spPr>
      </p:pic>
      <p:sp>
        <p:nvSpPr>
          <p:cNvPr id="7" name="Text 4"/>
          <p:cNvSpPr txBox="1"/>
          <p:nvPr/>
        </p:nvSpPr>
        <p:spPr>
          <a:xfrm>
            <a:off x="658368" y="3017520"/>
            <a:ext cx="2322576" cy="365760"/>
          </a:xfrm>
          <a:prstGeom prst="rect">
            <a:avLst/>
          </a:prstGeom>
          <a:noFill/>
          <a:ln/>
        </p:spPr>
        <p:txBody>
          <a:bodyPr wrap="square" lIns="0" tIns="0" rIns="0" bIns="0" rtlCol="0" anchor="ctr"/>
          <a:lstStyle/>
          <a:p>
            <a:pPr algn="ctr" indent="0" marL="0">
              <a:buNone/>
            </a:pPr>
            <a:r>
              <a:rPr lang="en-US" sz="1800" b="1" dirty="0">
                <a:solidFill>
                  <a:srgbClr val="00693F"/>
                </a:solidFill>
                <a:latin typeface="Calibri" pitchFamily="34" charset="0"/>
                <a:ea typeface="Calibri" pitchFamily="34" charset="-122"/>
                <a:cs typeface="Calibri" pitchFamily="34" charset="-120"/>
              </a:rPr>
              <a:t>State</a:t>
            </a:r>
            <a:endParaRPr lang="en-US" sz="1800" dirty="0"/>
          </a:p>
        </p:txBody>
      </p:sp>
      <p:sp>
        <p:nvSpPr>
          <p:cNvPr id="8" name="Text 5"/>
          <p:cNvSpPr txBox="1"/>
          <p:nvPr/>
        </p:nvSpPr>
        <p:spPr>
          <a:xfrm>
            <a:off x="731520" y="3447288"/>
            <a:ext cx="2176272" cy="1371600"/>
          </a:xfrm>
          <a:prstGeom prst="rect">
            <a:avLst/>
          </a:prstGeom>
          <a:noFill/>
          <a:ln/>
        </p:spPr>
        <p:txBody>
          <a:bodyPr wrap="square" lIns="0" tIns="0" rIns="0" bIns="0" rtlCol="0" anchor="ctr"/>
          <a:lstStyle/>
          <a:p>
            <a:pPr algn="ctr" indent="0" marL="0">
              <a:lnSpc>
                <a:spcPts val="1800"/>
              </a:lnSpc>
              <a:buNone/>
            </a:pPr>
            <a:r>
              <a:rPr lang="en-US" sz="1400" dirty="0">
                <a:solidFill>
                  <a:srgbClr val="1F2A28"/>
                </a:solidFill>
                <a:latin typeface="Calibri" pitchFamily="34" charset="0"/>
                <a:ea typeface="Calibri" pitchFamily="34" charset="-122"/>
                <a:cs typeface="Calibri" pitchFamily="34" charset="-120"/>
              </a:rPr>
              <a:t>A typed object that flows through every node in the graph.</a:t>
            </a:r>
            <a:endParaRPr lang="en-US" sz="1400" dirty="0"/>
          </a:p>
        </p:txBody>
      </p:sp>
      <p:pic>
        <p:nvPicPr>
          <p:cNvPr id="9" name="Image 1" descr="/home/claude/icons/arrowRight.png">    </p:cNvPr>
          <p:cNvPicPr>
            <a:picLocks noChangeAspect="1"/>
          </p:cNvPicPr>
          <p:nvPr/>
        </p:nvPicPr>
        <p:blipFill>
          <a:blip r:embed="rId2"/>
          <a:stretch>
            <a:fillRect/>
          </a:stretch>
        </p:blipFill>
        <p:spPr>
          <a:xfrm>
            <a:off x="3108960" y="3268980"/>
            <a:ext cx="182880" cy="274320"/>
          </a:xfrm>
          <a:prstGeom prst="rect">
            <a:avLst/>
          </a:prstGeom>
        </p:spPr>
      </p:pic>
      <p:sp>
        <p:nvSpPr>
          <p:cNvPr id="10" name="Shape 6"/>
          <p:cNvSpPr/>
          <p:nvPr/>
        </p:nvSpPr>
        <p:spPr>
          <a:xfrm>
            <a:off x="3310128" y="1874520"/>
            <a:ext cx="2542032" cy="3063240"/>
          </a:xfrm>
          <a:prstGeom prst="roundRect">
            <a:avLst>
              <a:gd name="adj" fmla="val 3597"/>
            </a:avLst>
          </a:prstGeom>
          <a:solidFill>
            <a:srgbClr val="F3FAF7"/>
          </a:solidFill>
          <a:ln w="12700">
            <a:solidFill>
              <a:srgbClr val="D7E9E1"/>
            </a:solidFill>
            <a:prstDash val="solid"/>
          </a:ln>
        </p:spPr>
      </p:sp>
      <p:sp>
        <p:nvSpPr>
          <p:cNvPr id="11" name="Shape 7"/>
          <p:cNvSpPr/>
          <p:nvPr/>
        </p:nvSpPr>
        <p:spPr>
          <a:xfrm>
            <a:off x="4261104" y="2194560"/>
            <a:ext cx="640080" cy="640080"/>
          </a:xfrm>
          <a:prstGeom prst="ellipse">
            <a:avLst/>
          </a:prstGeom>
          <a:solidFill>
            <a:srgbClr val="00915A"/>
          </a:solidFill>
          <a:ln/>
        </p:spPr>
      </p:sp>
      <p:pic>
        <p:nvPicPr>
          <p:cNvPr id="12" name="Image 2" descr="/home/claude/icons/node.png">    </p:cNvPr>
          <p:cNvPicPr>
            <a:picLocks noChangeAspect="1"/>
          </p:cNvPicPr>
          <p:nvPr/>
        </p:nvPicPr>
        <p:blipFill>
          <a:blip r:embed="rId3"/>
          <a:stretch>
            <a:fillRect/>
          </a:stretch>
        </p:blipFill>
        <p:spPr>
          <a:xfrm>
            <a:off x="4344314" y="2277770"/>
            <a:ext cx="473659" cy="473659"/>
          </a:xfrm>
          <a:prstGeom prst="rect">
            <a:avLst/>
          </a:prstGeom>
        </p:spPr>
      </p:pic>
      <p:sp>
        <p:nvSpPr>
          <p:cNvPr id="13" name="Text 8"/>
          <p:cNvSpPr txBox="1"/>
          <p:nvPr/>
        </p:nvSpPr>
        <p:spPr>
          <a:xfrm>
            <a:off x="3419856" y="3017520"/>
            <a:ext cx="2322576" cy="365760"/>
          </a:xfrm>
          <a:prstGeom prst="rect">
            <a:avLst/>
          </a:prstGeom>
          <a:noFill/>
          <a:ln/>
        </p:spPr>
        <p:txBody>
          <a:bodyPr wrap="square" lIns="0" tIns="0" rIns="0" bIns="0" rtlCol="0" anchor="ctr"/>
          <a:lstStyle/>
          <a:p>
            <a:pPr algn="ctr" indent="0" marL="0">
              <a:buNone/>
            </a:pPr>
            <a:r>
              <a:rPr lang="en-US" sz="1800" b="1" dirty="0">
                <a:solidFill>
                  <a:srgbClr val="00693F"/>
                </a:solidFill>
                <a:latin typeface="Calibri" pitchFamily="34" charset="0"/>
                <a:ea typeface="Calibri" pitchFamily="34" charset="-122"/>
                <a:cs typeface="Calibri" pitchFamily="34" charset="-120"/>
              </a:rPr>
              <a:t>Node</a:t>
            </a:r>
            <a:endParaRPr lang="en-US" sz="1800" dirty="0"/>
          </a:p>
        </p:txBody>
      </p:sp>
      <p:sp>
        <p:nvSpPr>
          <p:cNvPr id="14" name="Text 9"/>
          <p:cNvSpPr txBox="1"/>
          <p:nvPr/>
        </p:nvSpPr>
        <p:spPr>
          <a:xfrm>
            <a:off x="3493008" y="3447288"/>
            <a:ext cx="2176272" cy="1371600"/>
          </a:xfrm>
          <a:prstGeom prst="rect">
            <a:avLst/>
          </a:prstGeom>
          <a:noFill/>
          <a:ln/>
        </p:spPr>
        <p:txBody>
          <a:bodyPr wrap="square" lIns="0" tIns="0" rIns="0" bIns="0" rtlCol="0" anchor="ctr"/>
          <a:lstStyle/>
          <a:p>
            <a:pPr algn="ctr" indent="0" marL="0">
              <a:lnSpc>
                <a:spcPts val="1800"/>
              </a:lnSpc>
              <a:buNone/>
            </a:pPr>
            <a:r>
              <a:rPr lang="en-US" sz="1400" dirty="0">
                <a:solidFill>
                  <a:srgbClr val="1F2A28"/>
                </a:solidFill>
                <a:latin typeface="Calibri" pitchFamily="34" charset="0"/>
                <a:ea typeface="Calibri" pitchFamily="34" charset="-122"/>
                <a:cs typeface="Calibri" pitchFamily="34" charset="-120"/>
              </a:rPr>
              <a:t>Just a Python function: (state) → partial state. Easy to unit test in isolation.</a:t>
            </a:r>
            <a:endParaRPr lang="en-US" sz="1400" dirty="0"/>
          </a:p>
        </p:txBody>
      </p:sp>
      <p:pic>
        <p:nvPicPr>
          <p:cNvPr id="15" name="Image 3" descr="/home/claude/icons/arrowRight.png">    </p:cNvPr>
          <p:cNvPicPr>
            <a:picLocks noChangeAspect="1"/>
          </p:cNvPicPr>
          <p:nvPr/>
        </p:nvPicPr>
        <p:blipFill>
          <a:blip r:embed="rId4"/>
          <a:stretch>
            <a:fillRect/>
          </a:stretch>
        </p:blipFill>
        <p:spPr>
          <a:xfrm>
            <a:off x="5870448" y="3268980"/>
            <a:ext cx="182880" cy="274320"/>
          </a:xfrm>
          <a:prstGeom prst="rect">
            <a:avLst/>
          </a:prstGeom>
        </p:spPr>
      </p:pic>
      <p:sp>
        <p:nvSpPr>
          <p:cNvPr id="16" name="Shape 10"/>
          <p:cNvSpPr/>
          <p:nvPr/>
        </p:nvSpPr>
        <p:spPr>
          <a:xfrm>
            <a:off x="6071616" y="1874520"/>
            <a:ext cx="2542032" cy="3063240"/>
          </a:xfrm>
          <a:prstGeom prst="roundRect">
            <a:avLst>
              <a:gd name="adj" fmla="val 3597"/>
            </a:avLst>
          </a:prstGeom>
          <a:solidFill>
            <a:srgbClr val="E8F5EF"/>
          </a:solidFill>
          <a:ln w="12700">
            <a:solidFill>
              <a:srgbClr val="D7E9E1"/>
            </a:solidFill>
            <a:prstDash val="solid"/>
          </a:ln>
        </p:spPr>
      </p:sp>
      <p:sp>
        <p:nvSpPr>
          <p:cNvPr id="17" name="Shape 11"/>
          <p:cNvSpPr/>
          <p:nvPr/>
        </p:nvSpPr>
        <p:spPr>
          <a:xfrm>
            <a:off x="7022592" y="2194560"/>
            <a:ext cx="640080" cy="640080"/>
          </a:xfrm>
          <a:prstGeom prst="ellipse">
            <a:avLst/>
          </a:prstGeom>
          <a:solidFill>
            <a:srgbClr val="00915A"/>
          </a:solidFill>
          <a:ln/>
        </p:spPr>
      </p:sp>
      <p:pic>
        <p:nvPicPr>
          <p:cNvPr id="18" name="Image 4" descr="/home/claude/icons/edge.png">    </p:cNvPr>
          <p:cNvPicPr>
            <a:picLocks noChangeAspect="1"/>
          </p:cNvPicPr>
          <p:nvPr/>
        </p:nvPicPr>
        <p:blipFill>
          <a:blip r:embed="rId5"/>
          <a:stretch>
            <a:fillRect/>
          </a:stretch>
        </p:blipFill>
        <p:spPr>
          <a:xfrm>
            <a:off x="7105802" y="2277770"/>
            <a:ext cx="473659" cy="473659"/>
          </a:xfrm>
          <a:prstGeom prst="rect">
            <a:avLst/>
          </a:prstGeom>
        </p:spPr>
      </p:pic>
      <p:sp>
        <p:nvSpPr>
          <p:cNvPr id="19" name="Text 12"/>
          <p:cNvSpPr txBox="1"/>
          <p:nvPr/>
        </p:nvSpPr>
        <p:spPr>
          <a:xfrm>
            <a:off x="6181344" y="3017520"/>
            <a:ext cx="2322576" cy="365760"/>
          </a:xfrm>
          <a:prstGeom prst="rect">
            <a:avLst/>
          </a:prstGeom>
          <a:noFill/>
          <a:ln/>
        </p:spPr>
        <p:txBody>
          <a:bodyPr wrap="square" lIns="0" tIns="0" rIns="0" bIns="0" rtlCol="0" anchor="ctr"/>
          <a:lstStyle/>
          <a:p>
            <a:pPr algn="ctr" indent="0" marL="0">
              <a:buNone/>
            </a:pPr>
            <a:r>
              <a:rPr lang="en-US" sz="1800" b="1" dirty="0">
                <a:solidFill>
                  <a:srgbClr val="00693F"/>
                </a:solidFill>
                <a:latin typeface="Calibri" pitchFamily="34" charset="0"/>
                <a:ea typeface="Calibri" pitchFamily="34" charset="-122"/>
                <a:cs typeface="Calibri" pitchFamily="34" charset="-120"/>
              </a:rPr>
              <a:t>Edge</a:t>
            </a:r>
            <a:endParaRPr lang="en-US" sz="1800" dirty="0"/>
          </a:p>
        </p:txBody>
      </p:sp>
      <p:sp>
        <p:nvSpPr>
          <p:cNvPr id="20" name="Text 13"/>
          <p:cNvSpPr txBox="1"/>
          <p:nvPr/>
        </p:nvSpPr>
        <p:spPr>
          <a:xfrm>
            <a:off x="6254496" y="3447288"/>
            <a:ext cx="2176272" cy="1371600"/>
          </a:xfrm>
          <a:prstGeom prst="rect">
            <a:avLst/>
          </a:prstGeom>
          <a:noFill/>
          <a:ln/>
        </p:spPr>
        <p:txBody>
          <a:bodyPr wrap="square" lIns="0" tIns="0" rIns="0" bIns="0" rtlCol="0" anchor="ctr"/>
          <a:lstStyle/>
          <a:p>
            <a:pPr algn="ctr" indent="0" marL="0">
              <a:lnSpc>
                <a:spcPts val="1800"/>
              </a:lnSpc>
              <a:buNone/>
            </a:pPr>
            <a:r>
              <a:rPr lang="en-US" sz="1400" dirty="0">
                <a:solidFill>
                  <a:srgbClr val="1F2A28"/>
                </a:solidFill>
                <a:latin typeface="Calibri" pitchFamily="34" charset="0"/>
                <a:ea typeface="Calibri" pitchFamily="34" charset="-122"/>
                <a:cs typeface="Calibri" pitchFamily="34" charset="-120"/>
              </a:rPr>
              <a:t>Plain (always-next) or conditional — this is where routing logic lives.</a:t>
            </a:r>
            <a:endParaRPr lang="en-US" sz="1400" dirty="0"/>
          </a:p>
        </p:txBody>
      </p:sp>
      <p:pic>
        <p:nvPicPr>
          <p:cNvPr id="21" name="Image 5" descr="/home/claude/icons/arrowRight.png">    </p:cNvPr>
          <p:cNvPicPr>
            <a:picLocks noChangeAspect="1"/>
          </p:cNvPicPr>
          <p:nvPr/>
        </p:nvPicPr>
        <p:blipFill>
          <a:blip r:embed="rId6"/>
          <a:stretch>
            <a:fillRect/>
          </a:stretch>
        </p:blipFill>
        <p:spPr>
          <a:xfrm>
            <a:off x="8631936" y="3268980"/>
            <a:ext cx="182880" cy="274320"/>
          </a:xfrm>
          <a:prstGeom prst="rect">
            <a:avLst/>
          </a:prstGeom>
        </p:spPr>
      </p:pic>
      <p:sp>
        <p:nvSpPr>
          <p:cNvPr id="22" name="Shape 14"/>
          <p:cNvSpPr/>
          <p:nvPr/>
        </p:nvSpPr>
        <p:spPr>
          <a:xfrm>
            <a:off x="8833104" y="1874520"/>
            <a:ext cx="2542032" cy="3063240"/>
          </a:xfrm>
          <a:prstGeom prst="roundRect">
            <a:avLst>
              <a:gd name="adj" fmla="val 3597"/>
            </a:avLst>
          </a:prstGeom>
          <a:solidFill>
            <a:srgbClr val="F3FAF7"/>
          </a:solidFill>
          <a:ln w="12700">
            <a:solidFill>
              <a:srgbClr val="D7E9E1"/>
            </a:solidFill>
            <a:prstDash val="solid"/>
          </a:ln>
        </p:spPr>
      </p:sp>
      <p:sp>
        <p:nvSpPr>
          <p:cNvPr id="23" name="Shape 15"/>
          <p:cNvSpPr/>
          <p:nvPr/>
        </p:nvSpPr>
        <p:spPr>
          <a:xfrm>
            <a:off x="9784080" y="2194560"/>
            <a:ext cx="640080" cy="640080"/>
          </a:xfrm>
          <a:prstGeom prst="ellipse">
            <a:avLst/>
          </a:prstGeom>
          <a:solidFill>
            <a:srgbClr val="00915A"/>
          </a:solidFill>
          <a:ln/>
        </p:spPr>
      </p:sp>
      <p:pic>
        <p:nvPicPr>
          <p:cNvPr id="24" name="Image 6" descr="/home/claude/icons/checkpoint.png">    </p:cNvPr>
          <p:cNvPicPr>
            <a:picLocks noChangeAspect="1"/>
          </p:cNvPicPr>
          <p:nvPr/>
        </p:nvPicPr>
        <p:blipFill>
          <a:blip r:embed="rId7"/>
          <a:stretch>
            <a:fillRect/>
          </a:stretch>
        </p:blipFill>
        <p:spPr>
          <a:xfrm>
            <a:off x="9867290" y="2277770"/>
            <a:ext cx="473659" cy="473659"/>
          </a:xfrm>
          <a:prstGeom prst="rect">
            <a:avLst/>
          </a:prstGeom>
        </p:spPr>
      </p:pic>
      <p:sp>
        <p:nvSpPr>
          <p:cNvPr id="25" name="Text 16"/>
          <p:cNvSpPr txBox="1"/>
          <p:nvPr/>
        </p:nvSpPr>
        <p:spPr>
          <a:xfrm>
            <a:off x="8942832" y="3017520"/>
            <a:ext cx="2322576" cy="365760"/>
          </a:xfrm>
          <a:prstGeom prst="rect">
            <a:avLst/>
          </a:prstGeom>
          <a:noFill/>
          <a:ln/>
        </p:spPr>
        <p:txBody>
          <a:bodyPr wrap="square" lIns="0" tIns="0" rIns="0" bIns="0" rtlCol="0" anchor="ctr"/>
          <a:lstStyle/>
          <a:p>
            <a:pPr algn="ctr" indent="0" marL="0">
              <a:buNone/>
            </a:pPr>
            <a:r>
              <a:rPr lang="en-US" sz="1800" b="1" dirty="0">
                <a:solidFill>
                  <a:srgbClr val="00693F"/>
                </a:solidFill>
                <a:latin typeface="Calibri" pitchFamily="34" charset="0"/>
                <a:ea typeface="Calibri" pitchFamily="34" charset="-122"/>
                <a:cs typeface="Calibri" pitchFamily="34" charset="-120"/>
              </a:rPr>
              <a:t>Checkpointer</a:t>
            </a:r>
            <a:endParaRPr lang="en-US" sz="1800" dirty="0"/>
          </a:p>
        </p:txBody>
      </p:sp>
      <p:sp>
        <p:nvSpPr>
          <p:cNvPr id="26" name="Text 17"/>
          <p:cNvSpPr txBox="1"/>
          <p:nvPr/>
        </p:nvSpPr>
        <p:spPr>
          <a:xfrm>
            <a:off x="9015984" y="3447288"/>
            <a:ext cx="2176272" cy="1371600"/>
          </a:xfrm>
          <a:prstGeom prst="rect">
            <a:avLst/>
          </a:prstGeom>
          <a:noFill/>
          <a:ln/>
        </p:spPr>
        <p:txBody>
          <a:bodyPr wrap="square" lIns="0" tIns="0" rIns="0" bIns="0" rtlCol="0" anchor="ctr"/>
          <a:lstStyle/>
          <a:p>
            <a:pPr algn="ctr" indent="0" marL="0">
              <a:lnSpc>
                <a:spcPts val="1800"/>
              </a:lnSpc>
              <a:buNone/>
            </a:pPr>
            <a:r>
              <a:rPr lang="en-US" sz="1400" dirty="0">
                <a:solidFill>
                  <a:srgbClr val="1F2A28"/>
                </a:solidFill>
                <a:latin typeface="Calibri" pitchFamily="34" charset="0"/>
                <a:ea typeface="Calibri" pitchFamily="34" charset="-122"/>
                <a:cs typeface="Calibri" pitchFamily="34" charset="-120"/>
              </a:rPr>
              <a:t>Provides memory + resumability, and is what makes interrupt() possible.</a:t>
            </a:r>
            <a:endParaRPr lang="en-US" sz="1400" dirty="0"/>
          </a:p>
        </p:txBody>
      </p:sp>
      <p:sp>
        <p:nvSpPr>
          <p:cNvPr id="27" name="Shape 18"/>
          <p:cNvSpPr/>
          <p:nvPr/>
        </p:nvSpPr>
        <p:spPr>
          <a:xfrm>
            <a:off x="548640" y="5257800"/>
            <a:ext cx="11064240" cy="566928"/>
          </a:xfrm>
          <a:prstGeom prst="roundRect">
            <a:avLst>
              <a:gd name="adj" fmla="val 12903"/>
            </a:avLst>
          </a:prstGeom>
          <a:solidFill>
            <a:srgbClr val="0B1F17"/>
          </a:solidFill>
          <a:ln/>
        </p:spPr>
      </p:sp>
      <p:sp>
        <p:nvSpPr>
          <p:cNvPr id="28" name="Text 19"/>
          <p:cNvSpPr txBox="1"/>
          <p:nvPr/>
        </p:nvSpPr>
        <p:spPr>
          <a:xfrm>
            <a:off x="822960" y="5257800"/>
            <a:ext cx="10515600" cy="566928"/>
          </a:xfrm>
          <a:prstGeom prst="rect">
            <a:avLst/>
          </a:prstGeom>
          <a:noFill/>
          <a:ln/>
        </p:spPr>
        <p:txBody>
          <a:bodyPr wrap="square" lIns="0" tIns="0" rIns="0" bIns="0" rtlCol="0" anchor="ctr"/>
          <a:lstStyle/>
          <a:p>
            <a:pPr indent="0" marL="0">
              <a:buNone/>
            </a:pPr>
            <a:r>
              <a:rPr lang="en-US" sz="1500" i="1" dirty="0">
                <a:solidFill>
                  <a:srgbClr val="FFFFFF"/>
                </a:solidFill>
                <a:latin typeface="Calibri" pitchFamily="34" charset="0"/>
                <a:ea typeface="Calibri" pitchFamily="34" charset="-122"/>
                <a:cs typeface="Calibri" pitchFamily="34" charset="-120"/>
              </a:rPr>
              <a:t>None of this is LLM-specific — it’s a general execution engine that happens to have LLM-friendly nodes.</a:t>
            </a:r>
            <a:endParaRPr lang="en-US" sz="1500" dirty="0"/>
          </a:p>
        </p:txBody>
      </p:sp>
      <p:sp>
        <p:nvSpPr>
          <p:cNvPr id="29" name="Text 20"/>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5B6B67"/>
                </a:solidFill>
                <a:latin typeface="Calibri" pitchFamily="34" charset="0"/>
                <a:ea typeface="Calibri" pitchFamily="34" charset="-122"/>
                <a:cs typeface="Calibri" pitchFamily="34" charset="-120"/>
              </a:rPr>
              <a:t>Agentic AI with LangChain &amp; LangGraph</a:t>
            </a:r>
            <a:endParaRPr lang="en-US" sz="1000" dirty="0"/>
          </a:p>
        </p:txBody>
      </p:sp>
      <p:sp>
        <p:nvSpPr>
          <p:cNvPr id="30" name="Text 21"/>
          <p:cNvSpPr txBox="1"/>
          <p:nvPr/>
        </p:nvSpPr>
        <p:spPr>
          <a:xfrm>
            <a:off x="11064240" y="6473952"/>
            <a:ext cx="548640" cy="274320"/>
          </a:xfrm>
          <a:prstGeom prst="rect">
            <a:avLst/>
          </a:prstGeom>
          <a:noFill/>
          <a:ln/>
        </p:spPr>
        <p:txBody>
          <a:bodyPr wrap="square" lIns="0" tIns="0" rIns="0" bIns="0" rtlCol="0" anchor="ctr"/>
          <a:lstStyle/>
          <a:p>
            <a:pPr algn="r" indent="0" marL="0">
              <a:buNone/>
            </a:pPr>
            <a:r>
              <a:rPr lang="en-US" sz="1000" dirty="0">
                <a:solidFill>
                  <a:srgbClr val="5B6B67"/>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200" b="1" spc="150" kern="0" dirty="0">
                <a:solidFill>
                  <a:srgbClr val="00693F"/>
                </a:solidFill>
                <a:latin typeface="Calibri" pitchFamily="34" charset="0"/>
                <a:ea typeface="Calibri" pitchFamily="34" charset="-122"/>
                <a:cs typeface="Calibri" pitchFamily="34" charset="-120"/>
              </a:rPr>
              <a:t>TODAY’S CATALOGUE</a:t>
            </a:r>
            <a:endParaRPr lang="en-US" sz="1200" dirty="0"/>
          </a:p>
        </p:txBody>
      </p:sp>
      <p:sp>
        <p:nvSpPr>
          <p:cNvPr id="3" name="Text 1"/>
          <p:cNvSpPr txBox="1"/>
          <p:nvPr/>
        </p:nvSpPr>
        <p:spPr>
          <a:xfrm>
            <a:off x="548640" y="658368"/>
            <a:ext cx="11064240" cy="822960"/>
          </a:xfrm>
          <a:prstGeom prst="rect">
            <a:avLst/>
          </a:prstGeom>
          <a:noFill/>
          <a:ln/>
        </p:spPr>
        <p:txBody>
          <a:bodyPr wrap="square" lIns="0" tIns="0" rIns="0" bIns="0" rtlCol="0" anchor="ctr"/>
          <a:lstStyle/>
          <a:p>
            <a:pPr indent="0" marL="0">
              <a:lnSpc>
                <a:spcPts val="3400"/>
              </a:lnSpc>
              <a:buNone/>
            </a:pPr>
            <a:r>
              <a:rPr lang="en-US" sz="3000" b="1" dirty="0">
                <a:solidFill>
                  <a:srgbClr val="1F2A28"/>
                </a:solidFill>
                <a:latin typeface="Calibri" pitchFamily="34" charset="0"/>
                <a:ea typeface="Calibri" pitchFamily="34" charset="-122"/>
                <a:cs typeface="Calibri" pitchFamily="34" charset="-120"/>
              </a:rPr>
              <a:t>The five orchestration patterns</a:t>
            </a:r>
            <a:endParaRPr lang="en-US" sz="3000" dirty="0"/>
          </a:p>
        </p:txBody>
      </p:sp>
      <p:sp>
        <p:nvSpPr>
          <p:cNvPr id="4" name="Text 2"/>
          <p:cNvSpPr txBox="1"/>
          <p:nvPr/>
        </p:nvSpPr>
        <p:spPr>
          <a:xfrm>
            <a:off x="1097280" y="1417320"/>
            <a:ext cx="3291840" cy="274320"/>
          </a:xfrm>
          <a:prstGeom prst="rect">
            <a:avLst/>
          </a:prstGeom>
          <a:noFill/>
          <a:ln/>
        </p:spPr>
        <p:txBody>
          <a:bodyPr wrap="square" lIns="0" tIns="0" rIns="0" bIns="0" rtlCol="0" anchor="ctr"/>
          <a:lstStyle/>
          <a:p>
            <a:pPr indent="0" marL="0">
              <a:buNone/>
            </a:pPr>
            <a:r>
              <a:rPr lang="en-US" sz="1200" b="1" spc="50" kern="0" dirty="0">
                <a:solidFill>
                  <a:srgbClr val="5B6B67"/>
                </a:solidFill>
                <a:latin typeface="Calibri" pitchFamily="34" charset="0"/>
                <a:ea typeface="Calibri" pitchFamily="34" charset="-122"/>
                <a:cs typeface="Calibri" pitchFamily="34" charset="-120"/>
              </a:rPr>
              <a:t>PATTERN</a:t>
            </a:r>
            <a:endParaRPr lang="en-US" sz="1200" dirty="0"/>
          </a:p>
        </p:txBody>
      </p:sp>
      <p:sp>
        <p:nvSpPr>
          <p:cNvPr id="5" name="Text 3"/>
          <p:cNvSpPr txBox="1"/>
          <p:nvPr/>
        </p:nvSpPr>
        <p:spPr>
          <a:xfrm>
            <a:off x="4572000" y="1417320"/>
            <a:ext cx="3383280" cy="274320"/>
          </a:xfrm>
          <a:prstGeom prst="rect">
            <a:avLst/>
          </a:prstGeom>
          <a:noFill/>
          <a:ln/>
        </p:spPr>
        <p:txBody>
          <a:bodyPr wrap="square" lIns="0" tIns="0" rIns="0" bIns="0" rtlCol="0" anchor="ctr"/>
          <a:lstStyle/>
          <a:p>
            <a:pPr indent="0" marL="0">
              <a:buNone/>
            </a:pPr>
            <a:r>
              <a:rPr lang="en-US" sz="1200" b="1" spc="50" kern="0" dirty="0">
                <a:solidFill>
                  <a:srgbClr val="5B6B67"/>
                </a:solidFill>
                <a:latin typeface="Calibri" pitchFamily="34" charset="0"/>
                <a:ea typeface="Calibri" pitchFamily="34" charset="-122"/>
                <a:cs typeface="Calibri" pitchFamily="34" charset="-120"/>
              </a:rPr>
              <a:t>WHERE IT’S USED</a:t>
            </a:r>
            <a:endParaRPr lang="en-US" sz="1200" dirty="0"/>
          </a:p>
        </p:txBody>
      </p:sp>
      <p:sp>
        <p:nvSpPr>
          <p:cNvPr id="6" name="Text 4"/>
          <p:cNvSpPr txBox="1"/>
          <p:nvPr/>
        </p:nvSpPr>
        <p:spPr>
          <a:xfrm>
            <a:off x="7955280" y="1417320"/>
            <a:ext cx="3566160" cy="274320"/>
          </a:xfrm>
          <a:prstGeom prst="rect">
            <a:avLst/>
          </a:prstGeom>
          <a:noFill/>
          <a:ln/>
        </p:spPr>
        <p:txBody>
          <a:bodyPr wrap="square" lIns="0" tIns="0" rIns="0" bIns="0" rtlCol="0" anchor="ctr"/>
          <a:lstStyle/>
          <a:p>
            <a:pPr indent="0" marL="0">
              <a:buNone/>
            </a:pPr>
            <a:r>
              <a:rPr lang="en-US" sz="1200" b="1" spc="50" kern="0" dirty="0">
                <a:solidFill>
                  <a:srgbClr val="5B6B67"/>
                </a:solidFill>
                <a:latin typeface="Calibri" pitchFamily="34" charset="0"/>
                <a:ea typeface="Calibri" pitchFamily="34" charset="-122"/>
                <a:cs typeface="Calibri" pitchFamily="34" charset="-120"/>
              </a:rPr>
              <a:t>WHY IT MATTERS</a:t>
            </a:r>
            <a:endParaRPr lang="en-US" sz="1200" dirty="0"/>
          </a:p>
        </p:txBody>
      </p:sp>
      <p:sp>
        <p:nvSpPr>
          <p:cNvPr id="7" name="Shape 5"/>
          <p:cNvSpPr/>
          <p:nvPr/>
        </p:nvSpPr>
        <p:spPr>
          <a:xfrm>
            <a:off x="411480" y="1709928"/>
            <a:ext cx="11338560" cy="731520"/>
          </a:xfrm>
          <a:prstGeom prst="rect">
            <a:avLst/>
          </a:prstGeom>
          <a:solidFill>
            <a:srgbClr val="F3FAF7"/>
          </a:solidFill>
          <a:ln/>
        </p:spPr>
      </p:sp>
      <p:sp>
        <p:nvSpPr>
          <p:cNvPr id="8" name="Shape 6"/>
          <p:cNvSpPr/>
          <p:nvPr/>
        </p:nvSpPr>
        <p:spPr>
          <a:xfrm>
            <a:off x="548640" y="1801368"/>
            <a:ext cx="420624" cy="420624"/>
          </a:xfrm>
          <a:prstGeom prst="ellipse">
            <a:avLst/>
          </a:prstGeom>
          <a:solidFill>
            <a:srgbClr val="00915A"/>
          </a:solidFill>
          <a:ln/>
        </p:spPr>
      </p:sp>
      <p:pic>
        <p:nvPicPr>
          <p:cNvPr id="9" name="Image 0" descr="/home/claude/icons/router.png">    </p:cNvPr>
          <p:cNvPicPr>
            <a:picLocks noChangeAspect="1"/>
          </p:cNvPicPr>
          <p:nvPr/>
        </p:nvPicPr>
        <p:blipFill>
          <a:blip r:embed="rId1"/>
          <a:stretch>
            <a:fillRect/>
          </a:stretch>
        </p:blipFill>
        <p:spPr>
          <a:xfrm>
            <a:off x="603321" y="1856049"/>
            <a:ext cx="311262" cy="311262"/>
          </a:xfrm>
          <a:prstGeom prst="rect">
            <a:avLst/>
          </a:prstGeom>
        </p:spPr>
      </p:pic>
      <p:sp>
        <p:nvSpPr>
          <p:cNvPr id="10" name="Text 7"/>
          <p:cNvSpPr txBox="1"/>
          <p:nvPr/>
        </p:nvSpPr>
        <p:spPr>
          <a:xfrm>
            <a:off x="1097280" y="1764792"/>
            <a:ext cx="3931920" cy="694944"/>
          </a:xfrm>
          <a:prstGeom prst="rect">
            <a:avLst/>
          </a:prstGeom>
          <a:noFill/>
          <a:ln/>
        </p:spPr>
        <p:txBody>
          <a:bodyPr wrap="square" lIns="0" tIns="0" rIns="0" bIns="0" rtlCol="0" anchor="ctr"/>
          <a:lstStyle/>
          <a:p>
            <a:pPr indent="0" marL="0">
              <a:buNone/>
            </a:pPr>
            <a:r>
              <a:rPr lang="en-US" sz="1600" b="1" dirty="0">
                <a:solidFill>
                  <a:srgbClr val="1F2A28"/>
                </a:solidFill>
                <a:latin typeface="Calibri" pitchFamily="34" charset="0"/>
                <a:ea typeface="Calibri" pitchFamily="34" charset="-122"/>
                <a:cs typeface="Calibri" pitchFamily="34" charset="-120"/>
              </a:rPr>
              <a:t>Supervisor / Router</a:t>
            </a:r>
            <a:endParaRPr lang="en-US" sz="1600" dirty="0"/>
          </a:p>
        </p:txBody>
      </p:sp>
      <p:sp>
        <p:nvSpPr>
          <p:cNvPr id="11" name="Text 8"/>
          <p:cNvSpPr txBox="1"/>
          <p:nvPr/>
        </p:nvSpPr>
        <p:spPr>
          <a:xfrm>
            <a:off x="4572000" y="1764792"/>
            <a:ext cx="3291840" cy="694944"/>
          </a:xfrm>
          <a:prstGeom prst="rect">
            <a:avLst/>
          </a:prstGeom>
          <a:noFill/>
          <a:ln/>
        </p:spPr>
        <p:txBody>
          <a:bodyPr wrap="square" lIns="0" tIns="0" rIns="0" bIns="0" rtlCol="0" anchor="ctr"/>
          <a:lstStyle/>
          <a:p>
            <a:pPr indent="0" marL="0">
              <a:lnSpc>
                <a:spcPts val="1700"/>
              </a:lnSpc>
              <a:buNone/>
            </a:pPr>
            <a:r>
              <a:rPr lang="en-US" sz="1400" dirty="0">
                <a:solidFill>
                  <a:srgbClr val="1F2A28"/>
                </a:solidFill>
                <a:latin typeface="Calibri" pitchFamily="34" charset="0"/>
                <a:ea typeface="Calibri" pitchFamily="34" charset="-122"/>
                <a:cs typeface="Calibri" pitchFamily="34" charset="-120"/>
              </a:rPr>
              <a:t>Multi-capability assistants</a:t>
            </a:r>
            <a:endParaRPr lang="en-US" sz="1400" dirty="0"/>
          </a:p>
        </p:txBody>
      </p:sp>
      <p:sp>
        <p:nvSpPr>
          <p:cNvPr id="12" name="Text 9"/>
          <p:cNvSpPr txBox="1"/>
          <p:nvPr/>
        </p:nvSpPr>
        <p:spPr>
          <a:xfrm>
            <a:off x="7955280" y="1764792"/>
            <a:ext cx="3566160" cy="694944"/>
          </a:xfrm>
          <a:prstGeom prst="rect">
            <a:avLst/>
          </a:prstGeom>
          <a:noFill/>
          <a:ln/>
        </p:spPr>
        <p:txBody>
          <a:bodyPr wrap="square" lIns="0" tIns="0" rIns="0" bIns="0" rtlCol="0" anchor="ctr"/>
          <a:lstStyle/>
          <a:p>
            <a:pPr indent="0" marL="0">
              <a:lnSpc>
                <a:spcPts val="1700"/>
              </a:lnSpc>
              <a:buNone/>
            </a:pPr>
            <a:r>
              <a:rPr lang="en-US" sz="1400" dirty="0">
                <a:solidFill>
                  <a:srgbClr val="5B6B67"/>
                </a:solidFill>
                <a:latin typeface="Calibri" pitchFamily="34" charset="0"/>
                <a:ea typeface="Calibri" pitchFamily="34" charset="-122"/>
                <a:cs typeface="Calibri" pitchFamily="34" charset="-120"/>
              </a:rPr>
              <a:t>Classify intent, then dispatch</a:t>
            </a:r>
            <a:endParaRPr lang="en-US" sz="1400" dirty="0"/>
          </a:p>
        </p:txBody>
      </p:sp>
      <p:sp>
        <p:nvSpPr>
          <p:cNvPr id="13" name="Shape 10"/>
          <p:cNvSpPr/>
          <p:nvPr/>
        </p:nvSpPr>
        <p:spPr>
          <a:xfrm>
            <a:off x="548640" y="2587752"/>
            <a:ext cx="420624" cy="420624"/>
          </a:xfrm>
          <a:prstGeom prst="ellipse">
            <a:avLst/>
          </a:prstGeom>
          <a:solidFill>
            <a:srgbClr val="00915A"/>
          </a:solidFill>
          <a:ln/>
        </p:spPr>
      </p:sp>
      <p:pic>
        <p:nvPicPr>
          <p:cNvPr id="14" name="Image 1" descr="/home/claude/icons/react.png">    </p:cNvPr>
          <p:cNvPicPr>
            <a:picLocks noChangeAspect="1"/>
          </p:cNvPicPr>
          <p:nvPr/>
        </p:nvPicPr>
        <p:blipFill>
          <a:blip r:embed="rId2"/>
          <a:stretch>
            <a:fillRect/>
          </a:stretch>
        </p:blipFill>
        <p:spPr>
          <a:xfrm>
            <a:off x="603321" y="2642433"/>
            <a:ext cx="311262" cy="311262"/>
          </a:xfrm>
          <a:prstGeom prst="rect">
            <a:avLst/>
          </a:prstGeom>
        </p:spPr>
      </p:pic>
      <p:sp>
        <p:nvSpPr>
          <p:cNvPr id="15" name="Text 11"/>
          <p:cNvSpPr txBox="1"/>
          <p:nvPr/>
        </p:nvSpPr>
        <p:spPr>
          <a:xfrm>
            <a:off x="1097280" y="2551176"/>
            <a:ext cx="3931920" cy="694944"/>
          </a:xfrm>
          <a:prstGeom prst="rect">
            <a:avLst/>
          </a:prstGeom>
          <a:noFill/>
          <a:ln/>
        </p:spPr>
        <p:txBody>
          <a:bodyPr wrap="square" lIns="0" tIns="0" rIns="0" bIns="0" rtlCol="0" anchor="ctr"/>
          <a:lstStyle/>
          <a:p>
            <a:pPr indent="0" marL="0">
              <a:buNone/>
            </a:pPr>
            <a:r>
              <a:rPr lang="en-US" sz="1600" b="1" dirty="0">
                <a:solidFill>
                  <a:srgbClr val="1F2A28"/>
                </a:solidFill>
                <a:latin typeface="Calibri" pitchFamily="34" charset="0"/>
                <a:ea typeface="Calibri" pitchFamily="34" charset="-122"/>
                <a:cs typeface="Calibri" pitchFamily="34" charset="-120"/>
              </a:rPr>
              <a:t>ReAct Tool-Calling</a:t>
            </a:r>
            <a:endParaRPr lang="en-US" sz="1600" dirty="0"/>
          </a:p>
        </p:txBody>
      </p:sp>
      <p:sp>
        <p:nvSpPr>
          <p:cNvPr id="16" name="Text 12"/>
          <p:cNvSpPr txBox="1"/>
          <p:nvPr/>
        </p:nvSpPr>
        <p:spPr>
          <a:xfrm>
            <a:off x="4572000" y="2551176"/>
            <a:ext cx="3291840" cy="694944"/>
          </a:xfrm>
          <a:prstGeom prst="rect">
            <a:avLst/>
          </a:prstGeom>
          <a:noFill/>
          <a:ln/>
        </p:spPr>
        <p:txBody>
          <a:bodyPr wrap="square" lIns="0" tIns="0" rIns="0" bIns="0" rtlCol="0" anchor="ctr"/>
          <a:lstStyle/>
          <a:p>
            <a:pPr indent="0" marL="0">
              <a:lnSpc>
                <a:spcPts val="1700"/>
              </a:lnSpc>
              <a:buNone/>
            </a:pPr>
            <a:r>
              <a:rPr lang="en-US" sz="1400" dirty="0">
                <a:solidFill>
                  <a:srgbClr val="1F2A28"/>
                </a:solidFill>
                <a:latin typeface="Calibri" pitchFamily="34" charset="0"/>
                <a:ea typeface="Calibri" pitchFamily="34" charset="-122"/>
                <a:cs typeface="Calibri" pitchFamily="34" charset="-120"/>
              </a:rPr>
              <a:t>Any tool / API / DB interaction</a:t>
            </a:r>
            <a:endParaRPr lang="en-US" sz="1400" dirty="0"/>
          </a:p>
        </p:txBody>
      </p:sp>
      <p:sp>
        <p:nvSpPr>
          <p:cNvPr id="17" name="Text 13"/>
          <p:cNvSpPr txBox="1"/>
          <p:nvPr/>
        </p:nvSpPr>
        <p:spPr>
          <a:xfrm>
            <a:off x="7955280" y="2551176"/>
            <a:ext cx="3566160" cy="694944"/>
          </a:xfrm>
          <a:prstGeom prst="rect">
            <a:avLst/>
          </a:prstGeom>
          <a:noFill/>
          <a:ln/>
        </p:spPr>
        <p:txBody>
          <a:bodyPr wrap="square" lIns="0" tIns="0" rIns="0" bIns="0" rtlCol="0" anchor="ctr"/>
          <a:lstStyle/>
          <a:p>
            <a:pPr indent="0" marL="0">
              <a:lnSpc>
                <a:spcPts val="1700"/>
              </a:lnSpc>
              <a:buNone/>
            </a:pPr>
            <a:r>
              <a:rPr lang="en-US" sz="1400" dirty="0">
                <a:solidFill>
                  <a:srgbClr val="5B6B67"/>
                </a:solidFill>
                <a:latin typeface="Calibri" pitchFamily="34" charset="0"/>
                <a:ea typeface="Calibri" pitchFamily="34" charset="-122"/>
                <a:cs typeface="Calibri" pitchFamily="34" charset="-120"/>
              </a:rPr>
              <a:t>Reasoning over live results</a:t>
            </a:r>
            <a:endParaRPr lang="en-US" sz="1400" dirty="0"/>
          </a:p>
        </p:txBody>
      </p:sp>
      <p:sp>
        <p:nvSpPr>
          <p:cNvPr id="18" name="Shape 14"/>
          <p:cNvSpPr/>
          <p:nvPr/>
        </p:nvSpPr>
        <p:spPr>
          <a:xfrm>
            <a:off x="411480" y="3282696"/>
            <a:ext cx="11338560" cy="731520"/>
          </a:xfrm>
          <a:prstGeom prst="rect">
            <a:avLst/>
          </a:prstGeom>
          <a:solidFill>
            <a:srgbClr val="F3FAF7"/>
          </a:solidFill>
          <a:ln/>
        </p:spPr>
      </p:sp>
      <p:sp>
        <p:nvSpPr>
          <p:cNvPr id="19" name="Shape 15"/>
          <p:cNvSpPr/>
          <p:nvPr/>
        </p:nvSpPr>
        <p:spPr>
          <a:xfrm>
            <a:off x="548640" y="3374136"/>
            <a:ext cx="420624" cy="420624"/>
          </a:xfrm>
          <a:prstGeom prst="ellipse">
            <a:avLst/>
          </a:prstGeom>
          <a:solidFill>
            <a:srgbClr val="00915A"/>
          </a:solidFill>
          <a:ln/>
        </p:spPr>
      </p:sp>
      <p:pic>
        <p:nvPicPr>
          <p:cNvPr id="20" name="Image 2" descr="/home/claude/icons/parallel.png">    </p:cNvPr>
          <p:cNvPicPr>
            <a:picLocks noChangeAspect="1"/>
          </p:cNvPicPr>
          <p:nvPr/>
        </p:nvPicPr>
        <p:blipFill>
          <a:blip r:embed="rId3"/>
          <a:stretch>
            <a:fillRect/>
          </a:stretch>
        </p:blipFill>
        <p:spPr>
          <a:xfrm>
            <a:off x="603321" y="3428817"/>
            <a:ext cx="311262" cy="311262"/>
          </a:xfrm>
          <a:prstGeom prst="rect">
            <a:avLst/>
          </a:prstGeom>
        </p:spPr>
      </p:pic>
      <p:sp>
        <p:nvSpPr>
          <p:cNvPr id="21" name="Text 16"/>
          <p:cNvSpPr txBox="1"/>
          <p:nvPr/>
        </p:nvSpPr>
        <p:spPr>
          <a:xfrm>
            <a:off x="1097280" y="3337560"/>
            <a:ext cx="3931920" cy="694944"/>
          </a:xfrm>
          <a:prstGeom prst="rect">
            <a:avLst/>
          </a:prstGeom>
          <a:noFill/>
          <a:ln/>
        </p:spPr>
        <p:txBody>
          <a:bodyPr wrap="square" lIns="0" tIns="0" rIns="0" bIns="0" rtlCol="0" anchor="ctr"/>
          <a:lstStyle/>
          <a:p>
            <a:pPr indent="0" marL="0">
              <a:buNone/>
            </a:pPr>
            <a:r>
              <a:rPr lang="en-US" sz="1600" b="1" dirty="0">
                <a:solidFill>
                  <a:srgbClr val="1F2A28"/>
                </a:solidFill>
                <a:latin typeface="Calibri" pitchFamily="34" charset="0"/>
                <a:ea typeface="Calibri" pitchFamily="34" charset="-122"/>
                <a:cs typeface="Calibri" pitchFamily="34" charset="-120"/>
              </a:rPr>
              <a:t>Parallel Fan-Out / Fan-In</a:t>
            </a:r>
            <a:endParaRPr lang="en-US" sz="1600" dirty="0"/>
          </a:p>
        </p:txBody>
      </p:sp>
      <p:sp>
        <p:nvSpPr>
          <p:cNvPr id="22" name="Text 17"/>
          <p:cNvSpPr txBox="1"/>
          <p:nvPr/>
        </p:nvSpPr>
        <p:spPr>
          <a:xfrm>
            <a:off x="4572000" y="3337560"/>
            <a:ext cx="3291840" cy="694944"/>
          </a:xfrm>
          <a:prstGeom prst="rect">
            <a:avLst/>
          </a:prstGeom>
          <a:noFill/>
          <a:ln/>
        </p:spPr>
        <p:txBody>
          <a:bodyPr wrap="square" lIns="0" tIns="0" rIns="0" bIns="0" rtlCol="0" anchor="ctr"/>
          <a:lstStyle/>
          <a:p>
            <a:pPr indent="0" marL="0">
              <a:lnSpc>
                <a:spcPts val="1700"/>
              </a:lnSpc>
              <a:buNone/>
            </a:pPr>
            <a:r>
              <a:rPr lang="en-US" sz="1400" dirty="0">
                <a:solidFill>
                  <a:srgbClr val="1F2A28"/>
                </a:solidFill>
                <a:latin typeface="Calibri" pitchFamily="34" charset="0"/>
                <a:ea typeface="Calibri" pitchFamily="34" charset="-122"/>
                <a:cs typeface="Calibri" pitchFamily="34" charset="-120"/>
              </a:rPr>
              <a:t>Independent sub-tasks</a:t>
            </a:r>
            <a:endParaRPr lang="en-US" sz="1400" dirty="0"/>
          </a:p>
        </p:txBody>
      </p:sp>
      <p:sp>
        <p:nvSpPr>
          <p:cNvPr id="23" name="Text 18"/>
          <p:cNvSpPr txBox="1"/>
          <p:nvPr/>
        </p:nvSpPr>
        <p:spPr>
          <a:xfrm>
            <a:off x="7955280" y="3337560"/>
            <a:ext cx="3566160" cy="694944"/>
          </a:xfrm>
          <a:prstGeom prst="rect">
            <a:avLst/>
          </a:prstGeom>
          <a:noFill/>
          <a:ln/>
        </p:spPr>
        <p:txBody>
          <a:bodyPr wrap="square" lIns="0" tIns="0" rIns="0" bIns="0" rtlCol="0" anchor="ctr"/>
          <a:lstStyle/>
          <a:p>
            <a:pPr indent="0" marL="0">
              <a:lnSpc>
                <a:spcPts val="1700"/>
              </a:lnSpc>
              <a:buNone/>
            </a:pPr>
            <a:r>
              <a:rPr lang="en-US" sz="1400" dirty="0">
                <a:solidFill>
                  <a:srgbClr val="5B6B67"/>
                </a:solidFill>
                <a:latin typeface="Calibri" pitchFamily="34" charset="0"/>
                <a:ea typeface="Calibri" pitchFamily="34" charset="-122"/>
                <a:cs typeface="Calibri" pitchFamily="34" charset="-120"/>
              </a:rPr>
              <a:t>Cuts latency, joins results</a:t>
            </a:r>
            <a:endParaRPr lang="en-US" sz="1400" dirty="0"/>
          </a:p>
        </p:txBody>
      </p:sp>
      <p:sp>
        <p:nvSpPr>
          <p:cNvPr id="24" name="Shape 19"/>
          <p:cNvSpPr/>
          <p:nvPr/>
        </p:nvSpPr>
        <p:spPr>
          <a:xfrm>
            <a:off x="548640" y="4160520"/>
            <a:ext cx="420624" cy="420624"/>
          </a:xfrm>
          <a:prstGeom prst="ellipse">
            <a:avLst/>
          </a:prstGeom>
          <a:solidFill>
            <a:srgbClr val="00915A"/>
          </a:solidFill>
          <a:ln/>
        </p:spPr>
      </p:sp>
      <p:pic>
        <p:nvPicPr>
          <p:cNvPr id="25" name="Image 3" descr="/home/claude/icons/human.png">    </p:cNvPr>
          <p:cNvPicPr>
            <a:picLocks noChangeAspect="1"/>
          </p:cNvPicPr>
          <p:nvPr/>
        </p:nvPicPr>
        <p:blipFill>
          <a:blip r:embed="rId4"/>
          <a:stretch>
            <a:fillRect/>
          </a:stretch>
        </p:blipFill>
        <p:spPr>
          <a:xfrm>
            <a:off x="603321" y="4215201"/>
            <a:ext cx="311262" cy="311262"/>
          </a:xfrm>
          <a:prstGeom prst="rect">
            <a:avLst/>
          </a:prstGeom>
        </p:spPr>
      </p:pic>
      <p:sp>
        <p:nvSpPr>
          <p:cNvPr id="26" name="Text 20"/>
          <p:cNvSpPr txBox="1"/>
          <p:nvPr/>
        </p:nvSpPr>
        <p:spPr>
          <a:xfrm>
            <a:off x="1097280" y="4123944"/>
            <a:ext cx="3931920" cy="694944"/>
          </a:xfrm>
          <a:prstGeom prst="rect">
            <a:avLst/>
          </a:prstGeom>
          <a:noFill/>
          <a:ln/>
        </p:spPr>
        <p:txBody>
          <a:bodyPr wrap="square" lIns="0" tIns="0" rIns="0" bIns="0" rtlCol="0" anchor="ctr"/>
          <a:lstStyle/>
          <a:p>
            <a:pPr indent="0" marL="0">
              <a:buNone/>
            </a:pPr>
            <a:r>
              <a:rPr lang="en-US" sz="1600" b="1" dirty="0">
                <a:solidFill>
                  <a:srgbClr val="1F2A28"/>
                </a:solidFill>
                <a:latin typeface="Calibri" pitchFamily="34" charset="0"/>
                <a:ea typeface="Calibri" pitchFamily="34" charset="-122"/>
                <a:cs typeface="Calibri" pitchFamily="34" charset="-120"/>
              </a:rPr>
              <a:t>Human-in-the-Loop</a:t>
            </a:r>
            <a:endParaRPr lang="en-US" sz="1600" dirty="0"/>
          </a:p>
        </p:txBody>
      </p:sp>
      <p:sp>
        <p:nvSpPr>
          <p:cNvPr id="27" name="Text 21"/>
          <p:cNvSpPr txBox="1"/>
          <p:nvPr/>
        </p:nvSpPr>
        <p:spPr>
          <a:xfrm>
            <a:off x="4572000" y="4123944"/>
            <a:ext cx="3291840" cy="694944"/>
          </a:xfrm>
          <a:prstGeom prst="rect">
            <a:avLst/>
          </a:prstGeom>
          <a:noFill/>
          <a:ln/>
        </p:spPr>
        <p:txBody>
          <a:bodyPr wrap="square" lIns="0" tIns="0" rIns="0" bIns="0" rtlCol="0" anchor="ctr"/>
          <a:lstStyle/>
          <a:p>
            <a:pPr indent="0" marL="0">
              <a:lnSpc>
                <a:spcPts val="1700"/>
              </a:lnSpc>
              <a:buNone/>
            </a:pPr>
            <a:r>
              <a:rPr lang="en-US" sz="1400" dirty="0">
                <a:solidFill>
                  <a:srgbClr val="1F2A28"/>
                </a:solidFill>
                <a:latin typeface="Calibri" pitchFamily="34" charset="0"/>
                <a:ea typeface="Calibri" pitchFamily="34" charset="-122"/>
                <a:cs typeface="Calibri" pitchFamily="34" charset="-120"/>
              </a:rPr>
              <a:t>Risk &amp; compliance moments</a:t>
            </a:r>
            <a:endParaRPr lang="en-US" sz="1400" dirty="0"/>
          </a:p>
        </p:txBody>
      </p:sp>
      <p:sp>
        <p:nvSpPr>
          <p:cNvPr id="28" name="Text 22"/>
          <p:cNvSpPr txBox="1"/>
          <p:nvPr/>
        </p:nvSpPr>
        <p:spPr>
          <a:xfrm>
            <a:off x="7955280" y="4123944"/>
            <a:ext cx="3566160" cy="694944"/>
          </a:xfrm>
          <a:prstGeom prst="rect">
            <a:avLst/>
          </a:prstGeom>
          <a:noFill/>
          <a:ln/>
        </p:spPr>
        <p:txBody>
          <a:bodyPr wrap="square" lIns="0" tIns="0" rIns="0" bIns="0" rtlCol="0" anchor="ctr"/>
          <a:lstStyle/>
          <a:p>
            <a:pPr indent="0" marL="0">
              <a:lnSpc>
                <a:spcPts val="1700"/>
              </a:lnSpc>
              <a:buNone/>
            </a:pPr>
            <a:r>
              <a:rPr lang="en-US" sz="1400" dirty="0">
                <a:solidFill>
                  <a:srgbClr val="5B6B67"/>
                </a:solidFill>
                <a:latin typeface="Calibri" pitchFamily="34" charset="0"/>
                <a:ea typeface="Calibri" pitchFamily="34" charset="-122"/>
                <a:cs typeface="Calibri" pitchFamily="34" charset="-120"/>
              </a:rPr>
              <a:t>Governance, auditability</a:t>
            </a:r>
            <a:endParaRPr lang="en-US" sz="1400" dirty="0"/>
          </a:p>
        </p:txBody>
      </p:sp>
      <p:sp>
        <p:nvSpPr>
          <p:cNvPr id="29" name="Shape 23"/>
          <p:cNvSpPr/>
          <p:nvPr/>
        </p:nvSpPr>
        <p:spPr>
          <a:xfrm>
            <a:off x="411480" y="4855464"/>
            <a:ext cx="11338560" cy="731520"/>
          </a:xfrm>
          <a:prstGeom prst="rect">
            <a:avLst/>
          </a:prstGeom>
          <a:solidFill>
            <a:srgbClr val="F3FAF7"/>
          </a:solidFill>
          <a:ln/>
        </p:spPr>
      </p:sp>
      <p:sp>
        <p:nvSpPr>
          <p:cNvPr id="30" name="Shape 24"/>
          <p:cNvSpPr/>
          <p:nvPr/>
        </p:nvSpPr>
        <p:spPr>
          <a:xfrm>
            <a:off x="548640" y="4946904"/>
            <a:ext cx="420624" cy="420624"/>
          </a:xfrm>
          <a:prstGeom prst="ellipse">
            <a:avLst/>
          </a:prstGeom>
          <a:solidFill>
            <a:srgbClr val="00915A"/>
          </a:solidFill>
          <a:ln/>
        </p:spPr>
      </p:sp>
      <p:pic>
        <p:nvPicPr>
          <p:cNvPr id="31" name="Image 4" descr="/home/claude/icons/memory.png">    </p:cNvPr>
          <p:cNvPicPr>
            <a:picLocks noChangeAspect="1"/>
          </p:cNvPicPr>
          <p:nvPr/>
        </p:nvPicPr>
        <p:blipFill>
          <a:blip r:embed="rId5"/>
          <a:stretch>
            <a:fillRect/>
          </a:stretch>
        </p:blipFill>
        <p:spPr>
          <a:xfrm>
            <a:off x="603321" y="5001585"/>
            <a:ext cx="311262" cy="311262"/>
          </a:xfrm>
          <a:prstGeom prst="rect">
            <a:avLst/>
          </a:prstGeom>
        </p:spPr>
      </p:pic>
      <p:sp>
        <p:nvSpPr>
          <p:cNvPr id="32" name="Text 25"/>
          <p:cNvSpPr txBox="1"/>
          <p:nvPr/>
        </p:nvSpPr>
        <p:spPr>
          <a:xfrm>
            <a:off x="1097280" y="4910328"/>
            <a:ext cx="3931920" cy="694944"/>
          </a:xfrm>
          <a:prstGeom prst="rect">
            <a:avLst/>
          </a:prstGeom>
          <a:noFill/>
          <a:ln/>
        </p:spPr>
        <p:txBody>
          <a:bodyPr wrap="square" lIns="0" tIns="0" rIns="0" bIns="0" rtlCol="0" anchor="ctr"/>
          <a:lstStyle/>
          <a:p>
            <a:pPr indent="0" marL="0">
              <a:buNone/>
            </a:pPr>
            <a:r>
              <a:rPr lang="en-US" sz="1600" b="1" dirty="0">
                <a:solidFill>
                  <a:srgbClr val="1F2A28"/>
                </a:solidFill>
                <a:latin typeface="Calibri" pitchFamily="34" charset="0"/>
                <a:ea typeface="Calibri" pitchFamily="34" charset="-122"/>
                <a:cs typeface="Calibri" pitchFamily="34" charset="-120"/>
              </a:rPr>
              <a:t>Conversation Memory</a:t>
            </a:r>
            <a:endParaRPr lang="en-US" sz="1600" dirty="0"/>
          </a:p>
        </p:txBody>
      </p:sp>
      <p:sp>
        <p:nvSpPr>
          <p:cNvPr id="33" name="Text 26"/>
          <p:cNvSpPr txBox="1"/>
          <p:nvPr/>
        </p:nvSpPr>
        <p:spPr>
          <a:xfrm>
            <a:off x="4572000" y="4910328"/>
            <a:ext cx="3291840" cy="694944"/>
          </a:xfrm>
          <a:prstGeom prst="rect">
            <a:avLst/>
          </a:prstGeom>
          <a:noFill/>
          <a:ln/>
        </p:spPr>
        <p:txBody>
          <a:bodyPr wrap="square" lIns="0" tIns="0" rIns="0" bIns="0" rtlCol="0" anchor="ctr"/>
          <a:lstStyle/>
          <a:p>
            <a:pPr indent="0" marL="0">
              <a:lnSpc>
                <a:spcPts val="1700"/>
              </a:lnSpc>
              <a:buNone/>
            </a:pPr>
            <a:r>
              <a:rPr lang="en-US" sz="1400" dirty="0">
                <a:solidFill>
                  <a:srgbClr val="1F2A28"/>
                </a:solidFill>
                <a:latin typeface="Calibri" pitchFamily="34" charset="0"/>
                <a:ea typeface="Calibri" pitchFamily="34" charset="-122"/>
                <a:cs typeface="Calibri" pitchFamily="34" charset="-120"/>
              </a:rPr>
              <a:t>Multi-turn assistants</a:t>
            </a:r>
            <a:endParaRPr lang="en-US" sz="1400" dirty="0"/>
          </a:p>
        </p:txBody>
      </p:sp>
      <p:sp>
        <p:nvSpPr>
          <p:cNvPr id="34" name="Text 27"/>
          <p:cNvSpPr txBox="1"/>
          <p:nvPr/>
        </p:nvSpPr>
        <p:spPr>
          <a:xfrm>
            <a:off x="7955280" y="4910328"/>
            <a:ext cx="3566160" cy="694944"/>
          </a:xfrm>
          <a:prstGeom prst="rect">
            <a:avLst/>
          </a:prstGeom>
          <a:noFill/>
          <a:ln/>
        </p:spPr>
        <p:txBody>
          <a:bodyPr wrap="square" lIns="0" tIns="0" rIns="0" bIns="0" rtlCol="0" anchor="ctr"/>
          <a:lstStyle/>
          <a:p>
            <a:pPr indent="0" marL="0">
              <a:lnSpc>
                <a:spcPts val="1700"/>
              </a:lnSpc>
              <a:buNone/>
            </a:pPr>
            <a:r>
              <a:rPr lang="en-US" sz="1400" dirty="0">
                <a:solidFill>
                  <a:srgbClr val="5B6B67"/>
                </a:solidFill>
                <a:latin typeface="Calibri" pitchFamily="34" charset="0"/>
                <a:ea typeface="Calibri" pitchFamily="34" charset="-122"/>
                <a:cs typeface="Calibri" pitchFamily="34" charset="-120"/>
              </a:rPr>
              <a:t>Context continuity across turns</a:t>
            </a:r>
            <a:endParaRPr lang="en-US" sz="1400" dirty="0"/>
          </a:p>
        </p:txBody>
      </p:sp>
      <p:sp>
        <p:nvSpPr>
          <p:cNvPr id="35" name="Text 28"/>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5B6B67"/>
                </a:solidFill>
                <a:latin typeface="Calibri" pitchFamily="34" charset="0"/>
                <a:ea typeface="Calibri" pitchFamily="34" charset="-122"/>
                <a:cs typeface="Calibri" pitchFamily="34" charset="-120"/>
              </a:rPr>
              <a:t>Agentic AI with LangChain &amp; LangGraph</a:t>
            </a:r>
            <a:endParaRPr lang="en-US" sz="1000" dirty="0"/>
          </a:p>
        </p:txBody>
      </p:sp>
      <p:sp>
        <p:nvSpPr>
          <p:cNvPr id="36" name="Text 29"/>
          <p:cNvSpPr txBox="1"/>
          <p:nvPr/>
        </p:nvSpPr>
        <p:spPr>
          <a:xfrm>
            <a:off x="11064240" y="6473952"/>
            <a:ext cx="548640" cy="274320"/>
          </a:xfrm>
          <a:prstGeom prst="rect">
            <a:avLst/>
          </a:prstGeom>
          <a:noFill/>
          <a:ln/>
        </p:spPr>
        <p:txBody>
          <a:bodyPr wrap="square" lIns="0" tIns="0" rIns="0" bIns="0" rtlCol="0" anchor="ctr"/>
          <a:lstStyle/>
          <a:p>
            <a:pPr algn="r" indent="0" marL="0">
              <a:buNone/>
            </a:pPr>
            <a:r>
              <a:rPr lang="en-US" sz="1000" dirty="0">
                <a:solidFill>
                  <a:srgbClr val="5B6B67"/>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B1F17"/>
          </a:solidFill>
          <a:ln/>
        </p:spPr>
      </p:sp>
      <p:sp>
        <p:nvSpPr>
          <p:cNvPr id="3" name="Shape 1"/>
          <p:cNvSpPr/>
          <p:nvPr/>
        </p:nvSpPr>
        <p:spPr>
          <a:xfrm>
            <a:off x="548640" y="1188720"/>
            <a:ext cx="640080" cy="640080"/>
          </a:xfrm>
          <a:prstGeom prst="ellipse">
            <a:avLst/>
          </a:prstGeom>
          <a:solidFill>
            <a:srgbClr val="00915A"/>
          </a:solidFill>
          <a:ln/>
        </p:spPr>
      </p:sp>
      <p:pic>
        <p:nvPicPr>
          <p:cNvPr id="4" name="Image 0" descr="/home/claude/icons/play_w.png">    </p:cNvPr>
          <p:cNvPicPr>
            <a:picLocks noChangeAspect="1"/>
          </p:cNvPicPr>
          <p:nvPr/>
        </p:nvPicPr>
        <p:blipFill>
          <a:blip r:embed="rId1"/>
          <a:stretch>
            <a:fillRect/>
          </a:stretch>
        </p:blipFill>
        <p:spPr>
          <a:xfrm>
            <a:off x="631850" y="1271930"/>
            <a:ext cx="473659" cy="473659"/>
          </a:xfrm>
          <a:prstGeom prst="rect">
            <a:avLst/>
          </a:prstGeom>
        </p:spPr>
      </p:pic>
      <p:sp>
        <p:nvSpPr>
          <p:cNvPr id="5" name="Text 2"/>
          <p:cNvSpPr txBox="1"/>
          <p:nvPr/>
        </p:nvSpPr>
        <p:spPr>
          <a:xfrm>
            <a:off x="1371600" y="1234440"/>
            <a:ext cx="7315200" cy="365760"/>
          </a:xfrm>
          <a:prstGeom prst="rect">
            <a:avLst/>
          </a:prstGeom>
          <a:noFill/>
          <a:ln/>
        </p:spPr>
        <p:txBody>
          <a:bodyPr wrap="square" lIns="0" tIns="0" rIns="0" bIns="0" rtlCol="0" anchor="ctr"/>
          <a:lstStyle/>
          <a:p>
            <a:pPr indent="0" marL="0">
              <a:buNone/>
            </a:pPr>
            <a:r>
              <a:rPr lang="en-US" sz="1300" b="1" spc="200" kern="0" dirty="0">
                <a:solidFill>
                  <a:srgbClr val="AFE4CB"/>
                </a:solidFill>
                <a:latin typeface="Calibri" pitchFamily="34" charset="0"/>
                <a:ea typeface="Calibri" pitchFamily="34" charset="-122"/>
                <a:cs typeface="Calibri" pitchFamily="34" charset="-120"/>
              </a:rPr>
              <a:t>SWITCHING MODES</a:t>
            </a:r>
            <a:endParaRPr lang="en-US" sz="1300" dirty="0"/>
          </a:p>
        </p:txBody>
      </p:sp>
      <p:sp>
        <p:nvSpPr>
          <p:cNvPr id="6" name="Text 3"/>
          <p:cNvSpPr txBox="1"/>
          <p:nvPr/>
        </p:nvSpPr>
        <p:spPr>
          <a:xfrm>
            <a:off x="548640" y="1965960"/>
            <a:ext cx="10515600" cy="1005840"/>
          </a:xfrm>
          <a:prstGeom prst="rect">
            <a:avLst/>
          </a:prstGeom>
          <a:noFill/>
          <a:ln/>
        </p:spPr>
        <p:txBody>
          <a:bodyPr wrap="square" lIns="0" tIns="0" rIns="0" bIns="0" rtlCol="0" anchor="ctr"/>
          <a:lstStyle/>
          <a:p>
            <a:pPr indent="0" marL="0">
              <a:lnSpc>
                <a:spcPts val="4200"/>
              </a:lnSpc>
              <a:buNone/>
            </a:pPr>
            <a:r>
              <a:rPr lang="en-US" sz="3800" b="1" dirty="0">
                <a:solidFill>
                  <a:srgbClr val="FFFFFF"/>
                </a:solidFill>
                <a:latin typeface="Calibri" pitchFamily="34" charset="0"/>
                <a:ea typeface="Calibri" pitchFamily="34" charset="-122"/>
                <a:cs typeface="Calibri" pitchFamily="34" charset="-120"/>
              </a:rPr>
              <a:t>Live coding starts here.</a:t>
            </a:r>
            <a:endParaRPr lang="en-US" sz="3800" dirty="0"/>
          </a:p>
        </p:txBody>
      </p:sp>
      <p:sp>
        <p:nvSpPr>
          <p:cNvPr id="7" name="Text 4"/>
          <p:cNvSpPr txBox="1"/>
          <p:nvPr/>
        </p:nvSpPr>
        <p:spPr>
          <a:xfrm>
            <a:off x="548640" y="3063240"/>
            <a:ext cx="8869680" cy="914400"/>
          </a:xfrm>
          <a:prstGeom prst="rect">
            <a:avLst/>
          </a:prstGeom>
          <a:noFill/>
          <a:ln/>
        </p:spPr>
        <p:txBody>
          <a:bodyPr wrap="square" lIns="0" tIns="0" rIns="0" bIns="0" rtlCol="0" anchor="ctr"/>
          <a:lstStyle/>
          <a:p>
            <a:pPr indent="0" marL="0">
              <a:lnSpc>
                <a:spcPts val="2300"/>
              </a:lnSpc>
              <a:buNone/>
            </a:pPr>
            <a:r>
              <a:rPr lang="en-US" sz="1700" dirty="0">
                <a:solidFill>
                  <a:srgbClr val="AFE4CB"/>
                </a:solidFill>
                <a:latin typeface="Calibri" pitchFamily="34" charset="0"/>
                <a:ea typeface="Calibri" pitchFamily="34" charset="-122"/>
                <a:cs typeface="Calibri" pitchFamily="34" charset="-120"/>
              </a:rPr>
              <a:t>Switching to live-code mode. Everything from here is built incrementally, on screen — a tested reference implementation stays open as a safety net.</a:t>
            </a:r>
            <a:endParaRPr lang="en-US" sz="1700" dirty="0"/>
          </a:p>
        </p:txBody>
      </p:sp>
      <p:sp>
        <p:nvSpPr>
          <p:cNvPr id="8" name="Shape 5"/>
          <p:cNvSpPr/>
          <p:nvPr/>
        </p:nvSpPr>
        <p:spPr>
          <a:xfrm>
            <a:off x="548640" y="4297680"/>
            <a:ext cx="10149840" cy="1554480"/>
          </a:xfrm>
          <a:prstGeom prst="roundRect">
            <a:avLst>
              <a:gd name="adj" fmla="val 5882"/>
            </a:avLst>
          </a:prstGeom>
          <a:solidFill>
            <a:srgbClr val="123528"/>
          </a:solidFill>
          <a:ln w="12700">
            <a:solidFill>
              <a:srgbClr val="1E4B39"/>
            </a:solidFill>
            <a:prstDash val="solid"/>
          </a:ln>
        </p:spPr>
      </p:sp>
      <p:pic>
        <p:nvPicPr>
          <p:cNvPr id="9" name="Image 1" descr="/home/claude/icons/terminal_w.png">    </p:cNvPr>
          <p:cNvPicPr>
            <a:picLocks noChangeAspect="1"/>
          </p:cNvPicPr>
          <p:nvPr/>
        </p:nvPicPr>
        <p:blipFill>
          <a:blip r:embed="rId2"/>
          <a:stretch>
            <a:fillRect/>
          </a:stretch>
        </p:blipFill>
        <p:spPr>
          <a:xfrm>
            <a:off x="868680" y="4617720"/>
            <a:ext cx="502920" cy="502920"/>
          </a:xfrm>
          <a:prstGeom prst="rect">
            <a:avLst/>
          </a:prstGeom>
        </p:spPr>
      </p:pic>
      <p:sp>
        <p:nvSpPr>
          <p:cNvPr id="10" name="Text 6"/>
          <p:cNvSpPr txBox="1"/>
          <p:nvPr/>
        </p:nvSpPr>
        <p:spPr>
          <a:xfrm>
            <a:off x="1554480" y="4526280"/>
            <a:ext cx="877824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Reference scenario: E-Commerce Support Agents</a:t>
            </a:r>
            <a:endParaRPr lang="en-US" sz="1600" dirty="0"/>
          </a:p>
        </p:txBody>
      </p:sp>
      <p:sp>
        <p:nvSpPr>
          <p:cNvPr id="11" name="Text 7"/>
          <p:cNvSpPr txBox="1"/>
          <p:nvPr/>
        </p:nvSpPr>
        <p:spPr>
          <a:xfrm>
            <a:off x="1554480" y="4892040"/>
            <a:ext cx="8778240" cy="777240"/>
          </a:xfrm>
          <a:prstGeom prst="rect">
            <a:avLst/>
          </a:prstGeom>
          <a:noFill/>
          <a:ln/>
        </p:spPr>
        <p:txBody>
          <a:bodyPr wrap="square" lIns="0" tIns="0" rIns="0" bIns="0" rtlCol="0" anchor="ctr"/>
          <a:lstStyle/>
          <a:p>
            <a:pPr indent="0" marL="0">
              <a:lnSpc>
                <a:spcPts val="1800"/>
              </a:lnSpc>
              <a:buNone/>
            </a:pPr>
            <a:r>
              <a:rPr lang="en-US" sz="1400" dirty="0">
                <a:solidFill>
                  <a:srgbClr val="AFE4CB"/>
                </a:solidFill>
                <a:latin typeface="Calibri" pitchFamily="34" charset="0"/>
                <a:ea typeface="Calibri" pitchFamily="34" charset="-122"/>
                <a:cs typeface="Calibri" pitchFamily="34" charset="-120"/>
              </a:rPr>
              <a:t>Order status · Product/FAQ · Refunds · Escalation — the same graph shape works for any internal domain (helpdesk, change requests, leave approval).</a:t>
            </a:r>
            <a:endParaRPr lang="en-US" sz="1400" dirty="0"/>
          </a:p>
        </p:txBody>
      </p:sp>
      <p:sp>
        <p:nvSpPr>
          <p:cNvPr id="12" name="Text 8"/>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AFE4CB"/>
                </a:solidFill>
                <a:latin typeface="Calibri" pitchFamily="34" charset="0"/>
                <a:ea typeface="Calibri" pitchFamily="34" charset="-122"/>
                <a:cs typeface="Calibri" pitchFamily="34" charset="-120"/>
              </a:rPr>
              <a:t>Agentic AI with LangChain &amp; LangGraph</a:t>
            </a:r>
            <a:endParaRPr lang="en-US" sz="1000" dirty="0"/>
          </a:p>
        </p:txBody>
      </p:sp>
      <p:sp>
        <p:nvSpPr>
          <p:cNvPr id="13" name="Text 9"/>
          <p:cNvSpPr txBox="1"/>
          <p:nvPr/>
        </p:nvSpPr>
        <p:spPr>
          <a:xfrm>
            <a:off x="11064240" y="6473952"/>
            <a:ext cx="548640" cy="274320"/>
          </a:xfrm>
          <a:prstGeom prst="rect">
            <a:avLst/>
          </a:prstGeom>
          <a:noFill/>
          <a:ln/>
        </p:spPr>
        <p:txBody>
          <a:bodyPr wrap="square" lIns="0" tIns="0" rIns="0" bIns="0" rtlCol="0" anchor="ctr"/>
          <a:lstStyle/>
          <a:p>
            <a:pPr algn="r" indent="0" marL="0">
              <a:buNone/>
            </a:pPr>
            <a:r>
              <a:rPr lang="en-US" sz="1000" dirty="0">
                <a:solidFill>
                  <a:srgbClr val="AFE4CB"/>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200" b="1" spc="150" kern="0" dirty="0">
                <a:solidFill>
                  <a:srgbClr val="00693F"/>
                </a:solidFill>
                <a:latin typeface="Calibri" pitchFamily="34" charset="0"/>
                <a:ea typeface="Calibri" pitchFamily="34" charset="-122"/>
                <a:cs typeface="Calibri" pitchFamily="34" charset="-120"/>
              </a:rPr>
              <a:t>PATTERN 1 OF 5</a:t>
            </a:r>
            <a:endParaRPr lang="en-US" sz="1200" dirty="0"/>
          </a:p>
        </p:txBody>
      </p:sp>
      <p:sp>
        <p:nvSpPr>
          <p:cNvPr id="3" name="Text 1"/>
          <p:cNvSpPr txBox="1"/>
          <p:nvPr/>
        </p:nvSpPr>
        <p:spPr>
          <a:xfrm>
            <a:off x="548640" y="658368"/>
            <a:ext cx="11064240" cy="822960"/>
          </a:xfrm>
          <a:prstGeom prst="rect">
            <a:avLst/>
          </a:prstGeom>
          <a:noFill/>
          <a:ln/>
        </p:spPr>
        <p:txBody>
          <a:bodyPr wrap="square" lIns="0" tIns="0" rIns="0" bIns="0" rtlCol="0" anchor="ctr"/>
          <a:lstStyle/>
          <a:p>
            <a:pPr indent="0" marL="0">
              <a:lnSpc>
                <a:spcPts val="3400"/>
              </a:lnSpc>
              <a:buNone/>
            </a:pPr>
            <a:r>
              <a:rPr lang="en-US" sz="3000" b="1" dirty="0">
                <a:solidFill>
                  <a:srgbClr val="1F2A28"/>
                </a:solidFill>
                <a:latin typeface="Calibri" pitchFamily="34" charset="0"/>
                <a:ea typeface="Calibri" pitchFamily="34" charset="-122"/>
                <a:cs typeface="Calibri" pitchFamily="34" charset="-120"/>
              </a:rPr>
              <a:t>ReAct: Thought → Action → Observation</a:t>
            </a:r>
            <a:endParaRPr lang="en-US" sz="3000" dirty="0"/>
          </a:p>
        </p:txBody>
      </p:sp>
      <p:sp>
        <p:nvSpPr>
          <p:cNvPr id="4" name="Shape 2"/>
          <p:cNvSpPr/>
          <p:nvPr/>
        </p:nvSpPr>
        <p:spPr>
          <a:xfrm>
            <a:off x="10835640" y="566928"/>
            <a:ext cx="685800" cy="685800"/>
          </a:xfrm>
          <a:prstGeom prst="ellipse">
            <a:avLst/>
          </a:prstGeom>
          <a:solidFill>
            <a:srgbClr val="00915A"/>
          </a:solidFill>
          <a:ln/>
        </p:spPr>
      </p:sp>
      <p:pic>
        <p:nvPicPr>
          <p:cNvPr id="5" name="Image 0" descr="/home/claude/icons/react.png">    </p:cNvPr>
          <p:cNvPicPr>
            <a:picLocks noChangeAspect="1"/>
          </p:cNvPicPr>
          <p:nvPr/>
        </p:nvPicPr>
        <p:blipFill>
          <a:blip r:embed="rId1"/>
          <a:stretch>
            <a:fillRect/>
          </a:stretch>
        </p:blipFill>
        <p:spPr>
          <a:xfrm>
            <a:off x="10924794" y="656082"/>
            <a:ext cx="507492" cy="507492"/>
          </a:xfrm>
          <a:prstGeom prst="rect">
            <a:avLst/>
          </a:prstGeom>
        </p:spPr>
      </p:pic>
      <p:sp>
        <p:nvSpPr>
          <p:cNvPr id="6" name="Shape 3"/>
          <p:cNvSpPr/>
          <p:nvPr/>
        </p:nvSpPr>
        <p:spPr>
          <a:xfrm>
            <a:off x="548640" y="2459736"/>
            <a:ext cx="91440" cy="91440"/>
          </a:xfrm>
          <a:prstGeom prst="ellipse">
            <a:avLst/>
          </a:prstGeom>
          <a:solidFill>
            <a:srgbClr val="00915A"/>
          </a:solidFill>
          <a:ln/>
        </p:spPr>
      </p:sp>
      <p:sp>
        <p:nvSpPr>
          <p:cNvPr id="7" name="Text 4"/>
          <p:cNvSpPr txBox="1"/>
          <p:nvPr/>
        </p:nvSpPr>
        <p:spPr>
          <a:xfrm>
            <a:off x="822960" y="2057400"/>
            <a:ext cx="6309360" cy="896112"/>
          </a:xfrm>
          <a:prstGeom prst="rect">
            <a:avLst/>
          </a:prstGeom>
          <a:noFill/>
          <a:ln/>
        </p:spPr>
        <p:txBody>
          <a:bodyPr wrap="square" lIns="0" tIns="0" rIns="0" bIns="0" rtlCol="0" anchor="ctr"/>
          <a:lstStyle/>
          <a:p>
            <a:pPr indent="0" marL="0">
              <a:lnSpc>
                <a:spcPts val="2100"/>
              </a:lnSpc>
              <a:buNone/>
            </a:pPr>
            <a:r>
              <a:rPr lang="en-US" sz="1600" dirty="0">
                <a:solidFill>
                  <a:srgbClr val="1F2A28"/>
                </a:solidFill>
                <a:latin typeface="Calibri" pitchFamily="34" charset="0"/>
                <a:ea typeface="Calibri" pitchFamily="34" charset="-122"/>
                <a:cs typeface="Calibri" pitchFamily="34" charset="-120"/>
              </a:rPr>
              <a:t>The loop: Thought → Action → Action Input → Observation → … repeat → Final Answer.</a:t>
            </a:r>
            <a:endParaRPr lang="en-US" sz="1600" dirty="0"/>
          </a:p>
        </p:txBody>
      </p:sp>
      <p:sp>
        <p:nvSpPr>
          <p:cNvPr id="8" name="Shape 5"/>
          <p:cNvSpPr/>
          <p:nvPr/>
        </p:nvSpPr>
        <p:spPr>
          <a:xfrm>
            <a:off x="548640" y="3867912"/>
            <a:ext cx="91440" cy="91440"/>
          </a:xfrm>
          <a:prstGeom prst="ellipse">
            <a:avLst/>
          </a:prstGeom>
          <a:solidFill>
            <a:srgbClr val="00915A"/>
          </a:solidFill>
          <a:ln/>
        </p:spPr>
      </p:sp>
      <p:sp>
        <p:nvSpPr>
          <p:cNvPr id="9" name="Text 6"/>
          <p:cNvSpPr txBox="1"/>
          <p:nvPr/>
        </p:nvSpPr>
        <p:spPr>
          <a:xfrm>
            <a:off x="822960" y="3337560"/>
            <a:ext cx="6309360" cy="1152144"/>
          </a:xfrm>
          <a:prstGeom prst="rect">
            <a:avLst/>
          </a:prstGeom>
          <a:noFill/>
          <a:ln/>
        </p:spPr>
        <p:txBody>
          <a:bodyPr wrap="square" lIns="0" tIns="0" rIns="0" bIns="0" rtlCol="0" anchor="ctr"/>
          <a:lstStyle/>
          <a:p>
            <a:pPr indent="0" marL="0">
              <a:lnSpc>
                <a:spcPts val="2100"/>
              </a:lnSpc>
              <a:buNone/>
            </a:pPr>
            <a:r>
              <a:rPr lang="en-US" sz="1600" dirty="0">
                <a:solidFill>
                  <a:srgbClr val="1F2A28"/>
                </a:solidFill>
                <a:latin typeface="Calibri" pitchFamily="34" charset="0"/>
                <a:ea typeface="Calibri" pitchFamily="34" charset="-122"/>
                <a:cs typeface="Calibri" pitchFamily="34" charset="-120"/>
              </a:rPr>
              <a:t>Plain-text parsing, not native function calling — useful when the internal LLM gateway may not support structured tool calls.</a:t>
            </a:r>
            <a:endParaRPr lang="en-US" sz="1600" dirty="0"/>
          </a:p>
        </p:txBody>
      </p:sp>
      <p:sp>
        <p:nvSpPr>
          <p:cNvPr id="10" name="Shape 7"/>
          <p:cNvSpPr/>
          <p:nvPr/>
        </p:nvSpPr>
        <p:spPr>
          <a:xfrm>
            <a:off x="548640" y="5276088"/>
            <a:ext cx="91440" cy="91440"/>
          </a:xfrm>
          <a:prstGeom prst="ellipse">
            <a:avLst/>
          </a:prstGeom>
          <a:solidFill>
            <a:srgbClr val="00915A"/>
          </a:solidFill>
          <a:ln/>
        </p:spPr>
      </p:sp>
      <p:sp>
        <p:nvSpPr>
          <p:cNvPr id="11" name="Text 8"/>
          <p:cNvSpPr txBox="1"/>
          <p:nvPr/>
        </p:nvSpPr>
        <p:spPr>
          <a:xfrm>
            <a:off x="822960" y="4873752"/>
            <a:ext cx="6309360" cy="896112"/>
          </a:xfrm>
          <a:prstGeom prst="rect">
            <a:avLst/>
          </a:prstGeom>
          <a:noFill/>
          <a:ln/>
        </p:spPr>
        <p:txBody>
          <a:bodyPr wrap="square" lIns="0" tIns="0" rIns="0" bIns="0" rtlCol="0" anchor="ctr"/>
          <a:lstStyle/>
          <a:p>
            <a:pPr indent="0" marL="0">
              <a:lnSpc>
                <a:spcPts val="2100"/>
              </a:lnSpc>
              <a:buNone/>
            </a:pPr>
            <a:r>
              <a:rPr lang="en-US" sz="1600" dirty="0">
                <a:solidFill>
                  <a:srgbClr val="1F2A28"/>
                </a:solidFill>
                <a:latin typeface="Calibri" pitchFamily="34" charset="0"/>
                <a:ea typeface="Calibri" pitchFamily="34" charset="-122"/>
                <a:cs typeface="Calibri" pitchFamily="34" charset="-120"/>
              </a:rPr>
              <a:t>One tool, one agent, no graph yet — shown standalone before orchestration is added.</a:t>
            </a:r>
            <a:endParaRPr lang="en-US" sz="1600" dirty="0"/>
          </a:p>
        </p:txBody>
      </p:sp>
      <p:sp>
        <p:nvSpPr>
          <p:cNvPr id="12" name="Shape 9"/>
          <p:cNvSpPr/>
          <p:nvPr/>
        </p:nvSpPr>
        <p:spPr>
          <a:xfrm>
            <a:off x="7178040" y="1783080"/>
            <a:ext cx="4434840" cy="3383280"/>
          </a:xfrm>
          <a:prstGeom prst="roundRect">
            <a:avLst>
              <a:gd name="adj" fmla="val 3243"/>
            </a:avLst>
          </a:prstGeom>
          <a:solidFill>
            <a:srgbClr val="E8F5EF"/>
          </a:solidFill>
          <a:ln/>
          <a:effectLst>
            <a:outerShdw sx="100000" sy="100000" kx="0" ky="0" algn="bl" rotWithShape="0" blurRad="76200" dist="25400" dir="5400000">
              <a:srgbClr val="1F2A28">
                <a:alpha val="18000"/>
              </a:srgbClr>
            </a:outerShdw>
          </a:effectLst>
        </p:spPr>
      </p:sp>
      <p:sp>
        <p:nvSpPr>
          <p:cNvPr id="13" name="Text 10"/>
          <p:cNvSpPr txBox="1"/>
          <p:nvPr/>
        </p:nvSpPr>
        <p:spPr>
          <a:xfrm>
            <a:off x="7452360" y="2011680"/>
            <a:ext cx="3886200" cy="457200"/>
          </a:xfrm>
          <a:prstGeom prst="rect">
            <a:avLst/>
          </a:prstGeom>
          <a:noFill/>
          <a:ln/>
        </p:spPr>
        <p:txBody>
          <a:bodyPr wrap="square" lIns="0" tIns="0" rIns="0" bIns="0" rtlCol="0" anchor="ctr"/>
          <a:lstStyle/>
          <a:p>
            <a:pPr indent="0" marL="0">
              <a:buNone/>
            </a:pPr>
            <a:r>
              <a:rPr lang="en-US" sz="1700" b="1" dirty="0">
                <a:solidFill>
                  <a:srgbClr val="00693F"/>
                </a:solidFill>
                <a:latin typeface="Calibri" pitchFamily="34" charset="0"/>
                <a:ea typeface="Calibri" pitchFamily="34" charset="-122"/>
                <a:cs typeface="Calibri" pitchFamily="34" charset="-120"/>
              </a:rPr>
              <a:t>Why this matters</a:t>
            </a:r>
            <a:endParaRPr lang="en-US" sz="1700" dirty="0"/>
          </a:p>
        </p:txBody>
      </p:sp>
      <p:sp>
        <p:nvSpPr>
          <p:cNvPr id="14" name="Text 11"/>
          <p:cNvSpPr txBox="1"/>
          <p:nvPr/>
        </p:nvSpPr>
        <p:spPr>
          <a:xfrm>
            <a:off x="7452360" y="2514600"/>
            <a:ext cx="3886200" cy="2468880"/>
          </a:xfrm>
          <a:prstGeom prst="rect">
            <a:avLst/>
          </a:prstGeom>
          <a:noFill/>
          <a:ln/>
        </p:spPr>
        <p:txBody>
          <a:bodyPr wrap="square" lIns="0" tIns="0" rIns="0" bIns="0" rtlCol="0" anchor="ctr"/>
          <a:lstStyle/>
          <a:p>
            <a:pPr indent="0" marL="0">
              <a:lnSpc>
                <a:spcPts val="1900"/>
              </a:lnSpc>
              <a:buNone/>
            </a:pPr>
            <a:r>
              <a:rPr lang="en-US" sz="1400" dirty="0">
                <a:solidFill>
                  <a:srgbClr val="1F2A28"/>
                </a:solidFill>
                <a:latin typeface="Calibri" pitchFamily="34" charset="0"/>
                <a:ea typeface="Calibri" pitchFamily="34" charset="-122"/>
                <a:cs typeface="Calibri" pitchFamily="34" charset="-120"/>
              </a:rPr>
              <a:t>This is the one piece of machinery every other pattern today builds on top of. Get the loop right once, and the router, memory, and parallel patterns are just wiring around it.</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B1F17"/>
          </a:solidFill>
          <a:ln/>
        </p:spPr>
      </p:sp>
      <p:sp>
        <p:nvSpPr>
          <p:cNvPr id="3" name="Shape 1"/>
          <p:cNvSpPr/>
          <p:nvPr/>
        </p:nvSpPr>
        <p:spPr>
          <a:xfrm>
            <a:off x="548640" y="411480"/>
            <a:ext cx="1874520" cy="384048"/>
          </a:xfrm>
          <a:prstGeom prst="roundRect">
            <a:avLst>
              <a:gd name="adj" fmla="val 50000"/>
            </a:avLst>
          </a:prstGeom>
          <a:solidFill>
            <a:srgbClr val="00915A"/>
          </a:solidFill>
          <a:ln/>
        </p:spPr>
      </p:sp>
      <p:pic>
        <p:nvPicPr>
          <p:cNvPr id="4" name="Image 0" descr="/home/claude/icons/play_w.png">    </p:cNvPr>
          <p:cNvPicPr>
            <a:picLocks noChangeAspect="1"/>
          </p:cNvPicPr>
          <p:nvPr/>
        </p:nvPicPr>
        <p:blipFill>
          <a:blip r:embed="rId1"/>
          <a:stretch>
            <a:fillRect/>
          </a:stretch>
        </p:blipFill>
        <p:spPr>
          <a:xfrm>
            <a:off x="694944" y="512064"/>
            <a:ext cx="182880" cy="182880"/>
          </a:xfrm>
          <a:prstGeom prst="rect">
            <a:avLst/>
          </a:prstGeom>
        </p:spPr>
      </p:pic>
      <p:sp>
        <p:nvSpPr>
          <p:cNvPr id="5" name="Text 2"/>
          <p:cNvSpPr txBox="1"/>
          <p:nvPr/>
        </p:nvSpPr>
        <p:spPr>
          <a:xfrm>
            <a:off x="932688" y="411480"/>
            <a:ext cx="1463040" cy="384048"/>
          </a:xfrm>
          <a:prstGeom prst="rect">
            <a:avLst/>
          </a:prstGeom>
          <a:noFill/>
          <a:ln/>
        </p:spPr>
        <p:txBody>
          <a:bodyPr wrap="square" lIns="0" tIns="0" rIns="0" bIns="0" rtlCol="0" anchor="ctr"/>
          <a:lstStyle/>
          <a:p>
            <a:pPr indent="0" marL="0">
              <a:buNone/>
            </a:pPr>
            <a:r>
              <a:rPr lang="en-US" sz="1200" b="1" spc="100" kern="0" dirty="0">
                <a:solidFill>
                  <a:srgbClr val="FFFFFF"/>
                </a:solidFill>
                <a:latin typeface="Calibri" pitchFamily="34" charset="0"/>
                <a:ea typeface="Calibri" pitchFamily="34" charset="-122"/>
                <a:cs typeface="Calibri" pitchFamily="34" charset="-120"/>
              </a:rPr>
              <a:t>LIVE DEMO</a:t>
            </a:r>
            <a:endParaRPr lang="en-US" sz="1200" dirty="0"/>
          </a:p>
        </p:txBody>
      </p:sp>
      <p:sp>
        <p:nvSpPr>
          <p:cNvPr id="6" name="Text 3"/>
          <p:cNvSpPr txBox="1"/>
          <p:nvPr/>
        </p:nvSpPr>
        <p:spPr>
          <a:xfrm>
            <a:off x="548640" y="960120"/>
            <a:ext cx="11064240" cy="640080"/>
          </a:xfrm>
          <a:prstGeom prst="rect">
            <a:avLst/>
          </a:prstGeom>
          <a:noFill/>
          <a:ln/>
        </p:spPr>
        <p:txBody>
          <a:bodyPr wrap="square" lIns="0" tIns="0" rIns="0" bIns="0" rtlCol="0" anchor="ctr"/>
          <a:lstStyle/>
          <a:p>
            <a:pPr indent="0" marL="0">
              <a:buNone/>
            </a:pPr>
            <a:r>
              <a:rPr lang="en-US" sz="2700" b="1" dirty="0">
                <a:solidFill>
                  <a:srgbClr val="FFFFFF"/>
                </a:solidFill>
                <a:latin typeface="Calibri" pitchFamily="34" charset="0"/>
                <a:ea typeface="Calibri" pitchFamily="34" charset="-122"/>
                <a:cs typeface="Calibri" pitchFamily="34" charset="-120"/>
              </a:rPr>
              <a:t>Live Coding — Build the ReAct Agent</a:t>
            </a:r>
            <a:endParaRPr lang="en-US" sz="2700" dirty="0"/>
          </a:p>
        </p:txBody>
      </p:sp>
      <p:sp>
        <p:nvSpPr>
          <p:cNvPr id="7" name="Shape 4"/>
          <p:cNvSpPr/>
          <p:nvPr/>
        </p:nvSpPr>
        <p:spPr>
          <a:xfrm>
            <a:off x="548640" y="1874520"/>
            <a:ext cx="3310128" cy="3977640"/>
          </a:xfrm>
          <a:prstGeom prst="roundRect">
            <a:avLst>
              <a:gd name="adj" fmla="val 2762"/>
            </a:avLst>
          </a:prstGeom>
          <a:solidFill>
            <a:srgbClr val="123528"/>
          </a:solidFill>
          <a:ln w="12700">
            <a:solidFill>
              <a:srgbClr val="1E4B39"/>
            </a:solidFill>
            <a:prstDash val="solid"/>
          </a:ln>
        </p:spPr>
      </p:sp>
      <p:pic>
        <p:nvPicPr>
          <p:cNvPr id="8" name="Image 1" descr="/home/claude/icons/code_w.png">    </p:cNvPr>
          <p:cNvPicPr>
            <a:picLocks noChangeAspect="1"/>
          </p:cNvPicPr>
          <p:nvPr/>
        </p:nvPicPr>
        <p:blipFill>
          <a:blip r:embed="rId2"/>
          <a:stretch>
            <a:fillRect/>
          </a:stretch>
        </p:blipFill>
        <p:spPr>
          <a:xfrm>
            <a:off x="777240" y="2103120"/>
            <a:ext cx="329184" cy="329184"/>
          </a:xfrm>
          <a:prstGeom prst="rect">
            <a:avLst/>
          </a:prstGeom>
        </p:spPr>
      </p:pic>
      <p:sp>
        <p:nvSpPr>
          <p:cNvPr id="9" name="Text 5"/>
          <p:cNvSpPr txBox="1"/>
          <p:nvPr/>
        </p:nvSpPr>
        <p:spPr>
          <a:xfrm>
            <a:off x="1207008" y="2093976"/>
            <a:ext cx="2487168"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What’s being built</a:t>
            </a:r>
            <a:endParaRPr lang="en-US" sz="1500" dirty="0"/>
          </a:p>
        </p:txBody>
      </p:sp>
      <p:sp>
        <p:nvSpPr>
          <p:cNvPr id="10" name="Text 6"/>
          <p:cNvSpPr txBox="1"/>
          <p:nvPr/>
        </p:nvSpPr>
        <p:spPr>
          <a:xfrm>
            <a:off x="749808" y="2651760"/>
            <a:ext cx="2907792" cy="749808"/>
          </a:xfrm>
          <a:prstGeom prst="rect">
            <a:avLst/>
          </a:prstGeom>
          <a:noFill/>
          <a:ln/>
        </p:spPr>
        <p:txBody>
          <a:bodyPr wrap="square" lIns="0" tIns="0" rIns="0" bIns="0" rtlCol="0" anchor="ctr"/>
          <a:lstStyle/>
          <a:p>
            <a:pPr indent="0" marL="0">
              <a:lnSpc>
                <a:spcPts val="1800"/>
              </a:lnSpc>
              <a:buNone/>
            </a:pPr>
            <a:r>
              <a:rPr lang="en-US" sz="1350" b="1" dirty="0">
                <a:solidFill>
                  <a:srgbClr val="00915A"/>
                </a:solidFill>
                <a:latin typeface="Calibri" pitchFamily="34" charset="0"/>
                <a:ea typeface="Calibri" pitchFamily="34" charset="-122"/>
                <a:cs typeface="Calibri" pitchFamily="34" charset="-120"/>
              </a:rPr>
              <a:t>›  </a:t>
            </a:r>
            <a:pPr indent="0" marL="0">
              <a:lnSpc>
                <a:spcPts val="1800"/>
              </a:lnSpc>
              <a:buNone/>
            </a:pPr>
            <a:r>
              <a:rPr lang="en-US" sz="1350" dirty="0">
                <a:solidFill>
                  <a:srgbClr val="AFE4CB"/>
                </a:solidFill>
                <a:latin typeface="Calibri" pitchFamily="34" charset="0"/>
                <a:ea typeface="Calibri" pitchFamily="34" charset="-122"/>
                <a:cs typeface="Calibri" pitchFamily="34" charset="-120"/>
              </a:rPr>
              <a:t>state.py — the minimal shared state</a:t>
            </a:r>
            <a:endParaRPr lang="en-US" sz="1350" dirty="0"/>
          </a:p>
        </p:txBody>
      </p:sp>
      <p:sp>
        <p:nvSpPr>
          <p:cNvPr id="11" name="Text 7"/>
          <p:cNvSpPr txBox="1"/>
          <p:nvPr/>
        </p:nvSpPr>
        <p:spPr>
          <a:xfrm>
            <a:off x="749808" y="3493008"/>
            <a:ext cx="2907792" cy="530352"/>
          </a:xfrm>
          <a:prstGeom prst="rect">
            <a:avLst/>
          </a:prstGeom>
          <a:noFill/>
          <a:ln/>
        </p:spPr>
        <p:txBody>
          <a:bodyPr wrap="square" lIns="0" tIns="0" rIns="0" bIns="0" rtlCol="0" anchor="ctr"/>
          <a:lstStyle/>
          <a:p>
            <a:pPr indent="0" marL="0">
              <a:lnSpc>
                <a:spcPts val="1800"/>
              </a:lnSpc>
              <a:buNone/>
            </a:pPr>
            <a:r>
              <a:rPr lang="en-US" sz="1350" b="1" dirty="0">
                <a:solidFill>
                  <a:srgbClr val="00915A"/>
                </a:solidFill>
                <a:latin typeface="Calibri" pitchFamily="34" charset="0"/>
                <a:ea typeface="Calibri" pitchFamily="34" charset="-122"/>
                <a:cs typeface="Calibri" pitchFamily="34" charset="-120"/>
              </a:rPr>
              <a:t>›  </a:t>
            </a:r>
            <a:pPr indent="0" marL="0">
              <a:lnSpc>
                <a:spcPts val="1800"/>
              </a:lnSpc>
              <a:buNone/>
            </a:pPr>
            <a:r>
              <a:rPr lang="en-US" sz="1350" dirty="0">
                <a:solidFill>
                  <a:srgbClr val="AFE4CB"/>
                </a:solidFill>
                <a:latin typeface="Calibri" pitchFamily="34" charset="0"/>
                <a:ea typeface="Calibri" pitchFamily="34" charset="-122"/>
                <a:cs typeface="Calibri" pitchFamily="34" charset="-120"/>
              </a:rPr>
              <a:t>One tool: order lookup</a:t>
            </a:r>
            <a:endParaRPr lang="en-US" sz="1350" dirty="0"/>
          </a:p>
        </p:txBody>
      </p:sp>
      <p:sp>
        <p:nvSpPr>
          <p:cNvPr id="12" name="Text 8"/>
          <p:cNvSpPr txBox="1"/>
          <p:nvPr/>
        </p:nvSpPr>
        <p:spPr>
          <a:xfrm>
            <a:off x="749808" y="4114800"/>
            <a:ext cx="2907792" cy="749808"/>
          </a:xfrm>
          <a:prstGeom prst="rect">
            <a:avLst/>
          </a:prstGeom>
          <a:noFill/>
          <a:ln/>
        </p:spPr>
        <p:txBody>
          <a:bodyPr wrap="square" lIns="0" tIns="0" rIns="0" bIns="0" rtlCol="0" anchor="ctr"/>
          <a:lstStyle/>
          <a:p>
            <a:pPr indent="0" marL="0">
              <a:lnSpc>
                <a:spcPts val="1800"/>
              </a:lnSpc>
              <a:buNone/>
            </a:pPr>
            <a:r>
              <a:rPr lang="en-US" sz="1350" b="1" dirty="0">
                <a:solidFill>
                  <a:srgbClr val="00915A"/>
                </a:solidFill>
                <a:latin typeface="Calibri" pitchFamily="34" charset="0"/>
                <a:ea typeface="Calibri" pitchFamily="34" charset="-122"/>
                <a:cs typeface="Calibri" pitchFamily="34" charset="-120"/>
              </a:rPr>
              <a:t>›  </a:t>
            </a:r>
            <a:pPr indent="0" marL="0">
              <a:lnSpc>
                <a:spcPts val="1800"/>
              </a:lnSpc>
              <a:buNone/>
            </a:pPr>
            <a:r>
              <a:rPr lang="en-US" sz="1350" dirty="0">
                <a:solidFill>
                  <a:srgbClr val="AFE4CB"/>
                </a:solidFill>
                <a:latin typeface="Calibri" pitchFamily="34" charset="0"/>
                <a:ea typeface="Calibri" pitchFamily="34" charset="-122"/>
                <a:cs typeface="Calibri" pitchFamily="34" charset="-120"/>
              </a:rPr>
              <a:t>react_executor.py — the Thought/Action loop</a:t>
            </a:r>
            <a:endParaRPr lang="en-US" sz="1350" dirty="0"/>
          </a:p>
        </p:txBody>
      </p:sp>
      <p:sp>
        <p:nvSpPr>
          <p:cNvPr id="13" name="Shape 9"/>
          <p:cNvSpPr/>
          <p:nvPr/>
        </p:nvSpPr>
        <p:spPr>
          <a:xfrm>
            <a:off x="4078224" y="1874520"/>
            <a:ext cx="3310128" cy="3977640"/>
          </a:xfrm>
          <a:prstGeom prst="roundRect">
            <a:avLst>
              <a:gd name="adj" fmla="val 2762"/>
            </a:avLst>
          </a:prstGeom>
          <a:solidFill>
            <a:srgbClr val="123528"/>
          </a:solidFill>
          <a:ln w="12700">
            <a:solidFill>
              <a:srgbClr val="1E4B39"/>
            </a:solidFill>
            <a:prstDash val="solid"/>
          </a:ln>
        </p:spPr>
      </p:sp>
      <p:pic>
        <p:nvPicPr>
          <p:cNvPr id="14" name="Image 2" descr="/home/claude/icons/target_w.png">    </p:cNvPr>
          <p:cNvPicPr>
            <a:picLocks noChangeAspect="1"/>
          </p:cNvPicPr>
          <p:nvPr/>
        </p:nvPicPr>
        <p:blipFill>
          <a:blip r:embed="rId3"/>
          <a:stretch>
            <a:fillRect/>
          </a:stretch>
        </p:blipFill>
        <p:spPr>
          <a:xfrm>
            <a:off x="4306824" y="2103120"/>
            <a:ext cx="329184" cy="329184"/>
          </a:xfrm>
          <a:prstGeom prst="rect">
            <a:avLst/>
          </a:prstGeom>
        </p:spPr>
      </p:pic>
      <p:sp>
        <p:nvSpPr>
          <p:cNvPr id="15" name="Text 10"/>
          <p:cNvSpPr txBox="1"/>
          <p:nvPr/>
        </p:nvSpPr>
        <p:spPr>
          <a:xfrm>
            <a:off x="4736592" y="2093976"/>
            <a:ext cx="2487168"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Try this live</a:t>
            </a:r>
            <a:endParaRPr lang="en-US" sz="1500" dirty="0"/>
          </a:p>
        </p:txBody>
      </p:sp>
      <p:sp>
        <p:nvSpPr>
          <p:cNvPr id="16" name="Text 11"/>
          <p:cNvSpPr txBox="1"/>
          <p:nvPr/>
        </p:nvSpPr>
        <p:spPr>
          <a:xfrm>
            <a:off x="4279392" y="2651760"/>
            <a:ext cx="2907792" cy="749808"/>
          </a:xfrm>
          <a:prstGeom prst="rect">
            <a:avLst/>
          </a:prstGeom>
          <a:noFill/>
          <a:ln/>
        </p:spPr>
        <p:txBody>
          <a:bodyPr wrap="square" lIns="0" tIns="0" rIns="0" bIns="0" rtlCol="0" anchor="ctr"/>
          <a:lstStyle/>
          <a:p>
            <a:pPr indent="0" marL="0">
              <a:lnSpc>
                <a:spcPts val="1800"/>
              </a:lnSpc>
              <a:buNone/>
            </a:pPr>
            <a:r>
              <a:rPr lang="en-US" sz="1350" b="1" dirty="0">
                <a:solidFill>
                  <a:srgbClr val="00915A"/>
                </a:solidFill>
                <a:latin typeface="Calibri" pitchFamily="34" charset="0"/>
                <a:ea typeface="Calibri" pitchFamily="34" charset="-122"/>
                <a:cs typeface="Calibri" pitchFamily="34" charset="-120"/>
              </a:rPr>
              <a:t>›  </a:t>
            </a:r>
            <a:pPr indent="0" marL="0">
              <a:lnSpc>
                <a:spcPts val="1800"/>
              </a:lnSpc>
              <a:buNone/>
            </a:pPr>
            <a:r>
              <a:rPr lang="en-US" sz="1350" dirty="0">
                <a:solidFill>
                  <a:srgbClr val="AFE4CB"/>
                </a:solidFill>
                <a:latin typeface="Calibri" pitchFamily="34" charset="0"/>
                <a:ea typeface="Calibri" pitchFamily="34" charset="-122"/>
                <a:cs typeface="Calibri" pitchFamily="34" charset="-120"/>
              </a:rPr>
              <a:t>"What’s the status of order ORD1001?"</a:t>
            </a:r>
            <a:endParaRPr lang="en-US" sz="1350" dirty="0"/>
          </a:p>
        </p:txBody>
      </p:sp>
      <p:sp>
        <p:nvSpPr>
          <p:cNvPr id="17" name="Shape 12"/>
          <p:cNvSpPr/>
          <p:nvPr/>
        </p:nvSpPr>
        <p:spPr>
          <a:xfrm>
            <a:off x="7607808" y="1874520"/>
            <a:ext cx="3310128" cy="3977640"/>
          </a:xfrm>
          <a:prstGeom prst="roundRect">
            <a:avLst>
              <a:gd name="adj" fmla="val 2762"/>
            </a:avLst>
          </a:prstGeom>
          <a:solidFill>
            <a:srgbClr val="123528"/>
          </a:solidFill>
          <a:ln w="12700">
            <a:solidFill>
              <a:srgbClr val="1E4B39"/>
            </a:solidFill>
            <a:prstDash val="solid"/>
          </a:ln>
        </p:spPr>
      </p:sp>
      <p:pic>
        <p:nvPicPr>
          <p:cNvPr id="18" name="Image 3" descr="/home/claude/icons/eye_w.png">    </p:cNvPr>
          <p:cNvPicPr>
            <a:picLocks noChangeAspect="1"/>
          </p:cNvPicPr>
          <p:nvPr/>
        </p:nvPicPr>
        <p:blipFill>
          <a:blip r:embed="rId4"/>
          <a:stretch>
            <a:fillRect/>
          </a:stretch>
        </p:blipFill>
        <p:spPr>
          <a:xfrm>
            <a:off x="7836408" y="2103120"/>
            <a:ext cx="329184" cy="329184"/>
          </a:xfrm>
          <a:prstGeom prst="rect">
            <a:avLst/>
          </a:prstGeom>
        </p:spPr>
      </p:pic>
      <p:sp>
        <p:nvSpPr>
          <p:cNvPr id="19" name="Text 13"/>
          <p:cNvSpPr txBox="1"/>
          <p:nvPr/>
        </p:nvSpPr>
        <p:spPr>
          <a:xfrm>
            <a:off x="8266176" y="2093976"/>
            <a:ext cx="2487168"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Watch for</a:t>
            </a:r>
            <a:endParaRPr lang="en-US" sz="1500" dirty="0"/>
          </a:p>
        </p:txBody>
      </p:sp>
      <p:sp>
        <p:nvSpPr>
          <p:cNvPr id="20" name="Text 14"/>
          <p:cNvSpPr txBox="1"/>
          <p:nvPr/>
        </p:nvSpPr>
        <p:spPr>
          <a:xfrm>
            <a:off x="7808976" y="2651760"/>
            <a:ext cx="2907792" cy="969264"/>
          </a:xfrm>
          <a:prstGeom prst="rect">
            <a:avLst/>
          </a:prstGeom>
          <a:noFill/>
          <a:ln/>
        </p:spPr>
        <p:txBody>
          <a:bodyPr wrap="square" lIns="0" tIns="0" rIns="0" bIns="0" rtlCol="0" anchor="ctr"/>
          <a:lstStyle/>
          <a:p>
            <a:pPr indent="0" marL="0">
              <a:lnSpc>
                <a:spcPts val="1800"/>
              </a:lnSpc>
              <a:buNone/>
            </a:pPr>
            <a:r>
              <a:rPr lang="en-US" sz="1350" b="1" dirty="0">
                <a:solidFill>
                  <a:srgbClr val="00915A"/>
                </a:solidFill>
                <a:latin typeface="Calibri" pitchFamily="34" charset="0"/>
                <a:ea typeface="Calibri" pitchFamily="34" charset="-122"/>
                <a:cs typeface="Calibri" pitchFamily="34" charset="-120"/>
              </a:rPr>
              <a:t>›  </a:t>
            </a:r>
            <a:pPr indent="0" marL="0">
              <a:lnSpc>
                <a:spcPts val="1800"/>
              </a:lnSpc>
              <a:buNone/>
            </a:pPr>
            <a:r>
              <a:rPr lang="en-US" sz="1350" dirty="0">
                <a:solidFill>
                  <a:srgbClr val="AFE4CB"/>
                </a:solidFill>
                <a:latin typeface="Calibri" pitchFamily="34" charset="0"/>
                <a:ea typeface="Calibri" pitchFamily="34" charset="-122"/>
                <a:cs typeface="Calibri" pitchFamily="34" charset="-120"/>
              </a:rPr>
              <a:t>The Thought / Action / Observation trace printed before the final answer</a:t>
            </a:r>
            <a:endParaRPr lang="en-US" sz="1350" dirty="0"/>
          </a:p>
        </p:txBody>
      </p:sp>
      <p:sp>
        <p:nvSpPr>
          <p:cNvPr id="21" name="Text 15"/>
          <p:cNvSpPr txBox="1"/>
          <p:nvPr/>
        </p:nvSpPr>
        <p:spPr>
          <a:xfrm>
            <a:off x="7808976" y="3712464"/>
            <a:ext cx="2907792" cy="749808"/>
          </a:xfrm>
          <a:prstGeom prst="rect">
            <a:avLst/>
          </a:prstGeom>
          <a:noFill/>
          <a:ln/>
        </p:spPr>
        <p:txBody>
          <a:bodyPr wrap="square" lIns="0" tIns="0" rIns="0" bIns="0" rtlCol="0" anchor="ctr"/>
          <a:lstStyle/>
          <a:p>
            <a:pPr indent="0" marL="0">
              <a:lnSpc>
                <a:spcPts val="1800"/>
              </a:lnSpc>
              <a:buNone/>
            </a:pPr>
            <a:r>
              <a:rPr lang="en-US" sz="1350" b="1" dirty="0">
                <a:solidFill>
                  <a:srgbClr val="00915A"/>
                </a:solidFill>
                <a:latin typeface="Calibri" pitchFamily="34" charset="0"/>
                <a:ea typeface="Calibri" pitchFamily="34" charset="-122"/>
                <a:cs typeface="Calibri" pitchFamily="34" charset="-120"/>
              </a:rPr>
              <a:t>›  </a:t>
            </a:r>
            <a:pPr indent="0" marL="0">
              <a:lnSpc>
                <a:spcPts val="1800"/>
              </a:lnSpc>
              <a:buNone/>
            </a:pPr>
            <a:r>
              <a:rPr lang="en-US" sz="1350" dirty="0">
                <a:solidFill>
                  <a:srgbClr val="AFE4CB"/>
                </a:solidFill>
                <a:latin typeface="Calibri" pitchFamily="34" charset="0"/>
                <a:ea typeface="Calibri" pitchFamily="34" charset="-122"/>
                <a:cs typeface="Calibri" pitchFamily="34" charset="-120"/>
              </a:rPr>
              <a:t>The loop terminating cleanly on Final Answer</a:t>
            </a:r>
            <a:endParaRPr lang="en-US" sz="1350" dirty="0"/>
          </a:p>
        </p:txBody>
      </p:sp>
      <p:sp>
        <p:nvSpPr>
          <p:cNvPr id="22" name="Text 16"/>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AFE4CB"/>
                </a:solidFill>
                <a:latin typeface="Calibri" pitchFamily="34" charset="0"/>
                <a:ea typeface="Calibri" pitchFamily="34" charset="-122"/>
                <a:cs typeface="Calibri" pitchFamily="34" charset="-120"/>
              </a:rPr>
              <a:t>Agentic AI with LangChain &amp; LangGraph</a:t>
            </a:r>
            <a:endParaRPr lang="en-US" sz="1000" dirty="0"/>
          </a:p>
        </p:txBody>
      </p:sp>
      <p:sp>
        <p:nvSpPr>
          <p:cNvPr id="23" name="Text 17"/>
          <p:cNvSpPr txBox="1"/>
          <p:nvPr/>
        </p:nvSpPr>
        <p:spPr>
          <a:xfrm>
            <a:off x="11064240" y="6473952"/>
            <a:ext cx="548640" cy="274320"/>
          </a:xfrm>
          <a:prstGeom prst="rect">
            <a:avLst/>
          </a:prstGeom>
          <a:noFill/>
          <a:ln/>
        </p:spPr>
        <p:txBody>
          <a:bodyPr wrap="square" lIns="0" tIns="0" rIns="0" bIns="0" rtlCol="0" anchor="ctr"/>
          <a:lstStyle/>
          <a:p>
            <a:pPr algn="r" indent="0" marL="0">
              <a:buNone/>
            </a:pPr>
            <a:r>
              <a:rPr lang="en-US" sz="1000" dirty="0">
                <a:solidFill>
                  <a:srgbClr val="AFE4CB"/>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200" b="1" spc="150" kern="0" dirty="0">
                <a:solidFill>
                  <a:srgbClr val="00693F"/>
                </a:solidFill>
                <a:latin typeface="Calibri" pitchFamily="34" charset="0"/>
                <a:ea typeface="Calibri" pitchFamily="34" charset="-122"/>
                <a:cs typeface="Calibri" pitchFamily="34" charset="-120"/>
              </a:rPr>
              <a:t>PATTERN 2 OF 5</a:t>
            </a:r>
            <a:endParaRPr lang="en-US" sz="1200" dirty="0"/>
          </a:p>
        </p:txBody>
      </p:sp>
      <p:sp>
        <p:nvSpPr>
          <p:cNvPr id="3" name="Text 1"/>
          <p:cNvSpPr txBox="1"/>
          <p:nvPr/>
        </p:nvSpPr>
        <p:spPr>
          <a:xfrm>
            <a:off x="548640" y="658368"/>
            <a:ext cx="11064240" cy="822960"/>
          </a:xfrm>
          <a:prstGeom prst="rect">
            <a:avLst/>
          </a:prstGeom>
          <a:noFill/>
          <a:ln/>
        </p:spPr>
        <p:txBody>
          <a:bodyPr wrap="square" lIns="0" tIns="0" rIns="0" bIns="0" rtlCol="0" anchor="ctr"/>
          <a:lstStyle/>
          <a:p>
            <a:pPr indent="0" marL="0">
              <a:lnSpc>
                <a:spcPts val="3400"/>
              </a:lnSpc>
              <a:buNone/>
            </a:pPr>
            <a:r>
              <a:rPr lang="en-US" sz="3000" b="1" dirty="0">
                <a:solidFill>
                  <a:srgbClr val="1F2A28"/>
                </a:solidFill>
                <a:latin typeface="Calibri" pitchFamily="34" charset="0"/>
                <a:ea typeface="Calibri" pitchFamily="34" charset="-122"/>
                <a:cs typeface="Calibri" pitchFamily="34" charset="-120"/>
              </a:rPr>
              <a:t>Router / Supervisor</a:t>
            </a:r>
            <a:endParaRPr lang="en-US" sz="3000" dirty="0"/>
          </a:p>
        </p:txBody>
      </p:sp>
      <p:sp>
        <p:nvSpPr>
          <p:cNvPr id="4" name="Shape 2"/>
          <p:cNvSpPr/>
          <p:nvPr/>
        </p:nvSpPr>
        <p:spPr>
          <a:xfrm>
            <a:off x="10835640" y="566928"/>
            <a:ext cx="685800" cy="685800"/>
          </a:xfrm>
          <a:prstGeom prst="ellipse">
            <a:avLst/>
          </a:prstGeom>
          <a:solidFill>
            <a:srgbClr val="00915A"/>
          </a:solidFill>
          <a:ln/>
        </p:spPr>
      </p:sp>
      <p:pic>
        <p:nvPicPr>
          <p:cNvPr id="5" name="Image 0" descr="/home/claude/icons/router.png">    </p:cNvPr>
          <p:cNvPicPr>
            <a:picLocks noChangeAspect="1"/>
          </p:cNvPicPr>
          <p:nvPr/>
        </p:nvPicPr>
        <p:blipFill>
          <a:blip r:embed="rId1"/>
          <a:stretch>
            <a:fillRect/>
          </a:stretch>
        </p:blipFill>
        <p:spPr>
          <a:xfrm>
            <a:off x="10924794" y="656082"/>
            <a:ext cx="507492" cy="507492"/>
          </a:xfrm>
          <a:prstGeom prst="rect">
            <a:avLst/>
          </a:prstGeom>
        </p:spPr>
      </p:pic>
      <p:sp>
        <p:nvSpPr>
          <p:cNvPr id="6" name="Shape 3"/>
          <p:cNvSpPr/>
          <p:nvPr/>
        </p:nvSpPr>
        <p:spPr>
          <a:xfrm>
            <a:off x="548640" y="2459736"/>
            <a:ext cx="91440" cy="91440"/>
          </a:xfrm>
          <a:prstGeom prst="ellipse">
            <a:avLst/>
          </a:prstGeom>
          <a:solidFill>
            <a:srgbClr val="00915A"/>
          </a:solidFill>
          <a:ln/>
        </p:spPr>
      </p:sp>
      <p:sp>
        <p:nvSpPr>
          <p:cNvPr id="7" name="Text 4"/>
          <p:cNvSpPr txBox="1"/>
          <p:nvPr/>
        </p:nvSpPr>
        <p:spPr>
          <a:xfrm>
            <a:off x="822960" y="2057400"/>
            <a:ext cx="6309360" cy="896112"/>
          </a:xfrm>
          <a:prstGeom prst="rect">
            <a:avLst/>
          </a:prstGeom>
          <a:noFill/>
          <a:ln/>
        </p:spPr>
        <p:txBody>
          <a:bodyPr wrap="square" lIns="0" tIns="0" rIns="0" bIns="0" rtlCol="0" anchor="ctr"/>
          <a:lstStyle/>
          <a:p>
            <a:pPr indent="0" marL="0">
              <a:lnSpc>
                <a:spcPts val="2100"/>
              </a:lnSpc>
              <a:buNone/>
            </a:pPr>
            <a:r>
              <a:rPr lang="en-US" sz="1600" dirty="0">
                <a:solidFill>
                  <a:srgbClr val="1F2A28"/>
                </a:solidFill>
                <a:latin typeface="Calibri" pitchFamily="34" charset="0"/>
                <a:ea typeface="Calibri" pitchFamily="34" charset="-122"/>
                <a:cs typeface="Calibri" pitchFamily="34" charset="-120"/>
              </a:rPr>
              <a:t>A classifier node reads intent; conditional edges dispatch to the right specialist.</a:t>
            </a:r>
            <a:endParaRPr lang="en-US" sz="1600" dirty="0"/>
          </a:p>
        </p:txBody>
      </p:sp>
      <p:sp>
        <p:nvSpPr>
          <p:cNvPr id="8" name="Shape 5"/>
          <p:cNvSpPr/>
          <p:nvPr/>
        </p:nvSpPr>
        <p:spPr>
          <a:xfrm>
            <a:off x="548640" y="3739896"/>
            <a:ext cx="91440" cy="91440"/>
          </a:xfrm>
          <a:prstGeom prst="ellipse">
            <a:avLst/>
          </a:prstGeom>
          <a:solidFill>
            <a:srgbClr val="00915A"/>
          </a:solidFill>
          <a:ln/>
        </p:spPr>
      </p:sp>
      <p:sp>
        <p:nvSpPr>
          <p:cNvPr id="9" name="Text 6"/>
          <p:cNvSpPr txBox="1"/>
          <p:nvPr/>
        </p:nvSpPr>
        <p:spPr>
          <a:xfrm>
            <a:off x="822960" y="3337560"/>
            <a:ext cx="6309360" cy="896112"/>
          </a:xfrm>
          <a:prstGeom prst="rect">
            <a:avLst/>
          </a:prstGeom>
          <a:noFill/>
          <a:ln/>
        </p:spPr>
        <p:txBody>
          <a:bodyPr wrap="square" lIns="0" tIns="0" rIns="0" bIns="0" rtlCol="0" anchor="ctr"/>
          <a:lstStyle/>
          <a:p>
            <a:pPr indent="0" marL="0">
              <a:lnSpc>
                <a:spcPts val="2100"/>
              </a:lnSpc>
              <a:buNone/>
            </a:pPr>
            <a:r>
              <a:rPr lang="en-US" sz="1600" dirty="0">
                <a:solidFill>
                  <a:srgbClr val="1F2A28"/>
                </a:solidFill>
                <a:latin typeface="Calibri" pitchFamily="34" charset="0"/>
                <a:ea typeface="Calibri" pitchFamily="34" charset="-122"/>
                <a:cs typeface="Calibri" pitchFamily="34" charset="-120"/>
              </a:rPr>
              <a:t>A second specialist — Product/FAQ — is added alongside the ReAct order agent built earlier.</a:t>
            </a:r>
            <a:endParaRPr lang="en-US" sz="1600" dirty="0"/>
          </a:p>
        </p:txBody>
      </p:sp>
      <p:sp>
        <p:nvSpPr>
          <p:cNvPr id="10" name="Shape 7"/>
          <p:cNvSpPr/>
          <p:nvPr/>
        </p:nvSpPr>
        <p:spPr>
          <a:xfrm>
            <a:off x="548640" y="5020056"/>
            <a:ext cx="91440" cy="91440"/>
          </a:xfrm>
          <a:prstGeom prst="ellipse">
            <a:avLst/>
          </a:prstGeom>
          <a:solidFill>
            <a:srgbClr val="00915A"/>
          </a:solidFill>
          <a:ln/>
        </p:spPr>
      </p:sp>
      <p:sp>
        <p:nvSpPr>
          <p:cNvPr id="11" name="Text 8"/>
          <p:cNvSpPr txBox="1"/>
          <p:nvPr/>
        </p:nvSpPr>
        <p:spPr>
          <a:xfrm>
            <a:off x="822960" y="4617720"/>
            <a:ext cx="6309360" cy="896112"/>
          </a:xfrm>
          <a:prstGeom prst="rect">
            <a:avLst/>
          </a:prstGeom>
          <a:noFill/>
          <a:ln/>
        </p:spPr>
        <p:txBody>
          <a:bodyPr wrap="square" lIns="0" tIns="0" rIns="0" bIns="0" rtlCol="0" anchor="ctr"/>
          <a:lstStyle/>
          <a:p>
            <a:pPr indent="0" marL="0">
              <a:lnSpc>
                <a:spcPts val="2100"/>
              </a:lnSpc>
              <a:buNone/>
            </a:pPr>
            <a:r>
              <a:rPr lang="en-US" sz="1600" dirty="0">
                <a:solidFill>
                  <a:srgbClr val="1F2A28"/>
                </a:solidFill>
                <a:latin typeface="Calibri" pitchFamily="34" charset="0"/>
                <a:ea typeface="Calibri" pitchFamily="34" charset="-122"/>
                <a:cs typeface="Calibri" pitchFamily="34" charset="-120"/>
              </a:rPr>
              <a:t>add_conditional_edges is the whole trick. No new orchestration primitive needed.</a:t>
            </a:r>
            <a:endParaRPr lang="en-US" sz="1600" dirty="0"/>
          </a:p>
        </p:txBody>
      </p:sp>
      <p:sp>
        <p:nvSpPr>
          <p:cNvPr id="12" name="Shape 9"/>
          <p:cNvSpPr/>
          <p:nvPr/>
        </p:nvSpPr>
        <p:spPr>
          <a:xfrm>
            <a:off x="7178040" y="1783080"/>
            <a:ext cx="4434840" cy="3383280"/>
          </a:xfrm>
          <a:prstGeom prst="roundRect">
            <a:avLst>
              <a:gd name="adj" fmla="val 3243"/>
            </a:avLst>
          </a:prstGeom>
          <a:solidFill>
            <a:srgbClr val="E8F5EF"/>
          </a:solidFill>
          <a:ln/>
          <a:effectLst>
            <a:outerShdw sx="100000" sy="100000" kx="0" ky="0" algn="bl" rotWithShape="0" blurRad="76200" dist="25400" dir="5400000">
              <a:srgbClr val="1F2A28">
                <a:alpha val="18000"/>
              </a:srgbClr>
            </a:outerShdw>
          </a:effectLst>
        </p:spPr>
      </p:sp>
      <p:sp>
        <p:nvSpPr>
          <p:cNvPr id="13" name="Text 10"/>
          <p:cNvSpPr txBox="1"/>
          <p:nvPr/>
        </p:nvSpPr>
        <p:spPr>
          <a:xfrm>
            <a:off x="7452360" y="2011680"/>
            <a:ext cx="3886200" cy="457200"/>
          </a:xfrm>
          <a:prstGeom prst="rect">
            <a:avLst/>
          </a:prstGeom>
          <a:noFill/>
          <a:ln/>
        </p:spPr>
        <p:txBody>
          <a:bodyPr wrap="square" lIns="0" tIns="0" rIns="0" bIns="0" rtlCol="0" anchor="ctr"/>
          <a:lstStyle/>
          <a:p>
            <a:pPr indent="0" marL="0">
              <a:buNone/>
            </a:pPr>
            <a:r>
              <a:rPr lang="en-US" sz="1700" b="1" dirty="0">
                <a:solidFill>
                  <a:srgbClr val="00693F"/>
                </a:solidFill>
                <a:latin typeface="Calibri" pitchFamily="34" charset="0"/>
                <a:ea typeface="Calibri" pitchFamily="34" charset="-122"/>
                <a:cs typeface="Calibri" pitchFamily="34" charset="-120"/>
              </a:rPr>
              <a:t>The design decision</a:t>
            </a:r>
            <a:endParaRPr lang="en-US" sz="1700" dirty="0"/>
          </a:p>
        </p:txBody>
      </p:sp>
      <p:sp>
        <p:nvSpPr>
          <p:cNvPr id="14" name="Text 11"/>
          <p:cNvSpPr txBox="1"/>
          <p:nvPr/>
        </p:nvSpPr>
        <p:spPr>
          <a:xfrm>
            <a:off x="7452360" y="2514600"/>
            <a:ext cx="3886200" cy="2468880"/>
          </a:xfrm>
          <a:prstGeom prst="rect">
            <a:avLst/>
          </a:prstGeom>
          <a:noFill/>
          <a:ln/>
        </p:spPr>
        <p:txBody>
          <a:bodyPr wrap="square" lIns="0" tIns="0" rIns="0" bIns="0" rtlCol="0" anchor="ctr"/>
          <a:lstStyle/>
          <a:p>
            <a:pPr indent="0" marL="0">
              <a:lnSpc>
                <a:spcPts val="1900"/>
              </a:lnSpc>
              <a:buNone/>
            </a:pPr>
            <a:r>
              <a:rPr lang="en-US" sz="1400" dirty="0">
                <a:solidFill>
                  <a:srgbClr val="1F2A28"/>
                </a:solidFill>
                <a:latin typeface="Calibri" pitchFamily="34" charset="0"/>
                <a:ea typeface="Calibri" pitchFamily="34" charset="-122"/>
                <a:cs typeface="Calibri" pitchFamily="34" charset="-120"/>
              </a:rPr>
              <a:t>Router logic is just a function returning a string label. Keep it deterministic where possible (keyword/regex first), and fall back to LLM classification only when needed.</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B1F17"/>
          </a:solidFill>
          <a:ln/>
        </p:spPr>
      </p:sp>
      <p:sp>
        <p:nvSpPr>
          <p:cNvPr id="3" name="Shape 1"/>
          <p:cNvSpPr/>
          <p:nvPr/>
        </p:nvSpPr>
        <p:spPr>
          <a:xfrm>
            <a:off x="548640" y="411480"/>
            <a:ext cx="1874520" cy="384048"/>
          </a:xfrm>
          <a:prstGeom prst="roundRect">
            <a:avLst>
              <a:gd name="adj" fmla="val 50000"/>
            </a:avLst>
          </a:prstGeom>
          <a:solidFill>
            <a:srgbClr val="00915A"/>
          </a:solidFill>
          <a:ln/>
        </p:spPr>
      </p:sp>
      <p:pic>
        <p:nvPicPr>
          <p:cNvPr id="4" name="Image 0" descr="/home/claude/icons/play_w.png">    </p:cNvPr>
          <p:cNvPicPr>
            <a:picLocks noChangeAspect="1"/>
          </p:cNvPicPr>
          <p:nvPr/>
        </p:nvPicPr>
        <p:blipFill>
          <a:blip r:embed="rId1"/>
          <a:stretch>
            <a:fillRect/>
          </a:stretch>
        </p:blipFill>
        <p:spPr>
          <a:xfrm>
            <a:off x="694944" y="512064"/>
            <a:ext cx="182880" cy="182880"/>
          </a:xfrm>
          <a:prstGeom prst="rect">
            <a:avLst/>
          </a:prstGeom>
        </p:spPr>
      </p:pic>
      <p:sp>
        <p:nvSpPr>
          <p:cNvPr id="5" name="Text 2"/>
          <p:cNvSpPr txBox="1"/>
          <p:nvPr/>
        </p:nvSpPr>
        <p:spPr>
          <a:xfrm>
            <a:off x="932688" y="411480"/>
            <a:ext cx="1463040" cy="384048"/>
          </a:xfrm>
          <a:prstGeom prst="rect">
            <a:avLst/>
          </a:prstGeom>
          <a:noFill/>
          <a:ln/>
        </p:spPr>
        <p:txBody>
          <a:bodyPr wrap="square" lIns="0" tIns="0" rIns="0" bIns="0" rtlCol="0" anchor="ctr"/>
          <a:lstStyle/>
          <a:p>
            <a:pPr indent="0" marL="0">
              <a:buNone/>
            </a:pPr>
            <a:r>
              <a:rPr lang="en-US" sz="1200" b="1" spc="100" kern="0" dirty="0">
                <a:solidFill>
                  <a:srgbClr val="FFFFFF"/>
                </a:solidFill>
                <a:latin typeface="Calibri" pitchFamily="34" charset="0"/>
                <a:ea typeface="Calibri" pitchFamily="34" charset="-122"/>
                <a:cs typeface="Calibri" pitchFamily="34" charset="-120"/>
              </a:rPr>
              <a:t>LIVE DEMO</a:t>
            </a:r>
            <a:endParaRPr lang="en-US" sz="1200" dirty="0"/>
          </a:p>
        </p:txBody>
      </p:sp>
      <p:sp>
        <p:nvSpPr>
          <p:cNvPr id="6" name="Text 3"/>
          <p:cNvSpPr txBox="1"/>
          <p:nvPr/>
        </p:nvSpPr>
        <p:spPr>
          <a:xfrm>
            <a:off x="548640" y="960120"/>
            <a:ext cx="11064240" cy="640080"/>
          </a:xfrm>
          <a:prstGeom prst="rect">
            <a:avLst/>
          </a:prstGeom>
          <a:noFill/>
          <a:ln/>
        </p:spPr>
        <p:txBody>
          <a:bodyPr wrap="square" lIns="0" tIns="0" rIns="0" bIns="0" rtlCol="0" anchor="ctr"/>
          <a:lstStyle/>
          <a:p>
            <a:pPr indent="0" marL="0">
              <a:buNone/>
            </a:pPr>
            <a:r>
              <a:rPr lang="en-US" sz="2700" b="1" dirty="0">
                <a:solidFill>
                  <a:srgbClr val="FFFFFF"/>
                </a:solidFill>
                <a:latin typeface="Calibri" pitchFamily="34" charset="0"/>
                <a:ea typeface="Calibri" pitchFamily="34" charset="-122"/>
                <a:cs typeface="Calibri" pitchFamily="34" charset="-120"/>
              </a:rPr>
              <a:t>Live Coding — Router + Second Specialist</a:t>
            </a:r>
            <a:endParaRPr lang="en-US" sz="2700" dirty="0"/>
          </a:p>
        </p:txBody>
      </p:sp>
      <p:sp>
        <p:nvSpPr>
          <p:cNvPr id="7" name="Shape 4"/>
          <p:cNvSpPr/>
          <p:nvPr/>
        </p:nvSpPr>
        <p:spPr>
          <a:xfrm>
            <a:off x="548640" y="1874520"/>
            <a:ext cx="3310128" cy="3977640"/>
          </a:xfrm>
          <a:prstGeom prst="roundRect">
            <a:avLst>
              <a:gd name="adj" fmla="val 2762"/>
            </a:avLst>
          </a:prstGeom>
          <a:solidFill>
            <a:srgbClr val="123528"/>
          </a:solidFill>
          <a:ln w="12700">
            <a:solidFill>
              <a:srgbClr val="1E4B39"/>
            </a:solidFill>
            <a:prstDash val="solid"/>
          </a:ln>
        </p:spPr>
      </p:sp>
      <p:pic>
        <p:nvPicPr>
          <p:cNvPr id="8" name="Image 1" descr="/home/claude/icons/code_w.png">    </p:cNvPr>
          <p:cNvPicPr>
            <a:picLocks noChangeAspect="1"/>
          </p:cNvPicPr>
          <p:nvPr/>
        </p:nvPicPr>
        <p:blipFill>
          <a:blip r:embed="rId2"/>
          <a:stretch>
            <a:fillRect/>
          </a:stretch>
        </p:blipFill>
        <p:spPr>
          <a:xfrm>
            <a:off x="777240" y="2103120"/>
            <a:ext cx="329184" cy="329184"/>
          </a:xfrm>
          <a:prstGeom prst="rect">
            <a:avLst/>
          </a:prstGeom>
        </p:spPr>
      </p:pic>
      <p:sp>
        <p:nvSpPr>
          <p:cNvPr id="9" name="Text 5"/>
          <p:cNvSpPr txBox="1"/>
          <p:nvPr/>
        </p:nvSpPr>
        <p:spPr>
          <a:xfrm>
            <a:off x="1207008" y="2093976"/>
            <a:ext cx="2487168"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What’s being built</a:t>
            </a:r>
            <a:endParaRPr lang="en-US" sz="1500" dirty="0"/>
          </a:p>
        </p:txBody>
      </p:sp>
      <p:sp>
        <p:nvSpPr>
          <p:cNvPr id="10" name="Text 6"/>
          <p:cNvSpPr txBox="1"/>
          <p:nvPr/>
        </p:nvSpPr>
        <p:spPr>
          <a:xfrm>
            <a:off x="749808" y="2651760"/>
            <a:ext cx="2907792" cy="530352"/>
          </a:xfrm>
          <a:prstGeom prst="rect">
            <a:avLst/>
          </a:prstGeom>
          <a:noFill/>
          <a:ln/>
        </p:spPr>
        <p:txBody>
          <a:bodyPr wrap="square" lIns="0" tIns="0" rIns="0" bIns="0" rtlCol="0" anchor="ctr"/>
          <a:lstStyle/>
          <a:p>
            <a:pPr indent="0" marL="0">
              <a:lnSpc>
                <a:spcPts val="1800"/>
              </a:lnSpc>
              <a:buNone/>
            </a:pPr>
            <a:r>
              <a:rPr lang="en-US" sz="1350" b="1" dirty="0">
                <a:solidFill>
                  <a:srgbClr val="00915A"/>
                </a:solidFill>
                <a:latin typeface="Calibri" pitchFamily="34" charset="0"/>
                <a:ea typeface="Calibri" pitchFamily="34" charset="-122"/>
                <a:cs typeface="Calibri" pitchFamily="34" charset="-120"/>
              </a:rPr>
              <a:t>›  </a:t>
            </a:r>
            <a:pPr indent="0" marL="0">
              <a:lnSpc>
                <a:spcPts val="1800"/>
              </a:lnSpc>
              <a:buNone/>
            </a:pPr>
            <a:r>
              <a:rPr lang="en-US" sz="1350" dirty="0">
                <a:solidFill>
                  <a:srgbClr val="AFE4CB"/>
                </a:solidFill>
                <a:latin typeface="Calibri" pitchFamily="34" charset="0"/>
                <a:ea typeface="Calibri" pitchFamily="34" charset="-122"/>
                <a:cs typeface="Calibri" pitchFamily="34" charset="-120"/>
              </a:rPr>
              <a:t>router.py — intent classifier</a:t>
            </a:r>
            <a:endParaRPr lang="en-US" sz="1350" dirty="0"/>
          </a:p>
        </p:txBody>
      </p:sp>
      <p:sp>
        <p:nvSpPr>
          <p:cNvPr id="11" name="Text 7"/>
          <p:cNvSpPr txBox="1"/>
          <p:nvPr/>
        </p:nvSpPr>
        <p:spPr>
          <a:xfrm>
            <a:off x="749808" y="3273552"/>
            <a:ext cx="2907792" cy="749808"/>
          </a:xfrm>
          <a:prstGeom prst="rect">
            <a:avLst/>
          </a:prstGeom>
          <a:noFill/>
          <a:ln/>
        </p:spPr>
        <p:txBody>
          <a:bodyPr wrap="square" lIns="0" tIns="0" rIns="0" bIns="0" rtlCol="0" anchor="ctr"/>
          <a:lstStyle/>
          <a:p>
            <a:pPr indent="0" marL="0">
              <a:lnSpc>
                <a:spcPts val="1800"/>
              </a:lnSpc>
              <a:buNone/>
            </a:pPr>
            <a:r>
              <a:rPr lang="en-US" sz="1350" b="1" dirty="0">
                <a:solidFill>
                  <a:srgbClr val="00915A"/>
                </a:solidFill>
                <a:latin typeface="Calibri" pitchFamily="34" charset="0"/>
                <a:ea typeface="Calibri" pitchFamily="34" charset="-122"/>
                <a:cs typeface="Calibri" pitchFamily="34" charset="-120"/>
              </a:rPr>
              <a:t>›  </a:t>
            </a:r>
            <a:pPr indent="0" marL="0">
              <a:lnSpc>
                <a:spcPts val="1800"/>
              </a:lnSpc>
              <a:buNone/>
            </a:pPr>
            <a:r>
              <a:rPr lang="en-US" sz="1350" dirty="0">
                <a:solidFill>
                  <a:srgbClr val="AFE4CB"/>
                </a:solidFill>
                <a:latin typeface="Calibri" pitchFamily="34" charset="0"/>
                <a:ea typeface="Calibri" pitchFamily="34" charset="-122"/>
                <a:cs typeface="Calibri" pitchFamily="34" charset="-120"/>
              </a:rPr>
              <a:t>product_faq_agent.py — second specialist</a:t>
            </a:r>
            <a:endParaRPr lang="en-US" sz="1350" dirty="0"/>
          </a:p>
        </p:txBody>
      </p:sp>
      <p:sp>
        <p:nvSpPr>
          <p:cNvPr id="12" name="Text 8"/>
          <p:cNvSpPr txBox="1"/>
          <p:nvPr/>
        </p:nvSpPr>
        <p:spPr>
          <a:xfrm>
            <a:off x="749808" y="4114800"/>
            <a:ext cx="2907792" cy="749808"/>
          </a:xfrm>
          <a:prstGeom prst="rect">
            <a:avLst/>
          </a:prstGeom>
          <a:noFill/>
          <a:ln/>
        </p:spPr>
        <p:txBody>
          <a:bodyPr wrap="square" lIns="0" tIns="0" rIns="0" bIns="0" rtlCol="0" anchor="ctr"/>
          <a:lstStyle/>
          <a:p>
            <a:pPr indent="0" marL="0">
              <a:lnSpc>
                <a:spcPts val="1800"/>
              </a:lnSpc>
              <a:buNone/>
            </a:pPr>
            <a:r>
              <a:rPr lang="en-US" sz="1350" b="1" dirty="0">
                <a:solidFill>
                  <a:srgbClr val="00915A"/>
                </a:solidFill>
                <a:latin typeface="Calibri" pitchFamily="34" charset="0"/>
                <a:ea typeface="Calibri" pitchFamily="34" charset="-122"/>
                <a:cs typeface="Calibri" pitchFamily="34" charset="-120"/>
              </a:rPr>
              <a:t>›  </a:t>
            </a:r>
            <a:pPr indent="0" marL="0">
              <a:lnSpc>
                <a:spcPts val="1800"/>
              </a:lnSpc>
              <a:buNone/>
            </a:pPr>
            <a:r>
              <a:rPr lang="en-US" sz="1350" dirty="0">
                <a:solidFill>
                  <a:srgbClr val="AFE4CB"/>
                </a:solidFill>
                <a:latin typeface="Calibri" pitchFamily="34" charset="0"/>
                <a:ea typeface="Calibri" pitchFamily="34" charset="-122"/>
                <a:cs typeface="Calibri" pitchFamily="34" charset="-120"/>
              </a:rPr>
              <a:t>Conditional edges in build_graph.py</a:t>
            </a:r>
            <a:endParaRPr lang="en-US" sz="1350" dirty="0"/>
          </a:p>
        </p:txBody>
      </p:sp>
      <p:sp>
        <p:nvSpPr>
          <p:cNvPr id="13" name="Shape 9"/>
          <p:cNvSpPr/>
          <p:nvPr/>
        </p:nvSpPr>
        <p:spPr>
          <a:xfrm>
            <a:off x="4078224" y="1874520"/>
            <a:ext cx="3310128" cy="3977640"/>
          </a:xfrm>
          <a:prstGeom prst="roundRect">
            <a:avLst>
              <a:gd name="adj" fmla="val 2762"/>
            </a:avLst>
          </a:prstGeom>
          <a:solidFill>
            <a:srgbClr val="123528"/>
          </a:solidFill>
          <a:ln w="12700">
            <a:solidFill>
              <a:srgbClr val="1E4B39"/>
            </a:solidFill>
            <a:prstDash val="solid"/>
          </a:ln>
        </p:spPr>
      </p:sp>
      <p:pic>
        <p:nvPicPr>
          <p:cNvPr id="14" name="Image 2" descr="/home/claude/icons/target_w.png">    </p:cNvPr>
          <p:cNvPicPr>
            <a:picLocks noChangeAspect="1"/>
          </p:cNvPicPr>
          <p:nvPr/>
        </p:nvPicPr>
        <p:blipFill>
          <a:blip r:embed="rId3"/>
          <a:stretch>
            <a:fillRect/>
          </a:stretch>
        </p:blipFill>
        <p:spPr>
          <a:xfrm>
            <a:off x="4306824" y="2103120"/>
            <a:ext cx="329184" cy="329184"/>
          </a:xfrm>
          <a:prstGeom prst="rect">
            <a:avLst/>
          </a:prstGeom>
        </p:spPr>
      </p:pic>
      <p:sp>
        <p:nvSpPr>
          <p:cNvPr id="15" name="Text 10"/>
          <p:cNvSpPr txBox="1"/>
          <p:nvPr/>
        </p:nvSpPr>
        <p:spPr>
          <a:xfrm>
            <a:off x="4736592" y="2093976"/>
            <a:ext cx="2487168"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Try this live</a:t>
            </a:r>
            <a:endParaRPr lang="en-US" sz="1500" dirty="0"/>
          </a:p>
        </p:txBody>
      </p:sp>
      <p:sp>
        <p:nvSpPr>
          <p:cNvPr id="16" name="Text 11"/>
          <p:cNvSpPr txBox="1"/>
          <p:nvPr/>
        </p:nvSpPr>
        <p:spPr>
          <a:xfrm>
            <a:off x="4279392" y="2651760"/>
            <a:ext cx="2907792" cy="749808"/>
          </a:xfrm>
          <a:prstGeom prst="rect">
            <a:avLst/>
          </a:prstGeom>
          <a:noFill/>
          <a:ln/>
        </p:spPr>
        <p:txBody>
          <a:bodyPr wrap="square" lIns="0" tIns="0" rIns="0" bIns="0" rtlCol="0" anchor="ctr"/>
          <a:lstStyle/>
          <a:p>
            <a:pPr indent="0" marL="0">
              <a:lnSpc>
                <a:spcPts val="1800"/>
              </a:lnSpc>
              <a:buNone/>
            </a:pPr>
            <a:r>
              <a:rPr lang="en-US" sz="1350" b="1" dirty="0">
                <a:solidFill>
                  <a:srgbClr val="00915A"/>
                </a:solidFill>
                <a:latin typeface="Calibri" pitchFamily="34" charset="0"/>
                <a:ea typeface="Calibri" pitchFamily="34" charset="-122"/>
                <a:cs typeface="Calibri" pitchFamily="34" charset="-120"/>
              </a:rPr>
              <a:t>›  </a:t>
            </a:r>
            <a:pPr indent="0" marL="0">
              <a:lnSpc>
                <a:spcPts val="1800"/>
              </a:lnSpc>
              <a:buNone/>
            </a:pPr>
            <a:r>
              <a:rPr lang="en-US" sz="1350" dirty="0">
                <a:solidFill>
                  <a:srgbClr val="AFE4CB"/>
                </a:solidFill>
                <a:latin typeface="Calibri" pitchFamily="34" charset="0"/>
                <a:ea typeface="Calibri" pitchFamily="34" charset="-122"/>
                <a:cs typeface="Calibri" pitchFamily="34" charset="-120"/>
              </a:rPr>
              <a:t>"Do you have a wireless mouse?" → product/FAQ</a:t>
            </a:r>
            <a:endParaRPr lang="en-US" sz="1350" dirty="0"/>
          </a:p>
        </p:txBody>
      </p:sp>
      <p:sp>
        <p:nvSpPr>
          <p:cNvPr id="17" name="Text 12"/>
          <p:cNvSpPr txBox="1"/>
          <p:nvPr/>
        </p:nvSpPr>
        <p:spPr>
          <a:xfrm>
            <a:off x="4279392" y="3493008"/>
            <a:ext cx="2907792" cy="749808"/>
          </a:xfrm>
          <a:prstGeom prst="rect">
            <a:avLst/>
          </a:prstGeom>
          <a:noFill/>
          <a:ln/>
        </p:spPr>
        <p:txBody>
          <a:bodyPr wrap="square" lIns="0" tIns="0" rIns="0" bIns="0" rtlCol="0" anchor="ctr"/>
          <a:lstStyle/>
          <a:p>
            <a:pPr indent="0" marL="0">
              <a:lnSpc>
                <a:spcPts val="1800"/>
              </a:lnSpc>
              <a:buNone/>
            </a:pPr>
            <a:r>
              <a:rPr lang="en-US" sz="1350" b="1" dirty="0">
                <a:solidFill>
                  <a:srgbClr val="00915A"/>
                </a:solidFill>
                <a:latin typeface="Calibri" pitchFamily="34" charset="0"/>
                <a:ea typeface="Calibri" pitchFamily="34" charset="-122"/>
                <a:cs typeface="Calibri" pitchFamily="34" charset="-120"/>
              </a:rPr>
              <a:t>›  </a:t>
            </a:r>
            <a:pPr indent="0" marL="0">
              <a:lnSpc>
                <a:spcPts val="1800"/>
              </a:lnSpc>
              <a:buNone/>
            </a:pPr>
            <a:r>
              <a:rPr lang="en-US" sz="1350" dirty="0">
                <a:solidFill>
                  <a:srgbClr val="AFE4CB"/>
                </a:solidFill>
                <a:latin typeface="Calibri" pitchFamily="34" charset="0"/>
                <a:ea typeface="Calibri" pitchFamily="34" charset="-122"/>
                <a:cs typeface="Calibri" pitchFamily="34" charset="-120"/>
              </a:rPr>
              <a:t>"What’s the status of ORD1001?" → order status</a:t>
            </a:r>
            <a:endParaRPr lang="en-US" sz="1350" dirty="0"/>
          </a:p>
        </p:txBody>
      </p:sp>
      <p:sp>
        <p:nvSpPr>
          <p:cNvPr id="18" name="Shape 13"/>
          <p:cNvSpPr/>
          <p:nvPr/>
        </p:nvSpPr>
        <p:spPr>
          <a:xfrm>
            <a:off x="7607808" y="1874520"/>
            <a:ext cx="3310128" cy="3977640"/>
          </a:xfrm>
          <a:prstGeom prst="roundRect">
            <a:avLst>
              <a:gd name="adj" fmla="val 2762"/>
            </a:avLst>
          </a:prstGeom>
          <a:solidFill>
            <a:srgbClr val="123528"/>
          </a:solidFill>
          <a:ln w="12700">
            <a:solidFill>
              <a:srgbClr val="1E4B39"/>
            </a:solidFill>
            <a:prstDash val="solid"/>
          </a:ln>
        </p:spPr>
      </p:sp>
      <p:pic>
        <p:nvPicPr>
          <p:cNvPr id="19" name="Image 3" descr="/home/claude/icons/eye_w.png">    </p:cNvPr>
          <p:cNvPicPr>
            <a:picLocks noChangeAspect="1"/>
          </p:cNvPicPr>
          <p:nvPr/>
        </p:nvPicPr>
        <p:blipFill>
          <a:blip r:embed="rId4"/>
          <a:stretch>
            <a:fillRect/>
          </a:stretch>
        </p:blipFill>
        <p:spPr>
          <a:xfrm>
            <a:off x="7836408" y="2103120"/>
            <a:ext cx="329184" cy="329184"/>
          </a:xfrm>
          <a:prstGeom prst="rect">
            <a:avLst/>
          </a:prstGeom>
        </p:spPr>
      </p:pic>
      <p:sp>
        <p:nvSpPr>
          <p:cNvPr id="20" name="Text 14"/>
          <p:cNvSpPr txBox="1"/>
          <p:nvPr/>
        </p:nvSpPr>
        <p:spPr>
          <a:xfrm>
            <a:off x="8266176" y="2093976"/>
            <a:ext cx="2487168"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Watch for</a:t>
            </a:r>
            <a:endParaRPr lang="en-US" sz="1500" dirty="0"/>
          </a:p>
        </p:txBody>
      </p:sp>
      <p:sp>
        <p:nvSpPr>
          <p:cNvPr id="21" name="Text 15"/>
          <p:cNvSpPr txBox="1"/>
          <p:nvPr/>
        </p:nvSpPr>
        <p:spPr>
          <a:xfrm>
            <a:off x="7808976" y="2651760"/>
            <a:ext cx="2907792" cy="749808"/>
          </a:xfrm>
          <a:prstGeom prst="rect">
            <a:avLst/>
          </a:prstGeom>
          <a:noFill/>
          <a:ln/>
        </p:spPr>
        <p:txBody>
          <a:bodyPr wrap="square" lIns="0" tIns="0" rIns="0" bIns="0" rtlCol="0" anchor="ctr"/>
          <a:lstStyle/>
          <a:p>
            <a:pPr indent="0" marL="0">
              <a:lnSpc>
                <a:spcPts val="1800"/>
              </a:lnSpc>
              <a:buNone/>
            </a:pPr>
            <a:r>
              <a:rPr lang="en-US" sz="1350" b="1" dirty="0">
                <a:solidFill>
                  <a:srgbClr val="00915A"/>
                </a:solidFill>
                <a:latin typeface="Calibri" pitchFamily="34" charset="0"/>
                <a:ea typeface="Calibri" pitchFamily="34" charset="-122"/>
                <a:cs typeface="Calibri" pitchFamily="34" charset="-120"/>
              </a:rPr>
              <a:t>›  </a:t>
            </a:r>
            <a:pPr indent="0" marL="0">
              <a:lnSpc>
                <a:spcPts val="1800"/>
              </a:lnSpc>
              <a:buNone/>
            </a:pPr>
            <a:r>
              <a:rPr lang="en-US" sz="1350" dirty="0">
                <a:solidFill>
                  <a:srgbClr val="AFE4CB"/>
                </a:solidFill>
                <a:latin typeface="Calibri" pitchFamily="34" charset="0"/>
                <a:ea typeface="Calibri" pitchFamily="34" charset="-122"/>
                <a:cs typeface="Calibri" pitchFamily="34" charset="-120"/>
              </a:rPr>
              <a:t>The routing decision printed before the specialist runs</a:t>
            </a:r>
            <a:endParaRPr lang="en-US" sz="1350" dirty="0"/>
          </a:p>
        </p:txBody>
      </p:sp>
      <p:sp>
        <p:nvSpPr>
          <p:cNvPr id="22" name="Text 16"/>
          <p:cNvSpPr txBox="1"/>
          <p:nvPr/>
        </p:nvSpPr>
        <p:spPr>
          <a:xfrm>
            <a:off x="7808976" y="3493008"/>
            <a:ext cx="2907792" cy="749808"/>
          </a:xfrm>
          <a:prstGeom prst="rect">
            <a:avLst/>
          </a:prstGeom>
          <a:noFill/>
          <a:ln/>
        </p:spPr>
        <p:txBody>
          <a:bodyPr wrap="square" lIns="0" tIns="0" rIns="0" bIns="0" rtlCol="0" anchor="ctr"/>
          <a:lstStyle/>
          <a:p>
            <a:pPr indent="0" marL="0">
              <a:lnSpc>
                <a:spcPts val="1800"/>
              </a:lnSpc>
              <a:buNone/>
            </a:pPr>
            <a:r>
              <a:rPr lang="en-US" sz="1350" b="1" dirty="0">
                <a:solidFill>
                  <a:srgbClr val="00915A"/>
                </a:solidFill>
                <a:latin typeface="Calibri" pitchFamily="34" charset="0"/>
                <a:ea typeface="Calibri" pitchFamily="34" charset="-122"/>
                <a:cs typeface="Calibri" pitchFamily="34" charset="-120"/>
              </a:rPr>
              <a:t>›  </a:t>
            </a:r>
            <a:pPr indent="0" marL="0">
              <a:lnSpc>
                <a:spcPts val="1800"/>
              </a:lnSpc>
              <a:buNone/>
            </a:pPr>
            <a:r>
              <a:rPr lang="en-US" sz="1350" dirty="0">
                <a:solidFill>
                  <a:srgbClr val="AFE4CB"/>
                </a:solidFill>
                <a:latin typeface="Calibri" pitchFamily="34" charset="0"/>
                <a:ea typeface="Calibri" pitchFamily="34" charset="-122"/>
                <a:cs typeface="Calibri" pitchFamily="34" charset="-120"/>
              </a:rPr>
              <a:t>Each specialist only sees what it needs from state</a:t>
            </a:r>
            <a:endParaRPr lang="en-US" sz="1350" dirty="0"/>
          </a:p>
        </p:txBody>
      </p:sp>
      <p:sp>
        <p:nvSpPr>
          <p:cNvPr id="23" name="Text 17"/>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AFE4CB"/>
                </a:solidFill>
                <a:latin typeface="Calibri" pitchFamily="34" charset="0"/>
                <a:ea typeface="Calibri" pitchFamily="34" charset="-122"/>
                <a:cs typeface="Calibri" pitchFamily="34" charset="-120"/>
              </a:rPr>
              <a:t>Agentic AI with LangChain &amp; LangGraph</a:t>
            </a:r>
            <a:endParaRPr lang="en-US" sz="1000" dirty="0"/>
          </a:p>
        </p:txBody>
      </p:sp>
      <p:sp>
        <p:nvSpPr>
          <p:cNvPr id="24" name="Text 18"/>
          <p:cNvSpPr txBox="1"/>
          <p:nvPr/>
        </p:nvSpPr>
        <p:spPr>
          <a:xfrm>
            <a:off x="11064240" y="6473952"/>
            <a:ext cx="548640" cy="274320"/>
          </a:xfrm>
          <a:prstGeom prst="rect">
            <a:avLst/>
          </a:prstGeom>
          <a:noFill/>
          <a:ln/>
        </p:spPr>
        <p:txBody>
          <a:bodyPr wrap="square" lIns="0" tIns="0" rIns="0" bIns="0" rtlCol="0" anchor="ctr"/>
          <a:lstStyle/>
          <a:p>
            <a:pPr algn="r" indent="0" marL="0">
              <a:buNone/>
            </a:pPr>
            <a:r>
              <a:rPr lang="en-US" sz="1000" dirty="0">
                <a:solidFill>
                  <a:srgbClr val="AFE4CB"/>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200" b="1" spc="150" kern="0" dirty="0">
                <a:solidFill>
                  <a:srgbClr val="00693F"/>
                </a:solidFill>
                <a:latin typeface="Calibri" pitchFamily="34" charset="0"/>
                <a:ea typeface="Calibri" pitchFamily="34" charset="-122"/>
                <a:cs typeface="Calibri" pitchFamily="34" charset="-120"/>
              </a:rPr>
              <a:t>PATTERN 3 OF 5</a:t>
            </a:r>
            <a:endParaRPr lang="en-US" sz="1200" dirty="0"/>
          </a:p>
        </p:txBody>
      </p:sp>
      <p:sp>
        <p:nvSpPr>
          <p:cNvPr id="3" name="Text 1"/>
          <p:cNvSpPr txBox="1"/>
          <p:nvPr/>
        </p:nvSpPr>
        <p:spPr>
          <a:xfrm>
            <a:off x="548640" y="658368"/>
            <a:ext cx="11064240" cy="822960"/>
          </a:xfrm>
          <a:prstGeom prst="rect">
            <a:avLst/>
          </a:prstGeom>
          <a:noFill/>
          <a:ln/>
        </p:spPr>
        <p:txBody>
          <a:bodyPr wrap="square" lIns="0" tIns="0" rIns="0" bIns="0" rtlCol="0" anchor="ctr"/>
          <a:lstStyle/>
          <a:p>
            <a:pPr indent="0" marL="0">
              <a:lnSpc>
                <a:spcPts val="3400"/>
              </a:lnSpc>
              <a:buNone/>
            </a:pPr>
            <a:r>
              <a:rPr lang="en-US" sz="3000" b="1" dirty="0">
                <a:solidFill>
                  <a:srgbClr val="1F2A28"/>
                </a:solidFill>
                <a:latin typeface="Calibri" pitchFamily="34" charset="0"/>
                <a:ea typeface="Calibri" pitchFamily="34" charset="-122"/>
                <a:cs typeface="Calibri" pitchFamily="34" charset="-120"/>
              </a:rPr>
              <a:t>Conversation Memory</a:t>
            </a:r>
            <a:endParaRPr lang="en-US" sz="3000" dirty="0"/>
          </a:p>
        </p:txBody>
      </p:sp>
      <p:sp>
        <p:nvSpPr>
          <p:cNvPr id="4" name="Shape 2"/>
          <p:cNvSpPr/>
          <p:nvPr/>
        </p:nvSpPr>
        <p:spPr>
          <a:xfrm>
            <a:off x="10835640" y="566928"/>
            <a:ext cx="685800" cy="685800"/>
          </a:xfrm>
          <a:prstGeom prst="ellipse">
            <a:avLst/>
          </a:prstGeom>
          <a:solidFill>
            <a:srgbClr val="00915A"/>
          </a:solidFill>
          <a:ln/>
        </p:spPr>
      </p:sp>
      <p:pic>
        <p:nvPicPr>
          <p:cNvPr id="5" name="Image 0" descr="/home/claude/icons/memory.png">    </p:cNvPr>
          <p:cNvPicPr>
            <a:picLocks noChangeAspect="1"/>
          </p:cNvPicPr>
          <p:nvPr/>
        </p:nvPicPr>
        <p:blipFill>
          <a:blip r:embed="rId1"/>
          <a:stretch>
            <a:fillRect/>
          </a:stretch>
        </p:blipFill>
        <p:spPr>
          <a:xfrm>
            <a:off x="10924794" y="656082"/>
            <a:ext cx="507492" cy="507492"/>
          </a:xfrm>
          <a:prstGeom prst="rect">
            <a:avLst/>
          </a:prstGeom>
        </p:spPr>
      </p:pic>
      <p:sp>
        <p:nvSpPr>
          <p:cNvPr id="6" name="Shape 3"/>
          <p:cNvSpPr/>
          <p:nvPr/>
        </p:nvSpPr>
        <p:spPr>
          <a:xfrm>
            <a:off x="548640" y="2459736"/>
            <a:ext cx="91440" cy="91440"/>
          </a:xfrm>
          <a:prstGeom prst="ellipse">
            <a:avLst/>
          </a:prstGeom>
          <a:solidFill>
            <a:srgbClr val="00915A"/>
          </a:solidFill>
          <a:ln/>
        </p:spPr>
      </p:sp>
      <p:sp>
        <p:nvSpPr>
          <p:cNvPr id="7" name="Text 4"/>
          <p:cNvSpPr txBox="1"/>
          <p:nvPr/>
        </p:nvSpPr>
        <p:spPr>
          <a:xfrm>
            <a:off x="822960" y="2057400"/>
            <a:ext cx="6309360" cy="896112"/>
          </a:xfrm>
          <a:prstGeom prst="rect">
            <a:avLst/>
          </a:prstGeom>
          <a:noFill/>
          <a:ln/>
        </p:spPr>
        <p:txBody>
          <a:bodyPr wrap="square" lIns="0" tIns="0" rIns="0" bIns="0" rtlCol="0" anchor="ctr"/>
          <a:lstStyle/>
          <a:p>
            <a:pPr indent="0" marL="0">
              <a:lnSpc>
                <a:spcPts val="2100"/>
              </a:lnSpc>
              <a:buNone/>
            </a:pPr>
            <a:r>
              <a:rPr lang="en-US" sz="1600" dirty="0">
                <a:solidFill>
                  <a:srgbClr val="1F2A28"/>
                </a:solidFill>
                <a:latin typeface="Calibri" pitchFamily="34" charset="0"/>
                <a:ea typeface="Calibri" pitchFamily="34" charset="-122"/>
                <a:cs typeface="Calibri" pitchFamily="34" charset="-120"/>
              </a:rPr>
              <a:t>MemorySaver, keyed by thread_id — swappable for Postgres/Redis in production.</a:t>
            </a:r>
            <a:endParaRPr lang="en-US" sz="1600" dirty="0"/>
          </a:p>
        </p:txBody>
      </p:sp>
      <p:sp>
        <p:nvSpPr>
          <p:cNvPr id="8" name="Shape 5"/>
          <p:cNvSpPr/>
          <p:nvPr/>
        </p:nvSpPr>
        <p:spPr>
          <a:xfrm>
            <a:off x="548640" y="3739896"/>
            <a:ext cx="91440" cy="91440"/>
          </a:xfrm>
          <a:prstGeom prst="ellipse">
            <a:avLst/>
          </a:prstGeom>
          <a:solidFill>
            <a:srgbClr val="00915A"/>
          </a:solidFill>
          <a:ln/>
        </p:spPr>
      </p:sp>
      <p:sp>
        <p:nvSpPr>
          <p:cNvPr id="9" name="Text 6"/>
          <p:cNvSpPr txBox="1"/>
          <p:nvPr/>
        </p:nvSpPr>
        <p:spPr>
          <a:xfrm>
            <a:off x="822960" y="3337560"/>
            <a:ext cx="6309360" cy="896112"/>
          </a:xfrm>
          <a:prstGeom prst="rect">
            <a:avLst/>
          </a:prstGeom>
          <a:noFill/>
          <a:ln/>
        </p:spPr>
        <p:txBody>
          <a:bodyPr wrap="square" lIns="0" tIns="0" rIns="0" bIns="0" rtlCol="0" anchor="ctr"/>
          <a:lstStyle/>
          <a:p>
            <a:pPr indent="0" marL="0">
              <a:lnSpc>
                <a:spcPts val="2100"/>
              </a:lnSpc>
              <a:buNone/>
            </a:pPr>
            <a:r>
              <a:rPr lang="en-US" sz="1600" dirty="0">
                <a:solidFill>
                  <a:srgbClr val="1F2A28"/>
                </a:solidFill>
                <a:latin typeface="Calibri" pitchFamily="34" charset="0"/>
                <a:ea typeface="Calibri" pitchFamily="34" charset="-122"/>
                <a:cs typeface="Calibri" pitchFamily="34" charset="-120"/>
              </a:rPr>
              <a:t>This is what makes interrupt() possible later: the graph can pause and resume without losing state.</a:t>
            </a:r>
            <a:endParaRPr lang="en-US" sz="1600" dirty="0"/>
          </a:p>
        </p:txBody>
      </p:sp>
      <p:sp>
        <p:nvSpPr>
          <p:cNvPr id="10" name="Shape 7"/>
          <p:cNvSpPr/>
          <p:nvPr/>
        </p:nvSpPr>
        <p:spPr>
          <a:xfrm>
            <a:off x="548640" y="5020056"/>
            <a:ext cx="91440" cy="91440"/>
          </a:xfrm>
          <a:prstGeom prst="ellipse">
            <a:avLst/>
          </a:prstGeom>
          <a:solidFill>
            <a:srgbClr val="00915A"/>
          </a:solidFill>
          <a:ln/>
        </p:spPr>
      </p:sp>
      <p:sp>
        <p:nvSpPr>
          <p:cNvPr id="11" name="Text 8"/>
          <p:cNvSpPr txBox="1"/>
          <p:nvPr/>
        </p:nvSpPr>
        <p:spPr>
          <a:xfrm>
            <a:off x="822960" y="4617720"/>
            <a:ext cx="6309360" cy="896112"/>
          </a:xfrm>
          <a:prstGeom prst="rect">
            <a:avLst/>
          </a:prstGeom>
          <a:noFill/>
          <a:ln/>
        </p:spPr>
        <p:txBody>
          <a:bodyPr wrap="square" lIns="0" tIns="0" rIns="0" bIns="0" rtlCol="0" anchor="ctr"/>
          <a:lstStyle/>
          <a:p>
            <a:pPr indent="0" marL="0">
              <a:lnSpc>
                <a:spcPts val="2100"/>
              </a:lnSpc>
              <a:buNone/>
            </a:pPr>
            <a:r>
              <a:rPr lang="en-US" sz="1600" dirty="0">
                <a:solidFill>
                  <a:srgbClr val="1F2A28"/>
                </a:solidFill>
                <a:latin typeface="Calibri" pitchFamily="34" charset="0"/>
                <a:ea typeface="Calibri" pitchFamily="34" charset="-122"/>
                <a:cs typeface="Calibri" pitchFamily="34" charset="-120"/>
              </a:rPr>
              <a:t>The same thread is run twice, live, to prove context actually persists.</a:t>
            </a:r>
            <a:endParaRPr lang="en-US" sz="1600" dirty="0"/>
          </a:p>
        </p:txBody>
      </p:sp>
      <p:sp>
        <p:nvSpPr>
          <p:cNvPr id="12" name="Shape 9"/>
          <p:cNvSpPr/>
          <p:nvPr/>
        </p:nvSpPr>
        <p:spPr>
          <a:xfrm>
            <a:off x="7178040" y="1783080"/>
            <a:ext cx="4434840" cy="3383280"/>
          </a:xfrm>
          <a:prstGeom prst="roundRect">
            <a:avLst>
              <a:gd name="adj" fmla="val 3243"/>
            </a:avLst>
          </a:prstGeom>
          <a:solidFill>
            <a:srgbClr val="E8F5EF"/>
          </a:solidFill>
          <a:ln/>
          <a:effectLst>
            <a:outerShdw sx="100000" sy="100000" kx="0" ky="0" algn="bl" rotWithShape="0" blurRad="76200" dist="25400" dir="5400000">
              <a:srgbClr val="1F2A28">
                <a:alpha val="18000"/>
              </a:srgbClr>
            </a:outerShdw>
          </a:effectLst>
        </p:spPr>
      </p:sp>
      <p:sp>
        <p:nvSpPr>
          <p:cNvPr id="13" name="Text 10"/>
          <p:cNvSpPr txBox="1"/>
          <p:nvPr/>
        </p:nvSpPr>
        <p:spPr>
          <a:xfrm>
            <a:off x="7452360" y="2011680"/>
            <a:ext cx="3886200" cy="457200"/>
          </a:xfrm>
          <a:prstGeom prst="rect">
            <a:avLst/>
          </a:prstGeom>
          <a:noFill/>
          <a:ln/>
        </p:spPr>
        <p:txBody>
          <a:bodyPr wrap="square" lIns="0" tIns="0" rIns="0" bIns="0" rtlCol="0" anchor="ctr"/>
          <a:lstStyle/>
          <a:p>
            <a:pPr indent="0" marL="0">
              <a:buNone/>
            </a:pPr>
            <a:r>
              <a:rPr lang="en-US" sz="1700" b="1" dirty="0">
                <a:solidFill>
                  <a:srgbClr val="00693F"/>
                </a:solidFill>
                <a:latin typeface="Calibri" pitchFamily="34" charset="0"/>
                <a:ea typeface="Calibri" pitchFamily="34" charset="-122"/>
                <a:cs typeface="Calibri" pitchFamily="34" charset="-120"/>
              </a:rPr>
              <a:t>Production note</a:t>
            </a:r>
            <a:endParaRPr lang="en-US" sz="1700" dirty="0"/>
          </a:p>
        </p:txBody>
      </p:sp>
      <p:sp>
        <p:nvSpPr>
          <p:cNvPr id="14" name="Text 11"/>
          <p:cNvSpPr txBox="1"/>
          <p:nvPr/>
        </p:nvSpPr>
        <p:spPr>
          <a:xfrm>
            <a:off x="7452360" y="2514600"/>
            <a:ext cx="3886200" cy="2468880"/>
          </a:xfrm>
          <a:prstGeom prst="rect">
            <a:avLst/>
          </a:prstGeom>
          <a:noFill/>
          <a:ln/>
        </p:spPr>
        <p:txBody>
          <a:bodyPr wrap="square" lIns="0" tIns="0" rIns="0" bIns="0" rtlCol="0" anchor="ctr"/>
          <a:lstStyle/>
          <a:p>
            <a:pPr indent="0" marL="0">
              <a:lnSpc>
                <a:spcPts val="1900"/>
              </a:lnSpc>
              <a:buNone/>
            </a:pPr>
            <a:r>
              <a:rPr lang="en-US" sz="1400" dirty="0">
                <a:solidFill>
                  <a:srgbClr val="1F2A28"/>
                </a:solidFill>
                <a:latin typeface="Calibri" pitchFamily="34" charset="0"/>
                <a:ea typeface="Calibri" pitchFamily="34" charset="-122"/>
                <a:cs typeface="Calibri" pitchFamily="34" charset="-120"/>
              </a:rPr>
              <a:t>MemorySaver is in-process and disappears on restart. The moment this needs to survive a redeploy or scale horizontally, swap the checkpointer — nothing else in the graph changes.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B1F17"/>
          </a:solidFill>
          <a:ln/>
        </p:spPr>
      </p:sp>
      <p:sp>
        <p:nvSpPr>
          <p:cNvPr id="3" name="Shape 1"/>
          <p:cNvSpPr/>
          <p:nvPr/>
        </p:nvSpPr>
        <p:spPr>
          <a:xfrm>
            <a:off x="548640" y="411480"/>
            <a:ext cx="1874520" cy="384048"/>
          </a:xfrm>
          <a:prstGeom prst="roundRect">
            <a:avLst>
              <a:gd name="adj" fmla="val 50000"/>
            </a:avLst>
          </a:prstGeom>
          <a:solidFill>
            <a:srgbClr val="00915A"/>
          </a:solidFill>
          <a:ln/>
        </p:spPr>
      </p:sp>
      <p:pic>
        <p:nvPicPr>
          <p:cNvPr id="4" name="Image 0" descr="/home/claude/icons/play_w.png">    </p:cNvPr>
          <p:cNvPicPr>
            <a:picLocks noChangeAspect="1"/>
          </p:cNvPicPr>
          <p:nvPr/>
        </p:nvPicPr>
        <p:blipFill>
          <a:blip r:embed="rId1"/>
          <a:stretch>
            <a:fillRect/>
          </a:stretch>
        </p:blipFill>
        <p:spPr>
          <a:xfrm>
            <a:off x="694944" y="512064"/>
            <a:ext cx="182880" cy="182880"/>
          </a:xfrm>
          <a:prstGeom prst="rect">
            <a:avLst/>
          </a:prstGeom>
        </p:spPr>
      </p:pic>
      <p:sp>
        <p:nvSpPr>
          <p:cNvPr id="5" name="Text 2"/>
          <p:cNvSpPr txBox="1"/>
          <p:nvPr/>
        </p:nvSpPr>
        <p:spPr>
          <a:xfrm>
            <a:off x="932688" y="411480"/>
            <a:ext cx="1463040" cy="384048"/>
          </a:xfrm>
          <a:prstGeom prst="rect">
            <a:avLst/>
          </a:prstGeom>
          <a:noFill/>
          <a:ln/>
        </p:spPr>
        <p:txBody>
          <a:bodyPr wrap="square" lIns="0" tIns="0" rIns="0" bIns="0" rtlCol="0" anchor="ctr"/>
          <a:lstStyle/>
          <a:p>
            <a:pPr indent="0" marL="0">
              <a:buNone/>
            </a:pPr>
            <a:r>
              <a:rPr lang="en-US" sz="1200" b="1" spc="100" kern="0" dirty="0">
                <a:solidFill>
                  <a:srgbClr val="FFFFFF"/>
                </a:solidFill>
                <a:latin typeface="Calibri" pitchFamily="34" charset="0"/>
                <a:ea typeface="Calibri" pitchFamily="34" charset="-122"/>
                <a:cs typeface="Calibri" pitchFamily="34" charset="-120"/>
              </a:rPr>
              <a:t>LIVE DEMO</a:t>
            </a:r>
            <a:endParaRPr lang="en-US" sz="1200" dirty="0"/>
          </a:p>
        </p:txBody>
      </p:sp>
      <p:sp>
        <p:nvSpPr>
          <p:cNvPr id="6" name="Text 3"/>
          <p:cNvSpPr txBox="1"/>
          <p:nvPr/>
        </p:nvSpPr>
        <p:spPr>
          <a:xfrm>
            <a:off x="548640" y="960120"/>
            <a:ext cx="11064240" cy="640080"/>
          </a:xfrm>
          <a:prstGeom prst="rect">
            <a:avLst/>
          </a:prstGeom>
          <a:noFill/>
          <a:ln/>
        </p:spPr>
        <p:txBody>
          <a:bodyPr wrap="square" lIns="0" tIns="0" rIns="0" bIns="0" rtlCol="0" anchor="ctr"/>
          <a:lstStyle/>
          <a:p>
            <a:pPr indent="0" marL="0">
              <a:buNone/>
            </a:pPr>
            <a:r>
              <a:rPr lang="en-US" sz="2700" b="1" dirty="0">
                <a:solidFill>
                  <a:srgbClr val="FFFFFF"/>
                </a:solidFill>
                <a:latin typeface="Calibri" pitchFamily="34" charset="0"/>
                <a:ea typeface="Calibri" pitchFamily="34" charset="-122"/>
                <a:cs typeface="Calibri" pitchFamily="34" charset="-120"/>
              </a:rPr>
              <a:t>Live Coding — Wire In Memory</a:t>
            </a:r>
            <a:endParaRPr lang="en-US" sz="2700" dirty="0"/>
          </a:p>
        </p:txBody>
      </p:sp>
      <p:sp>
        <p:nvSpPr>
          <p:cNvPr id="7" name="Shape 4"/>
          <p:cNvSpPr/>
          <p:nvPr/>
        </p:nvSpPr>
        <p:spPr>
          <a:xfrm>
            <a:off x="548640" y="1874520"/>
            <a:ext cx="3310128" cy="3977640"/>
          </a:xfrm>
          <a:prstGeom prst="roundRect">
            <a:avLst>
              <a:gd name="adj" fmla="val 2762"/>
            </a:avLst>
          </a:prstGeom>
          <a:solidFill>
            <a:srgbClr val="123528"/>
          </a:solidFill>
          <a:ln w="12700">
            <a:solidFill>
              <a:srgbClr val="1E4B39"/>
            </a:solidFill>
            <a:prstDash val="solid"/>
          </a:ln>
        </p:spPr>
      </p:sp>
      <p:pic>
        <p:nvPicPr>
          <p:cNvPr id="8" name="Image 1" descr="/home/claude/icons/code_w.png">    </p:cNvPr>
          <p:cNvPicPr>
            <a:picLocks noChangeAspect="1"/>
          </p:cNvPicPr>
          <p:nvPr/>
        </p:nvPicPr>
        <p:blipFill>
          <a:blip r:embed="rId2"/>
          <a:stretch>
            <a:fillRect/>
          </a:stretch>
        </p:blipFill>
        <p:spPr>
          <a:xfrm>
            <a:off x="777240" y="2103120"/>
            <a:ext cx="329184" cy="329184"/>
          </a:xfrm>
          <a:prstGeom prst="rect">
            <a:avLst/>
          </a:prstGeom>
        </p:spPr>
      </p:pic>
      <p:sp>
        <p:nvSpPr>
          <p:cNvPr id="9" name="Text 5"/>
          <p:cNvSpPr txBox="1"/>
          <p:nvPr/>
        </p:nvSpPr>
        <p:spPr>
          <a:xfrm>
            <a:off x="1207008" y="2093976"/>
            <a:ext cx="2487168"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What’s being built</a:t>
            </a:r>
            <a:endParaRPr lang="en-US" sz="1500" dirty="0"/>
          </a:p>
        </p:txBody>
      </p:sp>
      <p:sp>
        <p:nvSpPr>
          <p:cNvPr id="10" name="Text 6"/>
          <p:cNvSpPr txBox="1"/>
          <p:nvPr/>
        </p:nvSpPr>
        <p:spPr>
          <a:xfrm>
            <a:off x="749808" y="2651760"/>
            <a:ext cx="2907792" cy="530352"/>
          </a:xfrm>
          <a:prstGeom prst="rect">
            <a:avLst/>
          </a:prstGeom>
          <a:noFill/>
          <a:ln/>
        </p:spPr>
        <p:txBody>
          <a:bodyPr wrap="square" lIns="0" tIns="0" rIns="0" bIns="0" rtlCol="0" anchor="ctr"/>
          <a:lstStyle/>
          <a:p>
            <a:pPr indent="0" marL="0">
              <a:lnSpc>
                <a:spcPts val="1800"/>
              </a:lnSpc>
              <a:buNone/>
            </a:pPr>
            <a:r>
              <a:rPr lang="en-US" sz="1350" b="1" dirty="0">
                <a:solidFill>
                  <a:srgbClr val="00915A"/>
                </a:solidFill>
                <a:latin typeface="Calibri" pitchFamily="34" charset="0"/>
                <a:ea typeface="Calibri" pitchFamily="34" charset="-122"/>
                <a:cs typeface="Calibri" pitchFamily="34" charset="-120"/>
              </a:rPr>
              <a:t>›  </a:t>
            </a:r>
            <a:pPr indent="0" marL="0">
              <a:lnSpc>
                <a:spcPts val="1800"/>
              </a:lnSpc>
              <a:buNone/>
            </a:pPr>
            <a:r>
              <a:rPr lang="en-US" sz="1350" dirty="0">
                <a:solidFill>
                  <a:srgbClr val="AFE4CB"/>
                </a:solidFill>
                <a:latin typeface="Calibri" pitchFamily="34" charset="0"/>
                <a:ea typeface="Calibri" pitchFamily="34" charset="-122"/>
                <a:cs typeface="Calibri" pitchFamily="34" charset="-120"/>
              </a:rPr>
              <a:t>MemorySaver checkpointer</a:t>
            </a:r>
            <a:endParaRPr lang="en-US" sz="1350" dirty="0"/>
          </a:p>
        </p:txBody>
      </p:sp>
      <p:sp>
        <p:nvSpPr>
          <p:cNvPr id="11" name="Text 7"/>
          <p:cNvSpPr txBox="1"/>
          <p:nvPr/>
        </p:nvSpPr>
        <p:spPr>
          <a:xfrm>
            <a:off x="749808" y="3273552"/>
            <a:ext cx="2907792" cy="749808"/>
          </a:xfrm>
          <a:prstGeom prst="rect">
            <a:avLst/>
          </a:prstGeom>
          <a:noFill/>
          <a:ln/>
        </p:spPr>
        <p:txBody>
          <a:bodyPr wrap="square" lIns="0" tIns="0" rIns="0" bIns="0" rtlCol="0" anchor="ctr"/>
          <a:lstStyle/>
          <a:p>
            <a:pPr indent="0" marL="0">
              <a:lnSpc>
                <a:spcPts val="1800"/>
              </a:lnSpc>
              <a:buNone/>
            </a:pPr>
            <a:r>
              <a:rPr lang="en-US" sz="1350" b="1" dirty="0">
                <a:solidFill>
                  <a:srgbClr val="00915A"/>
                </a:solidFill>
                <a:latin typeface="Calibri" pitchFamily="34" charset="0"/>
                <a:ea typeface="Calibri" pitchFamily="34" charset="-122"/>
                <a:cs typeface="Calibri" pitchFamily="34" charset="-120"/>
              </a:rPr>
              <a:t>›  </a:t>
            </a:r>
            <a:pPr indent="0" marL="0">
              <a:lnSpc>
                <a:spcPts val="1800"/>
              </a:lnSpc>
              <a:buNone/>
            </a:pPr>
            <a:r>
              <a:rPr lang="en-US" sz="1350" dirty="0">
                <a:solidFill>
                  <a:srgbClr val="AFE4CB"/>
                </a:solidFill>
                <a:latin typeface="Calibri" pitchFamily="34" charset="0"/>
                <a:ea typeface="Calibri" pitchFamily="34" charset="-122"/>
                <a:cs typeface="Calibri" pitchFamily="34" charset="-120"/>
              </a:rPr>
              <a:t>Same thread_id reused across two calls</a:t>
            </a:r>
            <a:endParaRPr lang="en-US" sz="1350" dirty="0"/>
          </a:p>
        </p:txBody>
      </p:sp>
      <p:sp>
        <p:nvSpPr>
          <p:cNvPr id="12" name="Shape 8"/>
          <p:cNvSpPr/>
          <p:nvPr/>
        </p:nvSpPr>
        <p:spPr>
          <a:xfrm>
            <a:off x="4078224" y="1874520"/>
            <a:ext cx="3310128" cy="3977640"/>
          </a:xfrm>
          <a:prstGeom prst="roundRect">
            <a:avLst>
              <a:gd name="adj" fmla="val 2762"/>
            </a:avLst>
          </a:prstGeom>
          <a:solidFill>
            <a:srgbClr val="123528"/>
          </a:solidFill>
          <a:ln w="12700">
            <a:solidFill>
              <a:srgbClr val="1E4B39"/>
            </a:solidFill>
            <a:prstDash val="solid"/>
          </a:ln>
        </p:spPr>
      </p:sp>
      <p:pic>
        <p:nvPicPr>
          <p:cNvPr id="13" name="Image 2" descr="/home/claude/icons/target_w.png">    </p:cNvPr>
          <p:cNvPicPr>
            <a:picLocks noChangeAspect="1"/>
          </p:cNvPicPr>
          <p:nvPr/>
        </p:nvPicPr>
        <p:blipFill>
          <a:blip r:embed="rId3"/>
          <a:stretch>
            <a:fillRect/>
          </a:stretch>
        </p:blipFill>
        <p:spPr>
          <a:xfrm>
            <a:off x="4306824" y="2103120"/>
            <a:ext cx="329184" cy="329184"/>
          </a:xfrm>
          <a:prstGeom prst="rect">
            <a:avLst/>
          </a:prstGeom>
        </p:spPr>
      </p:pic>
      <p:sp>
        <p:nvSpPr>
          <p:cNvPr id="14" name="Text 9"/>
          <p:cNvSpPr txBox="1"/>
          <p:nvPr/>
        </p:nvSpPr>
        <p:spPr>
          <a:xfrm>
            <a:off x="4736592" y="2093976"/>
            <a:ext cx="2487168"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Try this live</a:t>
            </a:r>
            <a:endParaRPr lang="en-US" sz="1500" dirty="0"/>
          </a:p>
        </p:txBody>
      </p:sp>
      <p:sp>
        <p:nvSpPr>
          <p:cNvPr id="15" name="Text 10"/>
          <p:cNvSpPr txBox="1"/>
          <p:nvPr/>
        </p:nvSpPr>
        <p:spPr>
          <a:xfrm>
            <a:off x="4279392" y="2651760"/>
            <a:ext cx="2907792" cy="749808"/>
          </a:xfrm>
          <a:prstGeom prst="rect">
            <a:avLst/>
          </a:prstGeom>
          <a:noFill/>
          <a:ln/>
        </p:spPr>
        <p:txBody>
          <a:bodyPr wrap="square" lIns="0" tIns="0" rIns="0" bIns="0" rtlCol="0" anchor="ctr"/>
          <a:lstStyle/>
          <a:p>
            <a:pPr indent="0" marL="0">
              <a:lnSpc>
                <a:spcPts val="1800"/>
              </a:lnSpc>
              <a:buNone/>
            </a:pPr>
            <a:r>
              <a:rPr lang="en-US" sz="1350" b="1" dirty="0">
                <a:solidFill>
                  <a:srgbClr val="00915A"/>
                </a:solidFill>
                <a:latin typeface="Calibri" pitchFamily="34" charset="0"/>
                <a:ea typeface="Calibri" pitchFamily="34" charset="-122"/>
                <a:cs typeface="Calibri" pitchFamily="34" charset="-120"/>
              </a:rPr>
              <a:t>›  </a:t>
            </a:r>
            <a:pPr indent="0" marL="0">
              <a:lnSpc>
                <a:spcPts val="1800"/>
              </a:lnSpc>
              <a:buNone/>
            </a:pPr>
            <a:r>
              <a:rPr lang="en-US" sz="1350" dirty="0">
                <a:solidFill>
                  <a:srgbClr val="AFE4CB"/>
                </a:solidFill>
                <a:latin typeface="Calibri" pitchFamily="34" charset="0"/>
                <a:ea typeface="Calibri" pitchFamily="34" charset="-122"/>
                <a:cs typeface="Calibri" pitchFamily="34" charset="-120"/>
              </a:rPr>
              <a:t>Ask about ORD1001, then a follow-up that depends on the first answer</a:t>
            </a:r>
            <a:endParaRPr lang="en-US" sz="1350" dirty="0"/>
          </a:p>
        </p:txBody>
      </p:sp>
      <p:sp>
        <p:nvSpPr>
          <p:cNvPr id="16" name="Shape 11"/>
          <p:cNvSpPr/>
          <p:nvPr/>
        </p:nvSpPr>
        <p:spPr>
          <a:xfrm>
            <a:off x="7607808" y="1874520"/>
            <a:ext cx="3310128" cy="3977640"/>
          </a:xfrm>
          <a:prstGeom prst="roundRect">
            <a:avLst>
              <a:gd name="adj" fmla="val 2762"/>
            </a:avLst>
          </a:prstGeom>
          <a:solidFill>
            <a:srgbClr val="123528"/>
          </a:solidFill>
          <a:ln w="12700">
            <a:solidFill>
              <a:srgbClr val="1E4B39"/>
            </a:solidFill>
            <a:prstDash val="solid"/>
          </a:ln>
        </p:spPr>
      </p:sp>
      <p:pic>
        <p:nvPicPr>
          <p:cNvPr id="17" name="Image 3" descr="/home/claude/icons/eye_w.png">    </p:cNvPr>
          <p:cNvPicPr>
            <a:picLocks noChangeAspect="1"/>
          </p:cNvPicPr>
          <p:nvPr/>
        </p:nvPicPr>
        <p:blipFill>
          <a:blip r:embed="rId4"/>
          <a:stretch>
            <a:fillRect/>
          </a:stretch>
        </p:blipFill>
        <p:spPr>
          <a:xfrm>
            <a:off x="7836408" y="2103120"/>
            <a:ext cx="329184" cy="329184"/>
          </a:xfrm>
          <a:prstGeom prst="rect">
            <a:avLst/>
          </a:prstGeom>
        </p:spPr>
      </p:pic>
      <p:sp>
        <p:nvSpPr>
          <p:cNvPr id="18" name="Text 12"/>
          <p:cNvSpPr txBox="1"/>
          <p:nvPr/>
        </p:nvSpPr>
        <p:spPr>
          <a:xfrm>
            <a:off x="8266176" y="2093976"/>
            <a:ext cx="2487168"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Watch for</a:t>
            </a:r>
            <a:endParaRPr lang="en-US" sz="1500" dirty="0"/>
          </a:p>
        </p:txBody>
      </p:sp>
      <p:sp>
        <p:nvSpPr>
          <p:cNvPr id="19" name="Text 13"/>
          <p:cNvSpPr txBox="1"/>
          <p:nvPr/>
        </p:nvSpPr>
        <p:spPr>
          <a:xfrm>
            <a:off x="7808976" y="2651760"/>
            <a:ext cx="2907792" cy="749808"/>
          </a:xfrm>
          <a:prstGeom prst="rect">
            <a:avLst/>
          </a:prstGeom>
          <a:noFill/>
          <a:ln/>
        </p:spPr>
        <p:txBody>
          <a:bodyPr wrap="square" lIns="0" tIns="0" rIns="0" bIns="0" rtlCol="0" anchor="ctr"/>
          <a:lstStyle/>
          <a:p>
            <a:pPr indent="0" marL="0">
              <a:lnSpc>
                <a:spcPts val="1800"/>
              </a:lnSpc>
              <a:buNone/>
            </a:pPr>
            <a:r>
              <a:rPr lang="en-US" sz="1350" b="1" dirty="0">
                <a:solidFill>
                  <a:srgbClr val="00915A"/>
                </a:solidFill>
                <a:latin typeface="Calibri" pitchFamily="34" charset="0"/>
                <a:ea typeface="Calibri" pitchFamily="34" charset="-122"/>
                <a:cs typeface="Calibri" pitchFamily="34" charset="-120"/>
              </a:rPr>
              <a:t>›  </a:t>
            </a:r>
            <a:pPr indent="0" marL="0">
              <a:lnSpc>
                <a:spcPts val="1800"/>
              </a:lnSpc>
              <a:buNone/>
            </a:pPr>
            <a:r>
              <a:rPr lang="en-US" sz="1350" dirty="0">
                <a:solidFill>
                  <a:srgbClr val="AFE4CB"/>
                </a:solidFill>
                <a:latin typeface="Calibri" pitchFamily="34" charset="0"/>
                <a:ea typeface="Calibri" pitchFamily="34" charset="-122"/>
                <a:cs typeface="Calibri" pitchFamily="34" charset="-120"/>
              </a:rPr>
              <a:t>The second answer references turn one without re-stating it</a:t>
            </a:r>
            <a:endParaRPr lang="en-US" sz="1350" dirty="0"/>
          </a:p>
        </p:txBody>
      </p:sp>
      <p:sp>
        <p:nvSpPr>
          <p:cNvPr id="20" name="Text 14"/>
          <p:cNvSpPr txBox="1"/>
          <p:nvPr/>
        </p:nvSpPr>
        <p:spPr>
          <a:xfrm>
            <a:off x="7808976" y="3493008"/>
            <a:ext cx="2907792" cy="749808"/>
          </a:xfrm>
          <a:prstGeom prst="rect">
            <a:avLst/>
          </a:prstGeom>
          <a:noFill/>
          <a:ln/>
        </p:spPr>
        <p:txBody>
          <a:bodyPr wrap="square" lIns="0" tIns="0" rIns="0" bIns="0" rtlCol="0" anchor="ctr"/>
          <a:lstStyle/>
          <a:p>
            <a:pPr indent="0" marL="0">
              <a:lnSpc>
                <a:spcPts val="1800"/>
              </a:lnSpc>
              <a:buNone/>
            </a:pPr>
            <a:r>
              <a:rPr lang="en-US" sz="1350" b="1" dirty="0">
                <a:solidFill>
                  <a:srgbClr val="00915A"/>
                </a:solidFill>
                <a:latin typeface="Calibri" pitchFamily="34" charset="0"/>
                <a:ea typeface="Calibri" pitchFamily="34" charset="-122"/>
                <a:cs typeface="Calibri" pitchFamily="34" charset="-120"/>
              </a:rPr>
              <a:t>›  </a:t>
            </a:r>
            <a:pPr indent="0" marL="0">
              <a:lnSpc>
                <a:spcPts val="1800"/>
              </a:lnSpc>
              <a:buNone/>
            </a:pPr>
            <a:r>
              <a:rPr lang="en-US" sz="1350" dirty="0">
                <a:solidFill>
                  <a:srgbClr val="AFE4CB"/>
                </a:solidFill>
                <a:latin typeface="Calibri" pitchFamily="34" charset="0"/>
                <a:ea typeface="Calibri" pitchFamily="34" charset="-122"/>
                <a:cs typeface="Calibri" pitchFamily="34" charset="-120"/>
              </a:rPr>
              <a:t>No explicit history passed by me — the checkpointer handles it</a:t>
            </a:r>
            <a:endParaRPr lang="en-US" sz="1350" dirty="0"/>
          </a:p>
        </p:txBody>
      </p:sp>
      <p:sp>
        <p:nvSpPr>
          <p:cNvPr id="21" name="Text 15"/>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AFE4CB"/>
                </a:solidFill>
                <a:latin typeface="Calibri" pitchFamily="34" charset="0"/>
                <a:ea typeface="Calibri" pitchFamily="34" charset="-122"/>
                <a:cs typeface="Calibri" pitchFamily="34" charset="-120"/>
              </a:rPr>
              <a:t>Agentic AI with LangChain &amp; LangGraph</a:t>
            </a:r>
            <a:endParaRPr lang="en-US" sz="1000" dirty="0"/>
          </a:p>
        </p:txBody>
      </p:sp>
      <p:sp>
        <p:nvSpPr>
          <p:cNvPr id="22" name="Text 16"/>
          <p:cNvSpPr txBox="1"/>
          <p:nvPr/>
        </p:nvSpPr>
        <p:spPr>
          <a:xfrm>
            <a:off x="11064240" y="6473952"/>
            <a:ext cx="548640" cy="274320"/>
          </a:xfrm>
          <a:prstGeom prst="rect">
            <a:avLst/>
          </a:prstGeom>
          <a:noFill/>
          <a:ln/>
        </p:spPr>
        <p:txBody>
          <a:bodyPr wrap="square" lIns="0" tIns="0" rIns="0" bIns="0" rtlCol="0" anchor="ctr"/>
          <a:lstStyle/>
          <a:p>
            <a:pPr algn="r" indent="0" marL="0">
              <a:buNone/>
            </a:pPr>
            <a:r>
              <a:rPr lang="en-US" sz="1000" dirty="0">
                <a:solidFill>
                  <a:srgbClr val="AFE4CB"/>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200" b="1" spc="150" kern="0" dirty="0">
                <a:solidFill>
                  <a:srgbClr val="00693F"/>
                </a:solidFill>
                <a:latin typeface="Calibri" pitchFamily="34" charset="0"/>
                <a:ea typeface="Calibri" pitchFamily="34" charset="-122"/>
                <a:cs typeface="Calibri" pitchFamily="34" charset="-120"/>
              </a:rPr>
              <a:t>PATTERN 4 OF 5</a:t>
            </a:r>
            <a:endParaRPr lang="en-US" sz="1200" dirty="0"/>
          </a:p>
        </p:txBody>
      </p:sp>
      <p:sp>
        <p:nvSpPr>
          <p:cNvPr id="3" name="Text 1"/>
          <p:cNvSpPr txBox="1"/>
          <p:nvPr/>
        </p:nvSpPr>
        <p:spPr>
          <a:xfrm>
            <a:off x="548640" y="658368"/>
            <a:ext cx="8778240" cy="822960"/>
          </a:xfrm>
          <a:prstGeom prst="rect">
            <a:avLst/>
          </a:prstGeom>
          <a:noFill/>
          <a:ln/>
        </p:spPr>
        <p:txBody>
          <a:bodyPr wrap="square" lIns="0" tIns="0" rIns="0" bIns="0" rtlCol="0" anchor="ctr"/>
          <a:lstStyle/>
          <a:p>
            <a:pPr indent="0" marL="0">
              <a:lnSpc>
                <a:spcPts val="3400"/>
              </a:lnSpc>
              <a:buNone/>
            </a:pPr>
            <a:r>
              <a:rPr lang="en-US" sz="3000" b="1" dirty="0">
                <a:solidFill>
                  <a:srgbClr val="1F2A28"/>
                </a:solidFill>
                <a:latin typeface="Calibri" pitchFamily="34" charset="0"/>
                <a:ea typeface="Calibri" pitchFamily="34" charset="-122"/>
                <a:cs typeface="Calibri" pitchFamily="34" charset="-120"/>
              </a:rPr>
              <a:t>Parallel Fan-Out / Fan-In</a:t>
            </a:r>
            <a:endParaRPr lang="en-US" sz="3000" dirty="0"/>
          </a:p>
        </p:txBody>
      </p:sp>
      <p:sp>
        <p:nvSpPr>
          <p:cNvPr id="4" name="Shape 2"/>
          <p:cNvSpPr/>
          <p:nvPr/>
        </p:nvSpPr>
        <p:spPr>
          <a:xfrm>
            <a:off x="10835640" y="566928"/>
            <a:ext cx="685800" cy="685800"/>
          </a:xfrm>
          <a:prstGeom prst="ellipse">
            <a:avLst/>
          </a:prstGeom>
          <a:solidFill>
            <a:srgbClr val="00915A"/>
          </a:solidFill>
          <a:ln/>
        </p:spPr>
      </p:sp>
      <p:pic>
        <p:nvPicPr>
          <p:cNvPr id="5" name="Image 0" descr="/home/claude/icons/parallel.png">    </p:cNvPr>
          <p:cNvPicPr>
            <a:picLocks noChangeAspect="1"/>
          </p:cNvPicPr>
          <p:nvPr/>
        </p:nvPicPr>
        <p:blipFill>
          <a:blip r:embed="rId1"/>
          <a:stretch>
            <a:fillRect/>
          </a:stretch>
        </p:blipFill>
        <p:spPr>
          <a:xfrm>
            <a:off x="10924794" y="656082"/>
            <a:ext cx="507492" cy="507492"/>
          </a:xfrm>
          <a:prstGeom prst="rect">
            <a:avLst/>
          </a:prstGeom>
        </p:spPr>
      </p:pic>
      <p:sp>
        <p:nvSpPr>
          <p:cNvPr id="6" name="Shape 3"/>
          <p:cNvSpPr/>
          <p:nvPr/>
        </p:nvSpPr>
        <p:spPr>
          <a:xfrm>
            <a:off x="9601200" y="384048"/>
            <a:ext cx="1371600" cy="310896"/>
          </a:xfrm>
          <a:prstGeom prst="roundRect">
            <a:avLst>
              <a:gd name="adj" fmla="val 50000"/>
            </a:avLst>
          </a:prstGeom>
          <a:solidFill>
            <a:srgbClr val="D98E04"/>
          </a:solidFill>
          <a:ln/>
        </p:spPr>
      </p:sp>
      <p:sp>
        <p:nvSpPr>
          <p:cNvPr id="7" name="Text 4"/>
          <p:cNvSpPr txBox="1"/>
          <p:nvPr/>
        </p:nvSpPr>
        <p:spPr>
          <a:xfrm>
            <a:off x="9601200" y="384048"/>
            <a:ext cx="1371600" cy="31089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STRETCH</a:t>
            </a:r>
            <a:endParaRPr lang="en-US" sz="1100" dirty="0"/>
          </a:p>
        </p:txBody>
      </p:sp>
      <p:sp>
        <p:nvSpPr>
          <p:cNvPr id="8" name="Shape 5"/>
          <p:cNvSpPr/>
          <p:nvPr/>
        </p:nvSpPr>
        <p:spPr>
          <a:xfrm>
            <a:off x="548640" y="2459736"/>
            <a:ext cx="91440" cy="91440"/>
          </a:xfrm>
          <a:prstGeom prst="ellipse">
            <a:avLst/>
          </a:prstGeom>
          <a:solidFill>
            <a:srgbClr val="00915A"/>
          </a:solidFill>
          <a:ln/>
        </p:spPr>
      </p:sp>
      <p:sp>
        <p:nvSpPr>
          <p:cNvPr id="9" name="Text 6"/>
          <p:cNvSpPr txBox="1"/>
          <p:nvPr/>
        </p:nvSpPr>
        <p:spPr>
          <a:xfrm>
            <a:off x="822960" y="2057400"/>
            <a:ext cx="6309360" cy="896112"/>
          </a:xfrm>
          <a:prstGeom prst="rect">
            <a:avLst/>
          </a:prstGeom>
          <a:noFill/>
          <a:ln/>
        </p:spPr>
        <p:txBody>
          <a:bodyPr wrap="square" lIns="0" tIns="0" rIns="0" bIns="0" rtlCol="0" anchor="ctr"/>
          <a:lstStyle/>
          <a:p>
            <a:pPr indent="0" marL="0">
              <a:lnSpc>
                <a:spcPts val="2100"/>
              </a:lnSpc>
              <a:buNone/>
            </a:pPr>
            <a:r>
              <a:rPr lang="en-US" sz="1600" dirty="0">
                <a:solidFill>
                  <a:srgbClr val="1F2A28"/>
                </a:solidFill>
                <a:latin typeface="Calibri" pitchFamily="34" charset="0"/>
                <a:ea typeface="Calibri" pitchFamily="34" charset="-122"/>
                <a:cs typeface="Calibri" pitchFamily="34" charset="-120"/>
              </a:rPr>
              <a:t>Independent sub-tasks run concurrently and join at a single node.</a:t>
            </a:r>
            <a:endParaRPr lang="en-US" sz="1600" dirty="0"/>
          </a:p>
        </p:txBody>
      </p:sp>
      <p:sp>
        <p:nvSpPr>
          <p:cNvPr id="10" name="Shape 7"/>
          <p:cNvSpPr/>
          <p:nvPr/>
        </p:nvSpPr>
        <p:spPr>
          <a:xfrm>
            <a:off x="548640" y="3739896"/>
            <a:ext cx="91440" cy="91440"/>
          </a:xfrm>
          <a:prstGeom prst="ellipse">
            <a:avLst/>
          </a:prstGeom>
          <a:solidFill>
            <a:srgbClr val="00915A"/>
          </a:solidFill>
          <a:ln/>
        </p:spPr>
      </p:sp>
      <p:sp>
        <p:nvSpPr>
          <p:cNvPr id="11" name="Text 8"/>
          <p:cNvSpPr txBox="1"/>
          <p:nvPr/>
        </p:nvSpPr>
        <p:spPr>
          <a:xfrm>
            <a:off x="822960" y="3337560"/>
            <a:ext cx="6309360" cy="896112"/>
          </a:xfrm>
          <a:prstGeom prst="rect">
            <a:avLst/>
          </a:prstGeom>
          <a:noFill/>
          <a:ln/>
        </p:spPr>
        <p:txBody>
          <a:bodyPr wrap="square" lIns="0" tIns="0" rIns="0" bIns="0" rtlCol="0" anchor="ctr"/>
          <a:lstStyle/>
          <a:p>
            <a:pPr indent="0" marL="0">
              <a:lnSpc>
                <a:spcPts val="2100"/>
              </a:lnSpc>
              <a:buNone/>
            </a:pPr>
            <a:r>
              <a:rPr lang="en-US" sz="1600" dirty="0">
                <a:solidFill>
                  <a:srgbClr val="1F2A28"/>
                </a:solidFill>
                <a:latin typeface="Calibri" pitchFamily="34" charset="0"/>
                <a:ea typeface="Calibri" pitchFamily="34" charset="-122"/>
                <a:cs typeface="Calibri" pitchFamily="34" charset="-120"/>
              </a:rPr>
              <a:t>Async methods wrap sync HTTP calls in a thread pool — requests releases the GIL during I/O, so this is real concurrency.</a:t>
            </a:r>
            <a:endParaRPr lang="en-US" sz="1600" dirty="0"/>
          </a:p>
        </p:txBody>
      </p:sp>
      <p:sp>
        <p:nvSpPr>
          <p:cNvPr id="12" name="Shape 9"/>
          <p:cNvSpPr/>
          <p:nvPr/>
        </p:nvSpPr>
        <p:spPr>
          <a:xfrm>
            <a:off x="548640" y="5020056"/>
            <a:ext cx="91440" cy="91440"/>
          </a:xfrm>
          <a:prstGeom prst="ellipse">
            <a:avLst/>
          </a:prstGeom>
          <a:solidFill>
            <a:srgbClr val="00915A"/>
          </a:solidFill>
          <a:ln/>
        </p:spPr>
      </p:sp>
      <p:sp>
        <p:nvSpPr>
          <p:cNvPr id="13" name="Text 10"/>
          <p:cNvSpPr txBox="1"/>
          <p:nvPr/>
        </p:nvSpPr>
        <p:spPr>
          <a:xfrm>
            <a:off x="822960" y="4617720"/>
            <a:ext cx="6309360" cy="896112"/>
          </a:xfrm>
          <a:prstGeom prst="rect">
            <a:avLst/>
          </a:prstGeom>
          <a:noFill/>
          <a:ln/>
        </p:spPr>
        <p:txBody>
          <a:bodyPr wrap="square" lIns="0" tIns="0" rIns="0" bIns="0" rtlCol="0" anchor="ctr"/>
          <a:lstStyle/>
          <a:p>
            <a:pPr indent="0" marL="0">
              <a:lnSpc>
                <a:spcPts val="2100"/>
              </a:lnSpc>
              <a:buNone/>
            </a:pPr>
            <a:r>
              <a:rPr lang="en-US" sz="1600" dirty="0">
                <a:solidFill>
                  <a:srgbClr val="1F2A28"/>
                </a:solidFill>
                <a:latin typeface="Calibri" pitchFamily="34" charset="0"/>
                <a:ea typeface="Calibri" pitchFamily="34" charset="-122"/>
                <a:cs typeface="Calibri" pitchFamily="34" charset="-120"/>
              </a:rPr>
              <a:t>Reach for this only when sub-tasks genuinely don’t depend on each other’s output.</a:t>
            </a:r>
            <a:endParaRPr lang="en-US" sz="1600" dirty="0"/>
          </a:p>
        </p:txBody>
      </p:sp>
      <p:sp>
        <p:nvSpPr>
          <p:cNvPr id="14" name="Shape 11"/>
          <p:cNvSpPr/>
          <p:nvPr/>
        </p:nvSpPr>
        <p:spPr>
          <a:xfrm>
            <a:off x="7178040" y="1783080"/>
            <a:ext cx="4434840" cy="3383280"/>
          </a:xfrm>
          <a:prstGeom prst="roundRect">
            <a:avLst>
              <a:gd name="adj" fmla="val 3243"/>
            </a:avLst>
          </a:prstGeom>
          <a:solidFill>
            <a:srgbClr val="E8F5EF"/>
          </a:solidFill>
          <a:ln/>
          <a:effectLst>
            <a:outerShdw sx="100000" sy="100000" kx="0" ky="0" algn="bl" rotWithShape="0" blurRad="76200" dist="25400" dir="5400000">
              <a:srgbClr val="1F2A28">
                <a:alpha val="18000"/>
              </a:srgbClr>
            </a:outerShdw>
          </a:effectLst>
        </p:spPr>
      </p:sp>
      <p:sp>
        <p:nvSpPr>
          <p:cNvPr id="15" name="Text 12"/>
          <p:cNvSpPr txBox="1"/>
          <p:nvPr/>
        </p:nvSpPr>
        <p:spPr>
          <a:xfrm>
            <a:off x="7452360" y="2011680"/>
            <a:ext cx="3886200" cy="457200"/>
          </a:xfrm>
          <a:prstGeom prst="rect">
            <a:avLst/>
          </a:prstGeom>
          <a:noFill/>
          <a:ln/>
        </p:spPr>
        <p:txBody>
          <a:bodyPr wrap="square" lIns="0" tIns="0" rIns="0" bIns="0" rtlCol="0" anchor="ctr"/>
          <a:lstStyle/>
          <a:p>
            <a:pPr indent="0" marL="0">
              <a:buNone/>
            </a:pPr>
            <a:r>
              <a:rPr lang="en-US" sz="1700" b="1" dirty="0">
                <a:solidFill>
                  <a:srgbClr val="00693F"/>
                </a:solidFill>
                <a:latin typeface="Calibri" pitchFamily="34" charset="0"/>
                <a:ea typeface="Calibri" pitchFamily="34" charset="-122"/>
                <a:cs typeface="Calibri" pitchFamily="34" charset="-120"/>
              </a:rPr>
              <a:t>Time permitting</a:t>
            </a:r>
            <a:endParaRPr lang="en-US" sz="1700" dirty="0"/>
          </a:p>
        </p:txBody>
      </p:sp>
      <p:sp>
        <p:nvSpPr>
          <p:cNvPr id="16" name="Text 13"/>
          <p:cNvSpPr txBox="1"/>
          <p:nvPr/>
        </p:nvSpPr>
        <p:spPr>
          <a:xfrm>
            <a:off x="7452360" y="2514600"/>
            <a:ext cx="3886200" cy="2468880"/>
          </a:xfrm>
          <a:prstGeom prst="rect">
            <a:avLst/>
          </a:prstGeom>
          <a:noFill/>
          <a:ln/>
        </p:spPr>
        <p:txBody>
          <a:bodyPr wrap="square" lIns="0" tIns="0" rIns="0" bIns="0" rtlCol="0" anchor="ctr"/>
          <a:lstStyle/>
          <a:p>
            <a:pPr indent="0" marL="0">
              <a:lnSpc>
                <a:spcPts val="1900"/>
              </a:lnSpc>
              <a:buNone/>
            </a:pPr>
            <a:r>
              <a:rPr lang="en-US" sz="1400" dirty="0">
                <a:solidFill>
                  <a:srgbClr val="1F2A28"/>
                </a:solidFill>
                <a:latin typeface="Calibri" pitchFamily="34" charset="0"/>
                <a:ea typeface="Calibri" pitchFamily="34" charset="-122"/>
                <a:cs typeface="Calibri" pitchFamily="34" charset="-120"/>
              </a:rPr>
              <a:t>This is typically the first pattern to cut if time is short — valuable, but the other four matter more for most use cases.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B1F17"/>
          </a:solidFill>
          <a:ln/>
        </p:spPr>
      </p:sp>
      <p:sp>
        <p:nvSpPr>
          <p:cNvPr id="3" name="Shape 1"/>
          <p:cNvSpPr/>
          <p:nvPr/>
        </p:nvSpPr>
        <p:spPr>
          <a:xfrm>
            <a:off x="548640" y="411480"/>
            <a:ext cx="1874520" cy="384048"/>
          </a:xfrm>
          <a:prstGeom prst="roundRect">
            <a:avLst>
              <a:gd name="adj" fmla="val 50000"/>
            </a:avLst>
          </a:prstGeom>
          <a:solidFill>
            <a:srgbClr val="00915A"/>
          </a:solidFill>
          <a:ln/>
        </p:spPr>
      </p:sp>
      <p:pic>
        <p:nvPicPr>
          <p:cNvPr id="4" name="Image 0" descr="/home/claude/icons/play_w.png">    </p:cNvPr>
          <p:cNvPicPr>
            <a:picLocks noChangeAspect="1"/>
          </p:cNvPicPr>
          <p:nvPr/>
        </p:nvPicPr>
        <p:blipFill>
          <a:blip r:embed="rId1"/>
          <a:stretch>
            <a:fillRect/>
          </a:stretch>
        </p:blipFill>
        <p:spPr>
          <a:xfrm>
            <a:off x="694944" y="512064"/>
            <a:ext cx="182880" cy="182880"/>
          </a:xfrm>
          <a:prstGeom prst="rect">
            <a:avLst/>
          </a:prstGeom>
        </p:spPr>
      </p:pic>
      <p:sp>
        <p:nvSpPr>
          <p:cNvPr id="5" name="Text 2"/>
          <p:cNvSpPr txBox="1"/>
          <p:nvPr/>
        </p:nvSpPr>
        <p:spPr>
          <a:xfrm>
            <a:off x="932688" y="411480"/>
            <a:ext cx="1463040" cy="384048"/>
          </a:xfrm>
          <a:prstGeom prst="rect">
            <a:avLst/>
          </a:prstGeom>
          <a:noFill/>
          <a:ln/>
        </p:spPr>
        <p:txBody>
          <a:bodyPr wrap="square" lIns="0" tIns="0" rIns="0" bIns="0" rtlCol="0" anchor="ctr"/>
          <a:lstStyle/>
          <a:p>
            <a:pPr indent="0" marL="0">
              <a:buNone/>
            </a:pPr>
            <a:r>
              <a:rPr lang="en-US" sz="1200" b="1" spc="100" kern="0" dirty="0">
                <a:solidFill>
                  <a:srgbClr val="FFFFFF"/>
                </a:solidFill>
                <a:latin typeface="Calibri" pitchFamily="34" charset="0"/>
                <a:ea typeface="Calibri" pitchFamily="34" charset="-122"/>
                <a:cs typeface="Calibri" pitchFamily="34" charset="-120"/>
              </a:rPr>
              <a:t>LIVE DEMO</a:t>
            </a:r>
            <a:endParaRPr lang="en-US" sz="1200" dirty="0"/>
          </a:p>
        </p:txBody>
      </p:sp>
      <p:sp>
        <p:nvSpPr>
          <p:cNvPr id="6" name="Text 3"/>
          <p:cNvSpPr txBox="1"/>
          <p:nvPr/>
        </p:nvSpPr>
        <p:spPr>
          <a:xfrm>
            <a:off x="548640" y="960120"/>
            <a:ext cx="11064240" cy="640080"/>
          </a:xfrm>
          <a:prstGeom prst="rect">
            <a:avLst/>
          </a:prstGeom>
          <a:noFill/>
          <a:ln/>
        </p:spPr>
        <p:txBody>
          <a:bodyPr wrap="square" lIns="0" tIns="0" rIns="0" bIns="0" rtlCol="0" anchor="ctr"/>
          <a:lstStyle/>
          <a:p>
            <a:pPr indent="0" marL="0">
              <a:buNone/>
            </a:pPr>
            <a:r>
              <a:rPr lang="en-US" sz="2700" b="1" dirty="0">
                <a:solidFill>
                  <a:srgbClr val="FFFFFF"/>
                </a:solidFill>
                <a:latin typeface="Calibri" pitchFamily="34" charset="0"/>
                <a:ea typeface="Calibri" pitchFamily="34" charset="-122"/>
                <a:cs typeface="Calibri" pitchFamily="34" charset="-120"/>
              </a:rPr>
              <a:t>Live Coding — Parallel Fan-Out</a:t>
            </a:r>
            <a:endParaRPr lang="en-US" sz="2700" dirty="0"/>
          </a:p>
        </p:txBody>
      </p:sp>
      <p:sp>
        <p:nvSpPr>
          <p:cNvPr id="7" name="Shape 4"/>
          <p:cNvSpPr/>
          <p:nvPr/>
        </p:nvSpPr>
        <p:spPr>
          <a:xfrm>
            <a:off x="548640" y="1874520"/>
            <a:ext cx="3310128" cy="3977640"/>
          </a:xfrm>
          <a:prstGeom prst="roundRect">
            <a:avLst>
              <a:gd name="adj" fmla="val 2762"/>
            </a:avLst>
          </a:prstGeom>
          <a:solidFill>
            <a:srgbClr val="123528"/>
          </a:solidFill>
          <a:ln w="12700">
            <a:solidFill>
              <a:srgbClr val="1E4B39"/>
            </a:solidFill>
            <a:prstDash val="solid"/>
          </a:ln>
        </p:spPr>
      </p:sp>
      <p:pic>
        <p:nvPicPr>
          <p:cNvPr id="8" name="Image 1" descr="/home/claude/icons/code_w.png">    </p:cNvPr>
          <p:cNvPicPr>
            <a:picLocks noChangeAspect="1"/>
          </p:cNvPicPr>
          <p:nvPr/>
        </p:nvPicPr>
        <p:blipFill>
          <a:blip r:embed="rId2"/>
          <a:stretch>
            <a:fillRect/>
          </a:stretch>
        </p:blipFill>
        <p:spPr>
          <a:xfrm>
            <a:off x="777240" y="2103120"/>
            <a:ext cx="329184" cy="329184"/>
          </a:xfrm>
          <a:prstGeom prst="rect">
            <a:avLst/>
          </a:prstGeom>
        </p:spPr>
      </p:pic>
      <p:sp>
        <p:nvSpPr>
          <p:cNvPr id="9" name="Text 5"/>
          <p:cNvSpPr txBox="1"/>
          <p:nvPr/>
        </p:nvSpPr>
        <p:spPr>
          <a:xfrm>
            <a:off x="1207008" y="2093976"/>
            <a:ext cx="2487168"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What’s being built</a:t>
            </a:r>
            <a:endParaRPr lang="en-US" sz="1500" dirty="0"/>
          </a:p>
        </p:txBody>
      </p:sp>
      <p:sp>
        <p:nvSpPr>
          <p:cNvPr id="10" name="Text 6"/>
          <p:cNvSpPr txBox="1"/>
          <p:nvPr/>
        </p:nvSpPr>
        <p:spPr>
          <a:xfrm>
            <a:off x="749808" y="2651760"/>
            <a:ext cx="2907792" cy="749808"/>
          </a:xfrm>
          <a:prstGeom prst="rect">
            <a:avLst/>
          </a:prstGeom>
          <a:noFill/>
          <a:ln/>
        </p:spPr>
        <p:txBody>
          <a:bodyPr wrap="square" lIns="0" tIns="0" rIns="0" bIns="0" rtlCol="0" anchor="ctr"/>
          <a:lstStyle/>
          <a:p>
            <a:pPr indent="0" marL="0">
              <a:lnSpc>
                <a:spcPts val="1800"/>
              </a:lnSpc>
              <a:buNone/>
            </a:pPr>
            <a:r>
              <a:rPr lang="en-US" sz="1350" b="1" dirty="0">
                <a:solidFill>
                  <a:srgbClr val="00915A"/>
                </a:solidFill>
                <a:latin typeface="Calibri" pitchFamily="34" charset="0"/>
                <a:ea typeface="Calibri" pitchFamily="34" charset="-122"/>
                <a:cs typeface="Calibri" pitchFamily="34" charset="-120"/>
              </a:rPr>
              <a:t>›  </a:t>
            </a:r>
            <a:pPr indent="0" marL="0">
              <a:lnSpc>
                <a:spcPts val="1800"/>
              </a:lnSpc>
              <a:buNone/>
            </a:pPr>
            <a:r>
              <a:rPr lang="en-US" sz="1350" dirty="0">
                <a:solidFill>
                  <a:srgbClr val="AFE4CB"/>
                </a:solidFill>
                <a:latin typeface="Calibri" pitchFamily="34" charset="0"/>
                <a:ea typeface="Calibri" pitchFamily="34" charset="-122"/>
                <a:cs typeface="Calibri" pitchFamily="34" charset="-120"/>
              </a:rPr>
              <a:t>"mixed" intent branch in the router</a:t>
            </a:r>
            <a:endParaRPr lang="en-US" sz="1350" dirty="0"/>
          </a:p>
        </p:txBody>
      </p:sp>
      <p:sp>
        <p:nvSpPr>
          <p:cNvPr id="11" name="Text 7"/>
          <p:cNvSpPr txBox="1"/>
          <p:nvPr/>
        </p:nvSpPr>
        <p:spPr>
          <a:xfrm>
            <a:off x="749808" y="3493008"/>
            <a:ext cx="2907792" cy="749808"/>
          </a:xfrm>
          <a:prstGeom prst="rect">
            <a:avLst/>
          </a:prstGeom>
          <a:noFill/>
          <a:ln/>
        </p:spPr>
        <p:txBody>
          <a:bodyPr wrap="square" lIns="0" tIns="0" rIns="0" bIns="0" rtlCol="0" anchor="ctr"/>
          <a:lstStyle/>
          <a:p>
            <a:pPr indent="0" marL="0">
              <a:lnSpc>
                <a:spcPts val="1800"/>
              </a:lnSpc>
              <a:buNone/>
            </a:pPr>
            <a:r>
              <a:rPr lang="en-US" sz="1350" b="1" dirty="0">
                <a:solidFill>
                  <a:srgbClr val="00915A"/>
                </a:solidFill>
                <a:latin typeface="Calibri" pitchFamily="34" charset="0"/>
                <a:ea typeface="Calibri" pitchFamily="34" charset="-122"/>
                <a:cs typeface="Calibri" pitchFamily="34" charset="-120"/>
              </a:rPr>
              <a:t>›  </a:t>
            </a:r>
            <a:pPr indent="0" marL="0">
              <a:lnSpc>
                <a:spcPts val="1800"/>
              </a:lnSpc>
              <a:buNone/>
            </a:pPr>
            <a:r>
              <a:rPr lang="en-US" sz="1350" dirty="0">
                <a:solidFill>
                  <a:srgbClr val="AFE4CB"/>
                </a:solidFill>
                <a:latin typeface="Calibri" pitchFamily="34" charset="0"/>
                <a:ea typeface="Calibri" pitchFamily="34" charset="-122"/>
                <a:cs typeface="Calibri" pitchFamily="34" charset="-120"/>
              </a:rPr>
              <a:t>A join node merging both specialist outputs</a:t>
            </a:r>
            <a:endParaRPr lang="en-US" sz="1350" dirty="0"/>
          </a:p>
        </p:txBody>
      </p:sp>
      <p:sp>
        <p:nvSpPr>
          <p:cNvPr id="12" name="Shape 8"/>
          <p:cNvSpPr/>
          <p:nvPr/>
        </p:nvSpPr>
        <p:spPr>
          <a:xfrm>
            <a:off x="4078224" y="1874520"/>
            <a:ext cx="3310128" cy="3977640"/>
          </a:xfrm>
          <a:prstGeom prst="roundRect">
            <a:avLst>
              <a:gd name="adj" fmla="val 2762"/>
            </a:avLst>
          </a:prstGeom>
          <a:solidFill>
            <a:srgbClr val="123528"/>
          </a:solidFill>
          <a:ln w="12700">
            <a:solidFill>
              <a:srgbClr val="1E4B39"/>
            </a:solidFill>
            <a:prstDash val="solid"/>
          </a:ln>
        </p:spPr>
      </p:sp>
      <p:pic>
        <p:nvPicPr>
          <p:cNvPr id="13" name="Image 2" descr="/home/claude/icons/target_w.png">    </p:cNvPr>
          <p:cNvPicPr>
            <a:picLocks noChangeAspect="1"/>
          </p:cNvPicPr>
          <p:nvPr/>
        </p:nvPicPr>
        <p:blipFill>
          <a:blip r:embed="rId3"/>
          <a:stretch>
            <a:fillRect/>
          </a:stretch>
        </p:blipFill>
        <p:spPr>
          <a:xfrm>
            <a:off x="4306824" y="2103120"/>
            <a:ext cx="329184" cy="329184"/>
          </a:xfrm>
          <a:prstGeom prst="rect">
            <a:avLst/>
          </a:prstGeom>
        </p:spPr>
      </p:pic>
      <p:sp>
        <p:nvSpPr>
          <p:cNvPr id="14" name="Text 9"/>
          <p:cNvSpPr txBox="1"/>
          <p:nvPr/>
        </p:nvSpPr>
        <p:spPr>
          <a:xfrm>
            <a:off x="4736592" y="2093976"/>
            <a:ext cx="2487168"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Try this live</a:t>
            </a:r>
            <a:endParaRPr lang="en-US" sz="1500" dirty="0"/>
          </a:p>
        </p:txBody>
      </p:sp>
      <p:sp>
        <p:nvSpPr>
          <p:cNvPr id="15" name="Text 10"/>
          <p:cNvSpPr txBox="1"/>
          <p:nvPr/>
        </p:nvSpPr>
        <p:spPr>
          <a:xfrm>
            <a:off x="4279392" y="2651760"/>
            <a:ext cx="2907792" cy="749808"/>
          </a:xfrm>
          <a:prstGeom prst="rect">
            <a:avLst/>
          </a:prstGeom>
          <a:noFill/>
          <a:ln/>
        </p:spPr>
        <p:txBody>
          <a:bodyPr wrap="square" lIns="0" tIns="0" rIns="0" bIns="0" rtlCol="0" anchor="ctr"/>
          <a:lstStyle/>
          <a:p>
            <a:pPr indent="0" marL="0">
              <a:lnSpc>
                <a:spcPts val="1800"/>
              </a:lnSpc>
              <a:buNone/>
            </a:pPr>
            <a:r>
              <a:rPr lang="en-US" sz="1350" b="1" dirty="0">
                <a:solidFill>
                  <a:srgbClr val="00915A"/>
                </a:solidFill>
                <a:latin typeface="Calibri" pitchFamily="34" charset="0"/>
                <a:ea typeface="Calibri" pitchFamily="34" charset="-122"/>
                <a:cs typeface="Calibri" pitchFamily="34" charset="-120"/>
              </a:rPr>
              <a:t>›  </a:t>
            </a:r>
            <a:pPr indent="0" marL="0">
              <a:lnSpc>
                <a:spcPts val="1800"/>
              </a:lnSpc>
              <a:buNone/>
            </a:pPr>
            <a:r>
              <a:rPr lang="en-US" sz="1350" dirty="0">
                <a:solidFill>
                  <a:srgbClr val="AFE4CB"/>
                </a:solidFill>
                <a:latin typeface="Calibri" pitchFamily="34" charset="0"/>
                <a:ea typeface="Calibri" pitchFamily="34" charset="-122"/>
                <a:cs typeface="Calibri" pitchFamily="34" charset="-120"/>
              </a:rPr>
              <a:t>"Do you have a wireless mouse? Also, what’s the status of ORD1001?"</a:t>
            </a:r>
            <a:endParaRPr lang="en-US" sz="1350" dirty="0"/>
          </a:p>
        </p:txBody>
      </p:sp>
      <p:sp>
        <p:nvSpPr>
          <p:cNvPr id="16" name="Shape 11"/>
          <p:cNvSpPr/>
          <p:nvPr/>
        </p:nvSpPr>
        <p:spPr>
          <a:xfrm>
            <a:off x="7607808" y="1874520"/>
            <a:ext cx="3310128" cy="3977640"/>
          </a:xfrm>
          <a:prstGeom prst="roundRect">
            <a:avLst>
              <a:gd name="adj" fmla="val 2762"/>
            </a:avLst>
          </a:prstGeom>
          <a:solidFill>
            <a:srgbClr val="123528"/>
          </a:solidFill>
          <a:ln w="12700">
            <a:solidFill>
              <a:srgbClr val="1E4B39"/>
            </a:solidFill>
            <a:prstDash val="solid"/>
          </a:ln>
        </p:spPr>
      </p:sp>
      <p:pic>
        <p:nvPicPr>
          <p:cNvPr id="17" name="Image 3" descr="/home/claude/icons/eye_w.png">    </p:cNvPr>
          <p:cNvPicPr>
            <a:picLocks noChangeAspect="1"/>
          </p:cNvPicPr>
          <p:nvPr/>
        </p:nvPicPr>
        <p:blipFill>
          <a:blip r:embed="rId4"/>
          <a:stretch>
            <a:fillRect/>
          </a:stretch>
        </p:blipFill>
        <p:spPr>
          <a:xfrm>
            <a:off x="7836408" y="2103120"/>
            <a:ext cx="329184" cy="329184"/>
          </a:xfrm>
          <a:prstGeom prst="rect">
            <a:avLst/>
          </a:prstGeom>
        </p:spPr>
      </p:pic>
      <p:sp>
        <p:nvSpPr>
          <p:cNvPr id="18" name="Text 12"/>
          <p:cNvSpPr txBox="1"/>
          <p:nvPr/>
        </p:nvSpPr>
        <p:spPr>
          <a:xfrm>
            <a:off x="8266176" y="2093976"/>
            <a:ext cx="2487168"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Watch for</a:t>
            </a:r>
            <a:endParaRPr lang="en-US" sz="1500" dirty="0"/>
          </a:p>
        </p:txBody>
      </p:sp>
      <p:sp>
        <p:nvSpPr>
          <p:cNvPr id="19" name="Text 13"/>
          <p:cNvSpPr txBox="1"/>
          <p:nvPr/>
        </p:nvSpPr>
        <p:spPr>
          <a:xfrm>
            <a:off x="7808976" y="2651760"/>
            <a:ext cx="2907792" cy="749808"/>
          </a:xfrm>
          <a:prstGeom prst="rect">
            <a:avLst/>
          </a:prstGeom>
          <a:noFill/>
          <a:ln/>
        </p:spPr>
        <p:txBody>
          <a:bodyPr wrap="square" lIns="0" tIns="0" rIns="0" bIns="0" rtlCol="0" anchor="ctr"/>
          <a:lstStyle/>
          <a:p>
            <a:pPr indent="0" marL="0">
              <a:lnSpc>
                <a:spcPts val="1800"/>
              </a:lnSpc>
              <a:buNone/>
            </a:pPr>
            <a:r>
              <a:rPr lang="en-US" sz="1350" b="1" dirty="0">
                <a:solidFill>
                  <a:srgbClr val="00915A"/>
                </a:solidFill>
                <a:latin typeface="Calibri" pitchFamily="34" charset="0"/>
                <a:ea typeface="Calibri" pitchFamily="34" charset="-122"/>
                <a:cs typeface="Calibri" pitchFamily="34" charset="-120"/>
              </a:rPr>
              <a:t>›  </a:t>
            </a:r>
            <a:pPr indent="0" marL="0">
              <a:lnSpc>
                <a:spcPts val="1800"/>
              </a:lnSpc>
              <a:buNone/>
            </a:pPr>
            <a:r>
              <a:rPr lang="en-US" sz="1350" dirty="0">
                <a:solidFill>
                  <a:srgbClr val="AFE4CB"/>
                </a:solidFill>
                <a:latin typeface="Calibri" pitchFamily="34" charset="0"/>
                <a:ea typeface="Calibri" pitchFamily="34" charset="-122"/>
                <a:cs typeface="Calibri" pitchFamily="34" charset="-120"/>
              </a:rPr>
              <a:t>Both specialists execute before the join node responds</a:t>
            </a:r>
            <a:endParaRPr lang="en-US" sz="1350" dirty="0"/>
          </a:p>
        </p:txBody>
      </p:sp>
      <p:sp>
        <p:nvSpPr>
          <p:cNvPr id="20" name="Text 14"/>
          <p:cNvSpPr txBox="1"/>
          <p:nvPr/>
        </p:nvSpPr>
        <p:spPr>
          <a:xfrm>
            <a:off x="7808976" y="3493008"/>
            <a:ext cx="2907792" cy="749808"/>
          </a:xfrm>
          <a:prstGeom prst="rect">
            <a:avLst/>
          </a:prstGeom>
          <a:noFill/>
          <a:ln/>
        </p:spPr>
        <p:txBody>
          <a:bodyPr wrap="square" lIns="0" tIns="0" rIns="0" bIns="0" rtlCol="0" anchor="ctr"/>
          <a:lstStyle/>
          <a:p>
            <a:pPr indent="0" marL="0">
              <a:lnSpc>
                <a:spcPts val="1800"/>
              </a:lnSpc>
              <a:buNone/>
            </a:pPr>
            <a:r>
              <a:rPr lang="en-US" sz="1350" b="1" dirty="0">
                <a:solidFill>
                  <a:srgbClr val="00915A"/>
                </a:solidFill>
                <a:latin typeface="Calibri" pitchFamily="34" charset="0"/>
                <a:ea typeface="Calibri" pitchFamily="34" charset="-122"/>
                <a:cs typeface="Calibri" pitchFamily="34" charset="-120"/>
              </a:rPr>
              <a:t>›  </a:t>
            </a:r>
            <a:pPr indent="0" marL="0">
              <a:lnSpc>
                <a:spcPts val="1800"/>
              </a:lnSpc>
              <a:buNone/>
            </a:pPr>
            <a:r>
              <a:rPr lang="en-US" sz="1350" dirty="0">
                <a:solidFill>
                  <a:srgbClr val="AFE4CB"/>
                </a:solidFill>
                <a:latin typeface="Calibri" pitchFamily="34" charset="0"/>
                <a:ea typeface="Calibri" pitchFamily="34" charset="-122"/>
                <a:cs typeface="Calibri" pitchFamily="34" charset="-120"/>
              </a:rPr>
              <a:t>Combined latency vs. running them one after another</a:t>
            </a:r>
            <a:endParaRPr lang="en-US" sz="1350" dirty="0"/>
          </a:p>
        </p:txBody>
      </p:sp>
      <p:sp>
        <p:nvSpPr>
          <p:cNvPr id="21" name="Text 15"/>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AFE4CB"/>
                </a:solidFill>
                <a:latin typeface="Calibri" pitchFamily="34" charset="0"/>
                <a:ea typeface="Calibri" pitchFamily="34" charset="-122"/>
                <a:cs typeface="Calibri" pitchFamily="34" charset="-120"/>
              </a:rPr>
              <a:t>Agentic AI with LangChain &amp; LangGraph</a:t>
            </a:r>
            <a:endParaRPr lang="en-US" sz="1000" dirty="0"/>
          </a:p>
        </p:txBody>
      </p:sp>
      <p:sp>
        <p:nvSpPr>
          <p:cNvPr id="22" name="Text 16"/>
          <p:cNvSpPr txBox="1"/>
          <p:nvPr/>
        </p:nvSpPr>
        <p:spPr>
          <a:xfrm>
            <a:off x="11064240" y="6473952"/>
            <a:ext cx="548640" cy="274320"/>
          </a:xfrm>
          <a:prstGeom prst="rect">
            <a:avLst/>
          </a:prstGeom>
          <a:noFill/>
          <a:ln/>
        </p:spPr>
        <p:txBody>
          <a:bodyPr wrap="square" lIns="0" tIns="0" rIns="0" bIns="0" rtlCol="0" anchor="ctr"/>
          <a:lstStyle/>
          <a:p>
            <a:pPr algn="r" indent="0" marL="0">
              <a:buNone/>
            </a:pPr>
            <a:r>
              <a:rPr lang="en-US" sz="1000" dirty="0">
                <a:solidFill>
                  <a:srgbClr val="AFE4CB"/>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200" b="1" spc="150" kern="0" dirty="0">
                <a:solidFill>
                  <a:srgbClr val="00693F"/>
                </a:solidFill>
                <a:latin typeface="Calibri" pitchFamily="34" charset="0"/>
                <a:ea typeface="Calibri" pitchFamily="34" charset="-122"/>
                <a:cs typeface="Calibri" pitchFamily="34" charset="-120"/>
              </a:rPr>
              <a:t>PATTERN 5 OF 5</a:t>
            </a:r>
            <a:endParaRPr lang="en-US" sz="1200" dirty="0"/>
          </a:p>
        </p:txBody>
      </p:sp>
      <p:sp>
        <p:nvSpPr>
          <p:cNvPr id="3" name="Text 1"/>
          <p:cNvSpPr txBox="1"/>
          <p:nvPr/>
        </p:nvSpPr>
        <p:spPr>
          <a:xfrm>
            <a:off x="548640" y="658368"/>
            <a:ext cx="11064240" cy="822960"/>
          </a:xfrm>
          <a:prstGeom prst="rect">
            <a:avLst/>
          </a:prstGeom>
          <a:noFill/>
          <a:ln/>
        </p:spPr>
        <p:txBody>
          <a:bodyPr wrap="square" lIns="0" tIns="0" rIns="0" bIns="0" rtlCol="0" anchor="ctr"/>
          <a:lstStyle/>
          <a:p>
            <a:pPr indent="0" marL="0">
              <a:lnSpc>
                <a:spcPts val="3400"/>
              </a:lnSpc>
              <a:buNone/>
            </a:pPr>
            <a:r>
              <a:rPr lang="en-US" sz="3000" b="1" dirty="0">
                <a:solidFill>
                  <a:srgbClr val="1F2A28"/>
                </a:solidFill>
                <a:latin typeface="Calibri" pitchFamily="34" charset="0"/>
                <a:ea typeface="Calibri" pitchFamily="34" charset="-122"/>
                <a:cs typeface="Calibri" pitchFamily="34" charset="-120"/>
              </a:rPr>
              <a:t>Human-in-the-Loop — interrupt()</a:t>
            </a:r>
            <a:endParaRPr lang="en-US" sz="3000" dirty="0"/>
          </a:p>
        </p:txBody>
      </p:sp>
      <p:sp>
        <p:nvSpPr>
          <p:cNvPr id="4" name="Shape 2"/>
          <p:cNvSpPr/>
          <p:nvPr/>
        </p:nvSpPr>
        <p:spPr>
          <a:xfrm>
            <a:off x="10835640" y="566928"/>
            <a:ext cx="685800" cy="685800"/>
          </a:xfrm>
          <a:prstGeom prst="ellipse">
            <a:avLst/>
          </a:prstGeom>
          <a:solidFill>
            <a:srgbClr val="00915A"/>
          </a:solidFill>
          <a:ln/>
        </p:spPr>
      </p:sp>
      <p:pic>
        <p:nvPicPr>
          <p:cNvPr id="5" name="Image 0" descr="/home/claude/icons/human.png">    </p:cNvPr>
          <p:cNvPicPr>
            <a:picLocks noChangeAspect="1"/>
          </p:cNvPicPr>
          <p:nvPr/>
        </p:nvPicPr>
        <p:blipFill>
          <a:blip r:embed="rId1"/>
          <a:stretch>
            <a:fillRect/>
          </a:stretch>
        </p:blipFill>
        <p:spPr>
          <a:xfrm>
            <a:off x="10924794" y="656082"/>
            <a:ext cx="507492" cy="507492"/>
          </a:xfrm>
          <a:prstGeom prst="rect">
            <a:avLst/>
          </a:prstGeom>
        </p:spPr>
      </p:pic>
      <p:sp>
        <p:nvSpPr>
          <p:cNvPr id="6" name="Shape 3"/>
          <p:cNvSpPr/>
          <p:nvPr/>
        </p:nvSpPr>
        <p:spPr>
          <a:xfrm>
            <a:off x="548640" y="2459736"/>
            <a:ext cx="91440" cy="91440"/>
          </a:xfrm>
          <a:prstGeom prst="ellipse">
            <a:avLst/>
          </a:prstGeom>
          <a:solidFill>
            <a:srgbClr val="00915A"/>
          </a:solidFill>
          <a:ln/>
        </p:spPr>
      </p:sp>
      <p:sp>
        <p:nvSpPr>
          <p:cNvPr id="7" name="Text 4"/>
          <p:cNvSpPr txBox="1"/>
          <p:nvPr/>
        </p:nvSpPr>
        <p:spPr>
          <a:xfrm>
            <a:off x="822960" y="2057400"/>
            <a:ext cx="6309360" cy="896112"/>
          </a:xfrm>
          <a:prstGeom prst="rect">
            <a:avLst/>
          </a:prstGeom>
          <a:noFill/>
          <a:ln/>
        </p:spPr>
        <p:txBody>
          <a:bodyPr wrap="square" lIns="0" tIns="0" rIns="0" bIns="0" rtlCol="0" anchor="ctr"/>
          <a:lstStyle/>
          <a:p>
            <a:pPr indent="0" marL="0">
              <a:lnSpc>
                <a:spcPts val="2100"/>
              </a:lnSpc>
              <a:buNone/>
            </a:pPr>
            <a:r>
              <a:rPr lang="en-US" sz="1600" dirty="0">
                <a:solidFill>
                  <a:srgbClr val="1F2A28"/>
                </a:solidFill>
                <a:latin typeface="Calibri" pitchFamily="34" charset="0"/>
                <a:ea typeface="Calibri" pitchFamily="34" charset="-122"/>
                <a:cs typeface="Calibri" pitchFamily="34" charset="-120"/>
              </a:rPr>
              <a:t>The graph literally pauses execution — not a poll loop, not a queue I have to build myself.</a:t>
            </a:r>
            <a:endParaRPr lang="en-US" sz="1600" dirty="0"/>
          </a:p>
        </p:txBody>
      </p:sp>
      <p:sp>
        <p:nvSpPr>
          <p:cNvPr id="8" name="Shape 5"/>
          <p:cNvSpPr/>
          <p:nvPr/>
        </p:nvSpPr>
        <p:spPr>
          <a:xfrm>
            <a:off x="548640" y="3739896"/>
            <a:ext cx="91440" cy="91440"/>
          </a:xfrm>
          <a:prstGeom prst="ellipse">
            <a:avLst/>
          </a:prstGeom>
          <a:solidFill>
            <a:srgbClr val="00915A"/>
          </a:solidFill>
          <a:ln/>
        </p:spPr>
      </p:sp>
      <p:sp>
        <p:nvSpPr>
          <p:cNvPr id="9" name="Text 6"/>
          <p:cNvSpPr txBox="1"/>
          <p:nvPr/>
        </p:nvSpPr>
        <p:spPr>
          <a:xfrm>
            <a:off x="822960" y="3337560"/>
            <a:ext cx="6309360" cy="896112"/>
          </a:xfrm>
          <a:prstGeom prst="rect">
            <a:avLst/>
          </a:prstGeom>
          <a:noFill/>
          <a:ln/>
        </p:spPr>
        <p:txBody>
          <a:bodyPr wrap="square" lIns="0" tIns="0" rIns="0" bIns="0" rtlCol="0" anchor="ctr"/>
          <a:lstStyle/>
          <a:p>
            <a:pPr indent="0" marL="0">
              <a:lnSpc>
                <a:spcPts val="2100"/>
              </a:lnSpc>
              <a:buNone/>
            </a:pPr>
            <a:r>
              <a:rPr lang="en-US" sz="1600" dirty="0">
                <a:solidFill>
                  <a:srgbClr val="1F2A28"/>
                </a:solidFill>
                <a:latin typeface="Calibri" pitchFamily="34" charset="0"/>
                <a:ea typeface="Calibri" pitchFamily="34" charset="-122"/>
                <a:cs typeface="Calibri" pitchFamily="34" charset="-120"/>
              </a:rPr>
              <a:t>Used anywhere there’s financial, legal, or compliance risk: refunds over a threshold, angry-customer escalation.</a:t>
            </a:r>
            <a:endParaRPr lang="en-US" sz="1600" dirty="0"/>
          </a:p>
        </p:txBody>
      </p:sp>
      <p:sp>
        <p:nvSpPr>
          <p:cNvPr id="10" name="Shape 7"/>
          <p:cNvSpPr/>
          <p:nvPr/>
        </p:nvSpPr>
        <p:spPr>
          <a:xfrm>
            <a:off x="548640" y="5020056"/>
            <a:ext cx="91440" cy="91440"/>
          </a:xfrm>
          <a:prstGeom prst="ellipse">
            <a:avLst/>
          </a:prstGeom>
          <a:solidFill>
            <a:srgbClr val="00915A"/>
          </a:solidFill>
          <a:ln/>
        </p:spPr>
      </p:sp>
      <p:sp>
        <p:nvSpPr>
          <p:cNvPr id="11" name="Text 8"/>
          <p:cNvSpPr txBox="1"/>
          <p:nvPr/>
        </p:nvSpPr>
        <p:spPr>
          <a:xfrm>
            <a:off x="822960" y="4617720"/>
            <a:ext cx="6309360" cy="896112"/>
          </a:xfrm>
          <a:prstGeom prst="rect">
            <a:avLst/>
          </a:prstGeom>
          <a:noFill/>
          <a:ln/>
        </p:spPr>
        <p:txBody>
          <a:bodyPr wrap="square" lIns="0" tIns="0" rIns="0" bIns="0" rtlCol="0" anchor="ctr"/>
          <a:lstStyle/>
          <a:p>
            <a:pPr indent="0" marL="0">
              <a:lnSpc>
                <a:spcPts val="2100"/>
              </a:lnSpc>
              <a:buNone/>
            </a:pPr>
            <a:r>
              <a:rPr lang="en-US" sz="1600" dirty="0">
                <a:solidFill>
                  <a:srgbClr val="1F2A28"/>
                </a:solidFill>
                <a:latin typeface="Calibri" pitchFamily="34" charset="0"/>
                <a:ea typeface="Calibri" pitchFamily="34" charset="-122"/>
                <a:cs typeface="Calibri" pitchFamily="34" charset="-120"/>
              </a:rPr>
              <a:t>Approval can happen later, by a different person or process — the checkpointer preserves state across the pause.</a:t>
            </a:r>
            <a:endParaRPr lang="en-US" sz="1600" dirty="0"/>
          </a:p>
        </p:txBody>
      </p:sp>
      <p:sp>
        <p:nvSpPr>
          <p:cNvPr id="12" name="Shape 9"/>
          <p:cNvSpPr/>
          <p:nvPr/>
        </p:nvSpPr>
        <p:spPr>
          <a:xfrm>
            <a:off x="7178040" y="1783080"/>
            <a:ext cx="4434840" cy="3383280"/>
          </a:xfrm>
          <a:prstGeom prst="roundRect">
            <a:avLst>
              <a:gd name="adj" fmla="val 3243"/>
            </a:avLst>
          </a:prstGeom>
          <a:solidFill>
            <a:srgbClr val="E8F5EF"/>
          </a:solidFill>
          <a:ln/>
          <a:effectLst>
            <a:outerShdw sx="100000" sy="100000" kx="0" ky="0" algn="bl" rotWithShape="0" blurRad="76200" dist="25400" dir="5400000">
              <a:srgbClr val="1F2A28">
                <a:alpha val="18000"/>
              </a:srgbClr>
            </a:outerShdw>
          </a:effectLst>
        </p:spPr>
      </p:sp>
      <p:sp>
        <p:nvSpPr>
          <p:cNvPr id="13" name="Text 10"/>
          <p:cNvSpPr txBox="1"/>
          <p:nvPr/>
        </p:nvSpPr>
        <p:spPr>
          <a:xfrm>
            <a:off x="7452360" y="2011680"/>
            <a:ext cx="3886200" cy="457200"/>
          </a:xfrm>
          <a:prstGeom prst="rect">
            <a:avLst/>
          </a:prstGeom>
          <a:noFill/>
          <a:ln/>
        </p:spPr>
        <p:txBody>
          <a:bodyPr wrap="square" lIns="0" tIns="0" rIns="0" bIns="0" rtlCol="0" anchor="ctr"/>
          <a:lstStyle/>
          <a:p>
            <a:pPr indent="0" marL="0">
              <a:buNone/>
            </a:pPr>
            <a:r>
              <a:rPr lang="en-US" sz="1700" b="1" dirty="0">
                <a:solidFill>
                  <a:srgbClr val="00693F"/>
                </a:solidFill>
                <a:latin typeface="Calibri" pitchFamily="34" charset="0"/>
                <a:ea typeface="Calibri" pitchFamily="34" charset="-122"/>
                <a:cs typeface="Calibri" pitchFamily="34" charset="-120"/>
              </a:rPr>
              <a:t>The one to remember</a:t>
            </a:r>
            <a:endParaRPr lang="en-US" sz="1700" dirty="0"/>
          </a:p>
        </p:txBody>
      </p:sp>
      <p:sp>
        <p:nvSpPr>
          <p:cNvPr id="14" name="Text 11"/>
          <p:cNvSpPr txBox="1"/>
          <p:nvPr/>
        </p:nvSpPr>
        <p:spPr>
          <a:xfrm>
            <a:off x="7452360" y="2514600"/>
            <a:ext cx="3886200" cy="2468880"/>
          </a:xfrm>
          <a:prstGeom prst="rect">
            <a:avLst/>
          </a:prstGeom>
          <a:noFill/>
          <a:ln/>
        </p:spPr>
        <p:txBody>
          <a:bodyPr wrap="square" lIns="0" tIns="0" rIns="0" bIns="0" rtlCol="0" anchor="ctr"/>
          <a:lstStyle/>
          <a:p>
            <a:pPr indent="0" marL="0">
              <a:lnSpc>
                <a:spcPts val="1900"/>
              </a:lnSpc>
              <a:buNone/>
            </a:pPr>
            <a:r>
              <a:rPr lang="en-US" sz="1400" dirty="0">
                <a:solidFill>
                  <a:srgbClr val="1F2A28"/>
                </a:solidFill>
                <a:latin typeface="Calibri" pitchFamily="34" charset="0"/>
                <a:ea typeface="Calibri" pitchFamily="34" charset="-122"/>
                <a:cs typeface="Calibri" pitchFamily="34" charset="-120"/>
              </a:rPr>
              <a:t>If one pattern travels back to the team, make it this one — it turns “the AI decided” into “the AI proposed, a human approved,” which is the conversation risk and compliance will actually want to have.</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B1F17"/>
          </a:solidFill>
          <a:ln/>
        </p:spPr>
      </p:sp>
      <p:sp>
        <p:nvSpPr>
          <p:cNvPr id="3" name="Shape 1"/>
          <p:cNvSpPr/>
          <p:nvPr/>
        </p:nvSpPr>
        <p:spPr>
          <a:xfrm>
            <a:off x="548640" y="411480"/>
            <a:ext cx="1874520" cy="384048"/>
          </a:xfrm>
          <a:prstGeom prst="roundRect">
            <a:avLst>
              <a:gd name="adj" fmla="val 50000"/>
            </a:avLst>
          </a:prstGeom>
          <a:solidFill>
            <a:srgbClr val="00915A"/>
          </a:solidFill>
          <a:ln/>
        </p:spPr>
      </p:sp>
      <p:pic>
        <p:nvPicPr>
          <p:cNvPr id="4" name="Image 0" descr="/home/claude/icons/play_w.png">    </p:cNvPr>
          <p:cNvPicPr>
            <a:picLocks noChangeAspect="1"/>
          </p:cNvPicPr>
          <p:nvPr/>
        </p:nvPicPr>
        <p:blipFill>
          <a:blip r:embed="rId1"/>
          <a:stretch>
            <a:fillRect/>
          </a:stretch>
        </p:blipFill>
        <p:spPr>
          <a:xfrm>
            <a:off x="694944" y="512064"/>
            <a:ext cx="182880" cy="182880"/>
          </a:xfrm>
          <a:prstGeom prst="rect">
            <a:avLst/>
          </a:prstGeom>
        </p:spPr>
      </p:pic>
      <p:sp>
        <p:nvSpPr>
          <p:cNvPr id="5" name="Text 2"/>
          <p:cNvSpPr txBox="1"/>
          <p:nvPr/>
        </p:nvSpPr>
        <p:spPr>
          <a:xfrm>
            <a:off x="932688" y="411480"/>
            <a:ext cx="1463040" cy="384048"/>
          </a:xfrm>
          <a:prstGeom prst="rect">
            <a:avLst/>
          </a:prstGeom>
          <a:noFill/>
          <a:ln/>
        </p:spPr>
        <p:txBody>
          <a:bodyPr wrap="square" lIns="0" tIns="0" rIns="0" bIns="0" rtlCol="0" anchor="ctr"/>
          <a:lstStyle/>
          <a:p>
            <a:pPr indent="0" marL="0">
              <a:buNone/>
            </a:pPr>
            <a:r>
              <a:rPr lang="en-US" sz="1200" b="1" spc="100" kern="0" dirty="0">
                <a:solidFill>
                  <a:srgbClr val="FFFFFF"/>
                </a:solidFill>
                <a:latin typeface="Calibri" pitchFamily="34" charset="0"/>
                <a:ea typeface="Calibri" pitchFamily="34" charset="-122"/>
                <a:cs typeface="Calibri" pitchFamily="34" charset="-120"/>
              </a:rPr>
              <a:t>LIVE DEMO</a:t>
            </a:r>
            <a:endParaRPr lang="en-US" sz="1200" dirty="0"/>
          </a:p>
        </p:txBody>
      </p:sp>
      <p:sp>
        <p:nvSpPr>
          <p:cNvPr id="6" name="Text 3"/>
          <p:cNvSpPr txBox="1"/>
          <p:nvPr/>
        </p:nvSpPr>
        <p:spPr>
          <a:xfrm>
            <a:off x="548640" y="960120"/>
            <a:ext cx="11064240" cy="640080"/>
          </a:xfrm>
          <a:prstGeom prst="rect">
            <a:avLst/>
          </a:prstGeom>
          <a:noFill/>
          <a:ln/>
        </p:spPr>
        <p:txBody>
          <a:bodyPr wrap="square" lIns="0" tIns="0" rIns="0" bIns="0" rtlCol="0" anchor="ctr"/>
          <a:lstStyle/>
          <a:p>
            <a:pPr indent="0" marL="0">
              <a:buNone/>
            </a:pPr>
            <a:r>
              <a:rPr lang="en-US" sz="2700" b="1" dirty="0">
                <a:solidFill>
                  <a:srgbClr val="FFFFFF"/>
                </a:solidFill>
                <a:latin typeface="Calibri" pitchFamily="34" charset="0"/>
                <a:ea typeface="Calibri" pitchFamily="34" charset="-122"/>
                <a:cs typeface="Calibri" pitchFamily="34" charset="-120"/>
              </a:rPr>
              <a:t>Live Coding — Refund Approval Interrupt</a:t>
            </a:r>
            <a:endParaRPr lang="en-US" sz="2700" dirty="0"/>
          </a:p>
        </p:txBody>
      </p:sp>
      <p:sp>
        <p:nvSpPr>
          <p:cNvPr id="7" name="Shape 4"/>
          <p:cNvSpPr/>
          <p:nvPr/>
        </p:nvSpPr>
        <p:spPr>
          <a:xfrm>
            <a:off x="548640" y="1874520"/>
            <a:ext cx="3310128" cy="3977640"/>
          </a:xfrm>
          <a:prstGeom prst="roundRect">
            <a:avLst>
              <a:gd name="adj" fmla="val 2762"/>
            </a:avLst>
          </a:prstGeom>
          <a:solidFill>
            <a:srgbClr val="123528"/>
          </a:solidFill>
          <a:ln w="12700">
            <a:solidFill>
              <a:srgbClr val="1E4B39"/>
            </a:solidFill>
            <a:prstDash val="solid"/>
          </a:ln>
        </p:spPr>
      </p:sp>
      <p:pic>
        <p:nvPicPr>
          <p:cNvPr id="8" name="Image 1" descr="/home/claude/icons/code_w.png">    </p:cNvPr>
          <p:cNvPicPr>
            <a:picLocks noChangeAspect="1"/>
          </p:cNvPicPr>
          <p:nvPr/>
        </p:nvPicPr>
        <p:blipFill>
          <a:blip r:embed="rId2"/>
          <a:stretch>
            <a:fillRect/>
          </a:stretch>
        </p:blipFill>
        <p:spPr>
          <a:xfrm>
            <a:off x="777240" y="2103120"/>
            <a:ext cx="329184" cy="329184"/>
          </a:xfrm>
          <a:prstGeom prst="rect">
            <a:avLst/>
          </a:prstGeom>
        </p:spPr>
      </p:pic>
      <p:sp>
        <p:nvSpPr>
          <p:cNvPr id="9" name="Text 5"/>
          <p:cNvSpPr txBox="1"/>
          <p:nvPr/>
        </p:nvSpPr>
        <p:spPr>
          <a:xfrm>
            <a:off x="1207008" y="2093976"/>
            <a:ext cx="2487168"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What’s being built</a:t>
            </a:r>
            <a:endParaRPr lang="en-US" sz="1500" dirty="0"/>
          </a:p>
        </p:txBody>
      </p:sp>
      <p:sp>
        <p:nvSpPr>
          <p:cNvPr id="10" name="Text 6"/>
          <p:cNvSpPr txBox="1"/>
          <p:nvPr/>
        </p:nvSpPr>
        <p:spPr>
          <a:xfrm>
            <a:off x="749808" y="2651760"/>
            <a:ext cx="2907792" cy="530352"/>
          </a:xfrm>
          <a:prstGeom prst="rect">
            <a:avLst/>
          </a:prstGeom>
          <a:noFill/>
          <a:ln/>
        </p:spPr>
        <p:txBody>
          <a:bodyPr wrap="square" lIns="0" tIns="0" rIns="0" bIns="0" rtlCol="0" anchor="ctr"/>
          <a:lstStyle/>
          <a:p>
            <a:pPr indent="0" marL="0">
              <a:lnSpc>
                <a:spcPts val="1800"/>
              </a:lnSpc>
              <a:buNone/>
            </a:pPr>
            <a:r>
              <a:rPr lang="en-US" sz="1350" b="1" dirty="0">
                <a:solidFill>
                  <a:srgbClr val="00915A"/>
                </a:solidFill>
                <a:latin typeface="Calibri" pitchFamily="34" charset="0"/>
                <a:ea typeface="Calibri" pitchFamily="34" charset="-122"/>
                <a:cs typeface="Calibri" pitchFamily="34" charset="-120"/>
              </a:rPr>
              <a:t>›  </a:t>
            </a:r>
            <a:pPr indent="0" marL="0">
              <a:lnSpc>
                <a:spcPts val="1800"/>
              </a:lnSpc>
              <a:buNone/>
            </a:pPr>
            <a:r>
              <a:rPr lang="en-US" sz="1350" dirty="0">
                <a:solidFill>
                  <a:srgbClr val="AFE4CB"/>
                </a:solidFill>
                <a:latin typeface="Calibri" pitchFamily="34" charset="0"/>
                <a:ea typeface="Calibri" pitchFamily="34" charset="-122"/>
                <a:cs typeface="Calibri" pitchFamily="34" charset="-120"/>
              </a:rPr>
              <a:t>refund_agent.py — threshold check</a:t>
            </a:r>
            <a:endParaRPr lang="en-US" sz="1350" dirty="0"/>
          </a:p>
        </p:txBody>
      </p:sp>
      <p:sp>
        <p:nvSpPr>
          <p:cNvPr id="11" name="Text 7"/>
          <p:cNvSpPr txBox="1"/>
          <p:nvPr/>
        </p:nvSpPr>
        <p:spPr>
          <a:xfrm>
            <a:off x="749808" y="3273552"/>
            <a:ext cx="2907792" cy="749808"/>
          </a:xfrm>
          <a:prstGeom prst="rect">
            <a:avLst/>
          </a:prstGeom>
          <a:noFill/>
          <a:ln/>
        </p:spPr>
        <p:txBody>
          <a:bodyPr wrap="square" lIns="0" tIns="0" rIns="0" bIns="0" rtlCol="0" anchor="ctr"/>
          <a:lstStyle/>
          <a:p>
            <a:pPr indent="0" marL="0">
              <a:lnSpc>
                <a:spcPts val="1800"/>
              </a:lnSpc>
              <a:buNone/>
            </a:pPr>
            <a:r>
              <a:rPr lang="en-US" sz="1350" b="1" dirty="0">
                <a:solidFill>
                  <a:srgbClr val="00915A"/>
                </a:solidFill>
                <a:latin typeface="Calibri" pitchFamily="34" charset="0"/>
                <a:ea typeface="Calibri" pitchFamily="34" charset="-122"/>
                <a:cs typeface="Calibri" pitchFamily="34" charset="-120"/>
              </a:rPr>
              <a:t>›  </a:t>
            </a:r>
            <a:pPr indent="0" marL="0">
              <a:lnSpc>
                <a:spcPts val="1800"/>
              </a:lnSpc>
              <a:buNone/>
            </a:pPr>
            <a:r>
              <a:rPr lang="en-US" sz="1350" dirty="0">
                <a:solidFill>
                  <a:srgbClr val="AFE4CB"/>
                </a:solidFill>
                <a:latin typeface="Calibri" pitchFamily="34" charset="0"/>
                <a:ea typeface="Calibri" pitchFamily="34" charset="-122"/>
                <a:cs typeface="Calibri" pitchFamily="34" charset="-120"/>
              </a:rPr>
              <a:t>interrupt() call above the threshold</a:t>
            </a:r>
            <a:endParaRPr lang="en-US" sz="1350" dirty="0"/>
          </a:p>
        </p:txBody>
      </p:sp>
      <p:sp>
        <p:nvSpPr>
          <p:cNvPr id="12" name="Shape 8"/>
          <p:cNvSpPr/>
          <p:nvPr/>
        </p:nvSpPr>
        <p:spPr>
          <a:xfrm>
            <a:off x="4078224" y="1874520"/>
            <a:ext cx="3310128" cy="3977640"/>
          </a:xfrm>
          <a:prstGeom prst="roundRect">
            <a:avLst>
              <a:gd name="adj" fmla="val 2762"/>
            </a:avLst>
          </a:prstGeom>
          <a:solidFill>
            <a:srgbClr val="123528"/>
          </a:solidFill>
          <a:ln w="12700">
            <a:solidFill>
              <a:srgbClr val="1E4B39"/>
            </a:solidFill>
            <a:prstDash val="solid"/>
          </a:ln>
        </p:spPr>
      </p:sp>
      <p:pic>
        <p:nvPicPr>
          <p:cNvPr id="13" name="Image 2" descr="/home/claude/icons/target_w.png">    </p:cNvPr>
          <p:cNvPicPr>
            <a:picLocks noChangeAspect="1"/>
          </p:cNvPicPr>
          <p:nvPr/>
        </p:nvPicPr>
        <p:blipFill>
          <a:blip r:embed="rId3"/>
          <a:stretch>
            <a:fillRect/>
          </a:stretch>
        </p:blipFill>
        <p:spPr>
          <a:xfrm>
            <a:off x="4306824" y="2103120"/>
            <a:ext cx="329184" cy="329184"/>
          </a:xfrm>
          <a:prstGeom prst="rect">
            <a:avLst/>
          </a:prstGeom>
        </p:spPr>
      </p:pic>
      <p:sp>
        <p:nvSpPr>
          <p:cNvPr id="14" name="Text 9"/>
          <p:cNvSpPr txBox="1"/>
          <p:nvPr/>
        </p:nvSpPr>
        <p:spPr>
          <a:xfrm>
            <a:off x="4736592" y="2093976"/>
            <a:ext cx="2487168"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Try this live</a:t>
            </a:r>
            <a:endParaRPr lang="en-US" sz="1500" dirty="0"/>
          </a:p>
        </p:txBody>
      </p:sp>
      <p:sp>
        <p:nvSpPr>
          <p:cNvPr id="15" name="Text 10"/>
          <p:cNvSpPr txBox="1"/>
          <p:nvPr/>
        </p:nvSpPr>
        <p:spPr>
          <a:xfrm>
            <a:off x="4279392" y="2651760"/>
            <a:ext cx="2907792" cy="749808"/>
          </a:xfrm>
          <a:prstGeom prst="rect">
            <a:avLst/>
          </a:prstGeom>
          <a:noFill/>
          <a:ln/>
        </p:spPr>
        <p:txBody>
          <a:bodyPr wrap="square" lIns="0" tIns="0" rIns="0" bIns="0" rtlCol="0" anchor="ctr"/>
          <a:lstStyle/>
          <a:p>
            <a:pPr indent="0" marL="0">
              <a:lnSpc>
                <a:spcPts val="1800"/>
              </a:lnSpc>
              <a:buNone/>
            </a:pPr>
            <a:r>
              <a:rPr lang="en-US" sz="1350" b="1" dirty="0">
                <a:solidFill>
                  <a:srgbClr val="00915A"/>
                </a:solidFill>
                <a:latin typeface="Calibri" pitchFamily="34" charset="0"/>
                <a:ea typeface="Calibri" pitchFamily="34" charset="-122"/>
                <a:cs typeface="Calibri" pitchFamily="34" charset="-120"/>
              </a:rPr>
              <a:t>›  </a:t>
            </a:r>
            <a:pPr indent="0" marL="0">
              <a:lnSpc>
                <a:spcPts val="1800"/>
              </a:lnSpc>
              <a:buNone/>
            </a:pPr>
            <a:r>
              <a:rPr lang="en-US" sz="1350" dirty="0">
                <a:solidFill>
                  <a:srgbClr val="AFE4CB"/>
                </a:solidFill>
                <a:latin typeface="Calibri" pitchFamily="34" charset="0"/>
                <a:ea typeface="Calibri" pitchFamily="34" charset="-122"/>
                <a:cs typeface="Calibri" pitchFamily="34" charset="-120"/>
              </a:rPr>
              <a:t>"I want a refund for ORD1004" (over threshold)</a:t>
            </a:r>
            <a:endParaRPr lang="en-US" sz="1350" dirty="0"/>
          </a:p>
        </p:txBody>
      </p:sp>
      <p:sp>
        <p:nvSpPr>
          <p:cNvPr id="16" name="Text 11"/>
          <p:cNvSpPr txBox="1"/>
          <p:nvPr/>
        </p:nvSpPr>
        <p:spPr>
          <a:xfrm>
            <a:off x="4279392" y="3493008"/>
            <a:ext cx="2907792" cy="749808"/>
          </a:xfrm>
          <a:prstGeom prst="rect">
            <a:avLst/>
          </a:prstGeom>
          <a:noFill/>
          <a:ln/>
        </p:spPr>
        <p:txBody>
          <a:bodyPr wrap="square" lIns="0" tIns="0" rIns="0" bIns="0" rtlCol="0" anchor="ctr"/>
          <a:lstStyle/>
          <a:p>
            <a:pPr indent="0" marL="0">
              <a:lnSpc>
                <a:spcPts val="1800"/>
              </a:lnSpc>
              <a:buNone/>
            </a:pPr>
            <a:r>
              <a:rPr lang="en-US" sz="1350" b="1" dirty="0">
                <a:solidFill>
                  <a:srgbClr val="00915A"/>
                </a:solidFill>
                <a:latin typeface="Calibri" pitchFamily="34" charset="0"/>
                <a:ea typeface="Calibri" pitchFamily="34" charset="-122"/>
                <a:cs typeface="Calibri" pitchFamily="34" charset="-120"/>
              </a:rPr>
              <a:t>›  </a:t>
            </a:r>
            <a:pPr indent="0" marL="0">
              <a:lnSpc>
                <a:spcPts val="1800"/>
              </a:lnSpc>
              <a:buNone/>
            </a:pPr>
            <a:r>
              <a:rPr lang="en-US" sz="1350" dirty="0">
                <a:solidFill>
                  <a:srgbClr val="AFE4CB"/>
                </a:solidFill>
                <a:latin typeface="Calibri" pitchFamily="34" charset="0"/>
                <a:ea typeface="Calibri" pitchFamily="34" charset="-122"/>
                <a:cs typeface="Calibri" pitchFamily="34" charset="-120"/>
              </a:rPr>
              <a:t>Resume the paused graph with approve / deny</a:t>
            </a:r>
            <a:endParaRPr lang="en-US" sz="1350" dirty="0"/>
          </a:p>
        </p:txBody>
      </p:sp>
      <p:sp>
        <p:nvSpPr>
          <p:cNvPr id="17" name="Shape 12"/>
          <p:cNvSpPr/>
          <p:nvPr/>
        </p:nvSpPr>
        <p:spPr>
          <a:xfrm>
            <a:off x="7607808" y="1874520"/>
            <a:ext cx="3310128" cy="3977640"/>
          </a:xfrm>
          <a:prstGeom prst="roundRect">
            <a:avLst>
              <a:gd name="adj" fmla="val 2762"/>
            </a:avLst>
          </a:prstGeom>
          <a:solidFill>
            <a:srgbClr val="123528"/>
          </a:solidFill>
          <a:ln w="12700">
            <a:solidFill>
              <a:srgbClr val="1E4B39"/>
            </a:solidFill>
            <a:prstDash val="solid"/>
          </a:ln>
        </p:spPr>
      </p:sp>
      <p:pic>
        <p:nvPicPr>
          <p:cNvPr id="18" name="Image 3" descr="/home/claude/icons/eye_w.png">    </p:cNvPr>
          <p:cNvPicPr>
            <a:picLocks noChangeAspect="1"/>
          </p:cNvPicPr>
          <p:nvPr/>
        </p:nvPicPr>
        <p:blipFill>
          <a:blip r:embed="rId4"/>
          <a:stretch>
            <a:fillRect/>
          </a:stretch>
        </p:blipFill>
        <p:spPr>
          <a:xfrm>
            <a:off x="7836408" y="2103120"/>
            <a:ext cx="329184" cy="329184"/>
          </a:xfrm>
          <a:prstGeom prst="rect">
            <a:avLst/>
          </a:prstGeom>
        </p:spPr>
      </p:pic>
      <p:sp>
        <p:nvSpPr>
          <p:cNvPr id="19" name="Text 13"/>
          <p:cNvSpPr txBox="1"/>
          <p:nvPr/>
        </p:nvSpPr>
        <p:spPr>
          <a:xfrm>
            <a:off x="8266176" y="2093976"/>
            <a:ext cx="2487168"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Watch for</a:t>
            </a:r>
            <a:endParaRPr lang="en-US" sz="1500" dirty="0"/>
          </a:p>
        </p:txBody>
      </p:sp>
      <p:sp>
        <p:nvSpPr>
          <p:cNvPr id="20" name="Text 14"/>
          <p:cNvSpPr txBox="1"/>
          <p:nvPr/>
        </p:nvSpPr>
        <p:spPr>
          <a:xfrm>
            <a:off x="7808976" y="2651760"/>
            <a:ext cx="2907792" cy="749808"/>
          </a:xfrm>
          <a:prstGeom prst="rect">
            <a:avLst/>
          </a:prstGeom>
          <a:noFill/>
          <a:ln/>
        </p:spPr>
        <p:txBody>
          <a:bodyPr wrap="square" lIns="0" tIns="0" rIns="0" bIns="0" rtlCol="0" anchor="ctr"/>
          <a:lstStyle/>
          <a:p>
            <a:pPr indent="0" marL="0">
              <a:lnSpc>
                <a:spcPts val="1800"/>
              </a:lnSpc>
              <a:buNone/>
            </a:pPr>
            <a:r>
              <a:rPr lang="en-US" sz="1350" b="1" dirty="0">
                <a:solidFill>
                  <a:srgbClr val="00915A"/>
                </a:solidFill>
                <a:latin typeface="Calibri" pitchFamily="34" charset="0"/>
                <a:ea typeface="Calibri" pitchFamily="34" charset="-122"/>
                <a:cs typeface="Calibri" pitchFamily="34" charset="-120"/>
              </a:rPr>
              <a:t>›  </a:t>
            </a:r>
            <a:pPr indent="0" marL="0">
              <a:lnSpc>
                <a:spcPts val="1800"/>
              </a:lnSpc>
              <a:buNone/>
            </a:pPr>
            <a:r>
              <a:rPr lang="en-US" sz="1350" dirty="0">
                <a:solidFill>
                  <a:srgbClr val="AFE4CB"/>
                </a:solidFill>
                <a:latin typeface="Calibri" pitchFamily="34" charset="0"/>
                <a:ea typeface="Calibri" pitchFamily="34" charset="-122"/>
                <a:cs typeface="Calibri" pitchFamily="34" charset="-120"/>
              </a:rPr>
              <a:t>Execution visibly suspending mid-run, not erroring out</a:t>
            </a:r>
            <a:endParaRPr lang="en-US" sz="1350" dirty="0"/>
          </a:p>
        </p:txBody>
      </p:sp>
      <p:sp>
        <p:nvSpPr>
          <p:cNvPr id="21" name="Text 15"/>
          <p:cNvSpPr txBox="1"/>
          <p:nvPr/>
        </p:nvSpPr>
        <p:spPr>
          <a:xfrm>
            <a:off x="7808976" y="3493008"/>
            <a:ext cx="2907792" cy="749808"/>
          </a:xfrm>
          <a:prstGeom prst="rect">
            <a:avLst/>
          </a:prstGeom>
          <a:noFill/>
          <a:ln/>
        </p:spPr>
        <p:txBody>
          <a:bodyPr wrap="square" lIns="0" tIns="0" rIns="0" bIns="0" rtlCol="0" anchor="ctr"/>
          <a:lstStyle/>
          <a:p>
            <a:pPr indent="0" marL="0">
              <a:lnSpc>
                <a:spcPts val="1800"/>
              </a:lnSpc>
              <a:buNone/>
            </a:pPr>
            <a:r>
              <a:rPr lang="en-US" sz="1350" b="1" dirty="0">
                <a:solidFill>
                  <a:srgbClr val="00915A"/>
                </a:solidFill>
                <a:latin typeface="Calibri" pitchFamily="34" charset="0"/>
                <a:ea typeface="Calibri" pitchFamily="34" charset="-122"/>
                <a:cs typeface="Calibri" pitchFamily="34" charset="-120"/>
              </a:rPr>
              <a:t>›  </a:t>
            </a:r>
            <a:pPr indent="0" marL="0">
              <a:lnSpc>
                <a:spcPts val="1800"/>
              </a:lnSpc>
              <a:buNone/>
            </a:pPr>
            <a:r>
              <a:rPr lang="en-US" sz="1350" dirty="0">
                <a:solidFill>
                  <a:srgbClr val="AFE4CB"/>
                </a:solidFill>
                <a:latin typeface="Calibri" pitchFamily="34" charset="0"/>
                <a:ea typeface="Calibri" pitchFamily="34" charset="-122"/>
                <a:cs typeface="Calibri" pitchFamily="34" charset="-120"/>
              </a:rPr>
              <a:t>State surviving the pause — nothing is re-asked on resume</a:t>
            </a:r>
            <a:endParaRPr lang="en-US" sz="1350" dirty="0"/>
          </a:p>
        </p:txBody>
      </p:sp>
      <p:sp>
        <p:nvSpPr>
          <p:cNvPr id="22" name="Text 16"/>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AFE4CB"/>
                </a:solidFill>
                <a:latin typeface="Calibri" pitchFamily="34" charset="0"/>
                <a:ea typeface="Calibri" pitchFamily="34" charset="-122"/>
                <a:cs typeface="Calibri" pitchFamily="34" charset="-120"/>
              </a:rPr>
              <a:t>Agentic AI with LangChain &amp; LangGraph</a:t>
            </a:r>
            <a:endParaRPr lang="en-US" sz="1000" dirty="0"/>
          </a:p>
        </p:txBody>
      </p:sp>
      <p:sp>
        <p:nvSpPr>
          <p:cNvPr id="23" name="Text 17"/>
          <p:cNvSpPr txBox="1"/>
          <p:nvPr/>
        </p:nvSpPr>
        <p:spPr>
          <a:xfrm>
            <a:off x="11064240" y="6473952"/>
            <a:ext cx="548640" cy="274320"/>
          </a:xfrm>
          <a:prstGeom prst="rect">
            <a:avLst/>
          </a:prstGeom>
          <a:noFill/>
          <a:ln/>
        </p:spPr>
        <p:txBody>
          <a:bodyPr wrap="square" lIns="0" tIns="0" rIns="0" bIns="0" rtlCol="0" anchor="ctr"/>
          <a:lstStyle/>
          <a:p>
            <a:pPr algn="r" indent="0" marL="0">
              <a:buNone/>
            </a:pPr>
            <a:r>
              <a:rPr lang="en-US" sz="1000" dirty="0">
                <a:solidFill>
                  <a:srgbClr val="AFE4CB"/>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548640" y="685800"/>
            <a:ext cx="11064240" cy="5486400"/>
          </a:xfrm>
          <a:prstGeom prst="roundRect">
            <a:avLst>
              <a:gd name="adj" fmla="val 2333"/>
            </a:avLst>
          </a:prstGeom>
          <a:solidFill>
            <a:srgbClr val="E8F5EF"/>
          </a:solidFill>
          <a:ln w="19050">
            <a:solidFill>
              <a:srgbClr val="D98E04"/>
            </a:solidFill>
            <a:prstDash val="solid"/>
          </a:ln>
        </p:spPr>
      </p:sp>
      <p:sp>
        <p:nvSpPr>
          <p:cNvPr id="3" name="Shape 1"/>
          <p:cNvSpPr/>
          <p:nvPr/>
        </p:nvSpPr>
        <p:spPr>
          <a:xfrm>
            <a:off x="960120" y="1051560"/>
            <a:ext cx="1737360" cy="365760"/>
          </a:xfrm>
          <a:prstGeom prst="roundRect">
            <a:avLst>
              <a:gd name="adj" fmla="val 50000"/>
            </a:avLst>
          </a:prstGeom>
          <a:solidFill>
            <a:srgbClr val="D98E04"/>
          </a:solidFill>
          <a:ln/>
        </p:spPr>
      </p:sp>
      <p:sp>
        <p:nvSpPr>
          <p:cNvPr id="4" name="Text 2"/>
          <p:cNvSpPr txBox="1"/>
          <p:nvPr/>
        </p:nvSpPr>
        <p:spPr>
          <a:xfrm>
            <a:off x="960120" y="1051560"/>
            <a:ext cx="1737360" cy="365760"/>
          </a:xfrm>
          <a:prstGeom prst="rect">
            <a:avLst/>
          </a:prstGeom>
          <a:noFill/>
          <a:ln/>
        </p:spPr>
        <p:txBody>
          <a:bodyPr wrap="square" lIns="0" tIns="0" rIns="0" bIns="0" rtlCol="0" anchor="ctr"/>
          <a:lstStyle/>
          <a:p>
            <a:pPr algn="ctr" indent="0" marL="0">
              <a:buNone/>
            </a:pPr>
            <a:r>
              <a:rPr lang="en-US" sz="1200" b="1" spc="150" kern="0" dirty="0">
                <a:solidFill>
                  <a:srgbClr val="FFFFFF"/>
                </a:solidFill>
                <a:latin typeface="Calibri" pitchFamily="34" charset="0"/>
                <a:ea typeface="Calibri" pitchFamily="34" charset="-122"/>
                <a:cs typeface="Calibri" pitchFamily="34" charset="-120"/>
              </a:rPr>
              <a:t>ICEBREAKER</a:t>
            </a:r>
            <a:endParaRPr lang="en-US" sz="1200" dirty="0"/>
          </a:p>
        </p:txBody>
      </p:sp>
      <p:sp>
        <p:nvSpPr>
          <p:cNvPr id="5" name="Shape 3"/>
          <p:cNvSpPr/>
          <p:nvPr/>
        </p:nvSpPr>
        <p:spPr>
          <a:xfrm>
            <a:off x="10378440" y="960120"/>
            <a:ext cx="822960" cy="822960"/>
          </a:xfrm>
          <a:prstGeom prst="ellipse">
            <a:avLst/>
          </a:prstGeom>
          <a:solidFill>
            <a:srgbClr val="FFFFFF"/>
          </a:solidFill>
          <a:ln w="19050">
            <a:solidFill>
              <a:srgbClr val="D98E04"/>
            </a:solidFill>
            <a:prstDash val="solid"/>
          </a:ln>
        </p:spPr>
      </p:sp>
      <p:pic>
        <p:nvPicPr>
          <p:cNvPr id="6" name="Image 0" descr="/home/claude/icons/coffee_amber.png">    </p:cNvPr>
          <p:cNvPicPr>
            <a:picLocks noChangeAspect="1"/>
          </p:cNvPicPr>
          <p:nvPr/>
        </p:nvPicPr>
        <p:blipFill>
          <a:blip r:embed="rId1"/>
          <a:stretch>
            <a:fillRect/>
          </a:stretch>
        </p:blipFill>
        <p:spPr>
          <a:xfrm>
            <a:off x="10579608" y="1161288"/>
            <a:ext cx="420624" cy="420624"/>
          </a:xfrm>
          <a:prstGeom prst="rect">
            <a:avLst/>
          </a:prstGeom>
        </p:spPr>
      </p:pic>
      <p:sp>
        <p:nvSpPr>
          <p:cNvPr id="7" name="Text 4"/>
          <p:cNvSpPr txBox="1"/>
          <p:nvPr/>
        </p:nvSpPr>
        <p:spPr>
          <a:xfrm>
            <a:off x="960120" y="1691640"/>
            <a:ext cx="9052560" cy="822960"/>
          </a:xfrm>
          <a:prstGeom prst="rect">
            <a:avLst/>
          </a:prstGeom>
          <a:noFill/>
          <a:ln/>
        </p:spPr>
        <p:txBody>
          <a:bodyPr wrap="square" lIns="0" tIns="0" rIns="0" bIns="0" rtlCol="0" anchor="ctr"/>
          <a:lstStyle/>
          <a:p>
            <a:pPr indent="0" marL="0">
              <a:lnSpc>
                <a:spcPts val="3000"/>
              </a:lnSpc>
              <a:buNone/>
            </a:pPr>
            <a:r>
              <a:rPr lang="en-US" sz="2600" b="1" dirty="0">
                <a:solidFill>
                  <a:srgbClr val="1F2A28"/>
                </a:solidFill>
                <a:latin typeface="Calibri" pitchFamily="34" charset="0"/>
                <a:ea typeface="Calibri" pitchFamily="34" charset="-122"/>
                <a:cs typeface="Calibri" pitchFamily="34" charset="-120"/>
              </a:rPr>
              <a:t>Stretch break — two minutes</a:t>
            </a:r>
            <a:endParaRPr lang="en-US" sz="2600" dirty="0"/>
          </a:p>
        </p:txBody>
      </p:sp>
      <p:sp>
        <p:nvSpPr>
          <p:cNvPr id="8" name="Shape 5"/>
          <p:cNvSpPr/>
          <p:nvPr/>
        </p:nvSpPr>
        <p:spPr>
          <a:xfrm>
            <a:off x="960120" y="2697480"/>
            <a:ext cx="10241280" cy="1417320"/>
          </a:xfrm>
          <a:prstGeom prst="roundRect">
            <a:avLst>
              <a:gd name="adj" fmla="val 6452"/>
            </a:avLst>
          </a:prstGeom>
          <a:solidFill>
            <a:srgbClr val="FFFFFF"/>
          </a:solidFill>
          <a:ln w="12700">
            <a:solidFill>
              <a:srgbClr val="D7E9E1"/>
            </a:solidFill>
            <a:prstDash val="solid"/>
          </a:ln>
          <a:effectLst>
            <a:outerShdw sx="100000" sy="100000" kx="0" ky="0" algn="bl" rotWithShape="0" blurRad="76200" dist="25400" dir="5400000">
              <a:srgbClr val="1F2A28">
                <a:alpha val="18000"/>
              </a:srgbClr>
            </a:outerShdw>
          </a:effectLst>
        </p:spPr>
      </p:sp>
      <p:sp>
        <p:nvSpPr>
          <p:cNvPr id="9" name="Text 6"/>
          <p:cNvSpPr txBox="1"/>
          <p:nvPr/>
        </p:nvSpPr>
        <p:spPr>
          <a:xfrm>
            <a:off x="1234440" y="2697480"/>
            <a:ext cx="9692640" cy="1417320"/>
          </a:xfrm>
          <a:prstGeom prst="rect">
            <a:avLst/>
          </a:prstGeom>
          <a:noFill/>
          <a:ln/>
        </p:spPr>
        <p:txBody>
          <a:bodyPr wrap="square" lIns="0" tIns="0" rIns="0" bIns="0" rtlCol="0" anchor="ctr"/>
          <a:lstStyle/>
          <a:p>
            <a:pPr indent="0" marL="0">
              <a:lnSpc>
                <a:spcPts val="2600"/>
              </a:lnSpc>
              <a:buNone/>
            </a:pPr>
            <a:r>
              <a:rPr lang="en-US" sz="2000" b="1" i="1" dirty="0">
                <a:solidFill>
                  <a:srgbClr val="00693F"/>
                </a:solidFill>
                <a:latin typeface="Calibri" pitchFamily="34" charset="0"/>
                <a:ea typeface="Calibri" pitchFamily="34" charset="-122"/>
                <a:cs typeface="Calibri" pitchFamily="34" charset="-120"/>
              </a:rPr>
              <a:t>“Of the five patterns just covered, which one would your team push back on hardest — and why?”</a:t>
            </a:r>
            <a:endParaRPr lang="en-US" sz="2000" dirty="0"/>
          </a:p>
        </p:txBody>
      </p:sp>
      <p:pic>
        <p:nvPicPr>
          <p:cNvPr id="10" name="Image 1" descr="/home/claude/icons/coffee.png">    </p:cNvPr>
          <p:cNvPicPr>
            <a:picLocks noChangeAspect="1"/>
          </p:cNvPicPr>
          <p:nvPr/>
        </p:nvPicPr>
        <p:blipFill>
          <a:blip r:embed="rId2"/>
          <a:stretch>
            <a:fillRect/>
          </a:stretch>
        </p:blipFill>
        <p:spPr>
          <a:xfrm>
            <a:off x="960120" y="4434840"/>
            <a:ext cx="292608" cy="292608"/>
          </a:xfrm>
          <a:prstGeom prst="rect">
            <a:avLst/>
          </a:prstGeom>
        </p:spPr>
      </p:pic>
      <p:sp>
        <p:nvSpPr>
          <p:cNvPr id="11" name="Text 7"/>
          <p:cNvSpPr txBox="1"/>
          <p:nvPr/>
        </p:nvSpPr>
        <p:spPr>
          <a:xfrm>
            <a:off x="1371600" y="4416552"/>
            <a:ext cx="9829800" cy="457200"/>
          </a:xfrm>
          <a:prstGeom prst="rect">
            <a:avLst/>
          </a:prstGeom>
          <a:noFill/>
          <a:ln/>
        </p:spPr>
        <p:txBody>
          <a:bodyPr wrap="square" lIns="0" tIns="0" rIns="0" bIns="0" rtlCol="0" anchor="ctr"/>
          <a:lstStyle/>
          <a:p>
            <a:pPr indent="0" marL="0">
              <a:lnSpc>
                <a:spcPts val="1800"/>
              </a:lnSpc>
              <a:buNone/>
            </a:pPr>
            <a:r>
              <a:rPr lang="en-US" sz="1400" i="1" dirty="0">
                <a:solidFill>
                  <a:srgbClr val="5B6B67"/>
                </a:solidFill>
                <a:latin typeface="Calibri" pitchFamily="34" charset="0"/>
                <a:ea typeface="Calibri" pitchFamily="34" charset="-122"/>
                <a:cs typeface="Calibri" pitchFamily="34" charset="-120"/>
              </a:rPr>
              <a:t>Stretch, top up the coffee, then a few quick answers before moving on.</a:t>
            </a:r>
            <a:endParaRPr lang="en-US" sz="1400" dirty="0"/>
          </a:p>
        </p:txBody>
      </p:sp>
      <p:sp>
        <p:nvSpPr>
          <p:cNvPr id="12" name="Text 8"/>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5B6B67"/>
                </a:solidFill>
                <a:latin typeface="Calibri" pitchFamily="34" charset="0"/>
                <a:ea typeface="Calibri" pitchFamily="34" charset="-122"/>
                <a:cs typeface="Calibri" pitchFamily="34" charset="-120"/>
              </a:rPr>
              <a:t>Agentic AI with LangChain &amp; LangGraph</a:t>
            </a:r>
            <a:endParaRPr lang="en-US" sz="1000" dirty="0"/>
          </a:p>
        </p:txBody>
      </p:sp>
      <p:sp>
        <p:nvSpPr>
          <p:cNvPr id="13" name="Text 9"/>
          <p:cNvSpPr txBox="1"/>
          <p:nvPr/>
        </p:nvSpPr>
        <p:spPr>
          <a:xfrm>
            <a:off x="11064240" y="6473952"/>
            <a:ext cx="548640" cy="274320"/>
          </a:xfrm>
          <a:prstGeom prst="rect">
            <a:avLst/>
          </a:prstGeom>
          <a:noFill/>
          <a:ln/>
        </p:spPr>
        <p:txBody>
          <a:bodyPr wrap="square" lIns="0" tIns="0" rIns="0" bIns="0" rtlCol="0" anchor="ctr"/>
          <a:lstStyle/>
          <a:p>
            <a:pPr algn="r" indent="0" marL="0">
              <a:buNone/>
            </a:pPr>
            <a:r>
              <a:rPr lang="en-US" sz="1000" dirty="0">
                <a:solidFill>
                  <a:srgbClr val="5B6B67"/>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200" b="1" spc="150" kern="0" dirty="0">
                <a:solidFill>
                  <a:srgbClr val="00693F"/>
                </a:solidFill>
                <a:latin typeface="Calibri" pitchFamily="34" charset="0"/>
                <a:ea typeface="Calibri" pitchFamily="34" charset="-122"/>
                <a:cs typeface="Calibri" pitchFamily="34" charset="-120"/>
              </a:rPr>
              <a:t>ENTERPRISE INTEGRATION</a:t>
            </a:r>
            <a:endParaRPr lang="en-US" sz="1200" dirty="0"/>
          </a:p>
        </p:txBody>
      </p:sp>
      <p:sp>
        <p:nvSpPr>
          <p:cNvPr id="3" name="Text 1"/>
          <p:cNvSpPr txBox="1"/>
          <p:nvPr/>
        </p:nvSpPr>
        <p:spPr>
          <a:xfrm>
            <a:off x="548640" y="658368"/>
            <a:ext cx="11064240" cy="822960"/>
          </a:xfrm>
          <a:prstGeom prst="rect">
            <a:avLst/>
          </a:prstGeom>
          <a:noFill/>
          <a:ln/>
        </p:spPr>
        <p:txBody>
          <a:bodyPr wrap="square" lIns="0" tIns="0" rIns="0" bIns="0" rtlCol="0" anchor="ctr"/>
          <a:lstStyle/>
          <a:p>
            <a:pPr indent="0" marL="0">
              <a:lnSpc>
                <a:spcPts val="3400"/>
              </a:lnSpc>
              <a:buNone/>
            </a:pPr>
            <a:r>
              <a:rPr lang="en-US" sz="3000" b="1" dirty="0">
                <a:solidFill>
                  <a:srgbClr val="1F2A28"/>
                </a:solidFill>
                <a:latin typeface="Calibri" pitchFamily="34" charset="0"/>
                <a:ea typeface="Calibri" pitchFamily="34" charset="-122"/>
                <a:cs typeface="Calibri" pitchFamily="34" charset="-120"/>
              </a:rPr>
              <a:t>Wiring to the internal LLM gateway</a:t>
            </a:r>
            <a:endParaRPr lang="en-US" sz="3000" dirty="0"/>
          </a:p>
        </p:txBody>
      </p:sp>
      <p:sp>
        <p:nvSpPr>
          <p:cNvPr id="4" name="Shape 2"/>
          <p:cNvSpPr/>
          <p:nvPr/>
        </p:nvSpPr>
        <p:spPr>
          <a:xfrm>
            <a:off x="10835640" y="566928"/>
            <a:ext cx="685800" cy="685800"/>
          </a:xfrm>
          <a:prstGeom prst="ellipse">
            <a:avLst/>
          </a:prstGeom>
          <a:solidFill>
            <a:srgbClr val="00915A"/>
          </a:solidFill>
          <a:ln/>
        </p:spPr>
      </p:sp>
      <p:pic>
        <p:nvPicPr>
          <p:cNvPr id="5" name="Image 0" descr="/home/claude/icons/lock.png">    </p:cNvPr>
          <p:cNvPicPr>
            <a:picLocks noChangeAspect="1"/>
          </p:cNvPicPr>
          <p:nvPr/>
        </p:nvPicPr>
        <p:blipFill>
          <a:blip r:embed="rId1"/>
          <a:stretch>
            <a:fillRect/>
          </a:stretch>
        </p:blipFill>
        <p:spPr>
          <a:xfrm>
            <a:off x="10924794" y="656082"/>
            <a:ext cx="507492" cy="507492"/>
          </a:xfrm>
          <a:prstGeom prst="rect">
            <a:avLst/>
          </a:prstGeom>
        </p:spPr>
      </p:pic>
      <p:sp>
        <p:nvSpPr>
          <p:cNvPr id="6" name="Shape 3"/>
          <p:cNvSpPr/>
          <p:nvPr/>
        </p:nvSpPr>
        <p:spPr>
          <a:xfrm>
            <a:off x="548640" y="2459736"/>
            <a:ext cx="91440" cy="91440"/>
          </a:xfrm>
          <a:prstGeom prst="ellipse">
            <a:avLst/>
          </a:prstGeom>
          <a:solidFill>
            <a:srgbClr val="00915A"/>
          </a:solidFill>
          <a:ln/>
        </p:spPr>
      </p:sp>
      <p:sp>
        <p:nvSpPr>
          <p:cNvPr id="7" name="Text 4"/>
          <p:cNvSpPr txBox="1"/>
          <p:nvPr/>
        </p:nvSpPr>
        <p:spPr>
          <a:xfrm>
            <a:off x="822960" y="2057400"/>
            <a:ext cx="6309360" cy="896112"/>
          </a:xfrm>
          <a:prstGeom prst="rect">
            <a:avLst/>
          </a:prstGeom>
          <a:noFill/>
          <a:ln/>
        </p:spPr>
        <p:txBody>
          <a:bodyPr wrap="square" lIns="0" tIns="0" rIns="0" bIns="0" rtlCol="0" anchor="ctr"/>
          <a:lstStyle/>
          <a:p>
            <a:pPr indent="0" marL="0">
              <a:lnSpc>
                <a:spcPts val="2100"/>
              </a:lnSpc>
              <a:buNone/>
            </a:pPr>
            <a:r>
              <a:rPr lang="en-US" sz="1600" dirty="0">
                <a:solidFill>
                  <a:srgbClr val="1F2A28"/>
                </a:solidFill>
                <a:latin typeface="Calibri" pitchFamily="34" charset="0"/>
                <a:ea typeface="Calibri" pitchFamily="34" charset="-122"/>
                <a:cs typeface="Calibri" pitchFamily="34" charset="-120"/>
              </a:rPr>
              <a:t>A custom BaseChatModel: sync requests.Session with retry/backoff via urllib3.</a:t>
            </a:r>
            <a:endParaRPr lang="en-US" sz="1600" dirty="0"/>
          </a:p>
        </p:txBody>
      </p:sp>
      <p:sp>
        <p:nvSpPr>
          <p:cNvPr id="8" name="Shape 5"/>
          <p:cNvSpPr/>
          <p:nvPr/>
        </p:nvSpPr>
        <p:spPr>
          <a:xfrm>
            <a:off x="548640" y="3739896"/>
            <a:ext cx="91440" cy="91440"/>
          </a:xfrm>
          <a:prstGeom prst="ellipse">
            <a:avLst/>
          </a:prstGeom>
          <a:solidFill>
            <a:srgbClr val="00915A"/>
          </a:solidFill>
          <a:ln/>
        </p:spPr>
      </p:sp>
      <p:sp>
        <p:nvSpPr>
          <p:cNvPr id="9" name="Text 6"/>
          <p:cNvSpPr txBox="1"/>
          <p:nvPr/>
        </p:nvSpPr>
        <p:spPr>
          <a:xfrm>
            <a:off x="822960" y="3337560"/>
            <a:ext cx="6309360" cy="896112"/>
          </a:xfrm>
          <a:prstGeom prst="rect">
            <a:avLst/>
          </a:prstGeom>
          <a:noFill/>
          <a:ln/>
        </p:spPr>
        <p:txBody>
          <a:bodyPr wrap="square" lIns="0" tIns="0" rIns="0" bIns="0" rtlCol="0" anchor="ctr"/>
          <a:lstStyle/>
          <a:p>
            <a:pPr indent="0" marL="0">
              <a:lnSpc>
                <a:spcPts val="2100"/>
              </a:lnSpc>
              <a:buNone/>
            </a:pPr>
            <a:r>
              <a:rPr lang="en-US" sz="1600" dirty="0">
                <a:solidFill>
                  <a:srgbClr val="1F2A28"/>
                </a:solidFill>
                <a:latin typeface="Calibri" pitchFamily="34" charset="0"/>
                <a:ea typeface="Calibri" pitchFamily="34" charset="-122"/>
                <a:cs typeface="Calibri" pitchFamily="34" charset="-120"/>
              </a:rPr>
              <a:t>Async wraps the sync calls in a thread pool — requests releases the GIL during I/O, so real concurrency still holds.</a:t>
            </a:r>
            <a:endParaRPr lang="en-US" sz="1600" dirty="0"/>
          </a:p>
        </p:txBody>
      </p:sp>
      <p:sp>
        <p:nvSpPr>
          <p:cNvPr id="10" name="Shape 7"/>
          <p:cNvSpPr/>
          <p:nvPr/>
        </p:nvSpPr>
        <p:spPr>
          <a:xfrm>
            <a:off x="548640" y="5020056"/>
            <a:ext cx="91440" cy="91440"/>
          </a:xfrm>
          <a:prstGeom prst="ellipse">
            <a:avLst/>
          </a:prstGeom>
          <a:solidFill>
            <a:srgbClr val="00915A"/>
          </a:solidFill>
          <a:ln/>
        </p:spPr>
      </p:sp>
      <p:sp>
        <p:nvSpPr>
          <p:cNvPr id="11" name="Text 8"/>
          <p:cNvSpPr txBox="1"/>
          <p:nvPr/>
        </p:nvSpPr>
        <p:spPr>
          <a:xfrm>
            <a:off x="822960" y="4617720"/>
            <a:ext cx="6309360" cy="896112"/>
          </a:xfrm>
          <a:prstGeom prst="rect">
            <a:avLst/>
          </a:prstGeom>
          <a:noFill/>
          <a:ln/>
        </p:spPr>
        <p:txBody>
          <a:bodyPr wrap="square" lIns="0" tIns="0" rIns="0" bIns="0" rtlCol="0" anchor="ctr"/>
          <a:lstStyle/>
          <a:p>
            <a:pPr indent="0" marL="0">
              <a:lnSpc>
                <a:spcPts val="2100"/>
              </a:lnSpc>
              <a:buNone/>
            </a:pPr>
            <a:r>
              <a:rPr lang="en-US" sz="1600" dirty="0">
                <a:solidFill>
                  <a:srgbClr val="1F2A28"/>
                </a:solidFill>
                <a:latin typeface="Calibri" pitchFamily="34" charset="0"/>
                <a:ea typeface="Calibri" pitchFamily="34" charset="-122"/>
                <a:cs typeface="Calibri" pitchFamily="34" charset="-120"/>
              </a:rPr>
              <a:t>Pluggable auth: BearerTokenAuth for non-prod, ApigeeAuth stub for prod.</a:t>
            </a:r>
            <a:endParaRPr lang="en-US" sz="1600" dirty="0"/>
          </a:p>
        </p:txBody>
      </p:sp>
      <p:sp>
        <p:nvSpPr>
          <p:cNvPr id="12" name="Shape 9"/>
          <p:cNvSpPr/>
          <p:nvPr/>
        </p:nvSpPr>
        <p:spPr>
          <a:xfrm>
            <a:off x="7178040" y="1783080"/>
            <a:ext cx="4434840" cy="3383280"/>
          </a:xfrm>
          <a:prstGeom prst="roundRect">
            <a:avLst>
              <a:gd name="adj" fmla="val 3243"/>
            </a:avLst>
          </a:prstGeom>
          <a:solidFill>
            <a:srgbClr val="E8F5EF"/>
          </a:solidFill>
          <a:ln/>
          <a:effectLst>
            <a:outerShdw sx="100000" sy="100000" kx="0" ky="0" algn="bl" rotWithShape="0" blurRad="76200" dist="25400" dir="5400000">
              <a:srgbClr val="1F2A28">
                <a:alpha val="18000"/>
              </a:srgbClr>
            </a:outerShdw>
          </a:effectLst>
        </p:spPr>
      </p:sp>
      <p:sp>
        <p:nvSpPr>
          <p:cNvPr id="13" name="Text 10"/>
          <p:cNvSpPr txBox="1"/>
          <p:nvPr/>
        </p:nvSpPr>
        <p:spPr>
          <a:xfrm>
            <a:off x="7452360" y="2011680"/>
            <a:ext cx="3886200" cy="457200"/>
          </a:xfrm>
          <a:prstGeom prst="rect">
            <a:avLst/>
          </a:prstGeom>
          <a:noFill/>
          <a:ln/>
        </p:spPr>
        <p:txBody>
          <a:bodyPr wrap="square" lIns="0" tIns="0" rIns="0" bIns="0" rtlCol="0" anchor="ctr"/>
          <a:lstStyle/>
          <a:p>
            <a:pPr indent="0" marL="0">
              <a:buNone/>
            </a:pPr>
            <a:r>
              <a:rPr lang="en-US" sz="1700" b="1" dirty="0">
                <a:solidFill>
                  <a:srgbClr val="00693F"/>
                </a:solidFill>
                <a:latin typeface="Calibri" pitchFamily="34" charset="0"/>
                <a:ea typeface="Calibri" pitchFamily="34" charset="-122"/>
                <a:cs typeface="Calibri" pitchFamily="34" charset="-120"/>
              </a:rPr>
              <a:t>The parallel to MCP auth</a:t>
            </a:r>
            <a:endParaRPr lang="en-US" sz="1700" dirty="0"/>
          </a:p>
        </p:txBody>
      </p:sp>
      <p:sp>
        <p:nvSpPr>
          <p:cNvPr id="14" name="Text 11"/>
          <p:cNvSpPr txBox="1"/>
          <p:nvPr/>
        </p:nvSpPr>
        <p:spPr>
          <a:xfrm>
            <a:off x="7452360" y="2514600"/>
            <a:ext cx="3886200" cy="2468880"/>
          </a:xfrm>
          <a:prstGeom prst="rect">
            <a:avLst/>
          </a:prstGeom>
          <a:noFill/>
          <a:ln/>
        </p:spPr>
        <p:txBody>
          <a:bodyPr wrap="square" lIns="0" tIns="0" rIns="0" bIns="0" rtlCol="0" anchor="ctr"/>
          <a:lstStyle/>
          <a:p>
            <a:pPr indent="0" marL="0">
              <a:lnSpc>
                <a:spcPts val="1900"/>
              </a:lnSpc>
              <a:buNone/>
            </a:pPr>
            <a:r>
              <a:rPr lang="en-US" sz="1400" dirty="0">
                <a:solidFill>
                  <a:srgbClr val="1F2A28"/>
                </a:solidFill>
                <a:latin typeface="Calibri" pitchFamily="34" charset="0"/>
                <a:ea typeface="Calibri" pitchFamily="34" charset="-122"/>
                <a:cs typeface="Calibri" pitchFamily="34" charset="-120"/>
              </a:rPr>
              <a:t>Same OAuth2 / Apigee token-exchange shape covered for MCP server auth — same problem, same shape of solution, one layer up the stack.</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200" b="1" spc="150" kern="0" dirty="0">
                <a:solidFill>
                  <a:srgbClr val="00693F"/>
                </a:solidFill>
                <a:latin typeface="Calibri" pitchFamily="34" charset="0"/>
                <a:ea typeface="Calibri" pitchFamily="34" charset="-122"/>
                <a:cs typeface="Calibri" pitchFamily="34" charset="-120"/>
              </a:rPr>
              <a:t>ENTERPRISE INTEGRATION</a:t>
            </a:r>
            <a:endParaRPr lang="en-US" sz="1200" dirty="0"/>
          </a:p>
        </p:txBody>
      </p:sp>
      <p:sp>
        <p:nvSpPr>
          <p:cNvPr id="3" name="Text 1"/>
          <p:cNvSpPr txBox="1"/>
          <p:nvPr/>
        </p:nvSpPr>
        <p:spPr>
          <a:xfrm>
            <a:off x="548640" y="658368"/>
            <a:ext cx="11064240" cy="822960"/>
          </a:xfrm>
          <a:prstGeom prst="rect">
            <a:avLst/>
          </a:prstGeom>
          <a:noFill/>
          <a:ln/>
        </p:spPr>
        <p:txBody>
          <a:bodyPr wrap="square" lIns="0" tIns="0" rIns="0" bIns="0" rtlCol="0" anchor="ctr"/>
          <a:lstStyle/>
          <a:p>
            <a:pPr indent="0" marL="0">
              <a:lnSpc>
                <a:spcPts val="3400"/>
              </a:lnSpc>
              <a:buNone/>
            </a:pPr>
            <a:r>
              <a:rPr lang="en-US" sz="3000" b="1" dirty="0">
                <a:solidFill>
                  <a:srgbClr val="1F2A28"/>
                </a:solidFill>
                <a:latin typeface="Calibri" pitchFamily="34" charset="0"/>
                <a:ea typeface="Calibri" pitchFamily="34" charset="-122"/>
                <a:cs typeface="Calibri" pitchFamily="34" charset="-120"/>
              </a:rPr>
              <a:t>Two seams worth keeping isolated</a:t>
            </a:r>
            <a:endParaRPr lang="en-US" sz="3000" dirty="0"/>
          </a:p>
        </p:txBody>
      </p:sp>
      <p:sp>
        <p:nvSpPr>
          <p:cNvPr id="4" name="Shape 2"/>
          <p:cNvSpPr/>
          <p:nvPr/>
        </p:nvSpPr>
        <p:spPr>
          <a:xfrm>
            <a:off x="10835640" y="566928"/>
            <a:ext cx="685800" cy="685800"/>
          </a:xfrm>
          <a:prstGeom prst="ellipse">
            <a:avLst/>
          </a:prstGeom>
          <a:solidFill>
            <a:srgbClr val="00915A"/>
          </a:solidFill>
          <a:ln/>
        </p:spPr>
      </p:sp>
      <p:pic>
        <p:nvPicPr>
          <p:cNvPr id="5" name="Image 0" descr="/home/claude/icons/shield.png">    </p:cNvPr>
          <p:cNvPicPr>
            <a:picLocks noChangeAspect="1"/>
          </p:cNvPicPr>
          <p:nvPr/>
        </p:nvPicPr>
        <p:blipFill>
          <a:blip r:embed="rId1"/>
          <a:stretch>
            <a:fillRect/>
          </a:stretch>
        </p:blipFill>
        <p:spPr>
          <a:xfrm>
            <a:off x="10924794" y="656082"/>
            <a:ext cx="507492" cy="507492"/>
          </a:xfrm>
          <a:prstGeom prst="rect">
            <a:avLst/>
          </a:prstGeom>
        </p:spPr>
      </p:pic>
      <p:sp>
        <p:nvSpPr>
          <p:cNvPr id="6" name="Shape 3"/>
          <p:cNvSpPr/>
          <p:nvPr/>
        </p:nvSpPr>
        <p:spPr>
          <a:xfrm>
            <a:off x="548640" y="2459736"/>
            <a:ext cx="91440" cy="91440"/>
          </a:xfrm>
          <a:prstGeom prst="ellipse">
            <a:avLst/>
          </a:prstGeom>
          <a:solidFill>
            <a:srgbClr val="00915A"/>
          </a:solidFill>
          <a:ln/>
        </p:spPr>
      </p:sp>
      <p:sp>
        <p:nvSpPr>
          <p:cNvPr id="7" name="Text 4"/>
          <p:cNvSpPr txBox="1"/>
          <p:nvPr/>
        </p:nvSpPr>
        <p:spPr>
          <a:xfrm>
            <a:off x="822960" y="2057400"/>
            <a:ext cx="6309360" cy="896112"/>
          </a:xfrm>
          <a:prstGeom prst="rect">
            <a:avLst/>
          </a:prstGeom>
          <a:noFill/>
          <a:ln/>
        </p:spPr>
        <p:txBody>
          <a:bodyPr wrap="square" lIns="0" tIns="0" rIns="0" bIns="0" rtlCol="0" anchor="ctr"/>
          <a:lstStyle/>
          <a:p>
            <a:pPr indent="0" marL="0">
              <a:lnSpc>
                <a:spcPts val="2100"/>
              </a:lnSpc>
              <a:buNone/>
            </a:pPr>
            <a:r>
              <a:rPr lang="en-US" sz="1600" dirty="0">
                <a:solidFill>
                  <a:srgbClr val="1F2A28"/>
                </a:solidFill>
                <a:latin typeface="Calibri" pitchFamily="34" charset="0"/>
                <a:ea typeface="Calibri" pitchFamily="34" charset="-122"/>
                <a:cs typeface="Calibri" pitchFamily="34" charset="-120"/>
              </a:rPr>
              <a:t>Translation seam: _translate_request / _translate_response — the only place wire-format assumptions live.</a:t>
            </a:r>
            <a:endParaRPr lang="en-US" sz="1600" dirty="0"/>
          </a:p>
        </p:txBody>
      </p:sp>
      <p:sp>
        <p:nvSpPr>
          <p:cNvPr id="8" name="Shape 5"/>
          <p:cNvSpPr/>
          <p:nvPr/>
        </p:nvSpPr>
        <p:spPr>
          <a:xfrm>
            <a:off x="548640" y="3867912"/>
            <a:ext cx="91440" cy="91440"/>
          </a:xfrm>
          <a:prstGeom prst="ellipse">
            <a:avLst/>
          </a:prstGeom>
          <a:solidFill>
            <a:srgbClr val="00915A"/>
          </a:solidFill>
          <a:ln/>
        </p:spPr>
      </p:sp>
      <p:sp>
        <p:nvSpPr>
          <p:cNvPr id="9" name="Text 6"/>
          <p:cNvSpPr txBox="1"/>
          <p:nvPr/>
        </p:nvSpPr>
        <p:spPr>
          <a:xfrm>
            <a:off x="822960" y="3337560"/>
            <a:ext cx="6309360" cy="1152144"/>
          </a:xfrm>
          <a:prstGeom prst="rect">
            <a:avLst/>
          </a:prstGeom>
          <a:noFill/>
          <a:ln/>
        </p:spPr>
        <p:txBody>
          <a:bodyPr wrap="square" lIns="0" tIns="0" rIns="0" bIns="0" rtlCol="0" anchor="ctr"/>
          <a:lstStyle/>
          <a:p>
            <a:pPr indent="0" marL="0">
              <a:lnSpc>
                <a:spcPts val="2100"/>
              </a:lnSpc>
              <a:buNone/>
            </a:pPr>
            <a:r>
              <a:rPr lang="en-US" sz="1600" dirty="0">
                <a:solidFill>
                  <a:srgbClr val="1F2A28"/>
                </a:solidFill>
                <a:latin typeface="Calibri" pitchFamily="34" charset="0"/>
                <a:ea typeface="Calibri" pitchFamily="34" charset="-122"/>
                <a:cs typeface="Calibri" pitchFamily="34" charset="-120"/>
              </a:rPr>
              <a:t>Streaming: SSE-style data: {...} parsing, matching an OpenAI-style contract — validate against the actual endpoint before trusting it.</a:t>
            </a:r>
            <a:endParaRPr lang="en-US" sz="1600" dirty="0"/>
          </a:p>
        </p:txBody>
      </p:sp>
      <p:sp>
        <p:nvSpPr>
          <p:cNvPr id="10" name="Shape 7"/>
          <p:cNvSpPr/>
          <p:nvPr/>
        </p:nvSpPr>
        <p:spPr>
          <a:xfrm>
            <a:off x="548640" y="5276088"/>
            <a:ext cx="91440" cy="91440"/>
          </a:xfrm>
          <a:prstGeom prst="ellipse">
            <a:avLst/>
          </a:prstGeom>
          <a:solidFill>
            <a:srgbClr val="00915A"/>
          </a:solidFill>
          <a:ln/>
        </p:spPr>
      </p:sp>
      <p:sp>
        <p:nvSpPr>
          <p:cNvPr id="11" name="Text 8"/>
          <p:cNvSpPr txBox="1"/>
          <p:nvPr/>
        </p:nvSpPr>
        <p:spPr>
          <a:xfrm>
            <a:off x="822960" y="4873752"/>
            <a:ext cx="6309360" cy="896112"/>
          </a:xfrm>
          <a:prstGeom prst="rect">
            <a:avLst/>
          </a:prstGeom>
          <a:noFill/>
          <a:ln/>
        </p:spPr>
        <p:txBody>
          <a:bodyPr wrap="square" lIns="0" tIns="0" rIns="0" bIns="0" rtlCol="0" anchor="ctr"/>
          <a:lstStyle/>
          <a:p>
            <a:pPr indent="0" marL="0">
              <a:lnSpc>
                <a:spcPts val="2100"/>
              </a:lnSpc>
              <a:buNone/>
            </a:pPr>
            <a:r>
              <a:rPr lang="en-US" sz="1600" dirty="0">
                <a:solidFill>
                  <a:srgbClr val="1F2A28"/>
                </a:solidFill>
                <a:latin typeface="Calibri" pitchFamily="34" charset="0"/>
                <a:ea typeface="Calibri" pitchFamily="34" charset="-122"/>
                <a:cs typeface="Calibri" pitchFamily="34" charset="-120"/>
              </a:rPr>
              <a:t>Result: no agent or graph code depends on the wire format. Swap the backend, touch one file.</a:t>
            </a:r>
            <a:endParaRPr lang="en-US" sz="1600" dirty="0"/>
          </a:p>
        </p:txBody>
      </p:sp>
      <p:sp>
        <p:nvSpPr>
          <p:cNvPr id="12" name="Shape 9"/>
          <p:cNvSpPr/>
          <p:nvPr/>
        </p:nvSpPr>
        <p:spPr>
          <a:xfrm>
            <a:off x="7178040" y="1783080"/>
            <a:ext cx="4434840" cy="3383280"/>
          </a:xfrm>
          <a:prstGeom prst="roundRect">
            <a:avLst>
              <a:gd name="adj" fmla="val 3243"/>
            </a:avLst>
          </a:prstGeom>
          <a:solidFill>
            <a:srgbClr val="E8F5EF"/>
          </a:solidFill>
          <a:ln/>
          <a:effectLst>
            <a:outerShdw sx="100000" sy="100000" kx="0" ky="0" algn="bl" rotWithShape="0" blurRad="76200" dist="25400" dir="5400000">
              <a:srgbClr val="1F2A28">
                <a:alpha val="18000"/>
              </a:srgbClr>
            </a:outerShdw>
          </a:effectLst>
        </p:spPr>
      </p:sp>
      <p:sp>
        <p:nvSpPr>
          <p:cNvPr id="13" name="Text 10"/>
          <p:cNvSpPr txBox="1"/>
          <p:nvPr/>
        </p:nvSpPr>
        <p:spPr>
          <a:xfrm>
            <a:off x="7452360" y="2011680"/>
            <a:ext cx="3886200" cy="457200"/>
          </a:xfrm>
          <a:prstGeom prst="rect">
            <a:avLst/>
          </a:prstGeom>
          <a:noFill/>
          <a:ln/>
        </p:spPr>
        <p:txBody>
          <a:bodyPr wrap="square" lIns="0" tIns="0" rIns="0" bIns="0" rtlCol="0" anchor="ctr"/>
          <a:lstStyle/>
          <a:p>
            <a:pPr indent="0" marL="0">
              <a:buNone/>
            </a:pPr>
            <a:r>
              <a:rPr lang="en-US" sz="1700" b="1" dirty="0">
                <a:solidFill>
                  <a:srgbClr val="00693F"/>
                </a:solidFill>
                <a:latin typeface="Calibri" pitchFamily="34" charset="0"/>
                <a:ea typeface="Calibri" pitchFamily="34" charset="-122"/>
                <a:cs typeface="Calibri" pitchFamily="34" charset="-120"/>
              </a:rPr>
              <a:t>Common blocker — worth flagging</a:t>
            </a:r>
            <a:endParaRPr lang="en-US" sz="1700" dirty="0"/>
          </a:p>
        </p:txBody>
      </p:sp>
      <p:sp>
        <p:nvSpPr>
          <p:cNvPr id="14" name="Text 11"/>
          <p:cNvSpPr txBox="1"/>
          <p:nvPr/>
        </p:nvSpPr>
        <p:spPr>
          <a:xfrm>
            <a:off x="7452360" y="2514600"/>
            <a:ext cx="3886200" cy="2468880"/>
          </a:xfrm>
          <a:prstGeom prst="rect">
            <a:avLst/>
          </a:prstGeom>
          <a:noFill/>
          <a:ln/>
        </p:spPr>
        <p:txBody>
          <a:bodyPr wrap="square" lIns="0" tIns="0" rIns="0" bIns="0" rtlCol="0" anchor="ctr"/>
          <a:lstStyle/>
          <a:p>
            <a:pPr indent="0" marL="0">
              <a:lnSpc>
                <a:spcPts val="1900"/>
              </a:lnSpc>
              <a:buNone/>
            </a:pPr>
            <a:r>
              <a:rPr lang="en-US" sz="1400" dirty="0">
                <a:solidFill>
                  <a:srgbClr val="1F2A28"/>
                </a:solidFill>
                <a:latin typeface="Calibri" pitchFamily="34" charset="0"/>
                <a:ea typeface="Calibri" pitchFamily="34" charset="-122"/>
                <a:cs typeface="Calibri" pitchFamily="34" charset="-120"/>
              </a:rPr>
              <a:t>SSLCertificateVerifyFailed almost always means the corporate root CA isn’t in Python’s trust store. Fix: point LLM_CA_BUNDLE at the real CA. Don’t disable verification outside a throwaway local session.</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200" b="1" spc="150" kern="0" dirty="0">
                <a:solidFill>
                  <a:srgbClr val="00693F"/>
                </a:solidFill>
                <a:latin typeface="Calibri" pitchFamily="34" charset="0"/>
                <a:ea typeface="Calibri" pitchFamily="34" charset="-122"/>
                <a:cs typeface="Calibri" pitchFamily="34" charset="-120"/>
              </a:rPr>
              <a:t>PLATFORM SPECIFICS</a:t>
            </a:r>
            <a:endParaRPr lang="en-US" sz="1200" dirty="0"/>
          </a:p>
        </p:txBody>
      </p:sp>
      <p:sp>
        <p:nvSpPr>
          <p:cNvPr id="3" name="Text 1"/>
          <p:cNvSpPr txBox="1"/>
          <p:nvPr/>
        </p:nvSpPr>
        <p:spPr>
          <a:xfrm>
            <a:off x="548640" y="658368"/>
            <a:ext cx="11064240" cy="822960"/>
          </a:xfrm>
          <a:prstGeom prst="rect">
            <a:avLst/>
          </a:prstGeom>
          <a:noFill/>
          <a:ln/>
        </p:spPr>
        <p:txBody>
          <a:bodyPr wrap="square" lIns="0" tIns="0" rIns="0" bIns="0" rtlCol="0" anchor="ctr"/>
          <a:lstStyle/>
          <a:p>
            <a:pPr indent="0" marL="0">
              <a:lnSpc>
                <a:spcPts val="3400"/>
              </a:lnSpc>
              <a:buNone/>
            </a:pPr>
            <a:r>
              <a:rPr lang="en-US" sz="3000" b="1" dirty="0">
                <a:solidFill>
                  <a:srgbClr val="1F2A28"/>
                </a:solidFill>
                <a:latin typeface="Calibri" pitchFamily="34" charset="0"/>
                <a:ea typeface="Calibri" pitchFamily="34" charset="-122"/>
                <a:cs typeface="Calibri" pitchFamily="34" charset="-120"/>
              </a:rPr>
              <a:t>Authentication for Agents</a:t>
            </a:r>
            <a:endParaRPr lang="en-US" sz="3000" dirty="0"/>
          </a:p>
        </p:txBody>
      </p:sp>
      <p:sp>
        <p:nvSpPr>
          <p:cNvPr id="4" name="Shape 2"/>
          <p:cNvSpPr/>
          <p:nvPr/>
        </p:nvSpPr>
        <p:spPr>
          <a:xfrm>
            <a:off x="10835640" y="566928"/>
            <a:ext cx="685800" cy="685800"/>
          </a:xfrm>
          <a:prstGeom prst="ellipse">
            <a:avLst/>
          </a:prstGeom>
          <a:solidFill>
            <a:srgbClr val="00915A"/>
          </a:solidFill>
          <a:ln/>
        </p:spPr>
      </p:sp>
      <p:pic>
        <p:nvPicPr>
          <p:cNvPr id="5" name="Image 0" descr="/home/claude/icons/lock.png">    </p:cNvPr>
          <p:cNvPicPr>
            <a:picLocks noChangeAspect="1"/>
          </p:cNvPicPr>
          <p:nvPr/>
        </p:nvPicPr>
        <p:blipFill>
          <a:blip r:embed="rId1"/>
          <a:stretch>
            <a:fillRect/>
          </a:stretch>
        </p:blipFill>
        <p:spPr>
          <a:xfrm>
            <a:off x="10924794" y="656082"/>
            <a:ext cx="507492" cy="507492"/>
          </a:xfrm>
          <a:prstGeom prst="rect">
            <a:avLst/>
          </a:prstGeom>
        </p:spPr>
      </p:pic>
      <p:sp>
        <p:nvSpPr>
          <p:cNvPr id="6" name="Shape 3"/>
          <p:cNvSpPr/>
          <p:nvPr/>
        </p:nvSpPr>
        <p:spPr>
          <a:xfrm>
            <a:off x="9281160" y="384048"/>
            <a:ext cx="1691640" cy="310896"/>
          </a:xfrm>
          <a:prstGeom prst="roundRect">
            <a:avLst>
              <a:gd name="adj" fmla="val 50000"/>
            </a:avLst>
          </a:prstGeom>
          <a:solidFill>
            <a:srgbClr val="D98E04"/>
          </a:solidFill>
          <a:ln/>
        </p:spPr>
      </p:sp>
      <p:sp>
        <p:nvSpPr>
          <p:cNvPr id="7" name="Text 4"/>
          <p:cNvSpPr txBox="1"/>
          <p:nvPr/>
        </p:nvSpPr>
        <p:spPr>
          <a:xfrm>
            <a:off x="9281160" y="384048"/>
            <a:ext cx="1691640" cy="31089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ORG SPECIFIC</a:t>
            </a:r>
            <a:endParaRPr lang="en-US" sz="1100" dirty="0"/>
          </a:p>
        </p:txBody>
      </p:sp>
      <p:sp>
        <p:nvSpPr>
          <p:cNvPr id="8" name="Text 5"/>
          <p:cNvSpPr txBox="1"/>
          <p:nvPr/>
        </p:nvSpPr>
        <p:spPr>
          <a:xfrm>
            <a:off x="548640" y="1463040"/>
            <a:ext cx="3657600" cy="274320"/>
          </a:xfrm>
          <a:prstGeom prst="rect">
            <a:avLst/>
          </a:prstGeom>
          <a:noFill/>
          <a:ln/>
        </p:spPr>
        <p:txBody>
          <a:bodyPr wrap="square" lIns="0" tIns="0" rIns="0" bIns="0" rtlCol="0" anchor="ctr"/>
          <a:lstStyle/>
          <a:p>
            <a:pPr indent="0" marL="0">
              <a:buNone/>
            </a:pPr>
            <a:r>
              <a:rPr lang="en-US" sz="1300" b="1" dirty="0">
                <a:solidFill>
                  <a:srgbClr val="5B6B67"/>
                </a:solidFill>
                <a:latin typeface="Calibri" pitchFamily="34" charset="0"/>
                <a:ea typeface="Calibri" pitchFamily="34" charset="-122"/>
                <a:cs typeface="Calibri" pitchFamily="34" charset="-120"/>
              </a:rPr>
              <a:t>Cover at minimum:</a:t>
            </a:r>
            <a:endParaRPr lang="en-US" sz="1300" dirty="0"/>
          </a:p>
        </p:txBody>
      </p:sp>
      <p:sp>
        <p:nvSpPr>
          <p:cNvPr id="9" name="Shape 6"/>
          <p:cNvSpPr/>
          <p:nvPr/>
        </p:nvSpPr>
        <p:spPr>
          <a:xfrm>
            <a:off x="548640" y="1828800"/>
            <a:ext cx="1620317" cy="384048"/>
          </a:xfrm>
          <a:prstGeom prst="roundRect">
            <a:avLst>
              <a:gd name="adj" fmla="val 50000"/>
            </a:avLst>
          </a:prstGeom>
          <a:solidFill>
            <a:srgbClr val="E8F5EF"/>
          </a:solidFill>
          <a:ln w="12700">
            <a:solidFill>
              <a:srgbClr val="00915A"/>
            </a:solidFill>
            <a:prstDash val="solid"/>
          </a:ln>
        </p:spPr>
      </p:sp>
      <p:sp>
        <p:nvSpPr>
          <p:cNvPr id="10" name="Text 7"/>
          <p:cNvSpPr txBox="1"/>
          <p:nvPr/>
        </p:nvSpPr>
        <p:spPr>
          <a:xfrm>
            <a:off x="548640" y="1828800"/>
            <a:ext cx="1620317" cy="384048"/>
          </a:xfrm>
          <a:prstGeom prst="rect">
            <a:avLst/>
          </a:prstGeom>
          <a:noFill/>
          <a:ln/>
        </p:spPr>
        <p:txBody>
          <a:bodyPr wrap="square" lIns="0" tIns="0" rIns="0" bIns="0" rtlCol="0" anchor="ctr"/>
          <a:lstStyle/>
          <a:p>
            <a:pPr algn="ctr" indent="0" marL="0">
              <a:buNone/>
            </a:pPr>
            <a:r>
              <a:rPr lang="en-US" sz="1300" b="1" dirty="0">
                <a:solidFill>
                  <a:srgbClr val="00693F"/>
                </a:solidFill>
                <a:latin typeface="Calibri" pitchFamily="34" charset="0"/>
                <a:ea typeface="Calibri" pitchFamily="34" charset="-122"/>
                <a:cs typeface="Calibri" pitchFamily="34" charset="-120"/>
              </a:rPr>
              <a:t>Identity model</a:t>
            </a:r>
            <a:endParaRPr lang="en-US" sz="1300" dirty="0"/>
          </a:p>
        </p:txBody>
      </p:sp>
      <p:sp>
        <p:nvSpPr>
          <p:cNvPr id="11" name="Shape 8"/>
          <p:cNvSpPr/>
          <p:nvPr/>
        </p:nvSpPr>
        <p:spPr>
          <a:xfrm>
            <a:off x="2370125" y="1828800"/>
            <a:ext cx="1620317" cy="384048"/>
          </a:xfrm>
          <a:prstGeom prst="roundRect">
            <a:avLst>
              <a:gd name="adj" fmla="val 50000"/>
            </a:avLst>
          </a:prstGeom>
          <a:solidFill>
            <a:srgbClr val="E8F5EF"/>
          </a:solidFill>
          <a:ln w="12700">
            <a:solidFill>
              <a:srgbClr val="00915A"/>
            </a:solidFill>
            <a:prstDash val="solid"/>
          </a:ln>
        </p:spPr>
      </p:sp>
      <p:sp>
        <p:nvSpPr>
          <p:cNvPr id="12" name="Text 9"/>
          <p:cNvSpPr txBox="1"/>
          <p:nvPr/>
        </p:nvSpPr>
        <p:spPr>
          <a:xfrm>
            <a:off x="2370125" y="1828800"/>
            <a:ext cx="1620317" cy="384048"/>
          </a:xfrm>
          <a:prstGeom prst="rect">
            <a:avLst/>
          </a:prstGeom>
          <a:noFill/>
          <a:ln/>
        </p:spPr>
        <p:txBody>
          <a:bodyPr wrap="square" lIns="0" tIns="0" rIns="0" bIns="0" rtlCol="0" anchor="ctr"/>
          <a:lstStyle/>
          <a:p>
            <a:pPr algn="ctr" indent="0" marL="0">
              <a:buNone/>
            </a:pPr>
            <a:r>
              <a:rPr lang="en-US" sz="1300" b="1" dirty="0">
                <a:solidFill>
                  <a:srgbClr val="00693F"/>
                </a:solidFill>
                <a:latin typeface="Calibri" pitchFamily="34" charset="0"/>
                <a:ea typeface="Calibri" pitchFamily="34" charset="-122"/>
                <a:cs typeface="Calibri" pitchFamily="34" charset="-120"/>
              </a:rPr>
              <a:t>Token issuance</a:t>
            </a:r>
            <a:endParaRPr lang="en-US" sz="1300" dirty="0"/>
          </a:p>
        </p:txBody>
      </p:sp>
      <p:sp>
        <p:nvSpPr>
          <p:cNvPr id="13" name="Shape 10"/>
          <p:cNvSpPr/>
          <p:nvPr/>
        </p:nvSpPr>
        <p:spPr>
          <a:xfrm>
            <a:off x="4191610" y="1828800"/>
            <a:ext cx="2157984" cy="384048"/>
          </a:xfrm>
          <a:prstGeom prst="roundRect">
            <a:avLst>
              <a:gd name="adj" fmla="val 50000"/>
            </a:avLst>
          </a:prstGeom>
          <a:solidFill>
            <a:srgbClr val="E8F5EF"/>
          </a:solidFill>
          <a:ln w="12700">
            <a:solidFill>
              <a:srgbClr val="00915A"/>
            </a:solidFill>
            <a:prstDash val="solid"/>
          </a:ln>
        </p:spPr>
      </p:sp>
      <p:sp>
        <p:nvSpPr>
          <p:cNvPr id="14" name="Text 11"/>
          <p:cNvSpPr txBox="1"/>
          <p:nvPr/>
        </p:nvSpPr>
        <p:spPr>
          <a:xfrm>
            <a:off x="4191610" y="1828800"/>
            <a:ext cx="2157984" cy="384048"/>
          </a:xfrm>
          <a:prstGeom prst="rect">
            <a:avLst/>
          </a:prstGeom>
          <a:noFill/>
          <a:ln/>
        </p:spPr>
        <p:txBody>
          <a:bodyPr wrap="square" lIns="0" tIns="0" rIns="0" bIns="0" rtlCol="0" anchor="ctr"/>
          <a:lstStyle/>
          <a:p>
            <a:pPr algn="ctr" indent="0" marL="0">
              <a:buNone/>
            </a:pPr>
            <a:r>
              <a:rPr lang="en-US" sz="1300" b="1" dirty="0">
                <a:solidFill>
                  <a:srgbClr val="00693F"/>
                </a:solidFill>
                <a:latin typeface="Calibri" pitchFamily="34" charset="0"/>
                <a:ea typeface="Calibri" pitchFamily="34" charset="-122"/>
                <a:cs typeface="Calibri" pitchFamily="34" charset="-120"/>
              </a:rPr>
              <a:t>Scopes &amp; permissions</a:t>
            </a:r>
            <a:endParaRPr lang="en-US" sz="1300" dirty="0"/>
          </a:p>
        </p:txBody>
      </p:sp>
      <p:sp>
        <p:nvSpPr>
          <p:cNvPr id="15" name="Shape 12"/>
          <p:cNvSpPr/>
          <p:nvPr/>
        </p:nvSpPr>
        <p:spPr>
          <a:xfrm>
            <a:off x="548640" y="2514600"/>
            <a:ext cx="11064240" cy="3246120"/>
          </a:xfrm>
          <a:prstGeom prst="roundRect">
            <a:avLst>
              <a:gd name="adj" fmla="val 3380"/>
            </a:avLst>
          </a:prstGeom>
          <a:solidFill>
            <a:srgbClr val="F3FAF7"/>
          </a:solidFill>
          <a:ln w="19050">
            <a:solidFill>
              <a:srgbClr val="00915A"/>
            </a:solidFill>
            <a:prstDash val="dash"/>
          </a:ln>
        </p:spPr>
      </p:sp>
      <p:pic>
        <p:nvPicPr>
          <p:cNvPr id="16" name="Image 1" descr="/home/claude/icons/box_w.png">    </p:cNvPr>
          <p:cNvPicPr>
            <a:picLocks noChangeAspect="1"/>
          </p:cNvPicPr>
          <p:nvPr/>
        </p:nvPicPr>
        <p:blipFill>
          <a:blip r:embed="rId2"/>
          <a:stretch>
            <a:fillRect/>
          </a:stretch>
        </p:blipFill>
        <p:spPr>
          <a:xfrm>
            <a:off x="5788152" y="3451860"/>
            <a:ext cx="585216" cy="585216"/>
          </a:xfrm>
          <a:prstGeom prst="rect">
            <a:avLst/>
          </a:prstGeom>
        </p:spPr>
      </p:pic>
      <p:sp>
        <p:nvSpPr>
          <p:cNvPr id="17" name="Shape 13"/>
          <p:cNvSpPr/>
          <p:nvPr/>
        </p:nvSpPr>
        <p:spPr>
          <a:xfrm>
            <a:off x="5696712" y="3360420"/>
            <a:ext cx="768096" cy="768096"/>
          </a:xfrm>
          <a:prstGeom prst="ellipse">
            <a:avLst/>
          </a:prstGeom>
          <a:solidFill>
            <a:srgbClr val="00915A"/>
          </a:solidFill>
          <a:ln/>
        </p:spPr>
      </p:sp>
      <p:pic>
        <p:nvPicPr>
          <p:cNvPr id="18" name="Image 2" descr="/home/claude/icons/box_w.png">    </p:cNvPr>
          <p:cNvPicPr>
            <a:picLocks noChangeAspect="1"/>
          </p:cNvPicPr>
          <p:nvPr/>
        </p:nvPicPr>
        <p:blipFill>
          <a:blip r:embed="rId3"/>
          <a:stretch>
            <a:fillRect/>
          </a:stretch>
        </p:blipFill>
        <p:spPr>
          <a:xfrm>
            <a:off x="5879592" y="3543300"/>
            <a:ext cx="402336" cy="402336"/>
          </a:xfrm>
          <a:prstGeom prst="rect">
            <a:avLst/>
          </a:prstGeom>
        </p:spPr>
      </p:pic>
      <p:sp>
        <p:nvSpPr>
          <p:cNvPr id="19" name="Text 14"/>
          <p:cNvSpPr txBox="1"/>
          <p:nvPr/>
        </p:nvSpPr>
        <p:spPr>
          <a:xfrm>
            <a:off x="1005840" y="4183380"/>
            <a:ext cx="10149840" cy="365760"/>
          </a:xfrm>
          <a:prstGeom prst="rect">
            <a:avLst/>
          </a:prstGeom>
          <a:noFill/>
          <a:ln/>
        </p:spPr>
        <p:txBody>
          <a:bodyPr wrap="square" lIns="0" tIns="0" rIns="0" bIns="0" rtlCol="0" anchor="ctr"/>
          <a:lstStyle/>
          <a:p>
            <a:pPr algn="ctr" indent="0" marL="0">
              <a:buNone/>
            </a:pPr>
            <a:r>
              <a:rPr lang="en-US" sz="1600" b="1" dirty="0">
                <a:solidFill>
                  <a:srgbClr val="00693F"/>
                </a:solidFill>
                <a:latin typeface="Calibri" pitchFamily="34" charset="0"/>
                <a:ea typeface="Calibri" pitchFamily="34" charset="-122"/>
                <a:cs typeface="Calibri" pitchFamily="34" charset="-120"/>
              </a:rPr>
              <a:t>Content to be added by the organization</a:t>
            </a:r>
            <a:endParaRPr lang="en-US" sz="1600" dirty="0"/>
          </a:p>
        </p:txBody>
      </p:sp>
      <p:sp>
        <p:nvSpPr>
          <p:cNvPr id="20" name="Text 15"/>
          <p:cNvSpPr txBox="1"/>
          <p:nvPr/>
        </p:nvSpPr>
        <p:spPr>
          <a:xfrm>
            <a:off x="1371600" y="4576572"/>
            <a:ext cx="9418320" cy="548640"/>
          </a:xfrm>
          <a:prstGeom prst="rect">
            <a:avLst/>
          </a:prstGeom>
          <a:noFill/>
          <a:ln/>
        </p:spPr>
        <p:txBody>
          <a:bodyPr wrap="square" lIns="0" tIns="0" rIns="0" bIns="0" rtlCol="0" anchor="ctr"/>
          <a:lstStyle/>
          <a:p>
            <a:pPr algn="ctr" indent="0" marL="0">
              <a:lnSpc>
                <a:spcPts val="1700"/>
              </a:lnSpc>
              <a:buNone/>
            </a:pPr>
            <a:r>
              <a:rPr lang="en-US" sz="1300" dirty="0">
                <a:solidFill>
                  <a:srgbClr val="5B6B67"/>
                </a:solidFill>
                <a:latin typeface="Calibri" pitchFamily="34" charset="0"/>
                <a:ea typeface="Calibri" pitchFamily="34" charset="-122"/>
                <a:cs typeface="Calibri" pitchFamily="34" charset="-120"/>
              </a:rPr>
              <a:t>How an agent proves who it is when calling internal services, and how that differs from user-level auth.</a:t>
            </a:r>
            <a:endParaRPr lang="en-US" sz="1300" dirty="0"/>
          </a:p>
        </p:txBody>
      </p:sp>
      <p:sp>
        <p:nvSpPr>
          <p:cNvPr id="21" name="Text 16"/>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5B6B67"/>
                </a:solidFill>
                <a:latin typeface="Calibri" pitchFamily="34" charset="0"/>
                <a:ea typeface="Calibri" pitchFamily="34" charset="-122"/>
                <a:cs typeface="Calibri" pitchFamily="34" charset="-120"/>
              </a:rPr>
              <a:t>Agentic AI with LangChain &amp; LangGraph</a:t>
            </a:r>
            <a:endParaRPr lang="en-US" sz="1000" dirty="0"/>
          </a:p>
        </p:txBody>
      </p:sp>
      <p:sp>
        <p:nvSpPr>
          <p:cNvPr id="22" name="Text 17"/>
          <p:cNvSpPr txBox="1"/>
          <p:nvPr/>
        </p:nvSpPr>
        <p:spPr>
          <a:xfrm>
            <a:off x="11064240" y="6473952"/>
            <a:ext cx="548640" cy="274320"/>
          </a:xfrm>
          <a:prstGeom prst="rect">
            <a:avLst/>
          </a:prstGeom>
          <a:noFill/>
          <a:ln/>
        </p:spPr>
        <p:txBody>
          <a:bodyPr wrap="square" lIns="0" tIns="0" rIns="0" bIns="0" rtlCol="0" anchor="ctr"/>
          <a:lstStyle/>
          <a:p>
            <a:pPr algn="r" indent="0" marL="0">
              <a:buNone/>
            </a:pPr>
            <a:r>
              <a:rPr lang="en-US" sz="1000" dirty="0">
                <a:solidFill>
                  <a:srgbClr val="5B6B67"/>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200" b="1" spc="150" kern="0" dirty="0">
                <a:solidFill>
                  <a:srgbClr val="00693F"/>
                </a:solidFill>
                <a:latin typeface="Calibri" pitchFamily="34" charset="0"/>
                <a:ea typeface="Calibri" pitchFamily="34" charset="-122"/>
                <a:cs typeface="Calibri" pitchFamily="34" charset="-120"/>
              </a:rPr>
              <a:t>PLATFORM SPECIFICS</a:t>
            </a:r>
            <a:endParaRPr lang="en-US" sz="1200" dirty="0"/>
          </a:p>
        </p:txBody>
      </p:sp>
      <p:sp>
        <p:nvSpPr>
          <p:cNvPr id="3" name="Text 1"/>
          <p:cNvSpPr txBox="1"/>
          <p:nvPr/>
        </p:nvSpPr>
        <p:spPr>
          <a:xfrm>
            <a:off x="548640" y="658368"/>
            <a:ext cx="11064240" cy="822960"/>
          </a:xfrm>
          <a:prstGeom prst="rect">
            <a:avLst/>
          </a:prstGeom>
          <a:noFill/>
          <a:ln/>
        </p:spPr>
        <p:txBody>
          <a:bodyPr wrap="square" lIns="0" tIns="0" rIns="0" bIns="0" rtlCol="0" anchor="ctr"/>
          <a:lstStyle/>
          <a:p>
            <a:pPr indent="0" marL="0">
              <a:lnSpc>
                <a:spcPts val="3400"/>
              </a:lnSpc>
              <a:buNone/>
            </a:pPr>
            <a:r>
              <a:rPr lang="en-US" sz="3000" b="1" dirty="0">
                <a:solidFill>
                  <a:srgbClr val="1F2A28"/>
                </a:solidFill>
                <a:latin typeface="Calibri" pitchFamily="34" charset="0"/>
                <a:ea typeface="Calibri" pitchFamily="34" charset="-122"/>
                <a:cs typeface="Calibri" pitchFamily="34" charset="-120"/>
              </a:rPr>
              <a:t>Hosting</a:t>
            </a:r>
            <a:endParaRPr lang="en-US" sz="3000" dirty="0"/>
          </a:p>
        </p:txBody>
      </p:sp>
      <p:sp>
        <p:nvSpPr>
          <p:cNvPr id="4" name="Shape 2"/>
          <p:cNvSpPr/>
          <p:nvPr/>
        </p:nvSpPr>
        <p:spPr>
          <a:xfrm>
            <a:off x="10835640" y="566928"/>
            <a:ext cx="685800" cy="685800"/>
          </a:xfrm>
          <a:prstGeom prst="ellipse">
            <a:avLst/>
          </a:prstGeom>
          <a:solidFill>
            <a:srgbClr val="00915A"/>
          </a:solidFill>
          <a:ln/>
        </p:spPr>
      </p:sp>
      <p:pic>
        <p:nvPicPr>
          <p:cNvPr id="5" name="Image 0" descr="/home/claude/icons/shield.png">    </p:cNvPr>
          <p:cNvPicPr>
            <a:picLocks noChangeAspect="1"/>
          </p:cNvPicPr>
          <p:nvPr/>
        </p:nvPicPr>
        <p:blipFill>
          <a:blip r:embed="rId1"/>
          <a:stretch>
            <a:fillRect/>
          </a:stretch>
        </p:blipFill>
        <p:spPr>
          <a:xfrm>
            <a:off x="10924794" y="656082"/>
            <a:ext cx="507492" cy="507492"/>
          </a:xfrm>
          <a:prstGeom prst="rect">
            <a:avLst/>
          </a:prstGeom>
        </p:spPr>
      </p:pic>
      <p:sp>
        <p:nvSpPr>
          <p:cNvPr id="6" name="Shape 3"/>
          <p:cNvSpPr/>
          <p:nvPr/>
        </p:nvSpPr>
        <p:spPr>
          <a:xfrm>
            <a:off x="9281160" y="384048"/>
            <a:ext cx="1691640" cy="310896"/>
          </a:xfrm>
          <a:prstGeom prst="roundRect">
            <a:avLst>
              <a:gd name="adj" fmla="val 50000"/>
            </a:avLst>
          </a:prstGeom>
          <a:solidFill>
            <a:srgbClr val="D98E04"/>
          </a:solidFill>
          <a:ln/>
        </p:spPr>
      </p:sp>
      <p:sp>
        <p:nvSpPr>
          <p:cNvPr id="7" name="Text 4"/>
          <p:cNvSpPr txBox="1"/>
          <p:nvPr/>
        </p:nvSpPr>
        <p:spPr>
          <a:xfrm>
            <a:off x="9281160" y="384048"/>
            <a:ext cx="1691640" cy="31089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ORG SPECIFIC</a:t>
            </a:r>
            <a:endParaRPr lang="en-US" sz="1100" dirty="0"/>
          </a:p>
        </p:txBody>
      </p:sp>
      <p:sp>
        <p:nvSpPr>
          <p:cNvPr id="8" name="Text 5"/>
          <p:cNvSpPr txBox="1"/>
          <p:nvPr/>
        </p:nvSpPr>
        <p:spPr>
          <a:xfrm>
            <a:off x="548640" y="1463040"/>
            <a:ext cx="3657600" cy="274320"/>
          </a:xfrm>
          <a:prstGeom prst="rect">
            <a:avLst/>
          </a:prstGeom>
          <a:noFill/>
          <a:ln/>
        </p:spPr>
        <p:txBody>
          <a:bodyPr wrap="square" lIns="0" tIns="0" rIns="0" bIns="0" rtlCol="0" anchor="ctr"/>
          <a:lstStyle/>
          <a:p>
            <a:pPr indent="0" marL="0">
              <a:buNone/>
            </a:pPr>
            <a:r>
              <a:rPr lang="en-US" sz="1300" b="1" dirty="0">
                <a:solidFill>
                  <a:srgbClr val="5B6B67"/>
                </a:solidFill>
                <a:latin typeface="Calibri" pitchFamily="34" charset="0"/>
                <a:ea typeface="Calibri" pitchFamily="34" charset="-122"/>
                <a:cs typeface="Calibri" pitchFamily="34" charset="-120"/>
              </a:rPr>
              <a:t>Cover at minimum:</a:t>
            </a:r>
            <a:endParaRPr lang="en-US" sz="1300" dirty="0"/>
          </a:p>
        </p:txBody>
      </p:sp>
      <p:sp>
        <p:nvSpPr>
          <p:cNvPr id="9" name="Shape 6"/>
          <p:cNvSpPr/>
          <p:nvPr/>
        </p:nvSpPr>
        <p:spPr>
          <a:xfrm>
            <a:off x="548640" y="1828800"/>
            <a:ext cx="1889150" cy="384048"/>
          </a:xfrm>
          <a:prstGeom prst="roundRect">
            <a:avLst>
              <a:gd name="adj" fmla="val 50000"/>
            </a:avLst>
          </a:prstGeom>
          <a:solidFill>
            <a:srgbClr val="E8F5EF"/>
          </a:solidFill>
          <a:ln w="12700">
            <a:solidFill>
              <a:srgbClr val="00915A"/>
            </a:solidFill>
            <a:prstDash val="solid"/>
          </a:ln>
        </p:spPr>
      </p:sp>
      <p:sp>
        <p:nvSpPr>
          <p:cNvPr id="10" name="Text 7"/>
          <p:cNvSpPr txBox="1"/>
          <p:nvPr/>
        </p:nvSpPr>
        <p:spPr>
          <a:xfrm>
            <a:off x="548640" y="1828800"/>
            <a:ext cx="1889150" cy="384048"/>
          </a:xfrm>
          <a:prstGeom prst="rect">
            <a:avLst/>
          </a:prstGeom>
          <a:noFill/>
          <a:ln/>
        </p:spPr>
        <p:txBody>
          <a:bodyPr wrap="square" lIns="0" tIns="0" rIns="0" bIns="0" rtlCol="0" anchor="ctr"/>
          <a:lstStyle/>
          <a:p>
            <a:pPr algn="ctr" indent="0" marL="0">
              <a:buNone/>
            </a:pPr>
            <a:r>
              <a:rPr lang="en-US" sz="1300" b="1" dirty="0">
                <a:solidFill>
                  <a:srgbClr val="00693F"/>
                </a:solidFill>
                <a:latin typeface="Calibri" pitchFamily="34" charset="0"/>
                <a:ea typeface="Calibri" pitchFamily="34" charset="-122"/>
                <a:cs typeface="Calibri" pitchFamily="34" charset="-120"/>
              </a:rPr>
              <a:t>Deployment target</a:t>
            </a:r>
            <a:endParaRPr lang="en-US" sz="1300" dirty="0"/>
          </a:p>
        </p:txBody>
      </p:sp>
      <p:sp>
        <p:nvSpPr>
          <p:cNvPr id="11" name="Shape 8"/>
          <p:cNvSpPr/>
          <p:nvPr/>
        </p:nvSpPr>
        <p:spPr>
          <a:xfrm>
            <a:off x="2638958" y="1828800"/>
            <a:ext cx="1530706" cy="384048"/>
          </a:xfrm>
          <a:prstGeom prst="roundRect">
            <a:avLst>
              <a:gd name="adj" fmla="val 50000"/>
            </a:avLst>
          </a:prstGeom>
          <a:solidFill>
            <a:srgbClr val="E8F5EF"/>
          </a:solidFill>
          <a:ln w="12700">
            <a:solidFill>
              <a:srgbClr val="00915A"/>
            </a:solidFill>
            <a:prstDash val="solid"/>
          </a:ln>
        </p:spPr>
      </p:sp>
      <p:sp>
        <p:nvSpPr>
          <p:cNvPr id="12" name="Text 9"/>
          <p:cNvSpPr txBox="1"/>
          <p:nvPr/>
        </p:nvSpPr>
        <p:spPr>
          <a:xfrm>
            <a:off x="2638958" y="1828800"/>
            <a:ext cx="1530706" cy="384048"/>
          </a:xfrm>
          <a:prstGeom prst="rect">
            <a:avLst/>
          </a:prstGeom>
          <a:noFill/>
          <a:ln/>
        </p:spPr>
        <p:txBody>
          <a:bodyPr wrap="square" lIns="0" tIns="0" rIns="0" bIns="0" rtlCol="0" anchor="ctr"/>
          <a:lstStyle/>
          <a:p>
            <a:pPr algn="ctr" indent="0" marL="0">
              <a:buNone/>
            </a:pPr>
            <a:r>
              <a:rPr lang="en-US" sz="1300" b="1" dirty="0">
                <a:solidFill>
                  <a:srgbClr val="00693F"/>
                </a:solidFill>
                <a:latin typeface="Calibri" pitchFamily="34" charset="0"/>
                <a:ea typeface="Calibri" pitchFamily="34" charset="-122"/>
                <a:cs typeface="Calibri" pitchFamily="34" charset="-120"/>
              </a:rPr>
              <a:t>Scaling model</a:t>
            </a:r>
            <a:endParaRPr lang="en-US" sz="1300" dirty="0"/>
          </a:p>
        </p:txBody>
      </p:sp>
      <p:sp>
        <p:nvSpPr>
          <p:cNvPr id="13" name="Shape 10"/>
          <p:cNvSpPr/>
          <p:nvPr/>
        </p:nvSpPr>
        <p:spPr>
          <a:xfrm>
            <a:off x="4370832" y="1828800"/>
            <a:ext cx="1441094" cy="384048"/>
          </a:xfrm>
          <a:prstGeom prst="roundRect">
            <a:avLst>
              <a:gd name="adj" fmla="val 50000"/>
            </a:avLst>
          </a:prstGeom>
          <a:solidFill>
            <a:srgbClr val="E8F5EF"/>
          </a:solidFill>
          <a:ln w="12700">
            <a:solidFill>
              <a:srgbClr val="00915A"/>
            </a:solidFill>
            <a:prstDash val="solid"/>
          </a:ln>
        </p:spPr>
      </p:sp>
      <p:sp>
        <p:nvSpPr>
          <p:cNvPr id="14" name="Text 11"/>
          <p:cNvSpPr txBox="1"/>
          <p:nvPr/>
        </p:nvSpPr>
        <p:spPr>
          <a:xfrm>
            <a:off x="4370832" y="1828800"/>
            <a:ext cx="1441094" cy="384048"/>
          </a:xfrm>
          <a:prstGeom prst="rect">
            <a:avLst/>
          </a:prstGeom>
          <a:noFill/>
          <a:ln/>
        </p:spPr>
        <p:txBody>
          <a:bodyPr wrap="square" lIns="0" tIns="0" rIns="0" bIns="0" rtlCol="0" anchor="ctr"/>
          <a:lstStyle/>
          <a:p>
            <a:pPr algn="ctr" indent="0" marL="0">
              <a:buNone/>
            </a:pPr>
            <a:r>
              <a:rPr lang="en-US" sz="1300" b="1" dirty="0">
                <a:solidFill>
                  <a:srgbClr val="00693F"/>
                </a:solidFill>
                <a:latin typeface="Calibri" pitchFamily="34" charset="0"/>
                <a:ea typeface="Calibri" pitchFamily="34" charset="-122"/>
                <a:cs typeface="Calibri" pitchFamily="34" charset="-120"/>
              </a:rPr>
              <a:t>Environments</a:t>
            </a:r>
            <a:endParaRPr lang="en-US" sz="1300" dirty="0"/>
          </a:p>
        </p:txBody>
      </p:sp>
      <p:sp>
        <p:nvSpPr>
          <p:cNvPr id="15" name="Shape 12"/>
          <p:cNvSpPr/>
          <p:nvPr/>
        </p:nvSpPr>
        <p:spPr>
          <a:xfrm>
            <a:off x="548640" y="2514600"/>
            <a:ext cx="11064240" cy="3246120"/>
          </a:xfrm>
          <a:prstGeom prst="roundRect">
            <a:avLst>
              <a:gd name="adj" fmla="val 3380"/>
            </a:avLst>
          </a:prstGeom>
          <a:solidFill>
            <a:srgbClr val="F3FAF7"/>
          </a:solidFill>
          <a:ln w="19050">
            <a:solidFill>
              <a:srgbClr val="00915A"/>
            </a:solidFill>
            <a:prstDash val="dash"/>
          </a:ln>
        </p:spPr>
      </p:sp>
      <p:pic>
        <p:nvPicPr>
          <p:cNvPr id="16" name="Image 1" descr="/home/claude/icons/box_w.png">    </p:cNvPr>
          <p:cNvPicPr>
            <a:picLocks noChangeAspect="1"/>
          </p:cNvPicPr>
          <p:nvPr/>
        </p:nvPicPr>
        <p:blipFill>
          <a:blip r:embed="rId2"/>
          <a:stretch>
            <a:fillRect/>
          </a:stretch>
        </p:blipFill>
        <p:spPr>
          <a:xfrm>
            <a:off x="5788152" y="3451860"/>
            <a:ext cx="585216" cy="585216"/>
          </a:xfrm>
          <a:prstGeom prst="rect">
            <a:avLst/>
          </a:prstGeom>
        </p:spPr>
      </p:pic>
      <p:sp>
        <p:nvSpPr>
          <p:cNvPr id="17" name="Shape 13"/>
          <p:cNvSpPr/>
          <p:nvPr/>
        </p:nvSpPr>
        <p:spPr>
          <a:xfrm>
            <a:off x="5696712" y="3360420"/>
            <a:ext cx="768096" cy="768096"/>
          </a:xfrm>
          <a:prstGeom prst="ellipse">
            <a:avLst/>
          </a:prstGeom>
          <a:solidFill>
            <a:srgbClr val="00915A"/>
          </a:solidFill>
          <a:ln/>
        </p:spPr>
      </p:sp>
      <p:pic>
        <p:nvPicPr>
          <p:cNvPr id="18" name="Image 2" descr="/home/claude/icons/box_w.png">    </p:cNvPr>
          <p:cNvPicPr>
            <a:picLocks noChangeAspect="1"/>
          </p:cNvPicPr>
          <p:nvPr/>
        </p:nvPicPr>
        <p:blipFill>
          <a:blip r:embed="rId3"/>
          <a:stretch>
            <a:fillRect/>
          </a:stretch>
        </p:blipFill>
        <p:spPr>
          <a:xfrm>
            <a:off x="5879592" y="3543300"/>
            <a:ext cx="402336" cy="402336"/>
          </a:xfrm>
          <a:prstGeom prst="rect">
            <a:avLst/>
          </a:prstGeom>
        </p:spPr>
      </p:pic>
      <p:sp>
        <p:nvSpPr>
          <p:cNvPr id="19" name="Text 14"/>
          <p:cNvSpPr txBox="1"/>
          <p:nvPr/>
        </p:nvSpPr>
        <p:spPr>
          <a:xfrm>
            <a:off x="1005840" y="4183380"/>
            <a:ext cx="10149840" cy="365760"/>
          </a:xfrm>
          <a:prstGeom prst="rect">
            <a:avLst/>
          </a:prstGeom>
          <a:noFill/>
          <a:ln/>
        </p:spPr>
        <p:txBody>
          <a:bodyPr wrap="square" lIns="0" tIns="0" rIns="0" bIns="0" rtlCol="0" anchor="ctr"/>
          <a:lstStyle/>
          <a:p>
            <a:pPr algn="ctr" indent="0" marL="0">
              <a:buNone/>
            </a:pPr>
            <a:r>
              <a:rPr lang="en-US" sz="1600" b="1" dirty="0">
                <a:solidFill>
                  <a:srgbClr val="00693F"/>
                </a:solidFill>
                <a:latin typeface="Calibri" pitchFamily="34" charset="0"/>
                <a:ea typeface="Calibri" pitchFamily="34" charset="-122"/>
                <a:cs typeface="Calibri" pitchFamily="34" charset="-120"/>
              </a:rPr>
              <a:t>Content to be added by the organization</a:t>
            </a:r>
            <a:endParaRPr lang="en-US" sz="1600" dirty="0"/>
          </a:p>
        </p:txBody>
      </p:sp>
      <p:sp>
        <p:nvSpPr>
          <p:cNvPr id="20" name="Text 15"/>
          <p:cNvSpPr txBox="1"/>
          <p:nvPr/>
        </p:nvSpPr>
        <p:spPr>
          <a:xfrm>
            <a:off x="1371600" y="4576572"/>
            <a:ext cx="9418320" cy="548640"/>
          </a:xfrm>
          <a:prstGeom prst="rect">
            <a:avLst/>
          </a:prstGeom>
          <a:noFill/>
          <a:ln/>
        </p:spPr>
        <p:txBody>
          <a:bodyPr wrap="square" lIns="0" tIns="0" rIns="0" bIns="0" rtlCol="0" anchor="ctr"/>
          <a:lstStyle/>
          <a:p>
            <a:pPr algn="ctr" indent="0" marL="0">
              <a:lnSpc>
                <a:spcPts val="1700"/>
              </a:lnSpc>
              <a:buNone/>
            </a:pPr>
            <a:r>
              <a:rPr lang="en-US" sz="1300" dirty="0">
                <a:solidFill>
                  <a:srgbClr val="5B6B67"/>
                </a:solidFill>
                <a:latin typeface="Calibri" pitchFamily="34" charset="0"/>
                <a:ea typeface="Calibri" pitchFamily="34" charset="-122"/>
                <a:cs typeface="Calibri" pitchFamily="34" charset="-120"/>
              </a:rPr>
              <a:t>Where an agent runs once it leaves a laptop — the internal platform, environments, and promotion path.</a:t>
            </a:r>
            <a:endParaRPr lang="en-US" sz="1300" dirty="0"/>
          </a:p>
        </p:txBody>
      </p:sp>
      <p:sp>
        <p:nvSpPr>
          <p:cNvPr id="21" name="Text 16"/>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5B6B67"/>
                </a:solidFill>
                <a:latin typeface="Calibri" pitchFamily="34" charset="0"/>
                <a:ea typeface="Calibri" pitchFamily="34" charset="-122"/>
                <a:cs typeface="Calibri" pitchFamily="34" charset="-120"/>
              </a:rPr>
              <a:t>Agentic AI with LangChain &amp; LangGraph</a:t>
            </a:r>
            <a:endParaRPr lang="en-US" sz="1000" dirty="0"/>
          </a:p>
        </p:txBody>
      </p:sp>
      <p:sp>
        <p:nvSpPr>
          <p:cNvPr id="22" name="Text 17"/>
          <p:cNvSpPr txBox="1"/>
          <p:nvPr/>
        </p:nvSpPr>
        <p:spPr>
          <a:xfrm>
            <a:off x="11064240" y="6473952"/>
            <a:ext cx="548640" cy="274320"/>
          </a:xfrm>
          <a:prstGeom prst="rect">
            <a:avLst/>
          </a:prstGeom>
          <a:noFill/>
          <a:ln/>
        </p:spPr>
        <p:txBody>
          <a:bodyPr wrap="square" lIns="0" tIns="0" rIns="0" bIns="0" rtlCol="0" anchor="ctr"/>
          <a:lstStyle/>
          <a:p>
            <a:pPr algn="r" indent="0" marL="0">
              <a:buNone/>
            </a:pPr>
            <a:r>
              <a:rPr lang="en-US" sz="1000" dirty="0">
                <a:solidFill>
                  <a:srgbClr val="5B6B67"/>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200" b="1" spc="150" kern="0" dirty="0">
                <a:solidFill>
                  <a:srgbClr val="00693F"/>
                </a:solidFill>
                <a:latin typeface="Calibri" pitchFamily="34" charset="0"/>
                <a:ea typeface="Calibri" pitchFamily="34" charset="-122"/>
                <a:cs typeface="Calibri" pitchFamily="34" charset="-120"/>
              </a:rPr>
              <a:t>PLATFORM SPECIFICS</a:t>
            </a:r>
            <a:endParaRPr lang="en-US" sz="1200" dirty="0"/>
          </a:p>
        </p:txBody>
      </p:sp>
      <p:sp>
        <p:nvSpPr>
          <p:cNvPr id="3" name="Text 1"/>
          <p:cNvSpPr txBox="1"/>
          <p:nvPr/>
        </p:nvSpPr>
        <p:spPr>
          <a:xfrm>
            <a:off x="548640" y="658368"/>
            <a:ext cx="11064240" cy="822960"/>
          </a:xfrm>
          <a:prstGeom prst="rect">
            <a:avLst/>
          </a:prstGeom>
          <a:noFill/>
          <a:ln/>
        </p:spPr>
        <p:txBody>
          <a:bodyPr wrap="square" lIns="0" tIns="0" rIns="0" bIns="0" rtlCol="0" anchor="ctr"/>
          <a:lstStyle/>
          <a:p>
            <a:pPr indent="0" marL="0">
              <a:lnSpc>
                <a:spcPts val="3400"/>
              </a:lnSpc>
              <a:buNone/>
            </a:pPr>
            <a:r>
              <a:rPr lang="en-US" sz="3000" b="1" dirty="0">
                <a:solidFill>
                  <a:srgbClr val="1F2A28"/>
                </a:solidFill>
                <a:latin typeface="Calibri" pitchFamily="34" charset="0"/>
                <a:ea typeface="Calibri" pitchFamily="34" charset="-122"/>
                <a:cs typeface="Calibri" pitchFamily="34" charset="-120"/>
              </a:rPr>
              <a:t>Agent Registry</a:t>
            </a:r>
            <a:endParaRPr lang="en-US" sz="3000" dirty="0"/>
          </a:p>
        </p:txBody>
      </p:sp>
      <p:sp>
        <p:nvSpPr>
          <p:cNvPr id="4" name="Shape 2"/>
          <p:cNvSpPr/>
          <p:nvPr/>
        </p:nvSpPr>
        <p:spPr>
          <a:xfrm>
            <a:off x="10835640" y="566928"/>
            <a:ext cx="685800" cy="685800"/>
          </a:xfrm>
          <a:prstGeom prst="ellipse">
            <a:avLst/>
          </a:prstGeom>
          <a:solidFill>
            <a:srgbClr val="00915A"/>
          </a:solidFill>
          <a:ln/>
        </p:spPr>
      </p:sp>
      <p:pic>
        <p:nvPicPr>
          <p:cNvPr id="5" name="Image 0" descr="/home/claude/icons/clipboard.png">    </p:cNvPr>
          <p:cNvPicPr>
            <a:picLocks noChangeAspect="1"/>
          </p:cNvPicPr>
          <p:nvPr/>
        </p:nvPicPr>
        <p:blipFill>
          <a:blip r:embed="rId1"/>
          <a:stretch>
            <a:fillRect/>
          </a:stretch>
        </p:blipFill>
        <p:spPr>
          <a:xfrm>
            <a:off x="10924794" y="656082"/>
            <a:ext cx="507492" cy="507492"/>
          </a:xfrm>
          <a:prstGeom prst="rect">
            <a:avLst/>
          </a:prstGeom>
        </p:spPr>
      </p:pic>
      <p:sp>
        <p:nvSpPr>
          <p:cNvPr id="6" name="Shape 3"/>
          <p:cNvSpPr/>
          <p:nvPr/>
        </p:nvSpPr>
        <p:spPr>
          <a:xfrm>
            <a:off x="9281160" y="384048"/>
            <a:ext cx="1691640" cy="310896"/>
          </a:xfrm>
          <a:prstGeom prst="roundRect">
            <a:avLst>
              <a:gd name="adj" fmla="val 50000"/>
            </a:avLst>
          </a:prstGeom>
          <a:solidFill>
            <a:srgbClr val="D98E04"/>
          </a:solidFill>
          <a:ln/>
        </p:spPr>
      </p:sp>
      <p:sp>
        <p:nvSpPr>
          <p:cNvPr id="7" name="Text 4"/>
          <p:cNvSpPr txBox="1"/>
          <p:nvPr/>
        </p:nvSpPr>
        <p:spPr>
          <a:xfrm>
            <a:off x="9281160" y="384048"/>
            <a:ext cx="1691640" cy="31089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ORG SPECIFIC</a:t>
            </a:r>
            <a:endParaRPr lang="en-US" sz="1100" dirty="0"/>
          </a:p>
        </p:txBody>
      </p:sp>
      <p:sp>
        <p:nvSpPr>
          <p:cNvPr id="8" name="Text 5"/>
          <p:cNvSpPr txBox="1"/>
          <p:nvPr/>
        </p:nvSpPr>
        <p:spPr>
          <a:xfrm>
            <a:off x="548640" y="1463040"/>
            <a:ext cx="3657600" cy="274320"/>
          </a:xfrm>
          <a:prstGeom prst="rect">
            <a:avLst/>
          </a:prstGeom>
          <a:noFill/>
          <a:ln/>
        </p:spPr>
        <p:txBody>
          <a:bodyPr wrap="square" lIns="0" tIns="0" rIns="0" bIns="0" rtlCol="0" anchor="ctr"/>
          <a:lstStyle/>
          <a:p>
            <a:pPr indent="0" marL="0">
              <a:buNone/>
            </a:pPr>
            <a:r>
              <a:rPr lang="en-US" sz="1300" b="1" dirty="0">
                <a:solidFill>
                  <a:srgbClr val="5B6B67"/>
                </a:solidFill>
                <a:latin typeface="Calibri" pitchFamily="34" charset="0"/>
                <a:ea typeface="Calibri" pitchFamily="34" charset="-122"/>
                <a:cs typeface="Calibri" pitchFamily="34" charset="-120"/>
              </a:rPr>
              <a:t>Cover at minimum:</a:t>
            </a:r>
            <a:endParaRPr lang="en-US" sz="1300" dirty="0"/>
          </a:p>
        </p:txBody>
      </p:sp>
      <p:sp>
        <p:nvSpPr>
          <p:cNvPr id="9" name="Shape 6"/>
          <p:cNvSpPr/>
          <p:nvPr/>
        </p:nvSpPr>
        <p:spPr>
          <a:xfrm>
            <a:off x="548640" y="1828800"/>
            <a:ext cx="1978762" cy="384048"/>
          </a:xfrm>
          <a:prstGeom prst="roundRect">
            <a:avLst>
              <a:gd name="adj" fmla="val 50000"/>
            </a:avLst>
          </a:prstGeom>
          <a:solidFill>
            <a:srgbClr val="E8F5EF"/>
          </a:solidFill>
          <a:ln w="12700">
            <a:solidFill>
              <a:srgbClr val="00915A"/>
            </a:solidFill>
            <a:prstDash val="solid"/>
          </a:ln>
        </p:spPr>
      </p:sp>
      <p:sp>
        <p:nvSpPr>
          <p:cNvPr id="10" name="Text 7"/>
          <p:cNvSpPr txBox="1"/>
          <p:nvPr/>
        </p:nvSpPr>
        <p:spPr>
          <a:xfrm>
            <a:off x="548640" y="1828800"/>
            <a:ext cx="1978762" cy="384048"/>
          </a:xfrm>
          <a:prstGeom prst="rect">
            <a:avLst/>
          </a:prstGeom>
          <a:noFill/>
          <a:ln/>
        </p:spPr>
        <p:txBody>
          <a:bodyPr wrap="square" lIns="0" tIns="0" rIns="0" bIns="0" rtlCol="0" anchor="ctr"/>
          <a:lstStyle/>
          <a:p>
            <a:pPr algn="ctr" indent="0" marL="0">
              <a:buNone/>
            </a:pPr>
            <a:r>
              <a:rPr lang="en-US" sz="1300" b="1" dirty="0">
                <a:solidFill>
                  <a:srgbClr val="00693F"/>
                </a:solidFill>
                <a:latin typeface="Calibri" pitchFamily="34" charset="0"/>
                <a:ea typeface="Calibri" pitchFamily="34" charset="-122"/>
                <a:cs typeface="Calibri" pitchFamily="34" charset="-120"/>
              </a:rPr>
              <a:t>Submission process</a:t>
            </a:r>
            <a:endParaRPr lang="en-US" sz="1300" dirty="0"/>
          </a:p>
        </p:txBody>
      </p:sp>
      <p:sp>
        <p:nvSpPr>
          <p:cNvPr id="11" name="Shape 8"/>
          <p:cNvSpPr/>
          <p:nvPr/>
        </p:nvSpPr>
        <p:spPr>
          <a:xfrm>
            <a:off x="2728570" y="1828800"/>
            <a:ext cx="2068373" cy="384048"/>
          </a:xfrm>
          <a:prstGeom prst="roundRect">
            <a:avLst>
              <a:gd name="adj" fmla="val 50000"/>
            </a:avLst>
          </a:prstGeom>
          <a:solidFill>
            <a:srgbClr val="E8F5EF"/>
          </a:solidFill>
          <a:ln w="12700">
            <a:solidFill>
              <a:srgbClr val="00915A"/>
            </a:solidFill>
            <a:prstDash val="solid"/>
          </a:ln>
        </p:spPr>
      </p:sp>
      <p:sp>
        <p:nvSpPr>
          <p:cNvPr id="12" name="Text 9"/>
          <p:cNvSpPr txBox="1"/>
          <p:nvPr/>
        </p:nvSpPr>
        <p:spPr>
          <a:xfrm>
            <a:off x="2728570" y="1828800"/>
            <a:ext cx="2068373" cy="384048"/>
          </a:xfrm>
          <a:prstGeom prst="rect">
            <a:avLst/>
          </a:prstGeom>
          <a:noFill/>
          <a:ln/>
        </p:spPr>
        <p:txBody>
          <a:bodyPr wrap="square" lIns="0" tIns="0" rIns="0" bIns="0" rtlCol="0" anchor="ctr"/>
          <a:lstStyle/>
          <a:p>
            <a:pPr algn="ctr" indent="0" marL="0">
              <a:buNone/>
            </a:pPr>
            <a:r>
              <a:rPr lang="en-US" sz="1300" b="1" dirty="0">
                <a:solidFill>
                  <a:srgbClr val="00693F"/>
                </a:solidFill>
                <a:latin typeface="Calibri" pitchFamily="34" charset="0"/>
                <a:ea typeface="Calibri" pitchFamily="34" charset="-122"/>
                <a:cs typeface="Calibri" pitchFamily="34" charset="-120"/>
              </a:rPr>
              <a:t>Validation criteria</a:t>
            </a:r>
            <a:endParaRPr lang="en-US" sz="1300" dirty="0"/>
          </a:p>
        </p:txBody>
      </p:sp>
      <p:sp>
        <p:nvSpPr>
          <p:cNvPr id="13" name="Shape 10"/>
          <p:cNvSpPr/>
          <p:nvPr/>
        </p:nvSpPr>
        <p:spPr>
          <a:xfrm>
            <a:off x="4998110" y="1828800"/>
            <a:ext cx="1172261" cy="384048"/>
          </a:xfrm>
          <a:prstGeom prst="roundRect">
            <a:avLst>
              <a:gd name="adj" fmla="val 50000"/>
            </a:avLst>
          </a:prstGeom>
          <a:solidFill>
            <a:srgbClr val="E8F5EF"/>
          </a:solidFill>
          <a:ln w="12700">
            <a:solidFill>
              <a:srgbClr val="00915A"/>
            </a:solidFill>
            <a:prstDash val="solid"/>
          </a:ln>
        </p:spPr>
      </p:sp>
      <p:sp>
        <p:nvSpPr>
          <p:cNvPr id="14" name="Text 11"/>
          <p:cNvSpPr txBox="1"/>
          <p:nvPr/>
        </p:nvSpPr>
        <p:spPr>
          <a:xfrm>
            <a:off x="4998110" y="1828800"/>
            <a:ext cx="1172261" cy="384048"/>
          </a:xfrm>
          <a:prstGeom prst="rect">
            <a:avLst/>
          </a:prstGeom>
          <a:noFill/>
          <a:ln/>
        </p:spPr>
        <p:txBody>
          <a:bodyPr wrap="square" lIns="0" tIns="0" rIns="0" bIns="0" rtlCol="0" anchor="ctr"/>
          <a:lstStyle/>
          <a:p>
            <a:pPr algn="ctr" indent="0" marL="0">
              <a:buNone/>
            </a:pPr>
            <a:r>
              <a:rPr lang="en-US" sz="1300" b="1" dirty="0">
                <a:solidFill>
                  <a:srgbClr val="00693F"/>
                </a:solidFill>
                <a:latin typeface="Calibri" pitchFamily="34" charset="0"/>
                <a:ea typeface="Calibri" pitchFamily="34" charset="-122"/>
                <a:cs typeface="Calibri" pitchFamily="34" charset="-120"/>
              </a:rPr>
              <a:t>Discovery</a:t>
            </a:r>
            <a:endParaRPr lang="en-US" sz="1300" dirty="0"/>
          </a:p>
        </p:txBody>
      </p:sp>
      <p:sp>
        <p:nvSpPr>
          <p:cNvPr id="15" name="Shape 12"/>
          <p:cNvSpPr/>
          <p:nvPr/>
        </p:nvSpPr>
        <p:spPr>
          <a:xfrm>
            <a:off x="548640" y="2514600"/>
            <a:ext cx="11064240" cy="3246120"/>
          </a:xfrm>
          <a:prstGeom prst="roundRect">
            <a:avLst>
              <a:gd name="adj" fmla="val 3380"/>
            </a:avLst>
          </a:prstGeom>
          <a:solidFill>
            <a:srgbClr val="F3FAF7"/>
          </a:solidFill>
          <a:ln w="19050">
            <a:solidFill>
              <a:srgbClr val="00915A"/>
            </a:solidFill>
            <a:prstDash val="dash"/>
          </a:ln>
        </p:spPr>
      </p:sp>
      <p:pic>
        <p:nvPicPr>
          <p:cNvPr id="16" name="Image 1" descr="/home/claude/icons/box_w.png">    </p:cNvPr>
          <p:cNvPicPr>
            <a:picLocks noChangeAspect="1"/>
          </p:cNvPicPr>
          <p:nvPr/>
        </p:nvPicPr>
        <p:blipFill>
          <a:blip r:embed="rId2"/>
          <a:stretch>
            <a:fillRect/>
          </a:stretch>
        </p:blipFill>
        <p:spPr>
          <a:xfrm>
            <a:off x="5788152" y="3451860"/>
            <a:ext cx="585216" cy="585216"/>
          </a:xfrm>
          <a:prstGeom prst="rect">
            <a:avLst/>
          </a:prstGeom>
        </p:spPr>
      </p:pic>
      <p:sp>
        <p:nvSpPr>
          <p:cNvPr id="17" name="Shape 13"/>
          <p:cNvSpPr/>
          <p:nvPr/>
        </p:nvSpPr>
        <p:spPr>
          <a:xfrm>
            <a:off x="5696712" y="3360420"/>
            <a:ext cx="768096" cy="768096"/>
          </a:xfrm>
          <a:prstGeom prst="ellipse">
            <a:avLst/>
          </a:prstGeom>
          <a:solidFill>
            <a:srgbClr val="00915A"/>
          </a:solidFill>
          <a:ln/>
        </p:spPr>
      </p:sp>
      <p:pic>
        <p:nvPicPr>
          <p:cNvPr id="18" name="Image 2" descr="/home/claude/icons/box_w.png">    </p:cNvPr>
          <p:cNvPicPr>
            <a:picLocks noChangeAspect="1"/>
          </p:cNvPicPr>
          <p:nvPr/>
        </p:nvPicPr>
        <p:blipFill>
          <a:blip r:embed="rId3"/>
          <a:stretch>
            <a:fillRect/>
          </a:stretch>
        </p:blipFill>
        <p:spPr>
          <a:xfrm>
            <a:off x="5879592" y="3543300"/>
            <a:ext cx="402336" cy="402336"/>
          </a:xfrm>
          <a:prstGeom prst="rect">
            <a:avLst/>
          </a:prstGeom>
        </p:spPr>
      </p:pic>
      <p:sp>
        <p:nvSpPr>
          <p:cNvPr id="19" name="Text 14"/>
          <p:cNvSpPr txBox="1"/>
          <p:nvPr/>
        </p:nvSpPr>
        <p:spPr>
          <a:xfrm>
            <a:off x="1005840" y="4183380"/>
            <a:ext cx="10149840" cy="365760"/>
          </a:xfrm>
          <a:prstGeom prst="rect">
            <a:avLst/>
          </a:prstGeom>
          <a:noFill/>
          <a:ln/>
        </p:spPr>
        <p:txBody>
          <a:bodyPr wrap="square" lIns="0" tIns="0" rIns="0" bIns="0" rtlCol="0" anchor="ctr"/>
          <a:lstStyle/>
          <a:p>
            <a:pPr algn="ctr" indent="0" marL="0">
              <a:buNone/>
            </a:pPr>
            <a:r>
              <a:rPr lang="en-US" sz="1600" b="1" dirty="0">
                <a:solidFill>
                  <a:srgbClr val="00693F"/>
                </a:solidFill>
                <a:latin typeface="Calibri" pitchFamily="34" charset="0"/>
                <a:ea typeface="Calibri" pitchFamily="34" charset="-122"/>
                <a:cs typeface="Calibri" pitchFamily="34" charset="-120"/>
              </a:rPr>
              <a:t>Content to be added by the organization</a:t>
            </a:r>
            <a:endParaRPr lang="en-US" sz="1600" dirty="0"/>
          </a:p>
        </p:txBody>
      </p:sp>
      <p:sp>
        <p:nvSpPr>
          <p:cNvPr id="20" name="Text 15"/>
          <p:cNvSpPr txBox="1"/>
          <p:nvPr/>
        </p:nvSpPr>
        <p:spPr>
          <a:xfrm>
            <a:off x="1371600" y="4576572"/>
            <a:ext cx="9418320" cy="548640"/>
          </a:xfrm>
          <a:prstGeom prst="rect">
            <a:avLst/>
          </a:prstGeom>
          <a:noFill/>
          <a:ln/>
        </p:spPr>
        <p:txBody>
          <a:bodyPr wrap="square" lIns="0" tIns="0" rIns="0" bIns="0" rtlCol="0" anchor="ctr"/>
          <a:lstStyle/>
          <a:p>
            <a:pPr algn="ctr" indent="0" marL="0">
              <a:lnSpc>
                <a:spcPts val="1700"/>
              </a:lnSpc>
              <a:buNone/>
            </a:pPr>
            <a:r>
              <a:rPr lang="en-US" sz="1300" dirty="0">
                <a:solidFill>
                  <a:srgbClr val="5B6B67"/>
                </a:solidFill>
                <a:latin typeface="Calibri" pitchFamily="34" charset="0"/>
                <a:ea typeface="Calibri" pitchFamily="34" charset="-122"/>
                <a:cs typeface="Calibri" pitchFamily="34" charset="-120"/>
              </a:rPr>
              <a:t>Validated agents are published to the organization’s Git-based registry, using the same authentication mechanism covered above.</a:t>
            </a:r>
            <a:endParaRPr lang="en-US" sz="1300" dirty="0"/>
          </a:p>
        </p:txBody>
      </p:sp>
      <p:sp>
        <p:nvSpPr>
          <p:cNvPr id="21" name="Text 16"/>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5B6B67"/>
                </a:solidFill>
                <a:latin typeface="Calibri" pitchFamily="34" charset="0"/>
                <a:ea typeface="Calibri" pitchFamily="34" charset="-122"/>
                <a:cs typeface="Calibri" pitchFamily="34" charset="-120"/>
              </a:rPr>
              <a:t>Agentic AI with LangChain &amp; LangGraph</a:t>
            </a:r>
            <a:endParaRPr lang="en-US" sz="1000" dirty="0"/>
          </a:p>
        </p:txBody>
      </p:sp>
      <p:sp>
        <p:nvSpPr>
          <p:cNvPr id="22" name="Text 17"/>
          <p:cNvSpPr txBox="1"/>
          <p:nvPr/>
        </p:nvSpPr>
        <p:spPr>
          <a:xfrm>
            <a:off x="11064240" y="6473952"/>
            <a:ext cx="548640" cy="274320"/>
          </a:xfrm>
          <a:prstGeom prst="rect">
            <a:avLst/>
          </a:prstGeom>
          <a:noFill/>
          <a:ln/>
        </p:spPr>
        <p:txBody>
          <a:bodyPr wrap="square" lIns="0" tIns="0" rIns="0" bIns="0" rtlCol="0" anchor="ctr"/>
          <a:lstStyle/>
          <a:p>
            <a:pPr algn="r" indent="0" marL="0">
              <a:buNone/>
            </a:pPr>
            <a:r>
              <a:rPr lang="en-US" sz="1000" dirty="0">
                <a:solidFill>
                  <a:srgbClr val="5B6B67"/>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200" b="1" spc="150" kern="0" dirty="0">
                <a:solidFill>
                  <a:srgbClr val="00693F"/>
                </a:solidFill>
                <a:latin typeface="Calibri" pitchFamily="34" charset="0"/>
                <a:ea typeface="Calibri" pitchFamily="34" charset="-122"/>
                <a:cs typeface="Calibri" pitchFamily="34" charset="-120"/>
              </a:rPr>
              <a:t>HEADS-UP — A FUTURE SESSION</a:t>
            </a:r>
            <a:endParaRPr lang="en-US" sz="1200" dirty="0"/>
          </a:p>
        </p:txBody>
      </p:sp>
      <p:sp>
        <p:nvSpPr>
          <p:cNvPr id="3" name="Text 1"/>
          <p:cNvSpPr txBox="1"/>
          <p:nvPr/>
        </p:nvSpPr>
        <p:spPr>
          <a:xfrm>
            <a:off x="548640" y="658368"/>
            <a:ext cx="11064240" cy="822960"/>
          </a:xfrm>
          <a:prstGeom prst="rect">
            <a:avLst/>
          </a:prstGeom>
          <a:noFill/>
          <a:ln/>
        </p:spPr>
        <p:txBody>
          <a:bodyPr wrap="square" lIns="0" tIns="0" rIns="0" bIns="0" rtlCol="0" anchor="ctr"/>
          <a:lstStyle/>
          <a:p>
            <a:pPr indent="0" marL="0">
              <a:lnSpc>
                <a:spcPts val="3400"/>
              </a:lnSpc>
              <a:buNone/>
            </a:pPr>
            <a:r>
              <a:rPr lang="en-US" sz="3000" b="1" dirty="0">
                <a:solidFill>
                  <a:srgbClr val="1F2A28"/>
                </a:solidFill>
                <a:latin typeface="Calibri" pitchFamily="34" charset="0"/>
                <a:ea typeface="Calibri" pitchFamily="34" charset="-122"/>
                <a:cs typeface="Calibri" pitchFamily="34" charset="-120"/>
              </a:rPr>
              <a:t>DSPy: prompts as tunable parameters</a:t>
            </a:r>
            <a:endParaRPr lang="en-US" sz="3000" dirty="0"/>
          </a:p>
        </p:txBody>
      </p:sp>
      <p:sp>
        <p:nvSpPr>
          <p:cNvPr id="4" name="Shape 2"/>
          <p:cNvSpPr/>
          <p:nvPr/>
        </p:nvSpPr>
        <p:spPr>
          <a:xfrm>
            <a:off x="10835640" y="566928"/>
            <a:ext cx="685800" cy="685800"/>
          </a:xfrm>
          <a:prstGeom prst="ellipse">
            <a:avLst/>
          </a:prstGeom>
          <a:solidFill>
            <a:srgbClr val="00915A"/>
          </a:solidFill>
          <a:ln/>
        </p:spPr>
      </p:sp>
      <p:pic>
        <p:nvPicPr>
          <p:cNvPr id="5" name="Image 0" descr="/home/claude/icons/sliders.png">    </p:cNvPr>
          <p:cNvPicPr>
            <a:picLocks noChangeAspect="1"/>
          </p:cNvPicPr>
          <p:nvPr/>
        </p:nvPicPr>
        <p:blipFill>
          <a:blip r:embed="rId1"/>
          <a:stretch>
            <a:fillRect/>
          </a:stretch>
        </p:blipFill>
        <p:spPr>
          <a:xfrm>
            <a:off x="10924794" y="656082"/>
            <a:ext cx="507492" cy="507492"/>
          </a:xfrm>
          <a:prstGeom prst="rect">
            <a:avLst/>
          </a:prstGeom>
        </p:spPr>
      </p:pic>
      <p:sp>
        <p:nvSpPr>
          <p:cNvPr id="6" name="Shape 3"/>
          <p:cNvSpPr/>
          <p:nvPr/>
        </p:nvSpPr>
        <p:spPr>
          <a:xfrm>
            <a:off x="548640" y="2125980"/>
            <a:ext cx="91440" cy="91440"/>
          </a:xfrm>
          <a:prstGeom prst="ellipse">
            <a:avLst/>
          </a:prstGeom>
          <a:solidFill>
            <a:srgbClr val="00915A"/>
          </a:solidFill>
          <a:ln/>
        </p:spPr>
      </p:sp>
      <p:sp>
        <p:nvSpPr>
          <p:cNvPr id="7" name="Text 4"/>
          <p:cNvSpPr txBox="1"/>
          <p:nvPr/>
        </p:nvSpPr>
        <p:spPr>
          <a:xfrm>
            <a:off x="822960" y="1920240"/>
            <a:ext cx="10424160" cy="502920"/>
          </a:xfrm>
          <a:prstGeom prst="rect">
            <a:avLst/>
          </a:prstGeom>
          <a:noFill/>
          <a:ln/>
        </p:spPr>
        <p:txBody>
          <a:bodyPr wrap="square" lIns="0" tIns="0" rIns="0" bIns="0" rtlCol="0" anchor="ctr"/>
          <a:lstStyle/>
          <a:p>
            <a:pPr indent="0" marL="0">
              <a:lnSpc>
                <a:spcPts val="2100"/>
              </a:lnSpc>
              <a:buNone/>
            </a:pPr>
            <a:r>
              <a:rPr lang="en-US" sz="1600" dirty="0">
                <a:solidFill>
                  <a:srgbClr val="1F2A28"/>
                </a:solidFill>
                <a:latin typeface="Calibri" pitchFamily="34" charset="0"/>
                <a:ea typeface="Calibri" pitchFamily="34" charset="-122"/>
                <a:cs typeface="Calibri" pitchFamily="34" charset="-120"/>
              </a:rPr>
              <a:t>Every agent built so far has hand-written prompts — the router’s classification prompt, the ReAct instructions.</a:t>
            </a:r>
            <a:endParaRPr lang="en-US" sz="1600" dirty="0"/>
          </a:p>
        </p:txBody>
      </p:sp>
      <p:sp>
        <p:nvSpPr>
          <p:cNvPr id="8" name="Shape 5"/>
          <p:cNvSpPr/>
          <p:nvPr/>
        </p:nvSpPr>
        <p:spPr>
          <a:xfrm>
            <a:off x="548640" y="2903220"/>
            <a:ext cx="91440" cy="91440"/>
          </a:xfrm>
          <a:prstGeom prst="ellipse">
            <a:avLst/>
          </a:prstGeom>
          <a:solidFill>
            <a:srgbClr val="00915A"/>
          </a:solidFill>
          <a:ln/>
        </p:spPr>
      </p:sp>
      <p:sp>
        <p:nvSpPr>
          <p:cNvPr id="9" name="Text 6"/>
          <p:cNvSpPr txBox="1"/>
          <p:nvPr/>
        </p:nvSpPr>
        <p:spPr>
          <a:xfrm>
            <a:off x="822960" y="2697480"/>
            <a:ext cx="10424160" cy="502920"/>
          </a:xfrm>
          <a:prstGeom prst="rect">
            <a:avLst/>
          </a:prstGeom>
          <a:noFill/>
          <a:ln/>
        </p:spPr>
        <p:txBody>
          <a:bodyPr wrap="square" lIns="0" tIns="0" rIns="0" bIns="0" rtlCol="0" anchor="ctr"/>
          <a:lstStyle/>
          <a:p>
            <a:pPr indent="0" marL="0">
              <a:lnSpc>
                <a:spcPts val="2100"/>
              </a:lnSpc>
              <a:buNone/>
            </a:pPr>
            <a:r>
              <a:rPr lang="en-US" sz="1600" dirty="0">
                <a:solidFill>
                  <a:srgbClr val="1F2A28"/>
                </a:solidFill>
                <a:latin typeface="Calibri" pitchFamily="34" charset="0"/>
                <a:ea typeface="Calibri" pitchFamily="34" charset="-122"/>
                <a:cs typeface="Calibri" pitchFamily="34" charset="-120"/>
              </a:rPr>
              <a:t>At scale, across dozens of agents, that doesn’t hold up as an artisanal practice.</a:t>
            </a:r>
            <a:endParaRPr lang="en-US" sz="1600" dirty="0"/>
          </a:p>
        </p:txBody>
      </p:sp>
      <p:sp>
        <p:nvSpPr>
          <p:cNvPr id="10" name="Shape 7"/>
          <p:cNvSpPr/>
          <p:nvPr/>
        </p:nvSpPr>
        <p:spPr>
          <a:xfrm>
            <a:off x="996696" y="3383280"/>
            <a:ext cx="1828800" cy="1417320"/>
          </a:xfrm>
          <a:prstGeom prst="roundRect">
            <a:avLst>
              <a:gd name="adj" fmla="val 6452"/>
            </a:avLst>
          </a:prstGeom>
          <a:solidFill>
            <a:srgbClr val="E8F5EF"/>
          </a:solidFill>
          <a:ln/>
        </p:spPr>
      </p:sp>
      <p:sp>
        <p:nvSpPr>
          <p:cNvPr id="11" name="Shape 8"/>
          <p:cNvSpPr/>
          <p:nvPr/>
        </p:nvSpPr>
        <p:spPr>
          <a:xfrm>
            <a:off x="1655064" y="3547872"/>
            <a:ext cx="512064" cy="512064"/>
          </a:xfrm>
          <a:prstGeom prst="ellipse">
            <a:avLst/>
          </a:prstGeom>
          <a:solidFill>
            <a:srgbClr val="00915A"/>
          </a:solidFill>
          <a:ln/>
        </p:spPr>
      </p:sp>
      <p:pic>
        <p:nvPicPr>
          <p:cNvPr id="12" name="Image 1" descr="/home/claude/icons/puzzle.png">    </p:cNvPr>
          <p:cNvPicPr>
            <a:picLocks noChangeAspect="1"/>
          </p:cNvPicPr>
          <p:nvPr/>
        </p:nvPicPr>
        <p:blipFill>
          <a:blip r:embed="rId2"/>
          <a:stretch>
            <a:fillRect/>
          </a:stretch>
        </p:blipFill>
        <p:spPr>
          <a:xfrm>
            <a:off x="1721632" y="3614440"/>
            <a:ext cx="378927" cy="378927"/>
          </a:xfrm>
          <a:prstGeom prst="rect">
            <a:avLst/>
          </a:prstGeom>
        </p:spPr>
      </p:pic>
      <p:sp>
        <p:nvSpPr>
          <p:cNvPr id="13" name="Text 9"/>
          <p:cNvSpPr txBox="1"/>
          <p:nvPr/>
        </p:nvSpPr>
        <p:spPr>
          <a:xfrm>
            <a:off x="1069848" y="4160520"/>
            <a:ext cx="1682496" cy="310896"/>
          </a:xfrm>
          <a:prstGeom prst="rect">
            <a:avLst/>
          </a:prstGeom>
          <a:noFill/>
          <a:ln/>
        </p:spPr>
        <p:txBody>
          <a:bodyPr wrap="square" lIns="0" tIns="0" rIns="0" bIns="0" rtlCol="0" anchor="ctr"/>
          <a:lstStyle/>
          <a:p>
            <a:pPr algn="ctr" indent="0" marL="0">
              <a:buNone/>
            </a:pPr>
            <a:r>
              <a:rPr lang="en-US" sz="1400" b="1" dirty="0">
                <a:solidFill>
                  <a:srgbClr val="00693F"/>
                </a:solidFill>
                <a:latin typeface="Calibri" pitchFamily="34" charset="0"/>
                <a:ea typeface="Calibri" pitchFamily="34" charset="-122"/>
                <a:cs typeface="Calibri" pitchFamily="34" charset="-120"/>
              </a:rPr>
              <a:t>Signature</a:t>
            </a:r>
            <a:endParaRPr lang="en-US" sz="1400" dirty="0"/>
          </a:p>
        </p:txBody>
      </p:sp>
      <p:sp>
        <p:nvSpPr>
          <p:cNvPr id="14" name="Text 10"/>
          <p:cNvSpPr txBox="1"/>
          <p:nvPr/>
        </p:nvSpPr>
        <p:spPr>
          <a:xfrm>
            <a:off x="1069848" y="4462272"/>
            <a:ext cx="1682496" cy="292608"/>
          </a:xfrm>
          <a:prstGeom prst="rect">
            <a:avLst/>
          </a:prstGeom>
          <a:noFill/>
          <a:ln/>
        </p:spPr>
        <p:txBody>
          <a:bodyPr wrap="square" lIns="0" tIns="0" rIns="0" bIns="0" rtlCol="0" anchor="ctr"/>
          <a:lstStyle/>
          <a:p>
            <a:pPr algn="ctr" indent="0" marL="0">
              <a:buNone/>
            </a:pPr>
            <a:r>
              <a:rPr lang="en-US" sz="1150" dirty="0">
                <a:solidFill>
                  <a:srgbClr val="5B6B67"/>
                </a:solidFill>
                <a:latin typeface="Calibri" pitchFamily="34" charset="0"/>
                <a:ea typeface="Calibri" pitchFamily="34" charset="-122"/>
                <a:cs typeface="Calibri" pitchFamily="34" charset="-120"/>
              </a:rPr>
              <a:t>typed I/O</a:t>
            </a:r>
            <a:endParaRPr lang="en-US" sz="1150" dirty="0"/>
          </a:p>
        </p:txBody>
      </p:sp>
      <p:pic>
        <p:nvPicPr>
          <p:cNvPr id="15" name="Image 2" descr="/home/claude/icons/arrowRight.png">    </p:cNvPr>
          <p:cNvPicPr>
            <a:picLocks noChangeAspect="1"/>
          </p:cNvPicPr>
          <p:nvPr/>
        </p:nvPicPr>
        <p:blipFill>
          <a:blip r:embed="rId3"/>
          <a:stretch>
            <a:fillRect/>
          </a:stretch>
        </p:blipFill>
        <p:spPr>
          <a:xfrm>
            <a:off x="2852928" y="3991356"/>
            <a:ext cx="201168" cy="201168"/>
          </a:xfrm>
          <a:prstGeom prst="rect">
            <a:avLst/>
          </a:prstGeom>
        </p:spPr>
      </p:pic>
      <p:sp>
        <p:nvSpPr>
          <p:cNvPr id="16" name="Shape 11"/>
          <p:cNvSpPr/>
          <p:nvPr/>
        </p:nvSpPr>
        <p:spPr>
          <a:xfrm>
            <a:off x="3081528" y="3383280"/>
            <a:ext cx="1828800" cy="1417320"/>
          </a:xfrm>
          <a:prstGeom prst="roundRect">
            <a:avLst>
              <a:gd name="adj" fmla="val 6452"/>
            </a:avLst>
          </a:prstGeom>
          <a:solidFill>
            <a:srgbClr val="E8F5EF"/>
          </a:solidFill>
          <a:ln/>
        </p:spPr>
      </p:sp>
      <p:sp>
        <p:nvSpPr>
          <p:cNvPr id="17" name="Shape 12"/>
          <p:cNvSpPr/>
          <p:nvPr/>
        </p:nvSpPr>
        <p:spPr>
          <a:xfrm>
            <a:off x="3739896" y="3547872"/>
            <a:ext cx="512064" cy="512064"/>
          </a:xfrm>
          <a:prstGeom prst="ellipse">
            <a:avLst/>
          </a:prstGeom>
          <a:solidFill>
            <a:srgbClr val="00915A"/>
          </a:solidFill>
          <a:ln/>
        </p:spPr>
      </p:sp>
      <p:pic>
        <p:nvPicPr>
          <p:cNvPr id="18" name="Image 3" descr="/home/claude/icons/node.png">    </p:cNvPr>
          <p:cNvPicPr>
            <a:picLocks noChangeAspect="1"/>
          </p:cNvPicPr>
          <p:nvPr/>
        </p:nvPicPr>
        <p:blipFill>
          <a:blip r:embed="rId4"/>
          <a:stretch>
            <a:fillRect/>
          </a:stretch>
        </p:blipFill>
        <p:spPr>
          <a:xfrm>
            <a:off x="3806464" y="3614440"/>
            <a:ext cx="378927" cy="378927"/>
          </a:xfrm>
          <a:prstGeom prst="rect">
            <a:avLst/>
          </a:prstGeom>
        </p:spPr>
      </p:pic>
      <p:sp>
        <p:nvSpPr>
          <p:cNvPr id="19" name="Text 13"/>
          <p:cNvSpPr txBox="1"/>
          <p:nvPr/>
        </p:nvSpPr>
        <p:spPr>
          <a:xfrm>
            <a:off x="3154680" y="4160520"/>
            <a:ext cx="1682496" cy="310896"/>
          </a:xfrm>
          <a:prstGeom prst="rect">
            <a:avLst/>
          </a:prstGeom>
          <a:noFill/>
          <a:ln/>
        </p:spPr>
        <p:txBody>
          <a:bodyPr wrap="square" lIns="0" tIns="0" rIns="0" bIns="0" rtlCol="0" anchor="ctr"/>
          <a:lstStyle/>
          <a:p>
            <a:pPr algn="ctr" indent="0" marL="0">
              <a:buNone/>
            </a:pPr>
            <a:r>
              <a:rPr lang="en-US" sz="1400" b="1" dirty="0">
                <a:solidFill>
                  <a:srgbClr val="00693F"/>
                </a:solidFill>
                <a:latin typeface="Calibri" pitchFamily="34" charset="0"/>
                <a:ea typeface="Calibri" pitchFamily="34" charset="-122"/>
                <a:cs typeface="Calibri" pitchFamily="34" charset="-120"/>
              </a:rPr>
              <a:t>Module</a:t>
            </a:r>
            <a:endParaRPr lang="en-US" sz="1400" dirty="0"/>
          </a:p>
        </p:txBody>
      </p:sp>
      <p:sp>
        <p:nvSpPr>
          <p:cNvPr id="20" name="Text 14"/>
          <p:cNvSpPr txBox="1"/>
          <p:nvPr/>
        </p:nvSpPr>
        <p:spPr>
          <a:xfrm>
            <a:off x="3154680" y="4462272"/>
            <a:ext cx="1682496" cy="292608"/>
          </a:xfrm>
          <a:prstGeom prst="rect">
            <a:avLst/>
          </a:prstGeom>
          <a:noFill/>
          <a:ln/>
        </p:spPr>
        <p:txBody>
          <a:bodyPr wrap="square" lIns="0" tIns="0" rIns="0" bIns="0" rtlCol="0" anchor="ctr"/>
          <a:lstStyle/>
          <a:p>
            <a:pPr algn="ctr" indent="0" marL="0">
              <a:buNone/>
            </a:pPr>
            <a:r>
              <a:rPr lang="en-US" sz="1150" dirty="0">
                <a:solidFill>
                  <a:srgbClr val="5B6B67"/>
                </a:solidFill>
                <a:latin typeface="Calibri" pitchFamily="34" charset="0"/>
                <a:ea typeface="Calibri" pitchFamily="34" charset="-122"/>
                <a:cs typeface="Calibri" pitchFamily="34" charset="-120"/>
              </a:rPr>
              <a:t>reasoning strategy</a:t>
            </a:r>
            <a:endParaRPr lang="en-US" sz="1150" dirty="0"/>
          </a:p>
        </p:txBody>
      </p:sp>
      <p:pic>
        <p:nvPicPr>
          <p:cNvPr id="21" name="Image 4" descr="/home/claude/icons/arrowRight.png">    </p:cNvPr>
          <p:cNvPicPr>
            <a:picLocks noChangeAspect="1"/>
          </p:cNvPicPr>
          <p:nvPr/>
        </p:nvPicPr>
        <p:blipFill>
          <a:blip r:embed="rId5"/>
          <a:stretch>
            <a:fillRect/>
          </a:stretch>
        </p:blipFill>
        <p:spPr>
          <a:xfrm>
            <a:off x="4937760" y="3991356"/>
            <a:ext cx="201168" cy="201168"/>
          </a:xfrm>
          <a:prstGeom prst="rect">
            <a:avLst/>
          </a:prstGeom>
        </p:spPr>
      </p:pic>
      <p:sp>
        <p:nvSpPr>
          <p:cNvPr id="22" name="Shape 15"/>
          <p:cNvSpPr/>
          <p:nvPr/>
        </p:nvSpPr>
        <p:spPr>
          <a:xfrm>
            <a:off x="5166360" y="3383280"/>
            <a:ext cx="1828800" cy="1417320"/>
          </a:xfrm>
          <a:prstGeom prst="roundRect">
            <a:avLst>
              <a:gd name="adj" fmla="val 6452"/>
            </a:avLst>
          </a:prstGeom>
          <a:solidFill>
            <a:srgbClr val="E8F5EF"/>
          </a:solidFill>
          <a:ln/>
        </p:spPr>
      </p:sp>
      <p:sp>
        <p:nvSpPr>
          <p:cNvPr id="23" name="Shape 16"/>
          <p:cNvSpPr/>
          <p:nvPr/>
        </p:nvSpPr>
        <p:spPr>
          <a:xfrm>
            <a:off x="5824728" y="3547872"/>
            <a:ext cx="512064" cy="512064"/>
          </a:xfrm>
          <a:prstGeom prst="ellipse">
            <a:avLst/>
          </a:prstGeom>
          <a:solidFill>
            <a:srgbClr val="00915A"/>
          </a:solidFill>
          <a:ln/>
        </p:spPr>
      </p:sp>
      <p:pic>
        <p:nvPicPr>
          <p:cNvPr id="24" name="Image 5" descr="/home/claude/icons/target.png">    </p:cNvPr>
          <p:cNvPicPr>
            <a:picLocks noChangeAspect="1"/>
          </p:cNvPicPr>
          <p:nvPr/>
        </p:nvPicPr>
        <p:blipFill>
          <a:blip r:embed="rId6"/>
          <a:stretch>
            <a:fillRect/>
          </a:stretch>
        </p:blipFill>
        <p:spPr>
          <a:xfrm>
            <a:off x="5891296" y="3614440"/>
            <a:ext cx="378927" cy="378927"/>
          </a:xfrm>
          <a:prstGeom prst="rect">
            <a:avLst/>
          </a:prstGeom>
        </p:spPr>
      </p:pic>
      <p:sp>
        <p:nvSpPr>
          <p:cNvPr id="25" name="Text 17"/>
          <p:cNvSpPr txBox="1"/>
          <p:nvPr/>
        </p:nvSpPr>
        <p:spPr>
          <a:xfrm>
            <a:off x="5239512" y="4160520"/>
            <a:ext cx="1682496" cy="310896"/>
          </a:xfrm>
          <a:prstGeom prst="rect">
            <a:avLst/>
          </a:prstGeom>
          <a:noFill/>
          <a:ln/>
        </p:spPr>
        <p:txBody>
          <a:bodyPr wrap="square" lIns="0" tIns="0" rIns="0" bIns="0" rtlCol="0" anchor="ctr"/>
          <a:lstStyle/>
          <a:p>
            <a:pPr algn="ctr" indent="0" marL="0">
              <a:buNone/>
            </a:pPr>
            <a:r>
              <a:rPr lang="en-US" sz="1400" b="1" dirty="0">
                <a:solidFill>
                  <a:srgbClr val="00693F"/>
                </a:solidFill>
                <a:latin typeface="Calibri" pitchFamily="34" charset="0"/>
                <a:ea typeface="Calibri" pitchFamily="34" charset="-122"/>
                <a:cs typeface="Calibri" pitchFamily="34" charset="-120"/>
              </a:rPr>
              <a:t>Metric</a:t>
            </a:r>
            <a:endParaRPr lang="en-US" sz="1400" dirty="0"/>
          </a:p>
        </p:txBody>
      </p:sp>
      <p:sp>
        <p:nvSpPr>
          <p:cNvPr id="26" name="Text 18"/>
          <p:cNvSpPr txBox="1"/>
          <p:nvPr/>
        </p:nvSpPr>
        <p:spPr>
          <a:xfrm>
            <a:off x="5239512" y="4462272"/>
            <a:ext cx="1682496" cy="292608"/>
          </a:xfrm>
          <a:prstGeom prst="rect">
            <a:avLst/>
          </a:prstGeom>
          <a:noFill/>
          <a:ln/>
        </p:spPr>
        <p:txBody>
          <a:bodyPr wrap="square" lIns="0" tIns="0" rIns="0" bIns="0" rtlCol="0" anchor="ctr"/>
          <a:lstStyle/>
          <a:p>
            <a:pPr algn="ctr" indent="0" marL="0">
              <a:buNone/>
            </a:pPr>
            <a:r>
              <a:rPr lang="en-US" sz="1150" dirty="0">
                <a:solidFill>
                  <a:srgbClr val="5B6B67"/>
                </a:solidFill>
                <a:latin typeface="Calibri" pitchFamily="34" charset="0"/>
                <a:ea typeface="Calibri" pitchFamily="34" charset="-122"/>
                <a:cs typeface="Calibri" pitchFamily="34" charset="-120"/>
              </a:rPr>
              <a:t>scoring function</a:t>
            </a:r>
            <a:endParaRPr lang="en-US" sz="1150" dirty="0"/>
          </a:p>
        </p:txBody>
      </p:sp>
      <p:pic>
        <p:nvPicPr>
          <p:cNvPr id="27" name="Image 6" descr="/home/claude/icons/arrowRight.png">    </p:cNvPr>
          <p:cNvPicPr>
            <a:picLocks noChangeAspect="1"/>
          </p:cNvPicPr>
          <p:nvPr/>
        </p:nvPicPr>
        <p:blipFill>
          <a:blip r:embed="rId7"/>
          <a:stretch>
            <a:fillRect/>
          </a:stretch>
        </p:blipFill>
        <p:spPr>
          <a:xfrm>
            <a:off x="7022592" y="3991356"/>
            <a:ext cx="201168" cy="201168"/>
          </a:xfrm>
          <a:prstGeom prst="rect">
            <a:avLst/>
          </a:prstGeom>
        </p:spPr>
      </p:pic>
      <p:sp>
        <p:nvSpPr>
          <p:cNvPr id="28" name="Shape 19"/>
          <p:cNvSpPr/>
          <p:nvPr/>
        </p:nvSpPr>
        <p:spPr>
          <a:xfrm>
            <a:off x="7251192" y="3383280"/>
            <a:ext cx="1828800" cy="1417320"/>
          </a:xfrm>
          <a:prstGeom prst="roundRect">
            <a:avLst>
              <a:gd name="adj" fmla="val 6452"/>
            </a:avLst>
          </a:prstGeom>
          <a:solidFill>
            <a:srgbClr val="E8F5EF"/>
          </a:solidFill>
          <a:ln/>
        </p:spPr>
      </p:sp>
      <p:sp>
        <p:nvSpPr>
          <p:cNvPr id="29" name="Shape 20"/>
          <p:cNvSpPr/>
          <p:nvPr/>
        </p:nvSpPr>
        <p:spPr>
          <a:xfrm>
            <a:off x="7909560" y="3547872"/>
            <a:ext cx="512064" cy="512064"/>
          </a:xfrm>
          <a:prstGeom prst="ellipse">
            <a:avLst/>
          </a:prstGeom>
          <a:solidFill>
            <a:srgbClr val="00915A"/>
          </a:solidFill>
          <a:ln/>
        </p:spPr>
      </p:sp>
      <p:pic>
        <p:nvPicPr>
          <p:cNvPr id="30" name="Image 7" descr="/home/claude/icons/zap.png">    </p:cNvPr>
          <p:cNvPicPr>
            <a:picLocks noChangeAspect="1"/>
          </p:cNvPicPr>
          <p:nvPr/>
        </p:nvPicPr>
        <p:blipFill>
          <a:blip r:embed="rId8"/>
          <a:stretch>
            <a:fillRect/>
          </a:stretch>
        </p:blipFill>
        <p:spPr>
          <a:xfrm>
            <a:off x="7976128" y="3614440"/>
            <a:ext cx="378927" cy="378927"/>
          </a:xfrm>
          <a:prstGeom prst="rect">
            <a:avLst/>
          </a:prstGeom>
        </p:spPr>
      </p:pic>
      <p:sp>
        <p:nvSpPr>
          <p:cNvPr id="31" name="Text 21"/>
          <p:cNvSpPr txBox="1"/>
          <p:nvPr/>
        </p:nvSpPr>
        <p:spPr>
          <a:xfrm>
            <a:off x="7324344" y="4160520"/>
            <a:ext cx="1682496" cy="310896"/>
          </a:xfrm>
          <a:prstGeom prst="rect">
            <a:avLst/>
          </a:prstGeom>
          <a:noFill/>
          <a:ln/>
        </p:spPr>
        <p:txBody>
          <a:bodyPr wrap="square" lIns="0" tIns="0" rIns="0" bIns="0" rtlCol="0" anchor="ctr"/>
          <a:lstStyle/>
          <a:p>
            <a:pPr algn="ctr" indent="0" marL="0">
              <a:buNone/>
            </a:pPr>
            <a:r>
              <a:rPr lang="en-US" sz="1400" b="1" dirty="0">
                <a:solidFill>
                  <a:srgbClr val="00693F"/>
                </a:solidFill>
                <a:latin typeface="Calibri" pitchFamily="34" charset="0"/>
                <a:ea typeface="Calibri" pitchFamily="34" charset="-122"/>
                <a:cs typeface="Calibri" pitchFamily="34" charset="-120"/>
              </a:rPr>
              <a:t>Compile</a:t>
            </a:r>
            <a:endParaRPr lang="en-US" sz="1400" dirty="0"/>
          </a:p>
        </p:txBody>
      </p:sp>
      <p:sp>
        <p:nvSpPr>
          <p:cNvPr id="32" name="Text 22"/>
          <p:cNvSpPr txBox="1"/>
          <p:nvPr/>
        </p:nvSpPr>
        <p:spPr>
          <a:xfrm>
            <a:off x="7324344" y="4462272"/>
            <a:ext cx="1682496" cy="292608"/>
          </a:xfrm>
          <a:prstGeom prst="rect">
            <a:avLst/>
          </a:prstGeom>
          <a:noFill/>
          <a:ln/>
        </p:spPr>
        <p:txBody>
          <a:bodyPr wrap="square" lIns="0" tIns="0" rIns="0" bIns="0" rtlCol="0" anchor="ctr"/>
          <a:lstStyle/>
          <a:p>
            <a:pPr algn="ctr" indent="0" marL="0">
              <a:buNone/>
            </a:pPr>
            <a:r>
              <a:rPr lang="en-US" sz="1150" dirty="0">
                <a:solidFill>
                  <a:srgbClr val="5B6B67"/>
                </a:solidFill>
                <a:latin typeface="Calibri" pitchFamily="34" charset="0"/>
                <a:ea typeface="Calibri" pitchFamily="34" charset="-122"/>
                <a:cs typeface="Calibri" pitchFamily="34" charset="-120"/>
              </a:rPr>
              <a:t>search over prompts</a:t>
            </a:r>
            <a:endParaRPr lang="en-US" sz="1150" dirty="0"/>
          </a:p>
        </p:txBody>
      </p:sp>
      <p:pic>
        <p:nvPicPr>
          <p:cNvPr id="33" name="Image 8" descr="/home/claude/icons/arrowRight.png">    </p:cNvPr>
          <p:cNvPicPr>
            <a:picLocks noChangeAspect="1"/>
          </p:cNvPicPr>
          <p:nvPr/>
        </p:nvPicPr>
        <p:blipFill>
          <a:blip r:embed="rId9"/>
          <a:stretch>
            <a:fillRect/>
          </a:stretch>
        </p:blipFill>
        <p:spPr>
          <a:xfrm>
            <a:off x="9107424" y="3991356"/>
            <a:ext cx="201168" cy="201168"/>
          </a:xfrm>
          <a:prstGeom prst="rect">
            <a:avLst/>
          </a:prstGeom>
        </p:spPr>
      </p:pic>
      <p:sp>
        <p:nvSpPr>
          <p:cNvPr id="34" name="Shape 23"/>
          <p:cNvSpPr/>
          <p:nvPr/>
        </p:nvSpPr>
        <p:spPr>
          <a:xfrm>
            <a:off x="9336024" y="3383280"/>
            <a:ext cx="1828800" cy="1417320"/>
          </a:xfrm>
          <a:prstGeom prst="roundRect">
            <a:avLst>
              <a:gd name="adj" fmla="val 6452"/>
            </a:avLst>
          </a:prstGeom>
          <a:solidFill>
            <a:srgbClr val="00915A"/>
          </a:solidFill>
          <a:ln/>
        </p:spPr>
      </p:sp>
      <p:sp>
        <p:nvSpPr>
          <p:cNvPr id="35" name="Shape 24"/>
          <p:cNvSpPr/>
          <p:nvPr/>
        </p:nvSpPr>
        <p:spPr>
          <a:xfrm>
            <a:off x="9994392" y="3547872"/>
            <a:ext cx="512064" cy="512064"/>
          </a:xfrm>
          <a:prstGeom prst="ellipse">
            <a:avLst/>
          </a:prstGeom>
          <a:solidFill>
            <a:srgbClr val="FFFFFF"/>
          </a:solidFill>
          <a:ln/>
        </p:spPr>
      </p:sp>
      <p:pic>
        <p:nvPicPr>
          <p:cNvPr id="36" name="Image 9" descr="/home/claude/icons/check.png">    </p:cNvPr>
          <p:cNvPicPr>
            <a:picLocks noChangeAspect="1"/>
          </p:cNvPicPr>
          <p:nvPr/>
        </p:nvPicPr>
        <p:blipFill>
          <a:blip r:embed="rId10"/>
          <a:stretch>
            <a:fillRect/>
          </a:stretch>
        </p:blipFill>
        <p:spPr>
          <a:xfrm>
            <a:off x="10060960" y="3614440"/>
            <a:ext cx="378927" cy="378927"/>
          </a:xfrm>
          <a:prstGeom prst="rect">
            <a:avLst/>
          </a:prstGeom>
        </p:spPr>
      </p:pic>
      <p:sp>
        <p:nvSpPr>
          <p:cNvPr id="37" name="Text 25"/>
          <p:cNvSpPr txBox="1"/>
          <p:nvPr/>
        </p:nvSpPr>
        <p:spPr>
          <a:xfrm>
            <a:off x="9409176" y="4160520"/>
            <a:ext cx="16824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Optimized Prompt</a:t>
            </a:r>
            <a:endParaRPr lang="en-US" sz="1400" dirty="0"/>
          </a:p>
        </p:txBody>
      </p:sp>
      <p:sp>
        <p:nvSpPr>
          <p:cNvPr id="38" name="Text 26"/>
          <p:cNvSpPr txBox="1"/>
          <p:nvPr/>
        </p:nvSpPr>
        <p:spPr>
          <a:xfrm>
            <a:off x="9409176" y="4462272"/>
            <a:ext cx="1682496" cy="292608"/>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ships to the agent</a:t>
            </a:r>
            <a:endParaRPr lang="en-US" sz="1150" dirty="0"/>
          </a:p>
        </p:txBody>
      </p:sp>
      <p:sp>
        <p:nvSpPr>
          <p:cNvPr id="39" name="Text 27"/>
          <p:cNvSpPr txBox="1"/>
          <p:nvPr/>
        </p:nvSpPr>
        <p:spPr>
          <a:xfrm>
            <a:off x="548640" y="5074920"/>
            <a:ext cx="11064240" cy="457200"/>
          </a:xfrm>
          <a:prstGeom prst="rect">
            <a:avLst/>
          </a:prstGeom>
          <a:noFill/>
          <a:ln/>
        </p:spPr>
        <p:txBody>
          <a:bodyPr wrap="square" lIns="0" tIns="0" rIns="0" bIns="0" rtlCol="0" anchor="ctr"/>
          <a:lstStyle/>
          <a:p>
            <a:pPr algn="ctr" indent="0" marL="0">
              <a:buNone/>
            </a:pPr>
            <a:r>
              <a:rPr lang="en-US" sz="1500" i="1" dirty="0">
                <a:solidFill>
                  <a:srgbClr val="5B6B67"/>
                </a:solidFill>
                <a:latin typeface="Calibri" pitchFamily="34" charset="0"/>
                <a:ea typeface="Calibri" pitchFamily="34" charset="-122"/>
                <a:cs typeface="Calibri" pitchFamily="34" charset="-120"/>
              </a:rPr>
              <a:t>Give it examples and a scoring function; it tunes the prompt automatically until quality converges.</a:t>
            </a:r>
            <a:endParaRPr lang="en-US" sz="1500" dirty="0"/>
          </a:p>
        </p:txBody>
      </p:sp>
      <p:sp>
        <p:nvSpPr>
          <p:cNvPr id="40" name="Text 28"/>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5B6B67"/>
                </a:solidFill>
                <a:latin typeface="Calibri" pitchFamily="34" charset="0"/>
                <a:ea typeface="Calibri" pitchFamily="34" charset="-122"/>
                <a:cs typeface="Calibri" pitchFamily="34" charset="-120"/>
              </a:rPr>
              <a:t>Agentic AI with LangChain &amp; LangGraph</a:t>
            </a:r>
            <a:endParaRPr lang="en-US" sz="1000" dirty="0"/>
          </a:p>
        </p:txBody>
      </p:sp>
      <p:sp>
        <p:nvSpPr>
          <p:cNvPr id="41" name="Text 29"/>
          <p:cNvSpPr txBox="1"/>
          <p:nvPr/>
        </p:nvSpPr>
        <p:spPr>
          <a:xfrm>
            <a:off x="11064240" y="6473952"/>
            <a:ext cx="548640" cy="274320"/>
          </a:xfrm>
          <a:prstGeom prst="rect">
            <a:avLst/>
          </a:prstGeom>
          <a:noFill/>
          <a:ln/>
        </p:spPr>
        <p:txBody>
          <a:bodyPr wrap="square" lIns="0" tIns="0" rIns="0" bIns="0" rtlCol="0" anchor="ctr"/>
          <a:lstStyle/>
          <a:p>
            <a:pPr algn="r" indent="0" marL="0">
              <a:buNone/>
            </a:pPr>
            <a:r>
              <a:rPr lang="en-US" sz="1000" dirty="0">
                <a:solidFill>
                  <a:srgbClr val="5B6B67"/>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200" b="1" spc="150" kern="0" dirty="0">
                <a:solidFill>
                  <a:srgbClr val="00693F"/>
                </a:solidFill>
                <a:latin typeface="Calibri" pitchFamily="34" charset="0"/>
                <a:ea typeface="Calibri" pitchFamily="34" charset="-122"/>
                <a:cs typeface="Calibri" pitchFamily="34" charset="-120"/>
              </a:rPr>
              <a:t>HEADS-UP — A FUTURE SESSION</a:t>
            </a:r>
            <a:endParaRPr lang="en-US" sz="1200" dirty="0"/>
          </a:p>
        </p:txBody>
      </p:sp>
      <p:sp>
        <p:nvSpPr>
          <p:cNvPr id="3" name="Text 1"/>
          <p:cNvSpPr txBox="1"/>
          <p:nvPr/>
        </p:nvSpPr>
        <p:spPr>
          <a:xfrm>
            <a:off x="548640" y="658368"/>
            <a:ext cx="11064240" cy="822960"/>
          </a:xfrm>
          <a:prstGeom prst="rect">
            <a:avLst/>
          </a:prstGeom>
          <a:noFill/>
          <a:ln/>
        </p:spPr>
        <p:txBody>
          <a:bodyPr wrap="square" lIns="0" tIns="0" rIns="0" bIns="0" rtlCol="0" anchor="ctr"/>
          <a:lstStyle/>
          <a:p>
            <a:pPr indent="0" marL="0">
              <a:lnSpc>
                <a:spcPts val="3400"/>
              </a:lnSpc>
              <a:buNone/>
            </a:pPr>
            <a:r>
              <a:rPr lang="en-US" sz="3000" b="1" dirty="0">
                <a:solidFill>
                  <a:srgbClr val="1F2A28"/>
                </a:solidFill>
                <a:latin typeface="Calibri" pitchFamily="34" charset="0"/>
                <a:ea typeface="Calibri" pitchFamily="34" charset="-122"/>
                <a:cs typeface="Calibri" pitchFamily="34" charset="-120"/>
              </a:rPr>
              <a:t>SIMBA — a self-reflective prompt optimizer</a:t>
            </a:r>
            <a:endParaRPr lang="en-US" sz="3000" dirty="0"/>
          </a:p>
        </p:txBody>
      </p:sp>
      <p:sp>
        <p:nvSpPr>
          <p:cNvPr id="4" name="Shape 2"/>
          <p:cNvSpPr/>
          <p:nvPr/>
        </p:nvSpPr>
        <p:spPr>
          <a:xfrm>
            <a:off x="10835640" y="566928"/>
            <a:ext cx="685800" cy="685800"/>
          </a:xfrm>
          <a:prstGeom prst="ellipse">
            <a:avLst/>
          </a:prstGeom>
          <a:solidFill>
            <a:srgbClr val="00915A"/>
          </a:solidFill>
          <a:ln/>
        </p:spPr>
      </p:sp>
      <p:pic>
        <p:nvPicPr>
          <p:cNvPr id="5" name="Image 0" descr="/home/claude/icons/zap.png">    </p:cNvPr>
          <p:cNvPicPr>
            <a:picLocks noChangeAspect="1"/>
          </p:cNvPicPr>
          <p:nvPr/>
        </p:nvPicPr>
        <p:blipFill>
          <a:blip r:embed="rId1"/>
          <a:stretch>
            <a:fillRect/>
          </a:stretch>
        </p:blipFill>
        <p:spPr>
          <a:xfrm>
            <a:off x="10924794" y="656082"/>
            <a:ext cx="507492" cy="507492"/>
          </a:xfrm>
          <a:prstGeom prst="rect">
            <a:avLst/>
          </a:prstGeom>
        </p:spPr>
      </p:pic>
      <p:sp>
        <p:nvSpPr>
          <p:cNvPr id="6" name="Shape 3"/>
          <p:cNvSpPr/>
          <p:nvPr/>
        </p:nvSpPr>
        <p:spPr>
          <a:xfrm>
            <a:off x="548640" y="2459736"/>
            <a:ext cx="91440" cy="91440"/>
          </a:xfrm>
          <a:prstGeom prst="ellipse">
            <a:avLst/>
          </a:prstGeom>
          <a:solidFill>
            <a:srgbClr val="00915A"/>
          </a:solidFill>
          <a:ln/>
        </p:spPr>
      </p:sp>
      <p:sp>
        <p:nvSpPr>
          <p:cNvPr id="7" name="Text 4"/>
          <p:cNvSpPr txBox="1"/>
          <p:nvPr/>
        </p:nvSpPr>
        <p:spPr>
          <a:xfrm>
            <a:off x="822960" y="2057400"/>
            <a:ext cx="6309360" cy="896112"/>
          </a:xfrm>
          <a:prstGeom prst="rect">
            <a:avLst/>
          </a:prstGeom>
          <a:noFill/>
          <a:ln/>
        </p:spPr>
        <p:txBody>
          <a:bodyPr wrap="square" lIns="0" tIns="0" rIns="0" bIns="0" rtlCol="0" anchor="ctr"/>
          <a:lstStyle/>
          <a:p>
            <a:pPr indent="0" marL="0">
              <a:lnSpc>
                <a:spcPts val="2100"/>
              </a:lnSpc>
              <a:buNone/>
            </a:pPr>
            <a:r>
              <a:rPr lang="en-US" sz="1600" dirty="0">
                <a:solidFill>
                  <a:srgbClr val="1F2A28"/>
                </a:solidFill>
                <a:latin typeface="Calibri" pitchFamily="34" charset="0"/>
                <a:ea typeface="Calibri" pitchFamily="34" charset="-122"/>
                <a:cs typeface="Calibri" pitchFamily="34" charset="-120"/>
              </a:rPr>
              <a:t>A self-reflective, mini-batch optimizer: samples a batch, finds the examples the model is least consistent on.</a:t>
            </a:r>
            <a:endParaRPr lang="en-US" sz="1600" dirty="0"/>
          </a:p>
        </p:txBody>
      </p:sp>
      <p:sp>
        <p:nvSpPr>
          <p:cNvPr id="8" name="Shape 5"/>
          <p:cNvSpPr/>
          <p:nvPr/>
        </p:nvSpPr>
        <p:spPr>
          <a:xfrm>
            <a:off x="548640" y="3739896"/>
            <a:ext cx="91440" cy="91440"/>
          </a:xfrm>
          <a:prstGeom prst="ellipse">
            <a:avLst/>
          </a:prstGeom>
          <a:solidFill>
            <a:srgbClr val="00915A"/>
          </a:solidFill>
          <a:ln/>
        </p:spPr>
      </p:sp>
      <p:sp>
        <p:nvSpPr>
          <p:cNvPr id="9" name="Text 6"/>
          <p:cNvSpPr txBox="1"/>
          <p:nvPr/>
        </p:nvSpPr>
        <p:spPr>
          <a:xfrm>
            <a:off x="822960" y="3337560"/>
            <a:ext cx="6309360" cy="896112"/>
          </a:xfrm>
          <a:prstGeom prst="rect">
            <a:avLst/>
          </a:prstGeom>
          <a:noFill/>
          <a:ln/>
        </p:spPr>
        <p:txBody>
          <a:bodyPr wrap="square" lIns="0" tIns="0" rIns="0" bIns="0" rtlCol="0" anchor="ctr"/>
          <a:lstStyle/>
          <a:p>
            <a:pPr indent="0" marL="0">
              <a:lnSpc>
                <a:spcPts val="2100"/>
              </a:lnSpc>
              <a:buNone/>
            </a:pPr>
            <a:r>
              <a:rPr lang="en-US" sz="1600" dirty="0">
                <a:solidFill>
                  <a:srgbClr val="1F2A28"/>
                </a:solidFill>
                <a:latin typeface="Calibri" pitchFamily="34" charset="0"/>
                <a:ea typeface="Calibri" pitchFamily="34" charset="-122"/>
                <a:cs typeface="Calibri" pitchFamily="34" charset="-120"/>
              </a:rPr>
              <a:t>For each hard case, it either writes a corrective instruction, or banks the example as a few-shot demo.</a:t>
            </a:r>
            <a:endParaRPr lang="en-US" sz="1600" dirty="0"/>
          </a:p>
        </p:txBody>
      </p:sp>
      <p:sp>
        <p:nvSpPr>
          <p:cNvPr id="10" name="Shape 7"/>
          <p:cNvSpPr/>
          <p:nvPr/>
        </p:nvSpPr>
        <p:spPr>
          <a:xfrm>
            <a:off x="548640" y="4892040"/>
            <a:ext cx="91440" cy="91440"/>
          </a:xfrm>
          <a:prstGeom prst="ellipse">
            <a:avLst/>
          </a:prstGeom>
          <a:solidFill>
            <a:srgbClr val="00915A"/>
          </a:solidFill>
          <a:ln/>
        </p:spPr>
      </p:sp>
      <p:sp>
        <p:nvSpPr>
          <p:cNvPr id="11" name="Text 8"/>
          <p:cNvSpPr txBox="1"/>
          <p:nvPr/>
        </p:nvSpPr>
        <p:spPr>
          <a:xfrm>
            <a:off x="822960" y="4617720"/>
            <a:ext cx="6309360" cy="640080"/>
          </a:xfrm>
          <a:prstGeom prst="rect">
            <a:avLst/>
          </a:prstGeom>
          <a:noFill/>
          <a:ln/>
        </p:spPr>
        <p:txBody>
          <a:bodyPr wrap="square" lIns="0" tIns="0" rIns="0" bIns="0" rtlCol="0" anchor="ctr"/>
          <a:lstStyle/>
          <a:p>
            <a:pPr indent="0" marL="0">
              <a:lnSpc>
                <a:spcPts val="2100"/>
              </a:lnSpc>
              <a:buNone/>
            </a:pPr>
            <a:r>
              <a:rPr lang="en-US" sz="1600" dirty="0">
                <a:solidFill>
                  <a:srgbClr val="1F2A28"/>
                </a:solidFill>
                <a:latin typeface="Calibri" pitchFamily="34" charset="0"/>
                <a:ea typeface="Calibri" pitchFamily="34" charset="-122"/>
                <a:cs typeface="Calibri" pitchFamily="34" charset="-120"/>
              </a:rPr>
              <a:t>It iterates — batch after batch — until the score converges.</a:t>
            </a:r>
            <a:endParaRPr lang="en-US" sz="1600" dirty="0"/>
          </a:p>
        </p:txBody>
      </p:sp>
      <p:sp>
        <p:nvSpPr>
          <p:cNvPr id="12" name="Shape 9"/>
          <p:cNvSpPr/>
          <p:nvPr/>
        </p:nvSpPr>
        <p:spPr>
          <a:xfrm>
            <a:off x="7178040" y="1783080"/>
            <a:ext cx="4434840" cy="3383280"/>
          </a:xfrm>
          <a:prstGeom prst="roundRect">
            <a:avLst>
              <a:gd name="adj" fmla="val 3243"/>
            </a:avLst>
          </a:prstGeom>
          <a:solidFill>
            <a:srgbClr val="E8F5EF"/>
          </a:solidFill>
          <a:ln/>
          <a:effectLst>
            <a:outerShdw sx="100000" sy="100000" kx="0" ky="0" algn="bl" rotWithShape="0" blurRad="76200" dist="25400" dir="5400000">
              <a:srgbClr val="1F2A28">
                <a:alpha val="18000"/>
              </a:srgbClr>
            </a:outerShdw>
          </a:effectLst>
        </p:spPr>
      </p:sp>
      <p:sp>
        <p:nvSpPr>
          <p:cNvPr id="13" name="Text 10"/>
          <p:cNvSpPr txBox="1"/>
          <p:nvPr/>
        </p:nvSpPr>
        <p:spPr>
          <a:xfrm>
            <a:off x="7452360" y="2011680"/>
            <a:ext cx="3886200" cy="457200"/>
          </a:xfrm>
          <a:prstGeom prst="rect">
            <a:avLst/>
          </a:prstGeom>
          <a:noFill/>
          <a:ln/>
        </p:spPr>
        <p:txBody>
          <a:bodyPr wrap="square" lIns="0" tIns="0" rIns="0" bIns="0" rtlCol="0" anchor="ctr"/>
          <a:lstStyle/>
          <a:p>
            <a:pPr indent="0" marL="0">
              <a:buNone/>
            </a:pPr>
            <a:r>
              <a:rPr lang="en-US" sz="1700" b="1" dirty="0">
                <a:solidFill>
                  <a:srgbClr val="00693F"/>
                </a:solidFill>
                <a:latin typeface="Calibri" pitchFamily="34" charset="0"/>
                <a:ea typeface="Calibri" pitchFamily="34" charset="-122"/>
                <a:cs typeface="Calibri" pitchFamily="34" charset="-120"/>
              </a:rPr>
              <a:t>Where this plugs into today</a:t>
            </a:r>
            <a:endParaRPr lang="en-US" sz="1700" dirty="0"/>
          </a:p>
        </p:txBody>
      </p:sp>
      <p:sp>
        <p:nvSpPr>
          <p:cNvPr id="14" name="Text 11"/>
          <p:cNvSpPr txBox="1"/>
          <p:nvPr/>
        </p:nvSpPr>
        <p:spPr>
          <a:xfrm>
            <a:off x="7452360" y="2514600"/>
            <a:ext cx="3886200" cy="2468880"/>
          </a:xfrm>
          <a:prstGeom prst="rect">
            <a:avLst/>
          </a:prstGeom>
          <a:noFill/>
          <a:ln/>
        </p:spPr>
        <p:txBody>
          <a:bodyPr wrap="square" lIns="0" tIns="0" rIns="0" bIns="0" rtlCol="0" anchor="ctr"/>
          <a:lstStyle/>
          <a:p>
            <a:pPr indent="0" marL="0">
              <a:lnSpc>
                <a:spcPts val="1900"/>
              </a:lnSpc>
              <a:buNone/>
            </a:pPr>
            <a:r>
              <a:rPr lang="en-US" sz="1400" dirty="0">
                <a:solidFill>
                  <a:srgbClr val="1F2A28"/>
                </a:solidFill>
                <a:latin typeface="Calibri" pitchFamily="34" charset="0"/>
                <a:ea typeface="Calibri" pitchFamily="34" charset="-122"/>
                <a:cs typeface="Calibri" pitchFamily="34" charset="-120"/>
              </a:rPr>
              <a:t>The router’s intent-classification prompt and the ReAct loop’s instruction template — both built earlier — are exactly the kind of thing SIMBA is built to optimize. That’s a future session, not this one.</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548640" y="685800"/>
            <a:ext cx="11064240" cy="5486400"/>
          </a:xfrm>
          <a:prstGeom prst="roundRect">
            <a:avLst>
              <a:gd name="adj" fmla="val 2333"/>
            </a:avLst>
          </a:prstGeom>
          <a:solidFill>
            <a:srgbClr val="E8F5EF"/>
          </a:solidFill>
          <a:ln w="19050">
            <a:solidFill>
              <a:srgbClr val="D98E04"/>
            </a:solidFill>
            <a:prstDash val="solid"/>
          </a:ln>
        </p:spPr>
      </p:sp>
      <p:sp>
        <p:nvSpPr>
          <p:cNvPr id="3" name="Shape 1"/>
          <p:cNvSpPr/>
          <p:nvPr/>
        </p:nvSpPr>
        <p:spPr>
          <a:xfrm>
            <a:off x="960120" y="1051560"/>
            <a:ext cx="1737360" cy="365760"/>
          </a:xfrm>
          <a:prstGeom prst="roundRect">
            <a:avLst>
              <a:gd name="adj" fmla="val 50000"/>
            </a:avLst>
          </a:prstGeom>
          <a:solidFill>
            <a:srgbClr val="D98E04"/>
          </a:solidFill>
          <a:ln/>
        </p:spPr>
      </p:sp>
      <p:sp>
        <p:nvSpPr>
          <p:cNvPr id="4" name="Text 2"/>
          <p:cNvSpPr txBox="1"/>
          <p:nvPr/>
        </p:nvSpPr>
        <p:spPr>
          <a:xfrm>
            <a:off x="960120" y="1051560"/>
            <a:ext cx="1737360" cy="365760"/>
          </a:xfrm>
          <a:prstGeom prst="rect">
            <a:avLst/>
          </a:prstGeom>
          <a:noFill/>
          <a:ln/>
        </p:spPr>
        <p:txBody>
          <a:bodyPr wrap="square" lIns="0" tIns="0" rIns="0" bIns="0" rtlCol="0" anchor="ctr"/>
          <a:lstStyle/>
          <a:p>
            <a:pPr algn="ctr" indent="0" marL="0">
              <a:buNone/>
            </a:pPr>
            <a:r>
              <a:rPr lang="en-US" sz="1200" b="1" spc="150" kern="0" dirty="0">
                <a:solidFill>
                  <a:srgbClr val="FFFFFF"/>
                </a:solidFill>
                <a:latin typeface="Calibri" pitchFamily="34" charset="0"/>
                <a:ea typeface="Calibri" pitchFamily="34" charset="-122"/>
                <a:cs typeface="Calibri" pitchFamily="34" charset="-120"/>
              </a:rPr>
              <a:t>ICEBREAKER</a:t>
            </a:r>
            <a:endParaRPr lang="en-US" sz="1200" dirty="0"/>
          </a:p>
        </p:txBody>
      </p:sp>
      <p:sp>
        <p:nvSpPr>
          <p:cNvPr id="5" name="Shape 3"/>
          <p:cNvSpPr/>
          <p:nvPr/>
        </p:nvSpPr>
        <p:spPr>
          <a:xfrm>
            <a:off x="10378440" y="960120"/>
            <a:ext cx="822960" cy="822960"/>
          </a:xfrm>
          <a:prstGeom prst="ellipse">
            <a:avLst/>
          </a:prstGeom>
          <a:solidFill>
            <a:srgbClr val="FFFFFF"/>
          </a:solidFill>
          <a:ln w="19050">
            <a:solidFill>
              <a:srgbClr val="D98E04"/>
            </a:solidFill>
            <a:prstDash val="solid"/>
          </a:ln>
        </p:spPr>
      </p:sp>
      <p:pic>
        <p:nvPicPr>
          <p:cNvPr id="6" name="Image 0" descr="/home/claude/icons/coffee_amber.png">    </p:cNvPr>
          <p:cNvPicPr>
            <a:picLocks noChangeAspect="1"/>
          </p:cNvPicPr>
          <p:nvPr/>
        </p:nvPicPr>
        <p:blipFill>
          <a:blip r:embed="rId1"/>
          <a:stretch>
            <a:fillRect/>
          </a:stretch>
        </p:blipFill>
        <p:spPr>
          <a:xfrm>
            <a:off x="10579608" y="1161288"/>
            <a:ext cx="420624" cy="420624"/>
          </a:xfrm>
          <a:prstGeom prst="rect">
            <a:avLst/>
          </a:prstGeom>
        </p:spPr>
      </p:pic>
      <p:sp>
        <p:nvSpPr>
          <p:cNvPr id="7" name="Text 4"/>
          <p:cNvSpPr txBox="1"/>
          <p:nvPr/>
        </p:nvSpPr>
        <p:spPr>
          <a:xfrm>
            <a:off x="960120" y="1691640"/>
            <a:ext cx="9052560" cy="822960"/>
          </a:xfrm>
          <a:prstGeom prst="rect">
            <a:avLst/>
          </a:prstGeom>
          <a:noFill/>
          <a:ln/>
        </p:spPr>
        <p:txBody>
          <a:bodyPr wrap="square" lIns="0" tIns="0" rIns="0" bIns="0" rtlCol="0" anchor="ctr"/>
          <a:lstStyle/>
          <a:p>
            <a:pPr indent="0" marL="0">
              <a:lnSpc>
                <a:spcPts val="3000"/>
              </a:lnSpc>
              <a:buNone/>
            </a:pPr>
            <a:r>
              <a:rPr lang="en-US" sz="2600" b="1" dirty="0">
                <a:solidFill>
                  <a:srgbClr val="1F2A28"/>
                </a:solidFill>
                <a:latin typeface="Calibri" pitchFamily="34" charset="0"/>
                <a:ea typeface="Calibri" pitchFamily="34" charset="-122"/>
                <a:cs typeface="Calibri" pitchFamily="34" charset="-120"/>
              </a:rPr>
              <a:t>One more breather before you build</a:t>
            </a:r>
            <a:endParaRPr lang="en-US" sz="2600" dirty="0"/>
          </a:p>
        </p:txBody>
      </p:sp>
      <p:sp>
        <p:nvSpPr>
          <p:cNvPr id="8" name="Shape 5"/>
          <p:cNvSpPr/>
          <p:nvPr/>
        </p:nvSpPr>
        <p:spPr>
          <a:xfrm>
            <a:off x="960120" y="2697480"/>
            <a:ext cx="10241280" cy="1417320"/>
          </a:xfrm>
          <a:prstGeom prst="roundRect">
            <a:avLst>
              <a:gd name="adj" fmla="val 6452"/>
            </a:avLst>
          </a:prstGeom>
          <a:solidFill>
            <a:srgbClr val="FFFFFF"/>
          </a:solidFill>
          <a:ln w="12700">
            <a:solidFill>
              <a:srgbClr val="D7E9E1"/>
            </a:solidFill>
            <a:prstDash val="solid"/>
          </a:ln>
          <a:effectLst>
            <a:outerShdw sx="100000" sy="100000" kx="0" ky="0" algn="bl" rotWithShape="0" blurRad="76200" dist="25400" dir="5400000">
              <a:srgbClr val="1F2A28">
                <a:alpha val="18000"/>
              </a:srgbClr>
            </a:outerShdw>
          </a:effectLst>
        </p:spPr>
      </p:sp>
      <p:sp>
        <p:nvSpPr>
          <p:cNvPr id="9" name="Text 6"/>
          <p:cNvSpPr txBox="1"/>
          <p:nvPr/>
        </p:nvSpPr>
        <p:spPr>
          <a:xfrm>
            <a:off x="1234440" y="2697480"/>
            <a:ext cx="9692640" cy="1417320"/>
          </a:xfrm>
          <a:prstGeom prst="rect">
            <a:avLst/>
          </a:prstGeom>
          <a:noFill/>
          <a:ln/>
        </p:spPr>
        <p:txBody>
          <a:bodyPr wrap="square" lIns="0" tIns="0" rIns="0" bIns="0" rtlCol="0" anchor="ctr"/>
          <a:lstStyle/>
          <a:p>
            <a:pPr indent="0" marL="0">
              <a:lnSpc>
                <a:spcPts val="2600"/>
              </a:lnSpc>
              <a:buNone/>
            </a:pPr>
            <a:r>
              <a:rPr lang="en-US" sz="2000" b="1" i="1" dirty="0">
                <a:solidFill>
                  <a:srgbClr val="00693F"/>
                </a:solidFill>
                <a:latin typeface="Calibri" pitchFamily="34" charset="0"/>
                <a:ea typeface="Calibri" pitchFamily="34" charset="-122"/>
                <a:cs typeface="Calibri" pitchFamily="34" charset="-120"/>
              </a:rPr>
              <a:t>“Rank these by ‘most likely to page you at 2am’: a bad router, a runaway parallel fan-out, a stuck human approval.”</a:t>
            </a:r>
            <a:endParaRPr lang="en-US" sz="2000" dirty="0"/>
          </a:p>
        </p:txBody>
      </p:sp>
      <p:pic>
        <p:nvPicPr>
          <p:cNvPr id="10" name="Image 1" descr="/home/claude/icons/coffee.png">    </p:cNvPr>
          <p:cNvPicPr>
            <a:picLocks noChangeAspect="1"/>
          </p:cNvPicPr>
          <p:nvPr/>
        </p:nvPicPr>
        <p:blipFill>
          <a:blip r:embed="rId2"/>
          <a:stretch>
            <a:fillRect/>
          </a:stretch>
        </p:blipFill>
        <p:spPr>
          <a:xfrm>
            <a:off x="960120" y="4434840"/>
            <a:ext cx="292608" cy="292608"/>
          </a:xfrm>
          <a:prstGeom prst="rect">
            <a:avLst/>
          </a:prstGeom>
        </p:spPr>
      </p:pic>
      <p:sp>
        <p:nvSpPr>
          <p:cNvPr id="11" name="Text 7"/>
          <p:cNvSpPr txBox="1"/>
          <p:nvPr/>
        </p:nvSpPr>
        <p:spPr>
          <a:xfrm>
            <a:off x="1371600" y="4416552"/>
            <a:ext cx="9829800" cy="457200"/>
          </a:xfrm>
          <a:prstGeom prst="rect">
            <a:avLst/>
          </a:prstGeom>
          <a:noFill/>
          <a:ln/>
        </p:spPr>
        <p:txBody>
          <a:bodyPr wrap="square" lIns="0" tIns="0" rIns="0" bIns="0" rtlCol="0" anchor="ctr"/>
          <a:lstStyle/>
          <a:p>
            <a:pPr indent="0" marL="0">
              <a:lnSpc>
                <a:spcPts val="1800"/>
              </a:lnSpc>
              <a:buNone/>
            </a:pPr>
            <a:r>
              <a:rPr lang="en-US" sz="1400" i="1" dirty="0">
                <a:solidFill>
                  <a:srgbClr val="5B6B67"/>
                </a:solidFill>
                <a:latin typeface="Calibri" pitchFamily="34" charset="0"/>
                <a:ea typeface="Calibri" pitchFamily="34" charset="-122"/>
                <a:cs typeface="Calibri" pitchFamily="34" charset="-120"/>
              </a:rPr>
              <a:t>30 seconds of friendly debate — then let’s build.</a:t>
            </a:r>
            <a:endParaRPr lang="en-US" sz="1400" dirty="0"/>
          </a:p>
        </p:txBody>
      </p:sp>
      <p:sp>
        <p:nvSpPr>
          <p:cNvPr id="12" name="Text 8"/>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5B6B67"/>
                </a:solidFill>
                <a:latin typeface="Calibri" pitchFamily="34" charset="0"/>
                <a:ea typeface="Calibri" pitchFamily="34" charset="-122"/>
                <a:cs typeface="Calibri" pitchFamily="34" charset="-120"/>
              </a:rPr>
              <a:t>Agentic AI with LangChain &amp; LangGraph</a:t>
            </a:r>
            <a:endParaRPr lang="en-US" sz="1000" dirty="0"/>
          </a:p>
        </p:txBody>
      </p:sp>
      <p:sp>
        <p:nvSpPr>
          <p:cNvPr id="13" name="Text 9"/>
          <p:cNvSpPr txBox="1"/>
          <p:nvPr/>
        </p:nvSpPr>
        <p:spPr>
          <a:xfrm>
            <a:off x="11064240" y="6473952"/>
            <a:ext cx="548640" cy="274320"/>
          </a:xfrm>
          <a:prstGeom prst="rect">
            <a:avLst/>
          </a:prstGeom>
          <a:noFill/>
          <a:ln/>
        </p:spPr>
        <p:txBody>
          <a:bodyPr wrap="square" lIns="0" tIns="0" rIns="0" bIns="0" rtlCol="0" anchor="ctr"/>
          <a:lstStyle/>
          <a:p>
            <a:pPr algn="r" indent="0" marL="0">
              <a:buNone/>
            </a:pPr>
            <a:r>
              <a:rPr lang="en-US" sz="1000" dirty="0">
                <a:solidFill>
                  <a:srgbClr val="5B6B67"/>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200" b="1" spc="150" kern="0" dirty="0">
                <a:solidFill>
                  <a:srgbClr val="00693F"/>
                </a:solidFill>
                <a:latin typeface="Calibri" pitchFamily="34" charset="0"/>
                <a:ea typeface="Calibri" pitchFamily="34" charset="-122"/>
                <a:cs typeface="Calibri" pitchFamily="34" charset="-120"/>
              </a:rPr>
              <a:t>HANDS-ON</a:t>
            </a:r>
            <a:endParaRPr lang="en-US" sz="1200" dirty="0"/>
          </a:p>
        </p:txBody>
      </p:sp>
      <p:sp>
        <p:nvSpPr>
          <p:cNvPr id="3" name="Text 1"/>
          <p:cNvSpPr txBox="1"/>
          <p:nvPr/>
        </p:nvSpPr>
        <p:spPr>
          <a:xfrm>
            <a:off x="548640" y="658368"/>
            <a:ext cx="11064240" cy="822960"/>
          </a:xfrm>
          <a:prstGeom prst="rect">
            <a:avLst/>
          </a:prstGeom>
          <a:noFill/>
          <a:ln/>
        </p:spPr>
        <p:txBody>
          <a:bodyPr wrap="square" lIns="0" tIns="0" rIns="0" bIns="0" rtlCol="0" anchor="ctr"/>
          <a:lstStyle/>
          <a:p>
            <a:pPr indent="0" marL="0">
              <a:lnSpc>
                <a:spcPts val="3400"/>
              </a:lnSpc>
              <a:buNone/>
            </a:pPr>
            <a:r>
              <a:rPr lang="en-US" sz="3000" b="1" dirty="0">
                <a:solidFill>
                  <a:srgbClr val="1F2A28"/>
                </a:solidFill>
                <a:latin typeface="Calibri" pitchFamily="34" charset="0"/>
                <a:ea typeface="Calibri" pitchFamily="34" charset="-122"/>
                <a:cs typeface="Calibri" pitchFamily="34" charset="-120"/>
              </a:rPr>
              <a:t>Let’s build one agent</a:t>
            </a:r>
            <a:endParaRPr lang="en-US" sz="3000" dirty="0"/>
          </a:p>
        </p:txBody>
      </p:sp>
      <p:sp>
        <p:nvSpPr>
          <p:cNvPr id="4" name="Shape 2"/>
          <p:cNvSpPr/>
          <p:nvPr/>
        </p:nvSpPr>
        <p:spPr>
          <a:xfrm>
            <a:off x="10835640" y="566928"/>
            <a:ext cx="685800" cy="685800"/>
          </a:xfrm>
          <a:prstGeom prst="ellipse">
            <a:avLst/>
          </a:prstGeom>
          <a:solidFill>
            <a:srgbClr val="00915A"/>
          </a:solidFill>
          <a:ln/>
        </p:spPr>
      </p:sp>
      <p:pic>
        <p:nvPicPr>
          <p:cNvPr id="5" name="Image 0" descr="/home/claude/icons/target.png">    </p:cNvPr>
          <p:cNvPicPr>
            <a:picLocks noChangeAspect="1"/>
          </p:cNvPicPr>
          <p:nvPr/>
        </p:nvPicPr>
        <p:blipFill>
          <a:blip r:embed="rId1"/>
          <a:stretch>
            <a:fillRect/>
          </a:stretch>
        </p:blipFill>
        <p:spPr>
          <a:xfrm>
            <a:off x="10924794" y="656082"/>
            <a:ext cx="507492" cy="507492"/>
          </a:xfrm>
          <a:prstGeom prst="rect">
            <a:avLst/>
          </a:prstGeom>
        </p:spPr>
      </p:pic>
      <p:sp>
        <p:nvSpPr>
          <p:cNvPr id="6" name="Shape 3"/>
          <p:cNvSpPr/>
          <p:nvPr/>
        </p:nvSpPr>
        <p:spPr>
          <a:xfrm>
            <a:off x="548640" y="1828800"/>
            <a:ext cx="5074920" cy="2788920"/>
          </a:xfrm>
          <a:prstGeom prst="roundRect">
            <a:avLst>
              <a:gd name="adj" fmla="val 3934"/>
            </a:avLst>
          </a:prstGeom>
          <a:solidFill>
            <a:srgbClr val="E8F5EF"/>
          </a:solidFill>
          <a:ln/>
          <a:effectLst>
            <a:outerShdw sx="100000" sy="100000" kx="0" ky="0" algn="bl" rotWithShape="0" blurRad="76200" dist="25400" dir="5400000">
              <a:srgbClr val="1F2A28">
                <a:alpha val="18000"/>
              </a:srgbClr>
            </a:outerShdw>
          </a:effectLst>
        </p:spPr>
      </p:sp>
      <p:sp>
        <p:nvSpPr>
          <p:cNvPr id="7" name="Text 4"/>
          <p:cNvSpPr txBox="1"/>
          <p:nvPr/>
        </p:nvSpPr>
        <p:spPr>
          <a:xfrm>
            <a:off x="804672" y="2011680"/>
            <a:ext cx="4572000" cy="365760"/>
          </a:xfrm>
          <a:prstGeom prst="rect">
            <a:avLst/>
          </a:prstGeom>
          <a:noFill/>
          <a:ln/>
        </p:spPr>
        <p:txBody>
          <a:bodyPr wrap="square" lIns="0" tIns="0" rIns="0" bIns="0" rtlCol="0" anchor="ctr"/>
          <a:lstStyle/>
          <a:p>
            <a:pPr indent="0" marL="0">
              <a:buNone/>
            </a:pPr>
            <a:r>
              <a:rPr lang="en-US" sz="1700" b="1" dirty="0">
                <a:solidFill>
                  <a:srgbClr val="00693F"/>
                </a:solidFill>
                <a:latin typeface="Calibri" pitchFamily="34" charset="0"/>
                <a:ea typeface="Calibri" pitchFamily="34" charset="-122"/>
                <a:cs typeface="Calibri" pitchFamily="34" charset="-120"/>
              </a:rPr>
              <a:t>Required — minimum bar</a:t>
            </a:r>
            <a:endParaRPr lang="en-US" sz="1700" dirty="0"/>
          </a:p>
        </p:txBody>
      </p:sp>
      <p:pic>
        <p:nvPicPr>
          <p:cNvPr id="8" name="Image 1" descr="/home/claude/icons/check.png">    </p:cNvPr>
          <p:cNvPicPr>
            <a:picLocks noChangeAspect="1"/>
          </p:cNvPicPr>
          <p:nvPr/>
        </p:nvPicPr>
        <p:blipFill>
          <a:blip r:embed="rId2"/>
          <a:stretch>
            <a:fillRect/>
          </a:stretch>
        </p:blipFill>
        <p:spPr>
          <a:xfrm>
            <a:off x="804672" y="2514600"/>
            <a:ext cx="237744" cy="237744"/>
          </a:xfrm>
          <a:prstGeom prst="rect">
            <a:avLst/>
          </a:prstGeom>
        </p:spPr>
      </p:pic>
      <p:sp>
        <p:nvSpPr>
          <p:cNvPr id="9" name="Text 5"/>
          <p:cNvSpPr txBox="1"/>
          <p:nvPr/>
        </p:nvSpPr>
        <p:spPr>
          <a:xfrm>
            <a:off x="1143000" y="2459736"/>
            <a:ext cx="4297680" cy="457200"/>
          </a:xfrm>
          <a:prstGeom prst="rect">
            <a:avLst/>
          </a:prstGeom>
          <a:noFill/>
          <a:ln/>
        </p:spPr>
        <p:txBody>
          <a:bodyPr wrap="square" lIns="0" tIns="0" rIns="0" bIns="0" rtlCol="0" anchor="ctr"/>
          <a:lstStyle/>
          <a:p>
            <a:pPr indent="0" marL="0">
              <a:lnSpc>
                <a:spcPts val="1900"/>
              </a:lnSpc>
              <a:buNone/>
            </a:pPr>
            <a:r>
              <a:rPr lang="en-US" sz="1500" dirty="0">
                <a:solidFill>
                  <a:srgbClr val="1F2A28"/>
                </a:solidFill>
                <a:latin typeface="Calibri" pitchFamily="34" charset="0"/>
                <a:ea typeface="Calibri" pitchFamily="34" charset="-122"/>
                <a:cs typeface="Calibri" pitchFamily="34" charset="-120"/>
              </a:rPr>
              <a:t>One ReAct tool-calling specialist with a mocked tool</a:t>
            </a:r>
            <a:endParaRPr lang="en-US" sz="1500" dirty="0"/>
          </a:p>
        </p:txBody>
      </p:sp>
      <p:pic>
        <p:nvPicPr>
          <p:cNvPr id="10" name="Image 2" descr="/home/claude/icons/check.png">    </p:cNvPr>
          <p:cNvPicPr>
            <a:picLocks noChangeAspect="1"/>
          </p:cNvPicPr>
          <p:nvPr/>
        </p:nvPicPr>
        <p:blipFill>
          <a:blip r:embed="rId3"/>
          <a:stretch>
            <a:fillRect/>
          </a:stretch>
        </p:blipFill>
        <p:spPr>
          <a:xfrm>
            <a:off x="804672" y="3108960"/>
            <a:ext cx="237744" cy="237744"/>
          </a:xfrm>
          <a:prstGeom prst="rect">
            <a:avLst/>
          </a:prstGeom>
        </p:spPr>
      </p:pic>
      <p:sp>
        <p:nvSpPr>
          <p:cNvPr id="11" name="Text 6"/>
          <p:cNvSpPr txBox="1"/>
          <p:nvPr/>
        </p:nvSpPr>
        <p:spPr>
          <a:xfrm>
            <a:off x="1143000" y="3054096"/>
            <a:ext cx="4297680" cy="457200"/>
          </a:xfrm>
          <a:prstGeom prst="rect">
            <a:avLst/>
          </a:prstGeom>
          <a:noFill/>
          <a:ln/>
        </p:spPr>
        <p:txBody>
          <a:bodyPr wrap="square" lIns="0" tIns="0" rIns="0" bIns="0" rtlCol="0" anchor="ctr"/>
          <a:lstStyle/>
          <a:p>
            <a:pPr indent="0" marL="0">
              <a:lnSpc>
                <a:spcPts val="1900"/>
              </a:lnSpc>
              <a:buNone/>
            </a:pPr>
            <a:r>
              <a:rPr lang="en-US" sz="1500" dirty="0">
                <a:solidFill>
                  <a:srgbClr val="1F2A28"/>
                </a:solidFill>
                <a:latin typeface="Calibri" pitchFamily="34" charset="0"/>
                <a:ea typeface="Calibri" pitchFamily="34" charset="-122"/>
                <a:cs typeface="Calibri" pitchFamily="34" charset="-120"/>
              </a:rPr>
              <a:t>A router with at least two intents</a:t>
            </a:r>
            <a:endParaRPr lang="en-US" sz="1500" dirty="0"/>
          </a:p>
        </p:txBody>
      </p:sp>
      <p:pic>
        <p:nvPicPr>
          <p:cNvPr id="12" name="Image 3" descr="/home/claude/icons/check.png">    </p:cNvPr>
          <p:cNvPicPr>
            <a:picLocks noChangeAspect="1"/>
          </p:cNvPicPr>
          <p:nvPr/>
        </p:nvPicPr>
        <p:blipFill>
          <a:blip r:embed="rId4"/>
          <a:stretch>
            <a:fillRect/>
          </a:stretch>
        </p:blipFill>
        <p:spPr>
          <a:xfrm>
            <a:off x="804672" y="3703320"/>
            <a:ext cx="237744" cy="237744"/>
          </a:xfrm>
          <a:prstGeom prst="rect">
            <a:avLst/>
          </a:prstGeom>
        </p:spPr>
      </p:pic>
      <p:sp>
        <p:nvSpPr>
          <p:cNvPr id="13" name="Text 7"/>
          <p:cNvSpPr txBox="1"/>
          <p:nvPr/>
        </p:nvSpPr>
        <p:spPr>
          <a:xfrm>
            <a:off x="1143000" y="3648456"/>
            <a:ext cx="4297680" cy="457200"/>
          </a:xfrm>
          <a:prstGeom prst="rect">
            <a:avLst/>
          </a:prstGeom>
          <a:noFill/>
          <a:ln/>
        </p:spPr>
        <p:txBody>
          <a:bodyPr wrap="square" lIns="0" tIns="0" rIns="0" bIns="0" rtlCol="0" anchor="ctr"/>
          <a:lstStyle/>
          <a:p>
            <a:pPr indent="0" marL="0">
              <a:lnSpc>
                <a:spcPts val="1900"/>
              </a:lnSpc>
              <a:buNone/>
            </a:pPr>
            <a:r>
              <a:rPr lang="en-US" sz="1500" dirty="0">
                <a:solidFill>
                  <a:srgbClr val="1F2A28"/>
                </a:solidFill>
                <a:latin typeface="Calibri" pitchFamily="34" charset="0"/>
                <a:ea typeface="Calibri" pitchFamily="34" charset="-122"/>
                <a:cs typeface="Calibri" pitchFamily="34" charset="-120"/>
              </a:rPr>
              <a:t>MemorySaver wired in for multi-turn context</a:t>
            </a:r>
            <a:endParaRPr lang="en-US" sz="1500" dirty="0"/>
          </a:p>
        </p:txBody>
      </p:sp>
      <p:sp>
        <p:nvSpPr>
          <p:cNvPr id="14" name="Shape 8"/>
          <p:cNvSpPr/>
          <p:nvPr/>
        </p:nvSpPr>
        <p:spPr>
          <a:xfrm>
            <a:off x="6263640" y="1828800"/>
            <a:ext cx="5074920" cy="2788920"/>
          </a:xfrm>
          <a:prstGeom prst="roundRect">
            <a:avLst>
              <a:gd name="adj" fmla="val 3934"/>
            </a:avLst>
          </a:prstGeom>
          <a:solidFill>
            <a:srgbClr val="F3FAF7"/>
          </a:solidFill>
          <a:ln w="12700">
            <a:solidFill>
              <a:srgbClr val="D7E9E1"/>
            </a:solidFill>
            <a:prstDash val="solid"/>
          </a:ln>
        </p:spPr>
      </p:sp>
      <p:sp>
        <p:nvSpPr>
          <p:cNvPr id="15" name="Text 9"/>
          <p:cNvSpPr txBox="1"/>
          <p:nvPr/>
        </p:nvSpPr>
        <p:spPr>
          <a:xfrm>
            <a:off x="6519672" y="2011680"/>
            <a:ext cx="4572000" cy="365760"/>
          </a:xfrm>
          <a:prstGeom prst="rect">
            <a:avLst/>
          </a:prstGeom>
          <a:noFill/>
          <a:ln/>
        </p:spPr>
        <p:txBody>
          <a:bodyPr wrap="square" lIns="0" tIns="0" rIns="0" bIns="0" rtlCol="0" anchor="ctr"/>
          <a:lstStyle/>
          <a:p>
            <a:pPr indent="0" marL="0">
              <a:buNone/>
            </a:pPr>
            <a:r>
              <a:rPr lang="en-US" sz="1700" b="1" dirty="0">
                <a:solidFill>
                  <a:srgbClr val="1F2A28"/>
                </a:solidFill>
                <a:latin typeface="Calibri" pitchFamily="34" charset="0"/>
                <a:ea typeface="Calibri" pitchFamily="34" charset="-122"/>
                <a:cs typeface="Calibri" pitchFamily="34" charset="-120"/>
              </a:rPr>
              <a:t>Stretch — if you finish early</a:t>
            </a:r>
            <a:endParaRPr lang="en-US" sz="1700" dirty="0"/>
          </a:p>
        </p:txBody>
      </p:sp>
      <p:pic>
        <p:nvPicPr>
          <p:cNvPr id="16" name="Image 4" descr="/home/claude/icons/star_amber.png">    </p:cNvPr>
          <p:cNvPicPr>
            <a:picLocks noChangeAspect="1"/>
          </p:cNvPicPr>
          <p:nvPr/>
        </p:nvPicPr>
        <p:blipFill>
          <a:blip r:embed="rId5"/>
          <a:stretch>
            <a:fillRect/>
          </a:stretch>
        </p:blipFill>
        <p:spPr>
          <a:xfrm>
            <a:off x="6519672" y="2514600"/>
            <a:ext cx="219456" cy="219456"/>
          </a:xfrm>
          <a:prstGeom prst="rect">
            <a:avLst/>
          </a:prstGeom>
        </p:spPr>
      </p:pic>
      <p:sp>
        <p:nvSpPr>
          <p:cNvPr id="17" name="Text 10"/>
          <p:cNvSpPr txBox="1"/>
          <p:nvPr/>
        </p:nvSpPr>
        <p:spPr>
          <a:xfrm>
            <a:off x="6858000" y="2459736"/>
            <a:ext cx="4297680" cy="457200"/>
          </a:xfrm>
          <a:prstGeom prst="rect">
            <a:avLst/>
          </a:prstGeom>
          <a:noFill/>
          <a:ln/>
        </p:spPr>
        <p:txBody>
          <a:bodyPr wrap="square" lIns="0" tIns="0" rIns="0" bIns="0" rtlCol="0" anchor="ctr"/>
          <a:lstStyle/>
          <a:p>
            <a:pPr indent="0" marL="0">
              <a:lnSpc>
                <a:spcPts val="1900"/>
              </a:lnSpc>
              <a:buNone/>
            </a:pPr>
            <a:r>
              <a:rPr lang="en-US" sz="1500" dirty="0">
                <a:solidFill>
                  <a:srgbClr val="1F2A28"/>
                </a:solidFill>
                <a:latin typeface="Calibri" pitchFamily="34" charset="0"/>
                <a:ea typeface="Calibri" pitchFamily="34" charset="-122"/>
                <a:cs typeface="Calibri" pitchFamily="34" charset="-120"/>
              </a:rPr>
              <a:t>Second specialist + conditional routing between both</a:t>
            </a:r>
            <a:endParaRPr lang="en-US" sz="1500" dirty="0"/>
          </a:p>
        </p:txBody>
      </p:sp>
      <p:pic>
        <p:nvPicPr>
          <p:cNvPr id="18" name="Image 5" descr="/home/claude/icons/star_amber.png">    </p:cNvPr>
          <p:cNvPicPr>
            <a:picLocks noChangeAspect="1"/>
          </p:cNvPicPr>
          <p:nvPr/>
        </p:nvPicPr>
        <p:blipFill>
          <a:blip r:embed="rId6"/>
          <a:stretch>
            <a:fillRect/>
          </a:stretch>
        </p:blipFill>
        <p:spPr>
          <a:xfrm>
            <a:off x="6519672" y="3108960"/>
            <a:ext cx="219456" cy="219456"/>
          </a:xfrm>
          <a:prstGeom prst="rect">
            <a:avLst/>
          </a:prstGeom>
        </p:spPr>
      </p:pic>
      <p:sp>
        <p:nvSpPr>
          <p:cNvPr id="19" name="Text 11"/>
          <p:cNvSpPr txBox="1"/>
          <p:nvPr/>
        </p:nvSpPr>
        <p:spPr>
          <a:xfrm>
            <a:off x="6858000" y="3054096"/>
            <a:ext cx="4297680" cy="457200"/>
          </a:xfrm>
          <a:prstGeom prst="rect">
            <a:avLst/>
          </a:prstGeom>
          <a:noFill/>
          <a:ln/>
        </p:spPr>
        <p:txBody>
          <a:bodyPr wrap="square" lIns="0" tIns="0" rIns="0" bIns="0" rtlCol="0" anchor="ctr"/>
          <a:lstStyle/>
          <a:p>
            <a:pPr indent="0" marL="0">
              <a:lnSpc>
                <a:spcPts val="1900"/>
              </a:lnSpc>
              <a:buNone/>
            </a:pPr>
            <a:r>
              <a:rPr lang="en-US" sz="1500" dirty="0">
                <a:solidFill>
                  <a:srgbClr val="1F2A28"/>
                </a:solidFill>
                <a:latin typeface="Calibri" pitchFamily="34" charset="0"/>
                <a:ea typeface="Calibri" pitchFamily="34" charset="-122"/>
                <a:cs typeface="Calibri" pitchFamily="34" charset="-120"/>
              </a:rPr>
              <a:t>A human-in-the-loop interrupt() for a threshold approval</a:t>
            </a:r>
            <a:endParaRPr lang="en-US" sz="1500" dirty="0"/>
          </a:p>
        </p:txBody>
      </p:sp>
      <p:sp>
        <p:nvSpPr>
          <p:cNvPr id="20" name="Text 12"/>
          <p:cNvSpPr txBox="1"/>
          <p:nvPr/>
        </p:nvSpPr>
        <p:spPr>
          <a:xfrm>
            <a:off x="548640" y="4800600"/>
            <a:ext cx="1828800" cy="320040"/>
          </a:xfrm>
          <a:prstGeom prst="rect">
            <a:avLst/>
          </a:prstGeom>
          <a:noFill/>
          <a:ln/>
        </p:spPr>
        <p:txBody>
          <a:bodyPr wrap="square" lIns="0" tIns="0" rIns="0" bIns="0" rtlCol="0" anchor="ctr"/>
          <a:lstStyle/>
          <a:p>
            <a:pPr indent="0" marL="0">
              <a:buNone/>
            </a:pPr>
            <a:r>
              <a:rPr lang="en-US" sz="1400" b="1" dirty="0">
                <a:solidFill>
                  <a:srgbClr val="5B6B67"/>
                </a:solidFill>
                <a:latin typeface="Calibri" pitchFamily="34" charset="0"/>
                <a:ea typeface="Calibri" pitchFamily="34" charset="-122"/>
                <a:cs typeface="Calibri" pitchFamily="34" charset="-120"/>
              </a:rPr>
              <a:t>Pick a scenario:</a:t>
            </a:r>
            <a:endParaRPr lang="en-US" sz="1400" dirty="0"/>
          </a:p>
        </p:txBody>
      </p:sp>
      <p:sp>
        <p:nvSpPr>
          <p:cNvPr id="21" name="Shape 13"/>
          <p:cNvSpPr/>
          <p:nvPr/>
        </p:nvSpPr>
        <p:spPr>
          <a:xfrm>
            <a:off x="548640" y="5166360"/>
            <a:ext cx="1874520" cy="384048"/>
          </a:xfrm>
          <a:prstGeom prst="roundRect">
            <a:avLst>
              <a:gd name="adj" fmla="val 50000"/>
            </a:avLst>
          </a:prstGeom>
          <a:solidFill>
            <a:srgbClr val="FFFFFF"/>
          </a:solidFill>
          <a:ln w="15875">
            <a:solidFill>
              <a:srgbClr val="00915A"/>
            </a:solidFill>
            <a:prstDash val="solid"/>
          </a:ln>
        </p:spPr>
      </p:sp>
      <p:sp>
        <p:nvSpPr>
          <p:cNvPr id="22" name="Text 14"/>
          <p:cNvSpPr txBox="1"/>
          <p:nvPr/>
        </p:nvSpPr>
        <p:spPr>
          <a:xfrm>
            <a:off x="548640" y="5166360"/>
            <a:ext cx="1874520" cy="384048"/>
          </a:xfrm>
          <a:prstGeom prst="rect">
            <a:avLst/>
          </a:prstGeom>
          <a:noFill/>
          <a:ln/>
        </p:spPr>
        <p:txBody>
          <a:bodyPr wrap="square" lIns="0" tIns="0" rIns="0" bIns="0" rtlCol="0" anchor="ctr"/>
          <a:lstStyle/>
          <a:p>
            <a:pPr algn="ctr" indent="0" marL="0">
              <a:buNone/>
            </a:pPr>
            <a:r>
              <a:rPr lang="en-US" sz="1300" b="1" dirty="0">
                <a:solidFill>
                  <a:srgbClr val="00693F"/>
                </a:solidFill>
                <a:latin typeface="Calibri" pitchFamily="34" charset="0"/>
                <a:ea typeface="Calibri" pitchFamily="34" charset="-122"/>
                <a:cs typeface="Calibri" pitchFamily="34" charset="-120"/>
              </a:rPr>
              <a:t>Leave / PTO Agent</a:t>
            </a:r>
            <a:endParaRPr lang="en-US" sz="1300" dirty="0"/>
          </a:p>
        </p:txBody>
      </p:sp>
      <p:sp>
        <p:nvSpPr>
          <p:cNvPr id="23" name="Shape 15"/>
          <p:cNvSpPr/>
          <p:nvPr/>
        </p:nvSpPr>
        <p:spPr>
          <a:xfrm>
            <a:off x="2624328" y="5166360"/>
            <a:ext cx="2423160" cy="384048"/>
          </a:xfrm>
          <a:prstGeom prst="roundRect">
            <a:avLst>
              <a:gd name="adj" fmla="val 50000"/>
            </a:avLst>
          </a:prstGeom>
          <a:solidFill>
            <a:srgbClr val="FFFFFF"/>
          </a:solidFill>
          <a:ln w="15875">
            <a:solidFill>
              <a:srgbClr val="00915A"/>
            </a:solidFill>
            <a:prstDash val="solid"/>
          </a:ln>
        </p:spPr>
      </p:sp>
      <p:sp>
        <p:nvSpPr>
          <p:cNvPr id="24" name="Text 16"/>
          <p:cNvSpPr txBox="1"/>
          <p:nvPr/>
        </p:nvSpPr>
        <p:spPr>
          <a:xfrm>
            <a:off x="2624328" y="5166360"/>
            <a:ext cx="2423160" cy="384048"/>
          </a:xfrm>
          <a:prstGeom prst="rect">
            <a:avLst/>
          </a:prstGeom>
          <a:noFill/>
          <a:ln/>
        </p:spPr>
        <p:txBody>
          <a:bodyPr wrap="square" lIns="0" tIns="0" rIns="0" bIns="0" rtlCol="0" anchor="ctr"/>
          <a:lstStyle/>
          <a:p>
            <a:pPr algn="ctr" indent="0" marL="0">
              <a:buNone/>
            </a:pPr>
            <a:r>
              <a:rPr lang="en-US" sz="1300" b="1" dirty="0">
                <a:solidFill>
                  <a:srgbClr val="00693F"/>
                </a:solidFill>
                <a:latin typeface="Calibri" pitchFamily="34" charset="0"/>
                <a:ea typeface="Calibri" pitchFamily="34" charset="-122"/>
                <a:cs typeface="Calibri" pitchFamily="34" charset="-120"/>
              </a:rPr>
              <a:t>Internal Helpdesk Agent</a:t>
            </a:r>
            <a:endParaRPr lang="en-US" sz="1300" dirty="0"/>
          </a:p>
        </p:txBody>
      </p:sp>
      <p:sp>
        <p:nvSpPr>
          <p:cNvPr id="25" name="Shape 17"/>
          <p:cNvSpPr/>
          <p:nvPr/>
        </p:nvSpPr>
        <p:spPr>
          <a:xfrm>
            <a:off x="5248656" y="5166360"/>
            <a:ext cx="2148840" cy="384048"/>
          </a:xfrm>
          <a:prstGeom prst="roundRect">
            <a:avLst>
              <a:gd name="adj" fmla="val 50000"/>
            </a:avLst>
          </a:prstGeom>
          <a:solidFill>
            <a:srgbClr val="FFFFFF"/>
          </a:solidFill>
          <a:ln w="15875">
            <a:solidFill>
              <a:srgbClr val="00915A"/>
            </a:solidFill>
            <a:prstDash val="solid"/>
          </a:ln>
        </p:spPr>
      </p:sp>
      <p:sp>
        <p:nvSpPr>
          <p:cNvPr id="26" name="Text 18"/>
          <p:cNvSpPr txBox="1"/>
          <p:nvPr/>
        </p:nvSpPr>
        <p:spPr>
          <a:xfrm>
            <a:off x="5248656" y="5166360"/>
            <a:ext cx="2148840" cy="384048"/>
          </a:xfrm>
          <a:prstGeom prst="rect">
            <a:avLst/>
          </a:prstGeom>
          <a:noFill/>
          <a:ln/>
        </p:spPr>
        <p:txBody>
          <a:bodyPr wrap="square" lIns="0" tIns="0" rIns="0" bIns="0" rtlCol="0" anchor="ctr"/>
          <a:lstStyle/>
          <a:p>
            <a:pPr algn="ctr" indent="0" marL="0">
              <a:buNone/>
            </a:pPr>
            <a:r>
              <a:rPr lang="en-US" sz="1300" b="1" dirty="0">
                <a:solidFill>
                  <a:srgbClr val="00693F"/>
                </a:solidFill>
                <a:latin typeface="Calibri" pitchFamily="34" charset="0"/>
                <a:ea typeface="Calibri" pitchFamily="34" charset="-122"/>
                <a:cs typeface="Calibri" pitchFamily="34" charset="-120"/>
              </a:rPr>
              <a:t>Expense Report Agent</a:t>
            </a:r>
            <a:endParaRPr lang="en-US" sz="1300" dirty="0"/>
          </a:p>
        </p:txBody>
      </p:sp>
      <p:sp>
        <p:nvSpPr>
          <p:cNvPr id="27" name="Shape 19"/>
          <p:cNvSpPr/>
          <p:nvPr/>
        </p:nvSpPr>
        <p:spPr>
          <a:xfrm>
            <a:off x="548640" y="5760720"/>
            <a:ext cx="11064240" cy="548640"/>
          </a:xfrm>
          <a:prstGeom prst="roundRect">
            <a:avLst>
              <a:gd name="adj" fmla="val 13333"/>
            </a:avLst>
          </a:prstGeom>
          <a:solidFill>
            <a:srgbClr val="0B1F17"/>
          </a:solidFill>
          <a:ln/>
        </p:spPr>
      </p:sp>
      <p:sp>
        <p:nvSpPr>
          <p:cNvPr id="28" name="Text 20"/>
          <p:cNvSpPr txBox="1"/>
          <p:nvPr/>
        </p:nvSpPr>
        <p:spPr>
          <a:xfrm>
            <a:off x="822960" y="5760720"/>
            <a:ext cx="10515600" cy="548640"/>
          </a:xfrm>
          <a:prstGeom prst="rect">
            <a:avLst/>
          </a:prstGeom>
          <a:noFill/>
          <a:ln/>
        </p:spPr>
        <p:txBody>
          <a:bodyPr wrap="square" lIns="0" tIns="0" rIns="0" bIns="0"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Tip: monkeypatch llm.factory.get_llm() to build against a fake LLM — skips live network/auth issues entirely. Validated agents get pushed to the org Agent Registry.</a:t>
            </a:r>
            <a:endParaRPr lang="en-US" sz="1300" dirty="0"/>
          </a:p>
        </p:txBody>
      </p:sp>
      <p:sp>
        <p:nvSpPr>
          <p:cNvPr id="29" name="Text 2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5B6B67"/>
                </a:solidFill>
                <a:latin typeface="Calibri" pitchFamily="34" charset="0"/>
                <a:ea typeface="Calibri" pitchFamily="34" charset="-122"/>
                <a:cs typeface="Calibri" pitchFamily="34" charset="-120"/>
              </a:rPr>
              <a:t>Agentic AI with LangChain &amp; LangGraph</a:t>
            </a:r>
            <a:endParaRPr lang="en-US" sz="1000" dirty="0"/>
          </a:p>
        </p:txBody>
      </p:sp>
      <p:sp>
        <p:nvSpPr>
          <p:cNvPr id="30" name="Text 22"/>
          <p:cNvSpPr txBox="1"/>
          <p:nvPr/>
        </p:nvSpPr>
        <p:spPr>
          <a:xfrm>
            <a:off x="11064240" y="6473952"/>
            <a:ext cx="548640" cy="274320"/>
          </a:xfrm>
          <a:prstGeom prst="rect">
            <a:avLst/>
          </a:prstGeom>
          <a:noFill/>
          <a:ln/>
        </p:spPr>
        <p:txBody>
          <a:bodyPr wrap="square" lIns="0" tIns="0" rIns="0" bIns="0" rtlCol="0" anchor="ctr"/>
          <a:lstStyle/>
          <a:p>
            <a:pPr algn="r" indent="0" marL="0">
              <a:buNone/>
            </a:pPr>
            <a:r>
              <a:rPr lang="en-US" sz="1000" dirty="0">
                <a:solidFill>
                  <a:srgbClr val="5B6B67"/>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B1F17"/>
          </a:solidFill>
          <a:ln/>
        </p:spPr>
      </p:sp>
      <p:sp>
        <p:nvSpPr>
          <p:cNvPr id="3" name="Text 1"/>
          <p:cNvSpPr txBox="1"/>
          <p:nvPr/>
        </p:nvSpPr>
        <p:spPr>
          <a:xfrm>
            <a:off x="548640" y="548640"/>
            <a:ext cx="4572000" cy="320040"/>
          </a:xfrm>
          <a:prstGeom prst="rect">
            <a:avLst/>
          </a:prstGeom>
          <a:noFill/>
          <a:ln/>
        </p:spPr>
        <p:txBody>
          <a:bodyPr wrap="square" lIns="0" tIns="0" rIns="0" bIns="0" rtlCol="0" anchor="ctr"/>
          <a:lstStyle/>
          <a:p>
            <a:pPr indent="0" marL="0">
              <a:buNone/>
            </a:pPr>
            <a:r>
              <a:rPr lang="en-US" sz="1300" b="1" spc="200" kern="0" dirty="0">
                <a:solidFill>
                  <a:srgbClr val="AFE4CB"/>
                </a:solidFill>
                <a:latin typeface="Calibri" pitchFamily="34" charset="0"/>
                <a:ea typeface="Calibri" pitchFamily="34" charset="-122"/>
                <a:cs typeface="Calibri" pitchFamily="34" charset="-120"/>
              </a:rPr>
              <a:t>WRAP-UP</a:t>
            </a:r>
            <a:endParaRPr lang="en-US" sz="1300" dirty="0"/>
          </a:p>
        </p:txBody>
      </p:sp>
      <p:sp>
        <p:nvSpPr>
          <p:cNvPr id="4" name="Text 2"/>
          <p:cNvSpPr txBox="1"/>
          <p:nvPr/>
        </p:nvSpPr>
        <p:spPr>
          <a:xfrm>
            <a:off x="548640" y="914400"/>
            <a:ext cx="10515600" cy="73152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The full stack, in one line</a:t>
            </a:r>
            <a:endParaRPr lang="en-US" sz="3200" dirty="0"/>
          </a:p>
        </p:txBody>
      </p:sp>
      <p:sp>
        <p:nvSpPr>
          <p:cNvPr id="5" name="Shape 3"/>
          <p:cNvSpPr/>
          <p:nvPr/>
        </p:nvSpPr>
        <p:spPr>
          <a:xfrm>
            <a:off x="548640" y="1965960"/>
            <a:ext cx="3310128" cy="3291840"/>
          </a:xfrm>
          <a:prstGeom prst="roundRect">
            <a:avLst>
              <a:gd name="adj" fmla="val 3333"/>
            </a:avLst>
          </a:prstGeom>
          <a:solidFill>
            <a:srgbClr val="123528"/>
          </a:solidFill>
          <a:ln w="12700">
            <a:solidFill>
              <a:srgbClr val="1E4B39"/>
            </a:solidFill>
            <a:prstDash val="solid"/>
          </a:ln>
        </p:spPr>
      </p:sp>
      <p:sp>
        <p:nvSpPr>
          <p:cNvPr id="6" name="Shape 4"/>
          <p:cNvSpPr/>
          <p:nvPr/>
        </p:nvSpPr>
        <p:spPr>
          <a:xfrm>
            <a:off x="1837944" y="2286000"/>
            <a:ext cx="731520" cy="731520"/>
          </a:xfrm>
          <a:prstGeom prst="ellipse">
            <a:avLst/>
          </a:prstGeom>
          <a:solidFill>
            <a:srgbClr val="00915A"/>
          </a:solidFill>
          <a:ln/>
        </p:spPr>
      </p:sp>
      <p:pic>
        <p:nvPicPr>
          <p:cNvPr id="7" name="Image 0" descr="/home/claude/icons/box_w.png">    </p:cNvPr>
          <p:cNvPicPr>
            <a:picLocks noChangeAspect="1"/>
          </p:cNvPicPr>
          <p:nvPr/>
        </p:nvPicPr>
        <p:blipFill>
          <a:blip r:embed="rId1"/>
          <a:stretch>
            <a:fillRect/>
          </a:stretch>
        </p:blipFill>
        <p:spPr>
          <a:xfrm>
            <a:off x="1984248" y="2432304"/>
            <a:ext cx="438912" cy="438912"/>
          </a:xfrm>
          <a:prstGeom prst="rect">
            <a:avLst/>
          </a:prstGeom>
        </p:spPr>
      </p:pic>
      <p:sp>
        <p:nvSpPr>
          <p:cNvPr id="8" name="Text 5"/>
          <p:cNvSpPr txBox="1"/>
          <p:nvPr/>
        </p:nvSpPr>
        <p:spPr>
          <a:xfrm>
            <a:off x="685800" y="3200400"/>
            <a:ext cx="3035808"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MCP</a:t>
            </a:r>
            <a:endParaRPr lang="en-US" sz="2000" dirty="0"/>
          </a:p>
        </p:txBody>
      </p:sp>
      <p:sp>
        <p:nvSpPr>
          <p:cNvPr id="9" name="Text 6"/>
          <p:cNvSpPr txBox="1"/>
          <p:nvPr/>
        </p:nvSpPr>
        <p:spPr>
          <a:xfrm>
            <a:off x="685800" y="3611880"/>
            <a:ext cx="3035808" cy="320040"/>
          </a:xfrm>
          <a:prstGeom prst="rect">
            <a:avLst/>
          </a:prstGeom>
          <a:noFill/>
          <a:ln/>
        </p:spPr>
        <p:txBody>
          <a:bodyPr wrap="square" lIns="0" tIns="0" rIns="0" bIns="0" rtlCol="0" anchor="ctr"/>
          <a:lstStyle/>
          <a:p>
            <a:pPr algn="ctr" indent="0" marL="0">
              <a:buNone/>
            </a:pPr>
            <a:r>
              <a:rPr lang="en-US" sz="1400" b="1" dirty="0">
                <a:solidFill>
                  <a:srgbClr val="00915A"/>
                </a:solidFill>
                <a:latin typeface="Calibri" pitchFamily="34" charset="0"/>
                <a:ea typeface="Calibri" pitchFamily="34" charset="-122"/>
                <a:cs typeface="Calibri" pitchFamily="34" charset="-120"/>
              </a:rPr>
              <a:t>Tools &amp; access</a:t>
            </a:r>
            <a:endParaRPr lang="en-US" sz="1400" dirty="0"/>
          </a:p>
        </p:txBody>
      </p:sp>
      <p:sp>
        <p:nvSpPr>
          <p:cNvPr id="10" name="Text 7"/>
          <p:cNvSpPr txBox="1"/>
          <p:nvPr/>
        </p:nvSpPr>
        <p:spPr>
          <a:xfrm>
            <a:off x="822960" y="4023360"/>
            <a:ext cx="2761488" cy="1097280"/>
          </a:xfrm>
          <a:prstGeom prst="rect">
            <a:avLst/>
          </a:prstGeom>
          <a:noFill/>
          <a:ln/>
        </p:spPr>
        <p:txBody>
          <a:bodyPr wrap="square" lIns="0" tIns="0" rIns="0" bIns="0" rtlCol="0" anchor="ctr"/>
          <a:lstStyle/>
          <a:p>
            <a:pPr algn="ctr" indent="0" marL="0">
              <a:lnSpc>
                <a:spcPts val="1800"/>
              </a:lnSpc>
              <a:buNone/>
            </a:pPr>
            <a:r>
              <a:rPr lang="en-US" sz="1350" dirty="0">
                <a:solidFill>
                  <a:srgbClr val="AFE4CB"/>
                </a:solidFill>
                <a:latin typeface="Calibri" pitchFamily="34" charset="0"/>
                <a:ea typeface="Calibri" pitchFamily="34" charset="-122"/>
                <a:cs typeface="Calibri" pitchFamily="34" charset="-120"/>
              </a:rPr>
              <a:t>What agents are allowed to touch, and how they authenticate to reach it.</a:t>
            </a:r>
            <a:endParaRPr lang="en-US" sz="1350" dirty="0"/>
          </a:p>
        </p:txBody>
      </p:sp>
      <p:sp>
        <p:nvSpPr>
          <p:cNvPr id="11" name="Shape 8"/>
          <p:cNvSpPr/>
          <p:nvPr/>
        </p:nvSpPr>
        <p:spPr>
          <a:xfrm>
            <a:off x="4078224" y="1965960"/>
            <a:ext cx="3310128" cy="3291840"/>
          </a:xfrm>
          <a:prstGeom prst="roundRect">
            <a:avLst>
              <a:gd name="adj" fmla="val 3333"/>
            </a:avLst>
          </a:prstGeom>
          <a:solidFill>
            <a:srgbClr val="123528"/>
          </a:solidFill>
          <a:ln w="12700">
            <a:solidFill>
              <a:srgbClr val="1E4B39"/>
            </a:solidFill>
            <a:prstDash val="solid"/>
          </a:ln>
        </p:spPr>
      </p:sp>
      <p:sp>
        <p:nvSpPr>
          <p:cNvPr id="12" name="Shape 9"/>
          <p:cNvSpPr/>
          <p:nvPr/>
        </p:nvSpPr>
        <p:spPr>
          <a:xfrm>
            <a:off x="5367528" y="2286000"/>
            <a:ext cx="731520" cy="731520"/>
          </a:xfrm>
          <a:prstGeom prst="ellipse">
            <a:avLst/>
          </a:prstGeom>
          <a:solidFill>
            <a:srgbClr val="00915A"/>
          </a:solidFill>
          <a:ln/>
        </p:spPr>
      </p:sp>
      <p:pic>
        <p:nvPicPr>
          <p:cNvPr id="13" name="Image 1" descr="/home/claude/icons/gitmergeW.png">    </p:cNvPr>
          <p:cNvPicPr>
            <a:picLocks noChangeAspect="1"/>
          </p:cNvPicPr>
          <p:nvPr/>
        </p:nvPicPr>
        <p:blipFill>
          <a:blip r:embed="rId2"/>
          <a:stretch>
            <a:fillRect/>
          </a:stretch>
        </p:blipFill>
        <p:spPr>
          <a:xfrm>
            <a:off x="5513832" y="2432304"/>
            <a:ext cx="438912" cy="438912"/>
          </a:xfrm>
          <a:prstGeom prst="rect">
            <a:avLst/>
          </a:prstGeom>
        </p:spPr>
      </p:pic>
      <p:sp>
        <p:nvSpPr>
          <p:cNvPr id="14" name="Text 10"/>
          <p:cNvSpPr txBox="1"/>
          <p:nvPr/>
        </p:nvSpPr>
        <p:spPr>
          <a:xfrm>
            <a:off x="4215384" y="3200400"/>
            <a:ext cx="3035808"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LangGraph</a:t>
            </a:r>
            <a:endParaRPr lang="en-US" sz="2000" dirty="0"/>
          </a:p>
        </p:txBody>
      </p:sp>
      <p:sp>
        <p:nvSpPr>
          <p:cNvPr id="15" name="Text 11"/>
          <p:cNvSpPr txBox="1"/>
          <p:nvPr/>
        </p:nvSpPr>
        <p:spPr>
          <a:xfrm>
            <a:off x="4215384" y="3611880"/>
            <a:ext cx="3035808" cy="320040"/>
          </a:xfrm>
          <a:prstGeom prst="rect">
            <a:avLst/>
          </a:prstGeom>
          <a:noFill/>
          <a:ln/>
        </p:spPr>
        <p:txBody>
          <a:bodyPr wrap="square" lIns="0" tIns="0" rIns="0" bIns="0" rtlCol="0" anchor="ctr"/>
          <a:lstStyle/>
          <a:p>
            <a:pPr algn="ctr" indent="0" marL="0">
              <a:buNone/>
            </a:pPr>
            <a:r>
              <a:rPr lang="en-US" sz="1400" b="1" dirty="0">
                <a:solidFill>
                  <a:srgbClr val="00915A"/>
                </a:solidFill>
                <a:latin typeface="Calibri" pitchFamily="34" charset="0"/>
                <a:ea typeface="Calibri" pitchFamily="34" charset="-122"/>
                <a:cs typeface="Calibri" pitchFamily="34" charset="-120"/>
              </a:rPr>
              <a:t>Orchestration</a:t>
            </a:r>
            <a:endParaRPr lang="en-US" sz="1400" dirty="0"/>
          </a:p>
        </p:txBody>
      </p:sp>
      <p:sp>
        <p:nvSpPr>
          <p:cNvPr id="16" name="Text 12"/>
          <p:cNvSpPr txBox="1"/>
          <p:nvPr/>
        </p:nvSpPr>
        <p:spPr>
          <a:xfrm>
            <a:off x="4352544" y="4023360"/>
            <a:ext cx="2761488" cy="1097280"/>
          </a:xfrm>
          <a:prstGeom prst="rect">
            <a:avLst/>
          </a:prstGeom>
          <a:noFill/>
          <a:ln/>
        </p:spPr>
        <p:txBody>
          <a:bodyPr wrap="square" lIns="0" tIns="0" rIns="0" bIns="0" rtlCol="0" anchor="ctr"/>
          <a:lstStyle/>
          <a:p>
            <a:pPr algn="ctr" indent="0" marL="0">
              <a:lnSpc>
                <a:spcPts val="1800"/>
              </a:lnSpc>
              <a:buNone/>
            </a:pPr>
            <a:r>
              <a:rPr lang="en-US" sz="1350" dirty="0">
                <a:solidFill>
                  <a:srgbClr val="AFE4CB"/>
                </a:solidFill>
                <a:latin typeface="Calibri" pitchFamily="34" charset="0"/>
                <a:ea typeface="Calibri" pitchFamily="34" charset="-122"/>
                <a:cs typeface="Calibri" pitchFamily="34" charset="-120"/>
              </a:rPr>
              <a:t>How those tools get sequenced, routed, parallelized, and paused for a human.</a:t>
            </a:r>
            <a:endParaRPr lang="en-US" sz="1350" dirty="0"/>
          </a:p>
        </p:txBody>
      </p:sp>
      <p:sp>
        <p:nvSpPr>
          <p:cNvPr id="17" name="Shape 13"/>
          <p:cNvSpPr/>
          <p:nvPr/>
        </p:nvSpPr>
        <p:spPr>
          <a:xfrm>
            <a:off x="7607808" y="1965960"/>
            <a:ext cx="3310128" cy="3291840"/>
          </a:xfrm>
          <a:prstGeom prst="roundRect">
            <a:avLst>
              <a:gd name="adj" fmla="val 3333"/>
            </a:avLst>
          </a:prstGeom>
          <a:solidFill>
            <a:srgbClr val="123528"/>
          </a:solidFill>
          <a:ln w="12700">
            <a:solidFill>
              <a:srgbClr val="1E4B39"/>
            </a:solidFill>
            <a:prstDash val="solid"/>
          </a:ln>
        </p:spPr>
      </p:sp>
      <p:sp>
        <p:nvSpPr>
          <p:cNvPr id="18" name="Shape 14"/>
          <p:cNvSpPr/>
          <p:nvPr/>
        </p:nvSpPr>
        <p:spPr>
          <a:xfrm>
            <a:off x="8897112" y="2286000"/>
            <a:ext cx="731520" cy="731520"/>
          </a:xfrm>
          <a:prstGeom prst="ellipse">
            <a:avLst/>
          </a:prstGeom>
          <a:solidFill>
            <a:srgbClr val="00915A"/>
          </a:solidFill>
          <a:ln/>
        </p:spPr>
      </p:sp>
      <p:pic>
        <p:nvPicPr>
          <p:cNvPr id="19" name="Image 2" descr="/home/claude/icons/sliders_w.png">    </p:cNvPr>
          <p:cNvPicPr>
            <a:picLocks noChangeAspect="1"/>
          </p:cNvPicPr>
          <p:nvPr/>
        </p:nvPicPr>
        <p:blipFill>
          <a:blip r:embed="rId3"/>
          <a:stretch>
            <a:fillRect/>
          </a:stretch>
        </p:blipFill>
        <p:spPr>
          <a:xfrm>
            <a:off x="9043416" y="2432304"/>
            <a:ext cx="438912" cy="438912"/>
          </a:xfrm>
          <a:prstGeom prst="rect">
            <a:avLst/>
          </a:prstGeom>
        </p:spPr>
      </p:pic>
      <p:sp>
        <p:nvSpPr>
          <p:cNvPr id="20" name="Text 15"/>
          <p:cNvSpPr txBox="1"/>
          <p:nvPr/>
        </p:nvSpPr>
        <p:spPr>
          <a:xfrm>
            <a:off x="7744968" y="3200400"/>
            <a:ext cx="3035808"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DSPy</a:t>
            </a:r>
            <a:endParaRPr lang="en-US" sz="2000" dirty="0"/>
          </a:p>
        </p:txBody>
      </p:sp>
      <p:sp>
        <p:nvSpPr>
          <p:cNvPr id="21" name="Text 16"/>
          <p:cNvSpPr txBox="1"/>
          <p:nvPr/>
        </p:nvSpPr>
        <p:spPr>
          <a:xfrm>
            <a:off x="7744968" y="3611880"/>
            <a:ext cx="3035808" cy="320040"/>
          </a:xfrm>
          <a:prstGeom prst="rect">
            <a:avLst/>
          </a:prstGeom>
          <a:noFill/>
          <a:ln/>
        </p:spPr>
        <p:txBody>
          <a:bodyPr wrap="square" lIns="0" tIns="0" rIns="0" bIns="0" rtlCol="0" anchor="ctr"/>
          <a:lstStyle/>
          <a:p>
            <a:pPr algn="ctr" indent="0" marL="0">
              <a:buNone/>
            </a:pPr>
            <a:r>
              <a:rPr lang="en-US" sz="1400" b="1" dirty="0">
                <a:solidFill>
                  <a:srgbClr val="00915A"/>
                </a:solidFill>
                <a:latin typeface="Calibri" pitchFamily="34" charset="0"/>
                <a:ea typeface="Calibri" pitchFamily="34" charset="-122"/>
                <a:cs typeface="Calibri" pitchFamily="34" charset="-120"/>
              </a:rPr>
              <a:t>Self-improving prompts</a:t>
            </a:r>
            <a:endParaRPr lang="en-US" sz="1400" dirty="0"/>
          </a:p>
        </p:txBody>
      </p:sp>
      <p:sp>
        <p:nvSpPr>
          <p:cNvPr id="22" name="Text 17"/>
          <p:cNvSpPr txBox="1"/>
          <p:nvPr/>
        </p:nvSpPr>
        <p:spPr>
          <a:xfrm>
            <a:off x="7882128" y="4023360"/>
            <a:ext cx="2761488" cy="1097280"/>
          </a:xfrm>
          <a:prstGeom prst="rect">
            <a:avLst/>
          </a:prstGeom>
          <a:noFill/>
          <a:ln/>
        </p:spPr>
        <p:txBody>
          <a:bodyPr wrap="square" lIns="0" tIns="0" rIns="0" bIns="0" rtlCol="0" anchor="ctr"/>
          <a:lstStyle/>
          <a:p>
            <a:pPr algn="ctr" indent="0" marL="0">
              <a:lnSpc>
                <a:spcPts val="1800"/>
              </a:lnSpc>
              <a:buNone/>
            </a:pPr>
            <a:r>
              <a:rPr lang="en-US" sz="1350" dirty="0">
                <a:solidFill>
                  <a:srgbClr val="AFE4CB"/>
                </a:solidFill>
                <a:latin typeface="Calibri" pitchFamily="34" charset="0"/>
                <a:ea typeface="Calibri" pitchFamily="34" charset="-122"/>
                <a:cs typeface="Calibri" pitchFamily="34" charset="-120"/>
              </a:rPr>
              <a:t>So prompts don’t need hand-maintenance as the agent count grows.</a:t>
            </a:r>
            <a:endParaRPr lang="en-US" sz="1350" dirty="0"/>
          </a:p>
        </p:txBody>
      </p:sp>
      <p:sp>
        <p:nvSpPr>
          <p:cNvPr id="23" name="Text 18"/>
          <p:cNvSpPr txBox="1"/>
          <p:nvPr/>
        </p:nvSpPr>
        <p:spPr>
          <a:xfrm>
            <a:off x="548640" y="5532120"/>
            <a:ext cx="11064240" cy="457200"/>
          </a:xfrm>
          <a:prstGeom prst="rect">
            <a:avLst/>
          </a:prstGeom>
          <a:noFill/>
          <a:ln/>
        </p:spPr>
        <p:txBody>
          <a:bodyPr wrap="square" lIns="0" tIns="0" rIns="0" bIns="0" rtlCol="0" anchor="ctr"/>
          <a:lstStyle/>
          <a:p>
            <a:pPr algn="ctr" indent="0" marL="0">
              <a:buNone/>
            </a:pPr>
            <a:r>
              <a:rPr lang="en-US" sz="1700" i="1" dirty="0">
                <a:solidFill>
                  <a:srgbClr val="FFFFFF"/>
                </a:solidFill>
                <a:latin typeface="Calibri" pitchFamily="34" charset="0"/>
                <a:ea typeface="Calibri" pitchFamily="34" charset="-122"/>
                <a:cs typeface="Calibri" pitchFamily="34" charset="-120"/>
              </a:rPr>
              <a:t>That’s the stack this program is building on.</a:t>
            </a:r>
            <a:endParaRPr lang="en-US" sz="1700" dirty="0"/>
          </a:p>
        </p:txBody>
      </p:sp>
      <p:sp>
        <p:nvSpPr>
          <p:cNvPr id="24" name="Text 19"/>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AFE4CB"/>
                </a:solidFill>
                <a:latin typeface="Calibri" pitchFamily="34" charset="0"/>
                <a:ea typeface="Calibri" pitchFamily="34" charset="-122"/>
                <a:cs typeface="Calibri" pitchFamily="34" charset="-120"/>
              </a:rPr>
              <a:t>Agentic AI with LangChain &amp; LangGraph</a:t>
            </a:r>
            <a:endParaRPr lang="en-US" sz="1000" dirty="0"/>
          </a:p>
        </p:txBody>
      </p:sp>
      <p:sp>
        <p:nvSpPr>
          <p:cNvPr id="25" name="Text 20"/>
          <p:cNvSpPr txBox="1"/>
          <p:nvPr/>
        </p:nvSpPr>
        <p:spPr>
          <a:xfrm>
            <a:off x="11064240" y="6473952"/>
            <a:ext cx="548640" cy="274320"/>
          </a:xfrm>
          <a:prstGeom prst="rect">
            <a:avLst/>
          </a:prstGeom>
          <a:noFill/>
          <a:ln/>
        </p:spPr>
        <p:txBody>
          <a:bodyPr wrap="square" lIns="0" tIns="0" rIns="0" bIns="0" rtlCol="0" anchor="ctr"/>
          <a:lstStyle/>
          <a:p>
            <a:pPr algn="r" indent="0" marL="0">
              <a:buNone/>
            </a:pPr>
            <a:r>
              <a:rPr lang="en-US" sz="1000" dirty="0">
                <a:solidFill>
                  <a:srgbClr val="AFE4CB"/>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8138160" y="0"/>
            <a:ext cx="4023360" cy="6858000"/>
          </a:xfrm>
          <a:prstGeom prst="rect">
            <a:avLst/>
          </a:prstGeom>
          <a:solidFill>
            <a:srgbClr val="E8F5EF"/>
          </a:solidFill>
          <a:ln/>
        </p:spPr>
      </p:sp>
      <p:sp>
        <p:nvSpPr>
          <p:cNvPr id="3" name="Shape 1"/>
          <p:cNvSpPr/>
          <p:nvPr/>
        </p:nvSpPr>
        <p:spPr>
          <a:xfrm>
            <a:off x="9418320" y="2468880"/>
            <a:ext cx="1920240" cy="1920240"/>
          </a:xfrm>
          <a:prstGeom prst="ellipse">
            <a:avLst/>
          </a:prstGeom>
          <a:solidFill>
            <a:srgbClr val="00915A"/>
          </a:solidFill>
          <a:ln/>
        </p:spPr>
      </p:sp>
      <p:pic>
        <p:nvPicPr>
          <p:cNvPr id="4" name="Image 0" descr="/home/claude/icons/help_w.png">    </p:cNvPr>
          <p:cNvPicPr>
            <a:picLocks noChangeAspect="1"/>
          </p:cNvPicPr>
          <p:nvPr/>
        </p:nvPicPr>
        <p:blipFill>
          <a:blip r:embed="rId1"/>
          <a:stretch>
            <a:fillRect/>
          </a:stretch>
        </p:blipFill>
        <p:spPr>
          <a:xfrm>
            <a:off x="9921240" y="2971800"/>
            <a:ext cx="914400" cy="914400"/>
          </a:xfrm>
          <a:prstGeom prst="rect">
            <a:avLst/>
          </a:prstGeom>
        </p:spPr>
      </p:pic>
      <p:sp>
        <p:nvSpPr>
          <p:cNvPr id="5" name="Text 2"/>
          <p:cNvSpPr txBox="1"/>
          <p:nvPr/>
        </p:nvSpPr>
        <p:spPr>
          <a:xfrm>
            <a:off x="548640" y="2103120"/>
            <a:ext cx="7315200" cy="914400"/>
          </a:xfrm>
          <a:prstGeom prst="rect">
            <a:avLst/>
          </a:prstGeom>
          <a:noFill/>
          <a:ln/>
        </p:spPr>
        <p:txBody>
          <a:bodyPr wrap="square" lIns="0" tIns="0" rIns="0" bIns="0" rtlCol="0" anchor="ctr"/>
          <a:lstStyle/>
          <a:p>
            <a:pPr indent="0" marL="0">
              <a:buNone/>
            </a:pPr>
            <a:r>
              <a:rPr lang="en-US" sz="4400" b="1" dirty="0">
                <a:solidFill>
                  <a:srgbClr val="1F2A28"/>
                </a:solidFill>
                <a:latin typeface="Calibri" pitchFamily="34" charset="0"/>
                <a:ea typeface="Calibri" pitchFamily="34" charset="-122"/>
                <a:cs typeface="Calibri" pitchFamily="34" charset="-120"/>
              </a:rPr>
              <a:t>Questions?</a:t>
            </a:r>
            <a:endParaRPr lang="en-US" sz="4400" dirty="0"/>
          </a:p>
        </p:txBody>
      </p:sp>
      <p:sp>
        <p:nvSpPr>
          <p:cNvPr id="6" name="Text 3"/>
          <p:cNvSpPr txBox="1"/>
          <p:nvPr/>
        </p:nvSpPr>
        <p:spPr>
          <a:xfrm>
            <a:off x="548640" y="3063240"/>
            <a:ext cx="7223760" cy="640080"/>
          </a:xfrm>
          <a:prstGeom prst="rect">
            <a:avLst/>
          </a:prstGeom>
          <a:noFill/>
          <a:ln/>
        </p:spPr>
        <p:txBody>
          <a:bodyPr wrap="square" lIns="0" tIns="0" rIns="0" bIns="0" rtlCol="0" anchor="ctr"/>
          <a:lstStyle/>
          <a:p>
            <a:pPr indent="0" marL="0">
              <a:lnSpc>
                <a:spcPts val="2400"/>
              </a:lnSpc>
              <a:buNone/>
            </a:pPr>
            <a:r>
              <a:rPr lang="en-US" sz="1800" dirty="0">
                <a:solidFill>
                  <a:srgbClr val="5B6B67"/>
                </a:solidFill>
                <a:latin typeface="Calibri" pitchFamily="34" charset="0"/>
                <a:ea typeface="Calibri" pitchFamily="34" charset="-122"/>
                <a:cs typeface="Calibri" pitchFamily="34" charset="-120"/>
              </a:rPr>
              <a:t>Open floor — happy to go deeper on any pattern or discuss where LangGraph didn’t fit.</a:t>
            </a:r>
            <a:endParaRPr lang="en-US" sz="1800" dirty="0"/>
          </a:p>
        </p:txBody>
      </p:sp>
      <p:sp>
        <p:nvSpPr>
          <p:cNvPr id="7" name="Shape 4"/>
          <p:cNvSpPr/>
          <p:nvPr/>
        </p:nvSpPr>
        <p:spPr>
          <a:xfrm>
            <a:off x="548640" y="3931920"/>
            <a:ext cx="2743200" cy="0"/>
          </a:xfrm>
          <a:prstGeom prst="line">
            <a:avLst/>
          </a:prstGeom>
          <a:noFill/>
          <a:ln w="25400">
            <a:solidFill>
              <a:srgbClr val="00915A"/>
            </a:solidFill>
            <a:prstDash val="solid"/>
          </a:ln>
        </p:spPr>
      </p:sp>
      <p:sp>
        <p:nvSpPr>
          <p:cNvPr id="8" name="Text 5"/>
          <p:cNvSpPr txBox="1"/>
          <p:nvPr/>
        </p:nvSpPr>
        <p:spPr>
          <a:xfrm>
            <a:off x="548640" y="4160520"/>
            <a:ext cx="7132320" cy="457200"/>
          </a:xfrm>
          <a:prstGeom prst="rect">
            <a:avLst/>
          </a:prstGeom>
          <a:noFill/>
          <a:ln/>
        </p:spPr>
        <p:txBody>
          <a:bodyPr wrap="square" lIns="0" tIns="0" rIns="0" bIns="0" rtlCol="0" anchor="ctr"/>
          <a:lstStyle/>
          <a:p>
            <a:pPr indent="0" marL="0">
              <a:buNone/>
            </a:pPr>
            <a:r>
              <a:rPr lang="en-US" sz="1400" dirty="0">
                <a:solidFill>
                  <a:srgbClr val="1F2A28"/>
                </a:solidFill>
                <a:latin typeface="Calibri" pitchFamily="34" charset="0"/>
                <a:ea typeface="Calibri" pitchFamily="34" charset="-122"/>
                <a:cs typeface="Calibri" pitchFamily="34" charset="-120"/>
              </a:rPr>
              <a:t>Reference repo, this deck, and the workshop plan doc are all available afterward.</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2026-09-08T16:41:23Z</dcterms:created>
  <dcterms:modified xsi:type="dcterms:W3CDTF">2026-09-08T16:41:23Z</dcterms:modified>
</cp:coreProperties>
</file>