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  ·  5 OF ~20 TARGET APPLICATIONS REPORTING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Highlights — Each Team's Own KPI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626510" cy="841248"/>
          </a:xfrm>
          <a:prstGeom prst="roundRect">
            <a:avLst>
              <a:gd name="adj" fmla="val 8696"/>
            </a:avLst>
          </a:prstGeom>
          <a:solidFill>
            <a:srgbClr val="E6F5EE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0515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9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45920" y="1069848"/>
            <a:ext cx="23006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spc="30" kern="0" dirty="0">
                <a:solidFill>
                  <a:srgbClr val="00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ENTITLEMENT USERS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45920" y="1371600"/>
            <a:ext cx="230063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30" i="1" dirty="0">
                <a:solidFill>
                  <a:srgbClr val="5F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JUDO 13 · Digital Automation 8 · NeoLink 4 · AMANDA 19 (Cross pending)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4266590" y="1005840"/>
            <a:ext cx="3626510" cy="841248"/>
          </a:xfrm>
          <a:prstGeom prst="roundRect">
            <a:avLst>
              <a:gd name="adj" fmla="val 8696"/>
            </a:avLst>
          </a:prstGeom>
          <a:solidFill>
            <a:srgbClr val="E6F5EE"/>
          </a:solidFill>
          <a:ln/>
        </p:spPr>
      </p:sp>
      <p:sp>
        <p:nvSpPr>
          <p:cNvPr id="9" name="Text 7"/>
          <p:cNvSpPr/>
          <p:nvPr/>
        </p:nvSpPr>
        <p:spPr>
          <a:xfrm>
            <a:off x="4431182" y="10515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9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55310" y="1069848"/>
            <a:ext cx="23006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spc="30" kern="0" dirty="0">
                <a:solidFill>
                  <a:srgbClr val="00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ENTITLEMENT USERS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55310" y="1371600"/>
            <a:ext cx="230063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30" i="1" dirty="0">
                <a:solidFill>
                  <a:srgbClr val="5F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adopted cluster-wide (Digital Automation reports 0)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8075981" y="1005840"/>
            <a:ext cx="3626510" cy="841248"/>
          </a:xfrm>
          <a:prstGeom prst="roundRect">
            <a:avLst>
              <a:gd name="adj" fmla="val 8696"/>
            </a:avLst>
          </a:prstGeom>
          <a:solidFill>
            <a:srgbClr val="E6F5EE"/>
          </a:solidFill>
          <a:ln/>
        </p:spPr>
      </p:sp>
      <p:sp>
        <p:nvSpPr>
          <p:cNvPr id="13" name="Text 11"/>
          <p:cNvSpPr/>
          <p:nvPr/>
        </p:nvSpPr>
        <p:spPr>
          <a:xfrm>
            <a:off x="8240573" y="10515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9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264701" y="1069848"/>
            <a:ext cx="23006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spc="30" kern="0" dirty="0">
                <a:solidFill>
                  <a:srgbClr val="00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USERS (ACTIVE)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264701" y="1371600"/>
            <a:ext cx="230063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30" i="1" dirty="0">
                <a:solidFill>
                  <a:srgbClr val="5F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AMANDA (GM-IT) only reports an active-user split so far</a:t>
            </a:r>
            <a:endParaRPr lang="en-US" sz="730" dirty="0"/>
          </a:p>
        </p:txBody>
      </p:sp>
      <p:sp>
        <p:nvSpPr>
          <p:cNvPr id="16" name="Shape 14"/>
          <p:cNvSpPr/>
          <p:nvPr/>
        </p:nvSpPr>
        <p:spPr>
          <a:xfrm>
            <a:off x="457200" y="2011680"/>
            <a:ext cx="2103120" cy="3200400"/>
          </a:xfrm>
          <a:prstGeom prst="roundRect">
            <a:avLst>
              <a:gd name="adj" fmla="val 4348"/>
            </a:avLst>
          </a:prstGeom>
          <a:solidFill>
            <a:srgbClr val="3D7A63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" y="2139696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COMM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03504" y="2432304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APPLICATIONS COMBINED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03504" y="2724912"/>
            <a:ext cx="1810512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" y="2798064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03504" y="3255264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Team Size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03504" y="3547872"/>
            <a:ext cx="1810512" cy="0"/>
          </a:xfrm>
          <a:prstGeom prst="line">
            <a:avLst/>
          </a:prstGeom>
          <a:noFill/>
          <a:ln w="635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" y="3639312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JUDO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03504" y="3822192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1,135 pts (Steady-State)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03504" y="4078224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03504" y="4261104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+16% (Non-Agile)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03504" y="4517136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NeoLink-Chennai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03504" y="4700016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+20.8% (Agile)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702052" y="2011680"/>
            <a:ext cx="2103120" cy="3200400"/>
          </a:xfrm>
          <a:prstGeom prst="roundRect">
            <a:avLst>
              <a:gd name="adj" fmla="val 4348"/>
            </a:avLst>
          </a:prstGeom>
          <a:solidFill>
            <a:srgbClr val="006B43"/>
          </a:solidFill>
          <a:ln/>
        </p:spPr>
      </p:sp>
      <p:sp>
        <p:nvSpPr>
          <p:cNvPr id="30" name="Text 28"/>
          <p:cNvSpPr/>
          <p:nvPr/>
        </p:nvSpPr>
        <p:spPr>
          <a:xfrm>
            <a:off x="2866644" y="2157984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RPA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866644" y="2578608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AUTOMATION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866644" y="2926080"/>
            <a:ext cx="1773936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66644" y="3035808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6.58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2866644" y="361188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 Saved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866644" y="397764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CRs closed · Backlog 11 · Defects 4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866644" y="4882896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13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946904" y="2011680"/>
            <a:ext cx="2103120" cy="3200400"/>
          </a:xfrm>
          <a:prstGeom prst="roundRect">
            <a:avLst>
              <a:gd name="adj" fmla="val 4348"/>
            </a:avLst>
          </a:prstGeom>
          <a:solidFill>
            <a:srgbClr val="00915A"/>
          </a:solidFill>
          <a:ln/>
        </p:spPr>
      </p:sp>
      <p:sp>
        <p:nvSpPr>
          <p:cNvPr id="38" name="Text 36"/>
          <p:cNvSpPr/>
          <p:nvPr/>
        </p:nvSpPr>
        <p:spPr>
          <a:xfrm>
            <a:off x="5111496" y="2157984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AMANDA (GM-IT)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111496" y="2615184"/>
            <a:ext cx="1773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· SCALING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111496" y="2926080"/>
            <a:ext cx="1773936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11496" y="3035808"/>
            <a:ext cx="17739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+19%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5111496" y="361188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Increase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111496" y="397764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67.5 → 80.63 avg · 19 LLM users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191756" y="2011680"/>
            <a:ext cx="2103120" cy="3200400"/>
          </a:xfrm>
          <a:prstGeom prst="roundRect">
            <a:avLst>
              <a:gd name="adj" fmla="val 4348"/>
            </a:avLst>
          </a:prstGeom>
          <a:solidFill>
            <a:srgbClr val="D9D9D9"/>
          </a:solidFill>
          <a:ln w="12700">
            <a:solidFill>
              <a:srgbClr val="AFAFAF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7356348" y="315468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4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356348" y="352044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data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9436608" y="2011680"/>
            <a:ext cx="2103120" cy="3200400"/>
          </a:xfrm>
          <a:prstGeom prst="roundRect">
            <a:avLst>
              <a:gd name="adj" fmla="val 4348"/>
            </a:avLst>
          </a:prstGeom>
          <a:solidFill>
            <a:srgbClr val="D9D9D9"/>
          </a:solidFill>
          <a:ln w="12700">
            <a:solidFill>
              <a:srgbClr val="AFAFAF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9601200" y="315468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5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601200" y="352044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data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57200" y="53492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0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LEGEND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57200" y="5650992"/>
            <a:ext cx="201168" cy="201168"/>
          </a:xfrm>
          <a:prstGeom prst="rect">
            <a:avLst/>
          </a:prstGeom>
          <a:solidFill>
            <a:srgbClr val="3D7A63"/>
          </a:solidFill>
          <a:ln/>
        </p:spPr>
      </p:sp>
      <p:sp>
        <p:nvSpPr>
          <p:cNvPr id="52" name="Text 50"/>
          <p:cNvSpPr/>
          <p:nvPr/>
        </p:nvSpPr>
        <p:spPr>
          <a:xfrm>
            <a:off x="731520" y="56052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Comm (grouped)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200400" y="5650992"/>
            <a:ext cx="201168" cy="201168"/>
          </a:xfrm>
          <a:prstGeom prst="rect">
            <a:avLst/>
          </a:prstGeom>
          <a:solidFill>
            <a:srgbClr val="006B43"/>
          </a:solidFill>
          <a:ln/>
        </p:spPr>
      </p:sp>
      <p:sp>
        <p:nvSpPr>
          <p:cNvPr id="54" name="Text 52"/>
          <p:cNvSpPr/>
          <p:nvPr/>
        </p:nvSpPr>
        <p:spPr>
          <a:xfrm>
            <a:off x="3474720" y="56052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5943600" y="5650992"/>
            <a:ext cx="201168" cy="201168"/>
          </a:xfrm>
          <a:prstGeom prst="rect">
            <a:avLst/>
          </a:prstGeom>
          <a:solidFill>
            <a:srgbClr val="00915A"/>
          </a:solidFill>
          <a:ln/>
        </p:spPr>
      </p:sp>
      <p:sp>
        <p:nvSpPr>
          <p:cNvPr id="56" name="Text 54"/>
          <p:cNvSpPr/>
          <p:nvPr/>
        </p:nvSpPr>
        <p:spPr>
          <a:xfrm>
            <a:off x="6217920" y="56052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· Scaling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8686800" y="5650992"/>
            <a:ext cx="201168" cy="20116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58" name="Text 56"/>
          <p:cNvSpPr/>
          <p:nvPr/>
        </p:nvSpPr>
        <p:spPr>
          <a:xfrm>
            <a:off x="8961120" y="56052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/ Placeholder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5F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 4 &amp; 5 are reserved as more applications report in; Client Comm consolidates JUDO, Cross &amp; NeoLink-Chennai into one view.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Initiatives Across the Cluster  |  5-Minute CIO Summary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1521440" y="6537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 ·  FULL APPLICATION DETAIL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Applications — KPI Detail Table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with the cluster: currently 5 applications, template ready for ~20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4572000"/>
        </p:xfrm>
        <a:graphic>
          <a:graphicData uri="http://schemas.openxmlformats.org/drawingml/2006/table">
            <a:tbl>
              <a:tblPr/>
              <a:tblGrid>
                <a:gridCol w="365760"/>
                <a:gridCol w="1920240"/>
                <a:gridCol w="1737360"/>
                <a:gridCol w="640080"/>
                <a:gridCol w="1737360"/>
                <a:gridCol w="1005840"/>
                <a:gridCol w="3840480"/>
              </a:tblGrid>
              <a:tr h="415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Application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Phase Tag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KPI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Context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43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JUDO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Steady-State Delivery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13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Story Points Delivered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1,135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470 issues · Sprint 67-80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Digital Automation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RPA / Automation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13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FTE Saved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6.58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73 CRs closed · Backlog 11 · Defects 4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NeoLink-Chennai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Agile · Scaling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Velocity Increase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+20.8%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Release cadence: monthly → bi-weekly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4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Cross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Non-Agile · Ticketing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Efficiency Improvement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+16%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Ticket-based tracking only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AMANDA (GM-IT)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Agile · Scaling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-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Velocity Increase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+19%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</a:rPr>
                        <a:t>67.5 → 80.63 avg · 19 users on LLM assistant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6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&lt; pending &gt;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-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-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-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-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Awaiting data from application manager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7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&lt; pending &gt;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-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-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-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-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Awaiting data from application manager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8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&lt; pending &gt;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-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-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-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-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Awaiting data from application manager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9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&lt; pending &gt;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-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-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-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-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Awaiting data from application manager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10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&lt; pending &gt;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-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-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-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-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i="1" dirty="0">
                          <a:solidFill>
                            <a:srgbClr val="5F6B67"/>
                          </a:solidFill>
                        </a:rPr>
                        <a:t>Awaiting data from application manager</a:t>
                      </a:r>
                      <a:endParaRPr lang="en-US" sz="9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172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F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6-10 shown as placeholders to illustrate scale; replace as new application managers submit data via the tracker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Initiatives Across the Cluster  |  5-Minute CIO Summary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0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 ·  UNIFIED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AI Use Cases Across the Cluster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from cluster tracking and RPA proof points · cancelled items removed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235440" y="36576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E6F5EE"/>
          </a:solidFill>
          <a:ln/>
        </p:spPr>
      </p:sp>
      <p:sp>
        <p:nvSpPr>
          <p:cNvPr id="6" name="Text 4"/>
          <p:cNvSpPr/>
          <p:nvPr/>
        </p:nvSpPr>
        <p:spPr>
          <a:xfrm>
            <a:off x="9235440" y="402336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9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235440" y="8229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00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0561320" y="365760"/>
            <a:ext cx="1234440" cy="777240"/>
          </a:xfrm>
          <a:prstGeom prst="roundRect">
            <a:avLst>
              <a:gd name="adj" fmla="val 9412"/>
            </a:avLst>
          </a:prstGeom>
          <a:solidFill>
            <a:srgbClr val="E6F5EE"/>
          </a:solidFill>
          <a:ln/>
        </p:spPr>
      </p:sp>
      <p:sp>
        <p:nvSpPr>
          <p:cNvPr id="9" name="Text 7"/>
          <p:cNvSpPr/>
          <p:nvPr/>
        </p:nvSpPr>
        <p:spPr>
          <a:xfrm>
            <a:off x="10561320" y="402336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91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561320" y="8229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006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/ PILOT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486400" cy="4846320"/>
        </p:xfrm>
        <a:graphic>
          <a:graphicData uri="http://schemas.openxmlformats.org/drawingml/2006/table">
            <a:tbl>
              <a:tblPr/>
              <a:tblGrid>
                <a:gridCol w="320040"/>
                <a:gridCol w="2423160"/>
                <a:gridCol w="640080"/>
                <a:gridCol w="2103120"/>
              </a:tblGrid>
              <a:tr h="484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Use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Status / Next Step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43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Sybase2ora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Pilot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POC Done, awaiting FRC (Pradhikshan)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Angular Forge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Pilot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POC Done, awaiting FRC (Jyothis)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API Specification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Idea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To be Registered (Meenakshi)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4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DDD - Past &amp; Last Design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Idea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To be Registered (w/ Chitra)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SQL Query Generation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Idea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To be Registered (merge w/ #4?)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MCP Tools Configure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Idea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To be Registered (pending Jhelum)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AI Migration Agent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Pilot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Awaiting Architecture Review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Self-Healing Pipeline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Pilot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Awaiting Architecture Review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Self-Healing Automation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Idea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To be Registered (Meenakshi)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371600"/>
          <a:ext cx="5532120" cy="4846320"/>
        </p:xfrm>
        <a:graphic>
          <a:graphicData uri="http://schemas.openxmlformats.org/drawingml/2006/table">
            <a:tbl>
              <a:tblPr/>
              <a:tblGrid>
                <a:gridCol w="320040"/>
                <a:gridCol w="2468880"/>
                <a:gridCol w="640080"/>
                <a:gridCol w="2103120"/>
              </a:tblGrid>
              <a:tr h="538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Use Case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4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Status / Next Step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B43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Smart Visualizer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Idea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To be Registered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Asset Creation (Email-based)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Idea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To be Registered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AI WCAG Checker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Pilot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POC Done, demo scheduled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13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Incident Ink AI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Idea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To be Registered (Meenakshi)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14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SID Generation &amp; Doc Prep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Pilot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AI-assisted generation live (RPA)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15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Blue Prism Code Generation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Pilot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AI-assisted coding live (RPA)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16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Blue Prism MCP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Pilot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MCP-enabled interaction (RPA)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17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NLG - YSEOP Replacement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Pilot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In-house AI proposed (RPA)</a:t>
                      </a:r>
                      <a:endParaRPr lang="en-US" sz="850" dirty="0"/>
                    </a:p>
                  </a:txBody>
                  <a:tcPr marL="91440" marR="91440" marT="45720" marB="45720" anchor="t">
                    <a:lnL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EE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457200" y="630936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F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use case (Memory Leak analysis) was cancelled/dropped and is excluded from this view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Initiatives Across the Cluster  |  5-Minute CIO Summary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521440" y="6537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2026-08-21T01:35:14Z</dcterms:created>
  <dcterms:modified xsi:type="dcterms:W3CDTF">2026-08-21T01:35:14Z</dcterms:modified>
</cp:coreProperties>
</file>