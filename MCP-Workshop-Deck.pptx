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image" Target="../media/image-3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1.png"/><Relationship Id="rId3" Type="http://schemas.openxmlformats.org/officeDocument/2006/relationships/image" Target="../media/image-30-3.png"/><Relationship Id="rId4" Type="http://schemas.openxmlformats.org/officeDocument/2006/relationships/image" Target="../media/image-30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2.png"/><Relationship Id="rId4" Type="http://schemas.openxmlformats.org/officeDocument/2006/relationships/image" Target="../media/image-37-2.png"/><Relationship Id="rId5" Type="http://schemas.openxmlformats.org/officeDocument/2006/relationships/image" Target="../media/image-37-5.png"/><Relationship Id="rId6" Type="http://schemas.openxmlformats.org/officeDocument/2006/relationships/image" Target="../media/image-37-5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23360" cy="6858000"/>
          </a:xfrm>
          <a:prstGeom prst="rect">
            <a:avLst/>
          </a:prstGeom>
          <a:solidFill>
            <a:srgbClr val="E8F5EF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2468880"/>
            <a:ext cx="1920240" cy="192024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4" name="Image 0" descr="/home/claude/icons/serv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9718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PART 1 OF 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session on MCP fundamentals — concepts, architecture, capability design, and how to build and register one on our platform.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4434840"/>
            <a:ext cx="2743200" cy="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663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Architects Track  </a:t>
            </a:r>
            <a:pPr indent="0" marL="0">
              <a:buNone/>
            </a:pPr>
            <a:r>
              <a:rPr lang="en-US" sz="14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Followed by: Agentic AI with LangChain &amp; LangGraph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029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· live build · your own MCP, registered by the end of this session.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the next ~1h30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couple of short breathers are built in along the way.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92808"/>
            <a:ext cx="384048" cy="384048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6" name="Image 0" descr="/home/claude/icons/hel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566" y="1942734"/>
            <a:ext cx="284196" cy="2841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84708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— opinion spectrum &amp; where we stand today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149840" y="18470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345436"/>
            <a:ext cx="10698480" cy="0"/>
          </a:xfrm>
          <a:prstGeom prst="line">
            <a:avLst/>
          </a:prstGeom>
          <a:noFill/>
          <a:ln w="9525">
            <a:solidFill>
              <a:srgbClr val="D7E9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1" name="Image 1" descr="/home/claude/icons/box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6" y="2468514"/>
            <a:ext cx="284196" cy="2841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15568" y="23728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 — concepts, architecture, lifecycle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149840" y="23728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2871216"/>
            <a:ext cx="10698480" cy="0"/>
          </a:xfrm>
          <a:prstGeom prst="line">
            <a:avLst/>
          </a:prstGeom>
          <a:noFill/>
          <a:ln w="9525">
            <a:solidFill>
              <a:srgbClr val="D7E9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6" name="Image 2" descr="/home/claude/icons/gri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2994294"/>
            <a:ext cx="284196" cy="2841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15568" y="289864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design — Tools, Resources, Prompts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0149840" y="2898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396996"/>
            <a:ext cx="10698480" cy="0"/>
          </a:xfrm>
          <a:prstGeom prst="line">
            <a:avLst/>
          </a:prstGeom>
          <a:noFill/>
          <a:ln w="9525">
            <a:solidFill>
              <a:srgbClr val="D7E9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3470148"/>
            <a:ext cx="384048" cy="384048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1" name="Image 3" descr="/home/claude/icons/compas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66" y="3520074"/>
            <a:ext cx="284196" cy="2841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15568" y="342442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— roadmap, architecture, deployment models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149840" y="34244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3922776"/>
            <a:ext cx="10698480" cy="0"/>
          </a:xfrm>
          <a:prstGeom prst="line">
            <a:avLst/>
          </a:prstGeom>
          <a:noFill/>
          <a:ln w="9525">
            <a:solidFill>
              <a:srgbClr val="D7E9E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8640" y="3995928"/>
            <a:ext cx="384048" cy="384048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6" name="Image 4" descr="/home/claude/icons/clipboar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566" y="4045854"/>
            <a:ext cx="284196" cy="2841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15568" y="39502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an MCP — registry, naming, guidelines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0149840" y="3950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548640" y="4448556"/>
            <a:ext cx="10698480" cy="0"/>
          </a:xfrm>
          <a:prstGeom prst="line">
            <a:avLst/>
          </a:prstGeom>
          <a:noFill/>
          <a:ln w="9525">
            <a:solidFill>
              <a:srgbClr val="D7E9E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48640" y="4521708"/>
            <a:ext cx="384048" cy="384048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1" name="Image 5" descr="/home/claude/icons/lin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66" y="4571634"/>
            <a:ext cx="284196" cy="28419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15568" y="447598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security &amp; observability essentials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10149840" y="44759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548640" y="4974336"/>
            <a:ext cx="10698480" cy="0"/>
          </a:xfrm>
          <a:prstGeom prst="line">
            <a:avLst/>
          </a:prstGeom>
          <a:noFill/>
          <a:ln w="9525">
            <a:solidFill>
              <a:srgbClr val="D7E9E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48640" y="5047488"/>
            <a:ext cx="384048" cy="384048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6" name="Image 6" descr="/home/claude/icons/package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566" y="5097414"/>
            <a:ext cx="284196" cy="28419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115568" y="50017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— Python (FastMCP) vs Java (Spring AI)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10149840" y="5001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548640" y="5500116"/>
            <a:ext cx="10698480" cy="0"/>
          </a:xfrm>
          <a:prstGeom prst="line">
            <a:avLst/>
          </a:prstGeom>
          <a:noFill/>
          <a:ln w="9525">
            <a:solidFill>
              <a:srgbClr val="D7E9E1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48640" y="5573268"/>
            <a:ext cx="384048" cy="384048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41" name="Image 7" descr="/home/claude/icons/target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566" y="5623194"/>
            <a:ext cx="284196" cy="28419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115568" y="552754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build &amp; register your own MCP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10149840" y="55275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4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64240" cy="5943600"/>
          </a:xfrm>
          <a:prstGeom prst="roundRect">
            <a:avLst>
              <a:gd name="adj" fmla="val 2154"/>
            </a:avLst>
          </a:prstGeom>
          <a:solidFill>
            <a:srgbClr val="E8F5EF"/>
          </a:solidFill>
          <a:ln w="19050">
            <a:solidFill>
              <a:srgbClr val="D98E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7315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731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Opinion Spectrum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737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or disagree? Move to a side of the room — or just call it out. No wrong answers, only opinions.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304288"/>
            <a:ext cx="365760" cy="36576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8" name="Image 0" descr="/home/claude/icons/thumbsu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2351837"/>
            <a:ext cx="270662" cy="27066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28600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bottleneck for AI agent adoption in enterprises today is the difficulty of accessing real-time data.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14400" y="2962656"/>
            <a:ext cx="365760" cy="36576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1" name="Image 1" descr="/home/claude/icons/thumbsdow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9" y="3010205"/>
            <a:ext cx="270662" cy="2706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94436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protocol like MCP is preferable to creating custom API integrations for every new tool.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914400" y="3621024"/>
            <a:ext cx="365760" cy="36576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4" name="Image 2" descr="/home/claude/icons/thumbsu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3668573"/>
            <a:ext cx="270662" cy="27066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602736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acts like a universal adapter (similar to USB-C), letting different AI applications connect easily to data sources and tools.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914400" y="4279392"/>
            <a:ext cx="365760" cy="36576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7" name="Image 3" descr="/home/claude/icons/thumbsdow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4326941"/>
            <a:ext cx="270662" cy="2706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426110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technology will emerge and replace MCP in the agentic world.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914400" y="4937760"/>
            <a:ext cx="365760" cy="36576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0" name="Image 4" descr="/home/claude/icons/thumbsu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4985309"/>
            <a:ext cx="270662" cy="27066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919472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future, knowing how to build MCP servers will be as fundamental a skill for a developer as knowing how to build a REST API.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barchar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scale of 1 to 10, how would you rate your knowledge of MCP?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"Never heard of MCP."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214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= "Know the theory but have never built one."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414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= "Built multiple MCPs and mentor others."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260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926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2369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236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5478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325880" y="3547872"/>
            <a:ext cx="1254760" cy="256032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672080" y="35478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8587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325880" y="3858768"/>
            <a:ext cx="695960" cy="256032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113280" y="3858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169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325880" y="4169664"/>
            <a:ext cx="5166360" cy="256032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83680" y="4169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480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325880" y="4480560"/>
            <a:ext cx="2931160" cy="256032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348480" y="4480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7914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325880" y="4791456"/>
            <a:ext cx="695960" cy="256032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113280" y="47914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1023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8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325880" y="5102352"/>
            <a:ext cx="1254760" cy="256032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2672080" y="51023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4132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9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554480" y="54132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7241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10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554480" y="57241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806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5.40</a:t>
            </a:r>
            <a:endParaRPr lang="en-US" sz="28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263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average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223760" y="2926080"/>
            <a:ext cx="4389120" cy="3200400"/>
          </a:xfrm>
          <a:prstGeom prst="roundRect">
            <a:avLst>
              <a:gd name="adj" fmla="val 2857"/>
            </a:avLst>
          </a:prstGeom>
          <a:solidFill>
            <a:srgbClr val="F3FAF7"/>
          </a:solidFill>
          <a:ln w="12700">
            <a:solidFill>
              <a:srgbClr val="D7E9E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0664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Who’s in the room — roles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7452360" y="3429000"/>
            <a:ext cx="1448972" cy="616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8974484" y="3429000"/>
            <a:ext cx="2053883" cy="492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7452360" y="4137244"/>
            <a:ext cx="1463040" cy="47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Developer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8988552" y="4137244"/>
            <a:ext cx="1195754" cy="45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 Manager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0257458" y="4137244"/>
            <a:ext cx="1111348" cy="45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Catalyst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7452360" y="4700016"/>
            <a:ext cx="134346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8868977" y="4700016"/>
            <a:ext cx="689317" cy="45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9631446" y="4700016"/>
            <a:ext cx="142083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7452360" y="5242006"/>
            <a:ext cx="12660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/ AI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8791604" y="5242006"/>
            <a:ext cx="72448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9589242" y="5242006"/>
            <a:ext cx="8792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223760" y="6199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(illustrative sample — today’s live poll will differ)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Model Context Protocol (MCP)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box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3517392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3118104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at the heart of your application — GPT, Claude, Qwen or whatever.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4032504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reasoning engine but limited by what it was trained on and how much context it can hold.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17392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13504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22064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6656" y="3118104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information your model needs to do its job — documents, search results, user preferences, recent history.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486656" y="4251960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extends the model’s capabilities beyond its training set.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95488" y="1783080"/>
            <a:ext cx="3517392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186928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95488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60080" y="3118104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way of communicating between components.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260080" y="4032504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common language that lets your model interact with tools and data sources in a predictable way.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4672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protocol that standardizes how AI applications interact with external systems such as tools, knowledge sources, and prompting templates — a unified interface between AI clients, LLMs and capability providers.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 — before and 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F3FAF7"/>
          </a:solidFill>
          <a:ln w="12700">
            <a:solidFill>
              <a:srgbClr val="D7E9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MCP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11780" y="2468880"/>
            <a:ext cx="548640" cy="54864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7" name="Image 0" descr="/home/claude/icons/cpu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3103" y="2540203"/>
            <a:ext cx="405994" cy="40599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0632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0100" y="47548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0100" y="4754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 flipH="1">
            <a:off x="1485900" y="3429000"/>
            <a:ext cx="1600200" cy="1325880"/>
          </a:xfrm>
          <a:prstGeom prst="line">
            <a:avLst/>
          </a:prstGeom>
          <a:noFill/>
          <a:ln w="15875">
            <a:solidFill>
              <a:srgbClr val="5B6B6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01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API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00300" y="47548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00300" y="4754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086100" y="3429000"/>
            <a:ext cx="0" cy="1325880"/>
          </a:xfrm>
          <a:prstGeom prst="line">
            <a:avLst/>
          </a:prstGeom>
          <a:noFill/>
          <a:ln w="15875">
            <a:solidFill>
              <a:srgbClr val="5B6B6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4003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API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00500" y="47548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00500" y="4754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086100" y="3429000"/>
            <a:ext cx="1600200" cy="1325880"/>
          </a:xfrm>
          <a:prstGeom prst="line">
            <a:avLst/>
          </a:prstGeom>
          <a:noFill/>
          <a:ln w="15875">
            <a:solidFill>
              <a:srgbClr val="5B6B6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005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API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80760" y="182880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E8F5EF"/>
          </a:solidFill>
          <a:ln w="19050">
            <a:solidFill>
              <a:srgbClr val="0091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80760" y="20116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MCP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343900" y="2468880"/>
            <a:ext cx="548640" cy="54864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4" name="Image 1" descr="/home/claude/icons/cpu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223" y="2540203"/>
            <a:ext cx="405994" cy="40599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080760" y="30632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618220" y="3429000"/>
            <a:ext cx="0" cy="411480"/>
          </a:xfrm>
          <a:prstGeom prst="line">
            <a:avLst/>
          </a:prstGeom>
          <a:noFill/>
          <a:ln w="25400">
            <a:solidFill>
              <a:srgbClr val="00915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79526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API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115300" y="384048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0091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115300" y="3840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332220" y="47548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332220" y="4754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7018020" y="4297680"/>
            <a:ext cx="0" cy="457200"/>
          </a:xfrm>
          <a:prstGeom prst="line">
            <a:avLst/>
          </a:prstGeom>
          <a:noFill/>
          <a:ln w="15875">
            <a:solidFill>
              <a:srgbClr val="00915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932420" y="47548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932420" y="4754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8618220" y="4297680"/>
            <a:ext cx="0" cy="457200"/>
          </a:xfrm>
          <a:prstGeom prst="line">
            <a:avLst/>
          </a:prstGeom>
          <a:noFill/>
          <a:ln w="15875">
            <a:solidFill>
              <a:srgbClr val="00915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532620" y="47548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532620" y="4754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10218420" y="4297680"/>
            <a:ext cx="0" cy="457200"/>
          </a:xfrm>
          <a:prstGeom prst="line">
            <a:avLst/>
          </a:prstGeom>
          <a:noFill/>
          <a:ln w="15875">
            <a:solidFill>
              <a:srgbClr val="00915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tools, one integration point — the model talks to MCP once; MCP talks to every tool.</a:t>
            </a:r>
            <a:endParaRPr lang="en-US" sz="1350" dirty="0"/>
          </a:p>
        </p:txBody>
      </p:sp>
      <p:sp>
        <p:nvSpPr>
          <p:cNvPr id="40" name="Text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 — client-server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uses a client-server architecture built on JSON-RPC 2.0. A single host application (Claude Desktop, Claude Code, Cursor, RooCode etc.) creates multiple isolated MCP client sessions, each maintaining a stateful JSON-RPC channel with its own MCP server.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64240" cy="41148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834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834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86868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319272"/>
            <a:ext cx="1828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Host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319272"/>
            <a:ext cx="4389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providing LLM integration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319272"/>
            <a:ext cx="4297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Desktop, Claude Code, Cursor, Cline, RooCode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0"/>
          </a:xfrm>
          <a:prstGeom prst="line">
            <a:avLst/>
          </a:prstGeom>
          <a:noFill/>
          <a:ln w="9525">
            <a:solidFill>
              <a:srgbClr val="D7E9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187952"/>
            <a:ext cx="1828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187952"/>
            <a:ext cx="4389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created by the host, managing 1:1 sessions with servers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187952"/>
            <a:ext cx="4297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process (not exposed to users)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9525">
            <a:solidFill>
              <a:srgbClr val="D7E9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983480"/>
            <a:ext cx="11064240" cy="86868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056632"/>
            <a:ext cx="1828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5056632"/>
            <a:ext cx="4389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providing external context and capabilities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5056632"/>
            <a:ext cx="4297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GitLab, Confluence, Jira, PostgreSQL MCP servers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852160"/>
            <a:ext cx="11064240" cy="0"/>
          </a:xfrm>
          <a:prstGeom prst="line">
            <a:avLst/>
          </a:prstGeom>
          <a:noFill/>
          <a:ln w="9525">
            <a:solidFill>
              <a:srgbClr val="D7E9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1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00915A"/>
          </a:solidFill>
          <a:ln/>
        </p:spPr>
      </p:sp>
      <p:pic>
        <p:nvPicPr>
          <p:cNvPr id="4" name="Image 0" descr="/home/claude/icons/cod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12064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FORMAT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2.0, in practice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 "Give me the information for JIRA Ticket n°30043"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5029200" cy="3840480"/>
          </a:xfrm>
          <a:prstGeom prst="roundRect">
            <a:avLst>
              <a:gd name="adj" fmla="val 1905"/>
            </a:avLst>
          </a:prstGeom>
          <a:solidFill>
            <a:srgbClr val="123528"/>
          </a:solidFill>
          <a:ln w="12700">
            <a:solidFill>
              <a:srgbClr val="1E4B3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14884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"jsonrpc": "2.0",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"method": "tools/call",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"params": 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"get_jira_issue",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"arguments": { "issue_id": "30043" }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2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62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MCP Server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148840"/>
            <a:ext cx="5029200" cy="3840480"/>
          </a:xfrm>
          <a:prstGeom prst="roundRect">
            <a:avLst>
              <a:gd name="adj" fmla="val 1905"/>
            </a:avLst>
          </a:prstGeom>
          <a:solidFill>
            <a:srgbClr val="123528"/>
          </a:solidFill>
          <a:ln w="12700">
            <a:solidFill>
              <a:srgbClr val="1E4B3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214884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"jsonrpc": "2.0",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"result": 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[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"text",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"Issue JIRA-30043: [Bug]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500 Error on Login Page.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Status: In Progress."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2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E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6062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from MCP Server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20240" y="1737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0091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2024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1737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0091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2304288"/>
            <a:ext cx="6309360" cy="292608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26080" y="230428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 phase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3017520"/>
            <a:ext cx="6309360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9128455" y="2958084"/>
            <a:ext cx="118872" cy="118872"/>
          </a:xfrm>
          <a:prstGeom prst="triangle">
            <a:avLst/>
          </a:prstGeom>
          <a:solidFill>
            <a:srgbClr val="0091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26080" y="27249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(protocol version, client info, capabilities)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0" y="3520440"/>
            <a:ext cx="6309360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6200000">
            <a:off x="2914193" y="3461004"/>
            <a:ext cx="118872" cy="118872"/>
          </a:xfrm>
          <a:prstGeom prst="triangle">
            <a:avLst/>
          </a:prstGeom>
          <a:solidFill>
            <a:srgbClr val="0091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26080" y="32278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result (server info, capabilities)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0" y="4023360"/>
            <a:ext cx="6309360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9128455" y="3963924"/>
            <a:ext cx="118872" cy="118872"/>
          </a:xfrm>
          <a:prstGeom prst="triangle">
            <a:avLst/>
          </a:prstGeom>
          <a:solidFill>
            <a:srgbClr val="0091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926080" y="3730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Notifications/initialized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26080" y="4233672"/>
            <a:ext cx="6309360" cy="292608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26080" y="423367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phase — Discovery (tools/list, resources/list, prompts/list) → Execution (tools/call, resources/read, prompts/get)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26080" y="4745736"/>
            <a:ext cx="6309360" cy="292608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26080" y="474573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26080" y="5458968"/>
            <a:ext cx="6309360" cy="0"/>
          </a:xfrm>
          <a:prstGeom prst="line">
            <a:avLst/>
          </a:prstGeom>
          <a:noFill/>
          <a:ln w="19050">
            <a:solidFill>
              <a:srgbClr val="0091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9128455" y="5399532"/>
            <a:ext cx="118872" cy="118872"/>
          </a:xfrm>
          <a:prstGeom prst="triangle">
            <a:avLst/>
          </a:prstGeom>
          <a:solidFill>
            <a:srgbClr val="00915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926080" y="51663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26080" y="5669280"/>
            <a:ext cx="6309360" cy="292608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926080" y="56692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closed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26080" y="2121408"/>
            <a:ext cx="0" cy="3840480"/>
          </a:xfrm>
          <a:prstGeom prst="line">
            <a:avLst/>
          </a:prstGeom>
          <a:noFill/>
          <a:ln w="19050">
            <a:solidFill>
              <a:srgbClr val="D7E9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5440" y="2121408"/>
            <a:ext cx="0" cy="3840480"/>
          </a:xfrm>
          <a:prstGeom prst="line">
            <a:avLst/>
          </a:prstGeom>
          <a:noFill/>
          <a:ln w="19050">
            <a:solidFill>
              <a:srgbClr val="D7E9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usage lifecycle — tools in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6916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091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057400"/>
            <a:ext cx="0" cy="2057400"/>
          </a:xfrm>
          <a:prstGeom prst="line">
            <a:avLst/>
          </a:prstGeom>
          <a:noFill/>
          <a:ln w="15875">
            <a:solidFill>
              <a:srgbClr val="D7E9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6916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091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0604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057400"/>
            <a:ext cx="0" cy="2057400"/>
          </a:xfrm>
          <a:prstGeom prst="line">
            <a:avLst/>
          </a:prstGeom>
          <a:noFill/>
          <a:ln w="15875">
            <a:solidFill>
              <a:srgbClr val="D7E9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16916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091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500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057400"/>
            <a:ext cx="0" cy="2057400"/>
          </a:xfrm>
          <a:prstGeom prst="line">
            <a:avLst/>
          </a:prstGeom>
          <a:noFill/>
          <a:ln w="15875">
            <a:solidFill>
              <a:srgbClr val="D7E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89720" y="16916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091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97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875520" y="2057400"/>
            <a:ext cx="0" cy="2057400"/>
          </a:xfrm>
          <a:prstGeom prst="line">
            <a:avLst/>
          </a:prstGeom>
          <a:noFill/>
          <a:ln w="15875">
            <a:solidFill>
              <a:srgbClr val="D7E9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2331720"/>
            <a:ext cx="2194560" cy="0"/>
          </a:xfrm>
          <a:prstGeom prst="line">
            <a:avLst/>
          </a:prstGeom>
          <a:noFill/>
          <a:ln w="19050">
            <a:solidFill>
              <a:srgbClr val="0069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184855" y="2272284"/>
            <a:ext cx="118872" cy="118872"/>
          </a:xfrm>
          <a:prstGeom prst="triangle">
            <a:avLst/>
          </a:prstGeom>
          <a:solidFill>
            <a:srgbClr val="0069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2075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743200"/>
            <a:ext cx="3108960" cy="0"/>
          </a:xfrm>
          <a:prstGeom prst="line">
            <a:avLst/>
          </a:prstGeom>
          <a:noFill/>
          <a:ln w="19050">
            <a:solidFill>
              <a:srgbClr val="0069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6293815" y="2683764"/>
            <a:ext cx="118872" cy="118872"/>
          </a:xfrm>
          <a:prstGeom prst="triangle">
            <a:avLst/>
          </a:prstGeom>
          <a:solidFill>
            <a:srgbClr val="0069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91840" y="24871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query: get list of tools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108960"/>
            <a:ext cx="3108960" cy="0"/>
          </a:xfrm>
          <a:prstGeom prst="line">
            <a:avLst/>
          </a:prstGeom>
          <a:noFill/>
          <a:ln w="19050">
            <a:solidFill>
              <a:srgbClr val="0069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6200000">
            <a:off x="3279953" y="3049524"/>
            <a:ext cx="118872" cy="118872"/>
          </a:xfrm>
          <a:prstGeom prst="triangle">
            <a:avLst/>
          </a:prstGeom>
          <a:solidFill>
            <a:srgbClr val="0069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91840" y="2852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tools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566160"/>
            <a:ext cx="6583680" cy="0"/>
          </a:xfrm>
          <a:prstGeom prst="line">
            <a:avLst/>
          </a:prstGeom>
          <a:noFill/>
          <a:ln w="19050">
            <a:solidFill>
              <a:srgbClr val="0069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9768535" y="3506724"/>
            <a:ext cx="118872" cy="118872"/>
          </a:xfrm>
          <a:prstGeom prst="triangle">
            <a:avLst/>
          </a:prstGeom>
          <a:solidFill>
            <a:srgbClr val="0069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91840" y="331012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MCP tools + user query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8F5EF"/>
          </a:solidFill>
          <a:ln/>
          <a:effectLst>
            <a:outerShdw sx="100000" sy="100000" kx="0" ky="0" algn="bl" rotWithShape="0" blurRad="76200" dist="25400" dir="5400000">
              <a:srgbClr val="1F2A2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4937760"/>
            <a:ext cx="502920" cy="50292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0" name="Image 0" descr="/home/claude/icons/za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5003140"/>
            <a:ext cx="372161" cy="372161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417320" y="480060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new session, the agent loads MCP tools into its context. Unlike a human handyman who knows their tools by heart, a large tool list can consume over 20% of the context window before the agent even starts working — keep tool counts per server lean (rule of thumb: under 60).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gri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04104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(not implementations)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540410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95808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the capability does in domain language.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87248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stable, contract-based boundaries.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4786884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leaking internal implementation (API contracts, internal IDs, workflow steps).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08776" y="1783080"/>
            <a:ext cx="5404104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0216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capability (one explicit intent)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08776" y="2258568"/>
            <a:ext cx="540410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73368" y="3415284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single-purpose capabilities with clear impacts and limits (smaller blast radius, easier authorization).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373368" y="454914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"god capabilities" that do many things (hard to govern, test and evolve).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exposed by MCP servers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2286000" cy="1347216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10512"/>
            <a:ext cx="2103120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0" y="1810512"/>
            <a:ext cx="8686800" cy="1347216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54680" y="1874520"/>
            <a:ext cx="8229600" cy="123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actions — e.g. create a ticket, query an API, trigger a workflow.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04032"/>
            <a:ext cx="2286000" cy="1347216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304032"/>
            <a:ext cx="2103120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26080" y="3304032"/>
            <a:ext cx="8686800" cy="1347216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54680" y="3368040"/>
            <a:ext cx="8229600" cy="123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contextual data or knowledge — e.g. documentation, database records.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797552"/>
            <a:ext cx="2286000" cy="13472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797552"/>
            <a:ext cx="2103120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26080" y="4797552"/>
            <a:ext cx="8686800" cy="1347216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154680" y="4861560"/>
            <a:ext cx="8229600" cy="123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LLM prompt templates.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too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04104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55117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Intent: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performs one bounded action with a predictable outcome.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465576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are contracts: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 inputs/outputs + standard error structure.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4599432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consistency: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and conditions, same result (idempotent where possible).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08776" y="1783080"/>
            <a:ext cx="5404104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0216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08776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73368" y="2770632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 single, self-contained action — no tool-to-tool calls or MCP server chaining.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373368" y="3904488"/>
            <a:ext cx="5074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Add, Get.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373368" y="459943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send_email(), fetch_sales_data(), create_meeting().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4672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decide, tools execute — tools should be bounded, observable, and policy-compliant (timeouts, limits, audit).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databa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04104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311810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Context-first: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expose contextual data that supports agent reasoning.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4032504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payloads with clear schemas and stable identifiers/URIs (e.g. users://{user_id}/profile).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08776" y="1783080"/>
            <a:ext cx="5404104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0216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8776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3368" y="266090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design: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never trigger actions or side effects.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373368" y="357530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ownership: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domain-scoped by default.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373368" y="4489704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 access: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pagination/filtering, size limits and cache. Examples: policy documents, file contents.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4672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provide the "knowing", tools provide the "doing".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prompts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messag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04104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3008376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Guidance, not logic: prompts shape model behaviour. Decisions and execution stay in agents/tools.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4142232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+ governed: prompts are shared assets with ownership, review, and change logs.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08776" y="1783080"/>
            <a:ext cx="5404104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0216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8776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3368" y="277063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and scoped: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has one purpose (domain/task/style).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373368" y="368503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default: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or sensitive data embedded.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373368" y="459943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versioned: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evaluate, version and roll back fast if needed.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4672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governed production assets and must follow the same SDLC, security review and audit controls as code.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 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compas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3517392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551176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needs to take action or the task requires real-time data.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465576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an email? Tool. Fetching live weather? Tool. Writing to a database? Tool.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4599432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there’s a side effect (something changes in the world), it’s a Tool.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2064" y="1783080"/>
            <a:ext cx="3517392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13504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22064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6656" y="2551176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needs context or background information to answer accurately.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486656" y="3465576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policy documents? Resource. Product catalog? Resource. Historical sales data? Resource.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486656" y="4599432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it’s read-only information that grounds the AI’s response, it’s a Resource.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095488" y="1783080"/>
            <a:ext cx="3517392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186928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95488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60080" y="2441448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consistent AI behavior across sessions.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260080" y="3355848"/>
            <a:ext cx="31882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write in our brand voice." "Always review code for these five specific issues." "Always summarize in exactly 5 bullets."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260080" y="4709160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you’re establishing a pattern you’ll repeat many times, make it a Prompt.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04672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needs to ask for it by argument, it’s a tool. If the user (via the client UI) wants to attach it to context, it’s a resource.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DESIGN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right capability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targ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20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3FAF7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920240"/>
            <a:ext cx="54864" cy="96012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9202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the current price of Widget-X and, if it’s below $120, place an order for 12 units for my account #4567</a:t>
            </a:r>
            <a:endParaRPr lang="en-US" sz="1550" dirty="0"/>
          </a:p>
        </p:txBody>
      </p:sp>
      <p:pic>
        <p:nvPicPr>
          <p:cNvPr id="9" name="Image 1" descr="/home/claude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8152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657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3FAF7"/>
          </a:solidFill>
          <a:ln/>
        </p:spPr>
      </p:sp>
      <p:sp>
        <p:nvSpPr>
          <p:cNvPr id="12" name="Shape 8"/>
          <p:cNvSpPr/>
          <p:nvPr/>
        </p:nvSpPr>
        <p:spPr>
          <a:xfrm>
            <a:off x="548640" y="3657600"/>
            <a:ext cx="54864" cy="96012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2960" y="36576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files were changed in merge-request !42 of GitLab project my-group/my-project?</a:t>
            </a:r>
            <a:endParaRPr lang="en-US" sz="1550" dirty="0"/>
          </a:p>
        </p:txBody>
      </p:sp>
      <p:pic>
        <p:nvPicPr>
          <p:cNvPr id="14" name="Image 2" descr="/home/claude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81888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584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would make either of these a Resource or Prompt instead, if you changed one word?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11064240" cy="5486400"/>
          </a:xfrm>
          <a:prstGeom prst="roundRect">
            <a:avLst>
              <a:gd name="adj" fmla="val 2333"/>
            </a:avLst>
          </a:prstGeom>
          <a:solidFill>
            <a:srgbClr val="E8F5EF"/>
          </a:solidFill>
          <a:ln w="19050">
            <a:solidFill>
              <a:srgbClr val="D98E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10515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051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78440" y="96012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8E04"/>
            </a:solidFill>
            <a:prstDash val="solid"/>
          </a:ln>
        </p:spPr>
      </p:sp>
      <p:pic>
        <p:nvPicPr>
          <p:cNvPr id="6" name="Image 0" descr="/home/claude/icons/coffe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9608" y="11612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69164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stretch — two minutes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60120" y="2697480"/>
            <a:ext cx="10241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9E1"/>
            </a:solidFill>
            <a:prstDash val="solid"/>
          </a:ln>
          <a:effectLst>
            <a:outerShdw sx="100000" sy="100000" kx="0" ky="0" algn="bl" rotWithShape="0" blurRad="76200" dist="25400" dir="5400000">
              <a:srgbClr val="1F2A28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234440" y="26974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i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capability — Tool, Resource, or Prompt — does your team most often get wrong today?”</a:t>
            </a:r>
            <a:endParaRPr lang="en-US" sz="2000" dirty="0"/>
          </a:p>
        </p:txBody>
      </p:sp>
      <p:pic>
        <p:nvPicPr>
          <p:cNvPr id="10" name="Image 1" descr="/home/claude/icons/coff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4416552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Stretch, top up the coffee, then a few quick answers before we go platform-side.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framework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compas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2601468" cy="6858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1792" y="1837944"/>
            <a:ext cx="2455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User Journey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203704"/>
            <a:ext cx="2455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communicating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2601468" cy="2880360"/>
          </a:xfrm>
          <a:prstGeom prst="rect">
            <a:avLst/>
          </a:prstGeom>
          <a:solidFill>
            <a:srgbClr val="F3FAF7"/>
          </a:solidFill>
          <a:ln w="12700">
            <a:solidFill>
              <a:srgbClr val="D7E9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3287268"/>
            <a:ext cx="23820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to create, update, and expose MCPs — to be defined.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945636"/>
            <a:ext cx="23820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governance — to be defined.</a:t>
            </a:r>
            <a:endParaRPr lang="en-US" sz="1100" dirty="0"/>
          </a:p>
        </p:txBody>
      </p:sp>
      <p:pic>
        <p:nvPicPr>
          <p:cNvPr id="12" name="Image 1" descr="/home/claude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396" y="381762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69564" y="1783080"/>
            <a:ext cx="2601468" cy="6858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442716" y="1837944"/>
            <a:ext cx="2455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Template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42716" y="2203704"/>
            <a:ext cx="2455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69564" y="2468880"/>
            <a:ext cx="2601468" cy="2880360"/>
          </a:xfrm>
          <a:prstGeom prst="rect">
            <a:avLst/>
          </a:prstGeom>
          <a:solidFill>
            <a:srgbClr val="F3FAF7"/>
          </a:solidFill>
          <a:ln w="12700">
            <a:solidFill>
              <a:srgbClr val="D7E9E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479292" y="3104388"/>
            <a:ext cx="23820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project for Python inc. SG&amp;A requirements.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479292" y="3762756"/>
            <a:ext cx="23820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extension to other languages + authentication + MCP Registry self-declaration mechanisms.</a:t>
            </a:r>
            <a:endParaRPr lang="en-US" sz="1100" dirty="0"/>
          </a:p>
        </p:txBody>
      </p:sp>
      <p:pic>
        <p:nvPicPr>
          <p:cNvPr id="19" name="Image 2" descr="/home/claude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817620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190488" y="1783080"/>
            <a:ext cx="2601468" cy="6858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263640" y="1837944"/>
            <a:ext cx="2455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203704"/>
            <a:ext cx="2455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190488" y="2468880"/>
            <a:ext cx="2601468" cy="2880360"/>
          </a:xfrm>
          <a:prstGeom prst="rect">
            <a:avLst/>
          </a:prstGeom>
          <a:solidFill>
            <a:srgbClr val="F3FAF7"/>
          </a:solidFill>
          <a:ln w="12700">
            <a:solidFill>
              <a:srgbClr val="D7E9E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300216" y="2852928"/>
            <a:ext cx="23820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 — in production.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300216" y="3328416"/>
            <a:ext cx="238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documentation/how-to, and put all existing MCPs in the registry.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90488" y="4526280"/>
            <a:ext cx="2601468" cy="777240"/>
          </a:xfrm>
          <a:prstGeom prst="rect">
            <a:avLst/>
          </a:prstGeom>
          <a:solidFill>
            <a:srgbClr val="FBE9E7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281928" y="4544568"/>
            <a:ext cx="24185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avoid "rogue MCPs" developed without being registered.</a:t>
            </a:r>
            <a:endParaRPr lang="en-US" sz="1000" dirty="0"/>
          </a:p>
        </p:txBody>
      </p:sp>
      <p:pic>
        <p:nvPicPr>
          <p:cNvPr id="28" name="Image 3" descr="/home/claude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244" y="3817620"/>
            <a:ext cx="182880" cy="1828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011412" y="1783080"/>
            <a:ext cx="2601468" cy="6858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9084564" y="1837944"/>
            <a:ext cx="2455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9084564" y="2203704"/>
            <a:ext cx="2455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011412" y="2468880"/>
            <a:ext cx="2601468" cy="2880360"/>
          </a:xfrm>
          <a:prstGeom prst="rect">
            <a:avLst/>
          </a:prstGeom>
          <a:solidFill>
            <a:srgbClr val="F3FAF7"/>
          </a:solidFill>
          <a:ln w="12700">
            <a:solidFill>
              <a:srgbClr val="D7E9E1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121140" y="2578608"/>
            <a:ext cx="23820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gap: no means to identify users connecting to an MCP server (tokens can be shared).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9121140" y="3602736"/>
            <a:ext cx="23820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authenticate users on MCP servers through end-to-end JWT token auth, similar to ordinary APIs.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011412" y="4526280"/>
            <a:ext cx="2601468" cy="777240"/>
          </a:xfrm>
          <a:prstGeom prst="rect">
            <a:avLst/>
          </a:prstGeom>
          <a:solidFill>
            <a:srgbClr val="FBE9E7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9102852" y="4544568"/>
            <a:ext cx="24185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workload management / throttling mechanisms to be defined.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guidelines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091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173736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091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08960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237744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0091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0896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Registry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091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091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34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091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23774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091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33832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091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7492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(APIGEE)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33832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091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+ Tools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92640" y="33832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0091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9264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2148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MCP server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114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JWT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703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H="1">
            <a:off x="2286000" y="1965960"/>
            <a:ext cx="822960" cy="640080"/>
          </a:xfrm>
          <a:prstGeom prst="line">
            <a:avLst/>
          </a:prstGeom>
          <a:noFill/>
          <a:ln w="13970">
            <a:solidFill>
              <a:srgbClr val="5B6B6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2606040"/>
            <a:ext cx="822960" cy="0"/>
          </a:xfrm>
          <a:prstGeom prst="line">
            <a:avLst/>
          </a:prstGeom>
          <a:noFill/>
          <a:ln w="13970">
            <a:solidFill>
              <a:srgbClr val="5B6B6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834640"/>
            <a:ext cx="0" cy="548640"/>
          </a:xfrm>
          <a:prstGeom prst="line">
            <a:avLst/>
          </a:prstGeom>
          <a:noFill/>
          <a:ln w="13970">
            <a:solidFill>
              <a:srgbClr val="5B6B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3726180"/>
            <a:ext cx="594360" cy="0"/>
          </a:xfrm>
          <a:prstGeom prst="line">
            <a:avLst/>
          </a:prstGeom>
          <a:noFill/>
          <a:ln w="13970">
            <a:solidFill>
              <a:srgbClr val="5B6B6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0" y="3726180"/>
            <a:ext cx="548640" cy="0"/>
          </a:xfrm>
          <a:prstGeom prst="line">
            <a:avLst/>
          </a:prstGeom>
          <a:noFill/>
          <a:ln w="13970">
            <a:solidFill>
              <a:srgbClr val="5B6B6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2286000" y="3726180"/>
            <a:ext cx="2788920" cy="342900"/>
          </a:xfrm>
          <a:prstGeom prst="line">
            <a:avLst/>
          </a:prstGeom>
          <a:noFill/>
          <a:ln w="13970">
            <a:solidFill>
              <a:srgbClr val="5B6B6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29992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JWT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1663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8F5EF"/>
          </a:solidFill>
          <a:ln/>
          <a:effectLst>
            <a:outerShdw sx="100000" sy="100000" kx="0" ky="0" algn="bl" rotWithShape="0" blurRad="76200" dist="25400" dir="5400000">
              <a:srgbClr val="1F2A28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7724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&amp; MCP controls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5778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Server is registered with its tools in the API Registry (as an MCP), and supports standard OAuth authorization via APIGEE: (1) the MCP server verifies agent entitlements, (2) provides the list of tools the agent is entitled to (least privilege), (3) tools are wrapped with guardrail + entitlement validation hooks, (4) upon validation, the process is triggered using on-behalf-of JWT tokens.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guidelines — service boundaries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serv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3517392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3517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3067812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MCP Server is the service provider for exactly one application domain.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982212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atomic tools/resources for a single application domain.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4896612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do not call other MCP Servers.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2064" y="1783080"/>
            <a:ext cx="3517392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13504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&amp; Boundaries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22064" y="2258568"/>
            <a:ext cx="3517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6656" y="2958084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clients interact only via MCP server tools or resources.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486656" y="3872484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should be stateless with respect to agent or user conversation context.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486656" y="5006340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workflows and memory belong in the agent or orchestrator layer.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095488" y="1783080"/>
            <a:ext cx="3517392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186928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Isolation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95488" y="2258568"/>
            <a:ext cx="3517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60080" y="3415284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MCP Server must have a single owning team responsible for implementation, security, operations, and support.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260080" y="4549140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are discoverable only via the MCP Registry.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 of MCP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5720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(Streamable HTTP)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074920" cy="352044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774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shared, reusable capabilities across multiple agents. Centralized governance of tools, resources, prompts, and contracts.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4709160" cy="1463040"/>
          </a:xfrm>
          <a:prstGeom prst="roundRect">
            <a:avLst>
              <a:gd name="adj" fmla="val 3750"/>
            </a:avLst>
          </a:prstGeom>
          <a:ln w="12700">
            <a:solidFill>
              <a:srgbClr val="5B6B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1605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6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31720" y="32918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69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33172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94760" y="45262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0091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94760" y="4526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MCP Server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57400" y="3520440"/>
            <a:ext cx="274320" cy="0"/>
          </a:xfrm>
          <a:prstGeom prst="line">
            <a:avLst/>
          </a:prstGeom>
          <a:noFill/>
          <a:ln w="15875">
            <a:solidFill>
              <a:srgbClr val="5B6B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2224735" y="3461004"/>
            <a:ext cx="118872" cy="118872"/>
          </a:xfrm>
          <a:prstGeom prst="triangle">
            <a:avLst/>
          </a:prstGeom>
          <a:solidFill>
            <a:srgbClr val="5B6B67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3520440"/>
            <a:ext cx="274320" cy="1280160"/>
          </a:xfrm>
          <a:prstGeom prst="line">
            <a:avLst/>
          </a:prstGeom>
          <a:noFill/>
          <a:ln w="15875">
            <a:solidFill>
              <a:srgbClr val="5B6B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074315">
            <a:off x="3725361" y="4694671"/>
            <a:ext cx="118872" cy="118872"/>
          </a:xfrm>
          <a:prstGeom prst="triangle">
            <a:avLst/>
          </a:prstGeom>
          <a:solidFill>
            <a:srgbClr val="5B6B67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9320" y="1783080"/>
            <a:ext cx="5074920" cy="457200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89320" y="17830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(Stdio)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989320" y="2240280"/>
            <a:ext cx="5074920" cy="352044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23774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Preferable for development, prototyping and testing. Limit to local-only available capabilities (e.g. filesystem access). Scenarios requiring extremely low latency.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114800"/>
            <a:ext cx="4709160" cy="1463040"/>
          </a:xfrm>
          <a:prstGeom prst="roundRect">
            <a:avLst>
              <a:gd name="adj" fmla="val 3750"/>
            </a:avLst>
          </a:prstGeom>
          <a:ln w="12700">
            <a:solidFill>
              <a:srgbClr val="5B6B6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41605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45262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069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4526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0" y="45262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8BAE1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0" y="4526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MCP Server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4754880"/>
            <a:ext cx="274320" cy="0"/>
          </a:xfrm>
          <a:prstGeom prst="line">
            <a:avLst/>
          </a:prstGeom>
          <a:noFill/>
          <a:ln w="15875">
            <a:solidFill>
              <a:srgbClr val="5B6B6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7665415" y="4695444"/>
            <a:ext cx="118872" cy="118872"/>
          </a:xfrm>
          <a:prstGeom prst="triangle">
            <a:avLst/>
          </a:prstGeom>
          <a:solidFill>
            <a:srgbClr val="5B6B6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98080" y="43434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870448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8F5E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587044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between local and remote is driven by reuse, governance, operational needs, and risk/security requirements.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ke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38404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281160" y="384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SPECIFIC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at minimum: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068373" cy="384048"/>
          </a:xfrm>
          <a:prstGeom prst="roundRect">
            <a:avLst>
              <a:gd name="adj" fmla="val 50000"/>
            </a:avLst>
          </a:prstGeom>
          <a:solidFill>
            <a:srgbClr val="E8F5E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828800"/>
            <a:ext cx="20683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 &amp; rotation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18181" y="1828800"/>
            <a:ext cx="2337206" cy="384048"/>
          </a:xfrm>
          <a:prstGeom prst="roundRect">
            <a:avLst>
              <a:gd name="adj" fmla="val 50000"/>
            </a:avLst>
          </a:prstGeom>
          <a:solidFill>
            <a:srgbClr val="E8F5E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18181" y="1828800"/>
            <a:ext cx="23372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per capability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356555" y="182880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8F5E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56555" y="18288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514600"/>
            <a:ext cx="11064240" cy="3246120"/>
          </a:xfrm>
          <a:prstGeom prst="roundRect">
            <a:avLst>
              <a:gd name="adj" fmla="val 3380"/>
            </a:avLst>
          </a:prstGeom>
          <a:solidFill>
            <a:srgbClr val="F3FAF7"/>
          </a:solidFill>
          <a:ln w="19050">
            <a:solidFill>
              <a:srgbClr val="00915A"/>
            </a:solidFill>
            <a:prstDash val="dash"/>
          </a:ln>
        </p:spPr>
      </p:sp>
      <p:pic>
        <p:nvPicPr>
          <p:cNvPr id="16" name="Image 1" descr="/home/claude/icons/box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3451860"/>
            <a:ext cx="585216" cy="58521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696712" y="3360420"/>
            <a:ext cx="768096" cy="768096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8" name="Image 2" descr="/home/claude/icons/box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354330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05840" y="41833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to be added by the organization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371600" y="457657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tokens are issued, scoped, refreshed, and revoked for MCP clients, gateways, and servers in our environment.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AN MCP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 — how to register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lin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F5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at (per environment):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6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 — registry.llm.staging.&lt;org&gt;/mcp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6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 — registry.llm.&lt;org&gt;/mcp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0" name="Image 1" descr="/home/claude/icons/userplu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280263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70432" y="27249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a new server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170432" y="30906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registry’s MCP Servers view, click the "+" to register a new server.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4" name="Image 2" descr="/home/claude/icons/filetex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80847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70432" y="37307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Fill in the registration details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170432" y="40965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required fields (see next slide) — type, title, name, tools, headers, and more.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8" name="Image 3" descr="/home/claude/icons/che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481431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70432" y="47365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Get approval from the platform team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170432" y="5102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MCP will be in "Draft" mode pending review. Contact the platform team if you need help with approval.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AN MCP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 — required information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38404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783080"/>
            <a:ext cx="132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097024" y="1783080"/>
            <a:ext cx="1789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33266" y="1783080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58962" y="1783080"/>
            <a:ext cx="30807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Notes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11064240" cy="77724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2185416"/>
            <a:ext cx="13289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Type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097024" y="2185416"/>
            <a:ext cx="178993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or streamable-http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033266" y="2185416"/>
            <a:ext cx="4279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communication protocol the server implements.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458962" y="2185416"/>
            <a:ext cx="3080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one of the two supported values.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11064240" cy="0"/>
          </a:xfrm>
          <a:prstGeom prst="line">
            <a:avLst/>
          </a:prstGeom>
          <a:noFill/>
          <a:ln w="6350">
            <a:solidFill>
              <a:srgbClr val="D7E9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962656"/>
            <a:ext cx="13289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097024" y="2962656"/>
            <a:ext cx="178993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string (50 chars)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033266" y="2962656"/>
            <a:ext cx="4279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label that appears in the drop-down/selector.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58962" y="2962656"/>
            <a:ext cx="3080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unique across all registered MCPs.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21608"/>
            <a:ext cx="11064240" cy="0"/>
          </a:xfrm>
          <a:prstGeom prst="line">
            <a:avLst/>
          </a:prstGeom>
          <a:noFill/>
          <a:ln w="6350">
            <a:solidFill>
              <a:srgbClr val="D7E9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21608"/>
            <a:ext cx="11064240" cy="77724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739896"/>
            <a:ext cx="13289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097024" y="3739896"/>
            <a:ext cx="178993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string (50 chars)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033266" y="3739896"/>
            <a:ext cx="4279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added to the MCP server’s tools; discoverable name by the LLM.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458962" y="3739896"/>
            <a:ext cx="3080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unique and not too complex.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498848"/>
            <a:ext cx="11064240" cy="0"/>
          </a:xfrm>
          <a:prstGeom prst="line">
            <a:avLst/>
          </a:prstGeom>
          <a:noFill/>
          <a:ln w="6350">
            <a:solidFill>
              <a:srgbClr val="D7E9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4517136"/>
            <a:ext cx="13289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097024" y="4517136"/>
            <a:ext cx="178993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string (150 chars)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033266" y="4517136"/>
            <a:ext cx="4279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summary that helps users understand the server’s purpose.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458962" y="4517136"/>
            <a:ext cx="3080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internal jargon.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276088"/>
            <a:ext cx="11064240" cy="0"/>
          </a:xfrm>
          <a:prstGeom prst="line">
            <a:avLst/>
          </a:prstGeom>
          <a:noFill/>
          <a:ln w="6350">
            <a:solidFill>
              <a:srgbClr val="D7E9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276088"/>
            <a:ext cx="11064240" cy="77724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1792" y="5294376"/>
            <a:ext cx="13289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URL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097024" y="5294376"/>
            <a:ext cx="178993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 data-URI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033266" y="5294376"/>
            <a:ext cx="4279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shown next to the name in the selector and detail card.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458962" y="5294376"/>
            <a:ext cx="3080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 reachable HTTPS URL or Base64 SVG data URI.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6053328"/>
            <a:ext cx="11064240" cy="0"/>
          </a:xfrm>
          <a:prstGeom prst="line">
            <a:avLst/>
          </a:prstGeom>
          <a:noFill/>
          <a:ln w="6350">
            <a:solidFill>
              <a:srgbClr val="D7E9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AN MCP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 — required information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38404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783080"/>
            <a:ext cx="132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097024" y="1783080"/>
            <a:ext cx="1789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33266" y="1783080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58962" y="1783080"/>
            <a:ext cx="30807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Notes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11064240" cy="77724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2185416"/>
            <a:ext cx="13289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097024" y="2185416"/>
            <a:ext cx="178993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tools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033266" y="2185416"/>
            <a:ext cx="4279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tools that the LLM can call for this MCP.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458962" y="2185416"/>
            <a:ext cx="3080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(only these allowed) or blacklist (all except these).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11064240" cy="0"/>
          </a:xfrm>
          <a:prstGeom prst="line">
            <a:avLst/>
          </a:prstGeom>
          <a:noFill/>
          <a:ln w="6350">
            <a:solidFill>
              <a:srgbClr val="D7E9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962656"/>
            <a:ext cx="13289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Headers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097024" y="2962656"/>
            <a:ext cx="178993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objects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033266" y="2962656"/>
            <a:ext cx="4279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HTTP headers the client must send (e.g. an auth token).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58962" y="2962656"/>
            <a:ext cx="3080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is_secret: true hides the value in the UI and stores it encrypted.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21608"/>
            <a:ext cx="11064240" cy="0"/>
          </a:xfrm>
          <a:prstGeom prst="line">
            <a:avLst/>
          </a:prstGeom>
          <a:noFill/>
          <a:ln w="6350">
            <a:solidFill>
              <a:srgbClr val="D7E9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21608"/>
            <a:ext cx="11064240" cy="77724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739896"/>
            <a:ext cx="13289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URL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097024" y="3739896"/>
            <a:ext cx="178993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033266" y="3739896"/>
            <a:ext cx="4279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use case entry in the internal inventory (governance).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458962" y="3739896"/>
            <a:ext cx="3080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validation.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498848"/>
            <a:ext cx="11064240" cy="0"/>
          </a:xfrm>
          <a:prstGeom prst="line">
            <a:avLst/>
          </a:prstGeom>
          <a:noFill/>
          <a:ln w="6350">
            <a:solidFill>
              <a:srgbClr val="D7E9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4517136"/>
            <a:ext cx="13289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email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097024" y="4517136"/>
            <a:ext cx="178993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033266" y="4517136"/>
            <a:ext cx="4279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answer any support queries.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458962" y="4517136"/>
            <a:ext cx="3080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276088"/>
            <a:ext cx="11064240" cy="0"/>
          </a:xfrm>
          <a:prstGeom prst="line">
            <a:avLst/>
          </a:prstGeom>
          <a:noFill/>
          <a:ln w="6350">
            <a:solidFill>
              <a:srgbClr val="D7E9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276088"/>
            <a:ext cx="11064240" cy="77724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1792" y="5294376"/>
            <a:ext cx="13289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URL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097024" y="5294376"/>
            <a:ext cx="178993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033266" y="5294376"/>
            <a:ext cx="42793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documentation to help use the MCP in question.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458962" y="5294376"/>
            <a:ext cx="308076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but recommended.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6053328"/>
            <a:ext cx="11064240" cy="0"/>
          </a:xfrm>
          <a:prstGeom prst="line">
            <a:avLst/>
          </a:prstGeom>
          <a:noFill/>
          <a:ln w="6350">
            <a:solidFill>
              <a:srgbClr val="D7E9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AN MCP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— naming conventions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2286000" cy="749808"/>
          </a:xfrm>
          <a:prstGeom prst="rect">
            <a:avLst/>
          </a:prstGeom>
          <a:solidFill>
            <a:srgbClr val="0069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1051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0" y="1810512"/>
            <a:ext cx="8686800" cy="749808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5468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mcp-&lt;applicationDomain&gt; or mcp-&lt;applicationDomain&gt;-&lt;scope&gt;. Examples: mcp-jira, mcp-identity-core, mcp-datawarehouse.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2286000" cy="74980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0662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26080" y="2706624"/>
            <a:ext cx="8686800" cy="749808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54680" y="27706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&lt;verb&gt;_&lt;object&gt; (snake_case). Examples: create_ticket, update_issue_status.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2286000" cy="74980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0273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26080" y="3602736"/>
            <a:ext cx="8686800" cy="749808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154680" y="366674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&lt;noun&gt; or &lt;noun&gt;_&lt;qualifier&gt; (no verbs). Examples: project_metadata, user_roles, inventory_snapshot.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228600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9884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4498848"/>
            <a:ext cx="8686800" cy="749808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54680" y="45628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&lt;domain&gt;_&lt;intent&gt;_prompt. Examples: jira_summary_prompt, incident_analysis_prompt.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2286000" cy="749808"/>
          </a:xfrm>
          <a:prstGeom prst="rect">
            <a:avLst/>
          </a:prstGeom>
          <a:solidFill>
            <a:srgbClr val="5B6B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9496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926080" y="5394960"/>
            <a:ext cx="8686800" cy="749808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154680" y="54589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via registry/metadata, not embedded in names. Preferred: create_ticket @ v1.2.0. Avoid: create_ticket_v2, mcp-jira-v1.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SECURITY &amp; 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essentials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lin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3517392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3517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848356"/>
            <a:ext cx="31882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existing or develop new APIs instead of accessing databases or queues directly — reuse the business logic those APIs expose.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4201668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every remote MCP server in the MCP Registry.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5116068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every remote MCP server through an MCP Gateway.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2064" y="1783080"/>
            <a:ext cx="3517392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13504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schemas (JSON-RPC)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22064" y="2258568"/>
            <a:ext cx="3517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6656" y="2500884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 contracts per capability (params/result/error).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486656" y="3415284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error taxonomy; validate on the server (optionally on the client for fast failure).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486656" y="4549140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contracts in metadata (contractVersion, schemaId), not in names.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486656" y="5463540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outputs for machine actions — return structured results.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95488" y="1783080"/>
            <a:ext cx="3517392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186928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095488" y="2258568"/>
            <a:ext cx="35173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60080" y="2628900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for every call + circuit breakers + bounded retries, as API logic.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260080" y="3762756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only when safe (read-only by default; writes require an idempotency strategy).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8260080" y="4896612"/>
            <a:ext cx="31882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errors with retriable/non-retriable classification, health/readiness checks, and logs including capability ID + version + correlation ID.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SECURITY &amp; 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vs. elicitation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04104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(requests to the model)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569464"/>
            <a:ext cx="5074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for servers to request LLM generations from language models via clients — include human-in-the-loop for sampling requests.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922776"/>
            <a:ext cx="50749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sampling, an MCP server has two limited choices: return raw data and hope the client model knows what to do, or call its own model provider directly (raises cost, privacy, and key-management issues).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08776" y="1783080"/>
            <a:ext cx="5404104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0216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 (requests to the user)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8776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3368" y="2441448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servers to dynamically request specific information from users during an interaction.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373368" y="3575304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mechanism to gather additional input only when needed, keeping the AI’s context clear and precise.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4709160"/>
            <a:ext cx="5074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the AI lacks sufficient context to proceed, the MCP server can trigger an elicitation request to collect the missing piece of data from the user.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long-running workflows: use a message bus for async work and expose as tools via MCP — submitJob, getJobStatus, getJobResult, cancelJob.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SECURITY &amp; 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 — a worked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F3FAF7"/>
          </a:solidFill>
          <a:ln w="12700">
            <a:solidFill>
              <a:srgbClr val="D7E9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"Check my last three out-for-delivery orders and email me the details."</a:t>
            </a:r>
            <a:endParaRPr lang="en-US" sz="1450" dirty="0"/>
          </a:p>
        </p:txBody>
      </p:sp>
      <p:pic>
        <p:nvPicPr>
          <p:cNvPr id="6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157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688336"/>
            <a:ext cx="10195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first calls getOrdersByStatus(status="OUT_FOR_DELIVERY", limit=3)</a:t>
            </a:r>
            <a:endParaRPr lang="en-US" sz="1450" dirty="0"/>
          </a:p>
        </p:txBody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381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3410712"/>
            <a:ext cx="10195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prepares a summary via a prompt and sampling</a:t>
            </a:r>
            <a:endParaRPr lang="en-US" sz="1450" dirty="0"/>
          </a:p>
        </p:txBody>
      </p:sp>
      <p:pic>
        <p:nvPicPr>
          <p:cNvPr id="10" name="Image 2" descr="/home/claude/icons/star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6052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4133088"/>
            <a:ext cx="101955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needs to send an email using the sendEmail tool — but it encounters multiple email addresses associated with the user. Without elicitation, the AI might guess which email to use and send data to the wrong address.</a:t>
            </a:r>
            <a:endParaRPr lang="en-US" sz="1450" dirty="0"/>
          </a:p>
        </p:txBody>
      </p:sp>
      <p:pic>
        <p:nvPicPr>
          <p:cNvPr id="12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5838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88720" y="5330952"/>
            <a:ext cx="10195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with elicitation, the server initiates a request, prompting the client to display a simple input form: "Which email should I use to send your summary?"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SECURITY &amp; 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network, auth &amp; secrets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3517392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660904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for all remote MCP endpoints (HTTPS only).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575304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ingress (MCP Server Gateway) with inbound allowlists.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4489704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egress — allowlist outbound destinations per capability and log all outbound access.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2064" y="1783080"/>
            <a:ext cx="3517392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13504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Authz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22064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6656" y="2551176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every remote request (MCP supports OAuth by default).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486656" y="3465576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+ least privilege (CBAC), with short-lived, audience-bound tokens mapped to allowed capabilities.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486656" y="4599432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passthrough to downstream systems — use the on-behalf-of pattern instead.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095488" y="1783080"/>
            <a:ext cx="3517392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186928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95488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60080" y="2770632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only in an approved secrets manager.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260080" y="3685032"/>
            <a:ext cx="3188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secret rotation.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260080" y="4379976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tokens/secrets. Never embed secrets in prompts or return them in tool outputs.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04672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 MCP with the same rigor and discipline used for an API.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SECURITY &amp; 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tools &amp;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04104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441448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capability-based access control (CBAC) — agents can only invoke tools/resources/prompts they’re authorized for.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575304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metadata and prompts should be scanned in CI/CD for injection patterns (e.g. delete, exec, curl).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4709160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"super tools" with broad permissions (e.g. one tool that can read + send + delete emails).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08776" y="1783080"/>
            <a:ext cx="5404104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0216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8776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2441448"/>
            <a:ext cx="5074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resources with data classification and enforce least-privilege access, including context shared through resources/tools.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3794760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data in transit and at rest; restrict export/sharing to explicitly approved capabilities.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4928616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sensitive data — use masking/redaction/encryption and time-bound retention where logging is required.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 MCP with the same rigor and discipline used for an API.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SECURITY &amp; 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activit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3517392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880360"/>
            <a:ext cx="3188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errors logged.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575304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with consistent fields.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4489704"/>
            <a:ext cx="3188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secrets/credentials or sensitive payloads.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22064" y="1783080"/>
            <a:ext cx="3517392" cy="475488"/>
          </a:xfrm>
          <a:prstGeom prst="rect">
            <a:avLst/>
          </a:prstGeom>
          <a:solidFill>
            <a:srgbClr val="8BAE1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13504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&amp; Correlation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22064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AE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6656" y="3008376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trace IDs end-to-end (host → MCP client → MCP server → downstream).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486656" y="4142232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8BA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"generic error" or null responses. Return canonical error codes + messages.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095488" y="1783080"/>
            <a:ext cx="3517392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86928" y="1783080"/>
            <a:ext cx="3334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Audit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95488" y="2258568"/>
            <a:ext cx="35173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60080" y="3008376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events for side effects — WHO did WHAT and WHEN (plus target resource + outcome).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8260080" y="4142232"/>
            <a:ext cx="31882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 per capability: request rate, error rate, latency, timeouts, retries, etc.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4672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logs/metrics/traces to the enterprise observability stack.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— Python vs Java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packag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04104" cy="47548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FastMCP (v1, v2, v3)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44144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adopted, developer-friendly MCP framework.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355848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abstraction: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decorator-based registration, automatic schema generation.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4489704"/>
            <a:ext cx="5074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(~70% of MCP servers in the wild), with multiple transport options (stdio, HTTP/SSE) and four built-in auth strategies.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08776" y="1783080"/>
            <a:ext cx="5404104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0216" y="1783080"/>
            <a:ext cx="5221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Spring AI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08776" y="2258568"/>
            <a:ext cx="54041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73368" y="255117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AI framework in the Java ecosystem.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373368" y="3465576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Java SDK with Spring Boot ecosystem integration; easier configuration, one-line starter import.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373368" y="4599432"/>
            <a:ext cx="5074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Annotations-driven (MCP Annotations), with MCP Security on OAuth 2.0 and AI key-based support.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8F5EF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4672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advantages of FastMCP and Spring AI: user-friendly, compatible, production-ready, easy to set up, secure.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11064240" cy="5486400"/>
          </a:xfrm>
          <a:prstGeom prst="roundRect">
            <a:avLst>
              <a:gd name="adj" fmla="val 2333"/>
            </a:avLst>
          </a:prstGeom>
          <a:solidFill>
            <a:srgbClr val="E8F5EF"/>
          </a:solidFill>
          <a:ln w="19050">
            <a:solidFill>
              <a:srgbClr val="D98E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10515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051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78440" y="96012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8E04"/>
            </a:solidFill>
            <a:prstDash val="solid"/>
          </a:ln>
        </p:spPr>
      </p:sp>
      <p:pic>
        <p:nvPicPr>
          <p:cNvPr id="6" name="Image 0" descr="/home/claude/icons/coffe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9608" y="11612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69164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 the break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60120" y="2697480"/>
            <a:ext cx="10241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9E1"/>
            </a:solidFill>
            <a:prstDash val="solid"/>
          </a:ln>
          <a:effectLst>
            <a:outerShdw sx="100000" sy="100000" kx="0" ky="0" algn="bl" rotWithShape="0" blurRad="76200" dist="25400" dir="5400000">
              <a:srgbClr val="1F2A28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234440" y="26974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i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your MCP server had a support ticket filed against it in six months, what would it most likely say?”</a:t>
            </a:r>
            <a:endParaRPr lang="en-US" sz="2000" dirty="0"/>
          </a:p>
        </p:txBody>
      </p:sp>
      <p:pic>
        <p:nvPicPr>
          <p:cNvPr id="10" name="Image 1" descr="/home/claude/icons/coff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4348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4416552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quick answers — then a proper break before we build.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17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0" y="2286000"/>
            <a:ext cx="1005840" cy="100584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4" name="Image 0" descr="/home/claude/icons/coffe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8599" y="2416759"/>
            <a:ext cx="744322" cy="7443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35661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0" y="44348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E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— back for hands-on MCP building.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register your own MCP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566928"/>
            <a:ext cx="685800" cy="6858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" name="Image 0" descr="/home/claude/icons/targ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4794" y="656082"/>
            <a:ext cx="507492" cy="5074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5074920" cy="2788920"/>
          </a:xfrm>
          <a:prstGeom prst="roundRect">
            <a:avLst>
              <a:gd name="adj" fmla="val 3934"/>
            </a:avLst>
          </a:prstGeom>
          <a:solidFill>
            <a:srgbClr val="E8F5EF"/>
          </a:solidFill>
          <a:ln/>
          <a:effectLst>
            <a:outerShdw sx="100000" sy="100000" kx="0" ky="0" algn="bl" rotWithShape="0" blurRad="76200" dist="25400" dir="5400000">
              <a:srgbClr val="1F2A28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minimum bar</a:t>
            </a:r>
            <a:endParaRPr lang="en-US" sz="1700" dirty="0"/>
          </a:p>
        </p:txBody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1460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597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with a clear single intent, following the naming convention</a:t>
            </a:r>
            <a:endParaRPr lang="en-US" sz="1500" dirty="0"/>
          </a:p>
        </p:txBody>
      </p:sp>
      <p:pic>
        <p:nvPicPr>
          <p:cNvPr id="10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10896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054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schema-first contract (params/result/error)</a:t>
            </a:r>
            <a:endParaRPr lang="en-US" sz="1500" dirty="0"/>
          </a:p>
        </p:txBody>
      </p:sp>
      <p:pic>
        <p:nvPicPr>
          <p:cNvPr id="12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70332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36484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the staging MCP Registry, in Draft mode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263640" y="1828800"/>
            <a:ext cx="5074920" cy="2788920"/>
          </a:xfrm>
          <a:prstGeom prst="roundRect">
            <a:avLst>
              <a:gd name="adj" fmla="val 3934"/>
            </a:avLst>
          </a:prstGeom>
          <a:solidFill>
            <a:srgbClr val="F3FAF7"/>
          </a:solidFill>
          <a:ln w="12700">
            <a:solidFill>
              <a:srgbClr val="D7E9E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6519672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if you finish early</a:t>
            </a:r>
            <a:endParaRPr lang="en-US" sz="1700" dirty="0"/>
          </a:p>
        </p:txBody>
      </p:sp>
      <p:pic>
        <p:nvPicPr>
          <p:cNvPr id="16" name="Image 4" descr="/home/claude/icons/star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51460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858000" y="24597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resource exposing read-only context for the same domain</a:t>
            </a:r>
            <a:endParaRPr lang="en-US" sz="1500" dirty="0"/>
          </a:p>
        </p:txBody>
      </p:sp>
      <p:pic>
        <p:nvPicPr>
          <p:cNvPr id="18" name="Image 5" descr="/home/claude/icons/star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3108960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858000" y="3054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reusable prompt template for a common task in that domain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54864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domain: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548640" y="51663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548640" y="51663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Tickets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2350008" y="51663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2350008" y="51663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Wiki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4059936" y="51663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4059936" y="51663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Directory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B1F17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first, then it’s your turn — registration stays in Draft mode, so nothing goes live without review.</a:t>
            </a:r>
            <a:endParaRPr lang="en-US" sz="135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2026-09-09T02:41:06Z</dcterms:created>
  <dcterms:modified xsi:type="dcterms:W3CDTF">2026-09-09T02:41:06Z</dcterms:modified>
</cp:coreProperties>
</file>