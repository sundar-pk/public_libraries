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15A"/>
              </a:solidFill>
              <a:effectLst/>
            </c:spPr>
          </c:dPt>
          <c:dPt>
            <c:idx val="1"/>
            <c:bubble3D val="0"/>
            <c:spPr>
              <a:solidFill>
                <a:srgbClr val="1E5B4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Target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8" Type="http://schemas.openxmlformats.org/officeDocument/2006/relationships/chart" Target="/ppt/charts/chart1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7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8.png"/><Relationship Id="rId13" Type="http://schemas.openxmlformats.org/officeDocument/2006/relationships/image" Target="../media/image-1-11.png"/><Relationship Id="rId14" Type="http://schemas.openxmlformats.org/officeDocument/2006/relationships/image" Target="../media/image-1-14.png"/><Relationship Id="rId15" Type="http://schemas.openxmlformats.org/officeDocument/2006/relationships/image" Target="../media/image-1-14.png"/><Relationship Id="rId16" Type="http://schemas.openxmlformats.org/officeDocument/2006/relationships/image" Target="../media/image-1-10.png"/><Relationship Id="rId17" Type="http://schemas.openxmlformats.org/officeDocument/2006/relationships/image" Target="../media/image-1-7.png"/><Relationship Id="rId19" Type="http://schemas.openxmlformats.org/officeDocument/2006/relationships/image" Target="../media/image-1-18.png"/><Relationship Id="rId20" Type="http://schemas.openxmlformats.org/officeDocument/2006/relationships/image" Target="../media/image-1-19.png"/><Relationship Id="rId21" Type="http://schemas.openxmlformats.org/officeDocument/2006/relationships/image" Target="../media/image-1-20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Portfolio Status &amp;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Judo  •  Neolink  •  CORAS  —  Current Status &amp; Forward Plan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24072" cy="2606040"/>
          </a:xfrm>
          <a:prstGeom prst="roundRect">
            <a:avLst>
              <a:gd name="adj" fmla="val 2807"/>
            </a:avLst>
          </a:prstGeom>
          <a:solidFill>
            <a:srgbClr val="E6F4EC"/>
          </a:solidFill>
          <a:ln w="9525">
            <a:solidFill>
              <a:srgbClr val="D3E8D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3624072" cy="457200"/>
          </a:xfrm>
          <a:prstGeom prst="roundRect">
            <a:avLst>
              <a:gd name="adj" fmla="val 16000"/>
            </a:avLst>
          </a:prstGeom>
          <a:solidFill>
            <a:srgbClr val="00915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07592"/>
            <a:ext cx="3624072" cy="10972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042416"/>
            <a:ext cx="310896" cy="31089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0" descr="j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110996"/>
            <a:ext cx="173736" cy="1737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960120"/>
            <a:ext cx="2938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JUDO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282440" y="960120"/>
            <a:ext cx="3624072" cy="2606040"/>
          </a:xfrm>
          <a:prstGeom prst="roundRect">
            <a:avLst>
              <a:gd name="adj" fmla="val 2807"/>
            </a:avLst>
          </a:prstGeom>
          <a:solidFill>
            <a:srgbClr val="E6F4EC"/>
          </a:solidFill>
          <a:ln w="9525">
            <a:solidFill>
              <a:srgbClr val="D3E8D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82440" y="960120"/>
            <a:ext cx="3624072" cy="457200"/>
          </a:xfrm>
          <a:prstGeom prst="roundRect">
            <a:avLst>
              <a:gd name="adj" fmla="val 16000"/>
            </a:avLst>
          </a:prstGeom>
          <a:solidFill>
            <a:srgbClr val="00915A"/>
          </a:solidFill>
          <a:ln/>
        </p:spPr>
      </p:sp>
      <p:sp>
        <p:nvSpPr>
          <p:cNvPr id="12" name="Shape 9"/>
          <p:cNvSpPr/>
          <p:nvPr/>
        </p:nvSpPr>
        <p:spPr>
          <a:xfrm>
            <a:off x="4282440" y="1307592"/>
            <a:ext cx="3624072" cy="10972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3" name="Shape 10"/>
          <p:cNvSpPr/>
          <p:nvPr/>
        </p:nvSpPr>
        <p:spPr>
          <a:xfrm>
            <a:off x="4428744" y="1042416"/>
            <a:ext cx="310896" cy="31089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4" name="Image 1" descr="neo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324" y="1110996"/>
            <a:ext cx="173736" cy="1737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49368" y="960120"/>
            <a:ext cx="2938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NEOLINK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8107680" y="960120"/>
            <a:ext cx="3624072" cy="2606040"/>
          </a:xfrm>
          <a:prstGeom prst="roundRect">
            <a:avLst>
              <a:gd name="adj" fmla="val 2807"/>
            </a:avLst>
          </a:prstGeom>
          <a:solidFill>
            <a:srgbClr val="E6F4EC"/>
          </a:solidFill>
          <a:ln w="9525">
            <a:solidFill>
              <a:srgbClr val="D3E8DC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07680" y="960120"/>
            <a:ext cx="3624072" cy="457200"/>
          </a:xfrm>
          <a:prstGeom prst="roundRect">
            <a:avLst>
              <a:gd name="adj" fmla="val 16000"/>
            </a:avLst>
          </a:prstGeom>
          <a:solidFill>
            <a:srgbClr val="00915A"/>
          </a:solidFill>
          <a:ln/>
        </p:spPr>
      </p:sp>
      <p:sp>
        <p:nvSpPr>
          <p:cNvPr id="18" name="Shape 14"/>
          <p:cNvSpPr/>
          <p:nvPr/>
        </p:nvSpPr>
        <p:spPr>
          <a:xfrm>
            <a:off x="8107680" y="1307592"/>
            <a:ext cx="3624072" cy="10972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9" name="Shape 15"/>
          <p:cNvSpPr/>
          <p:nvPr/>
        </p:nvSpPr>
        <p:spPr>
          <a:xfrm>
            <a:off x="8253984" y="1042416"/>
            <a:ext cx="310896" cy="31089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0" name="Image 2" descr="cor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564" y="1110996"/>
            <a:ext cx="173736" cy="1737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74608" y="960120"/>
            <a:ext cx="2938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CORAS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640080" y="1545336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23" name="Image 3" descr="exch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1627632"/>
            <a:ext cx="164592" cy="1645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60704" y="1517904"/>
            <a:ext cx="283768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005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dMZR → dMZRc 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Non-prod Sep · Production Q4</a:t>
            </a:r>
            <a:endParaRPr lang="en-US" sz="1060" dirty="0"/>
          </a:p>
        </p:txBody>
      </p:sp>
      <p:sp>
        <p:nvSpPr>
          <p:cNvPr id="25" name="Shape 19"/>
          <p:cNvSpPr/>
          <p:nvPr/>
        </p:nvSpPr>
        <p:spPr>
          <a:xfrm>
            <a:off x="640080" y="1931213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26" name="Image 4" descr="userplu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2013509"/>
            <a:ext cx="164592" cy="1645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60704" y="1903781"/>
            <a:ext cx="283768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005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CIB Clients 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repo + Wallet + API/LDAP</a:t>
            </a:r>
            <a:endParaRPr lang="en-US" sz="1060" dirty="0"/>
          </a:p>
        </p:txBody>
      </p:sp>
      <p:sp>
        <p:nvSpPr>
          <p:cNvPr id="28" name="Shape 21"/>
          <p:cNvSpPr/>
          <p:nvPr/>
        </p:nvSpPr>
        <p:spPr>
          <a:xfrm>
            <a:off x="640080" y="2317090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29" name="Image 5" descr="d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2399386"/>
            <a:ext cx="164592" cy="1645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60704" y="2289658"/>
            <a:ext cx="283768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005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Upgrade 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v15 live by Sep 2026</a:t>
            </a:r>
            <a:endParaRPr lang="en-US" sz="1060" dirty="0"/>
          </a:p>
        </p:txBody>
      </p:sp>
      <p:sp>
        <p:nvSpPr>
          <p:cNvPr id="31" name="Shape 23"/>
          <p:cNvSpPr/>
          <p:nvPr/>
        </p:nvSpPr>
        <p:spPr>
          <a:xfrm>
            <a:off x="640080" y="2702966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32" name="Image 6" descr="clou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2785262"/>
            <a:ext cx="164592" cy="16459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060704" y="2675534"/>
            <a:ext cx="283768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005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Exa CC 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targeted Q1 2028</a:t>
            </a:r>
            <a:endParaRPr lang="en-US" sz="1060" dirty="0"/>
          </a:p>
        </p:txBody>
      </p:sp>
      <p:sp>
        <p:nvSpPr>
          <p:cNvPr id="34" name="Shape 25"/>
          <p:cNvSpPr/>
          <p:nvPr/>
        </p:nvSpPr>
        <p:spPr>
          <a:xfrm>
            <a:off x="640080" y="3088843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35" name="Image 7" descr="warn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" y="3171139"/>
            <a:ext cx="164592" cy="16459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060704" y="3061411"/>
            <a:ext cx="283768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005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WTX Deprecation 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being defined</a:t>
            </a:r>
            <a:endParaRPr lang="en-US" sz="1060" dirty="0"/>
          </a:p>
        </p:txBody>
      </p:sp>
      <p:sp>
        <p:nvSpPr>
          <p:cNvPr id="37" name="Shape 27"/>
          <p:cNvSpPr/>
          <p:nvPr/>
        </p:nvSpPr>
        <p:spPr>
          <a:xfrm>
            <a:off x="4465320" y="1691640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38" name="Image 8" descr="clou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7616" y="1773936"/>
            <a:ext cx="164592" cy="16459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885944" y="1664208"/>
            <a:ext cx="283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005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Exa CC 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pending with Jeremy</a:t>
            </a:r>
            <a:endParaRPr lang="en-US" sz="1060" dirty="0"/>
          </a:p>
        </p:txBody>
      </p:sp>
      <p:sp>
        <p:nvSpPr>
          <p:cNvPr id="40" name="Shape 29"/>
          <p:cNvSpPr/>
          <p:nvPr/>
        </p:nvSpPr>
        <p:spPr>
          <a:xfrm>
            <a:off x="4465320" y="2560320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41" name="Image 9" descr="user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7616" y="2642616"/>
            <a:ext cx="164592" cy="164592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4885944" y="2532888"/>
            <a:ext cx="283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005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Ramp-up 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 · roles being finalized</a:t>
            </a:r>
            <a:endParaRPr lang="en-US" sz="1060" dirty="0"/>
          </a:p>
        </p:txBody>
      </p:sp>
      <p:sp>
        <p:nvSpPr>
          <p:cNvPr id="43" name="Shape 31"/>
          <p:cNvSpPr/>
          <p:nvPr/>
        </p:nvSpPr>
        <p:spPr>
          <a:xfrm>
            <a:off x="8290560" y="1691640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44" name="Image 10" descr="sync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2856" y="1773936"/>
            <a:ext cx="164592" cy="164592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8711184" y="1664208"/>
            <a:ext cx="283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005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ACETP → CORAS 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phase, full adoption</a:t>
            </a:r>
            <a:endParaRPr lang="en-US" sz="1060" dirty="0"/>
          </a:p>
        </p:txBody>
      </p:sp>
      <p:sp>
        <p:nvSpPr>
          <p:cNvPr id="46" name="Shape 33"/>
          <p:cNvSpPr/>
          <p:nvPr/>
        </p:nvSpPr>
        <p:spPr>
          <a:xfrm>
            <a:off x="8290560" y="2560320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47" name="Image 11" descr="warning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2856" y="2642616"/>
            <a:ext cx="164592" cy="164592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8711184" y="2532888"/>
            <a:ext cx="283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60" b="1" dirty="0">
                <a:solidFill>
                  <a:srgbClr val="005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WTX Obsolescence  </a:t>
            </a:r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2S Engineering &amp; Labs</a:t>
            </a:r>
            <a:endParaRPr lang="en-US" sz="1060" dirty="0"/>
          </a:p>
        </p:txBody>
      </p:sp>
      <p:sp>
        <p:nvSpPr>
          <p:cNvPr id="49" name="Text 35"/>
          <p:cNvSpPr/>
          <p:nvPr/>
        </p:nvSpPr>
        <p:spPr>
          <a:xfrm>
            <a:off x="457200" y="37673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— KEY MILESTONES</a:t>
            </a:r>
            <a:endParaRPr lang="en-US" sz="1300" dirty="0"/>
          </a:p>
        </p:txBody>
      </p:sp>
      <p:sp>
        <p:nvSpPr>
          <p:cNvPr id="50" name="Shape 36"/>
          <p:cNvSpPr/>
          <p:nvPr/>
        </p:nvSpPr>
        <p:spPr>
          <a:xfrm>
            <a:off x="731520" y="4334256"/>
            <a:ext cx="10725912" cy="0"/>
          </a:xfrm>
          <a:prstGeom prst="line">
            <a:avLst/>
          </a:prstGeom>
          <a:noFill/>
          <a:ln w="38100">
            <a:solidFill>
              <a:srgbClr val="D3E8DC"/>
            </a:solidFill>
            <a:prstDash val="solid"/>
          </a:ln>
        </p:spPr>
      </p:sp>
      <p:sp>
        <p:nvSpPr>
          <p:cNvPr id="51" name="Shape 37"/>
          <p:cNvSpPr/>
          <p:nvPr/>
        </p:nvSpPr>
        <p:spPr>
          <a:xfrm>
            <a:off x="557784" y="4160520"/>
            <a:ext cx="347472" cy="347472"/>
          </a:xfrm>
          <a:prstGeom prst="ellipse">
            <a:avLst/>
          </a:prstGeom>
          <a:solidFill>
            <a:srgbClr val="00915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52" name="Image 12" descr="sync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4242816"/>
            <a:ext cx="182880" cy="182880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0" y="45720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54" name="Text 39"/>
          <p:cNvSpPr/>
          <p:nvPr/>
        </p:nvSpPr>
        <p:spPr>
          <a:xfrm>
            <a:off x="-45720" y="47731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CORAS: ACETP study &amp;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WTX discussions</a:t>
            </a:r>
            <a:endParaRPr lang="en-US" sz="830" dirty="0"/>
          </a:p>
        </p:txBody>
      </p:sp>
      <p:sp>
        <p:nvSpPr>
          <p:cNvPr id="55" name="Shape 40"/>
          <p:cNvSpPr/>
          <p:nvPr/>
        </p:nvSpPr>
        <p:spPr>
          <a:xfrm>
            <a:off x="3239262" y="4160520"/>
            <a:ext cx="347472" cy="347472"/>
          </a:xfrm>
          <a:prstGeom prst="ellipse">
            <a:avLst/>
          </a:prstGeom>
          <a:solidFill>
            <a:srgbClr val="00915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56" name="Image 13" descr="flag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21558" y="4242816"/>
            <a:ext cx="182880" cy="182880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2681478" y="45720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</a:t>
            </a:r>
            <a:endParaRPr lang="en-US" sz="1100" dirty="0"/>
          </a:p>
        </p:txBody>
      </p:sp>
      <p:sp>
        <p:nvSpPr>
          <p:cNvPr id="58" name="Text 42"/>
          <p:cNvSpPr/>
          <p:nvPr/>
        </p:nvSpPr>
        <p:spPr>
          <a:xfrm>
            <a:off x="2635758" y="47731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dMZR non-prod live &amp;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v15 upgrade</a:t>
            </a:r>
            <a:endParaRPr lang="en-US" sz="830" dirty="0"/>
          </a:p>
        </p:txBody>
      </p:sp>
      <p:sp>
        <p:nvSpPr>
          <p:cNvPr id="59" name="Shape 43"/>
          <p:cNvSpPr/>
          <p:nvPr/>
        </p:nvSpPr>
        <p:spPr>
          <a:xfrm>
            <a:off x="5920740" y="4160520"/>
            <a:ext cx="347472" cy="347472"/>
          </a:xfrm>
          <a:prstGeom prst="ellipse">
            <a:avLst/>
          </a:prstGeom>
          <a:solidFill>
            <a:srgbClr val="00915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0" name="Image 14" descr="flag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03036" y="4242816"/>
            <a:ext cx="182880" cy="182880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5362956" y="45720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62" name="Text 45"/>
          <p:cNvSpPr/>
          <p:nvPr/>
        </p:nvSpPr>
        <p:spPr>
          <a:xfrm>
            <a:off x="5317236" y="47731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dMZR production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complete</a:t>
            </a:r>
            <a:endParaRPr lang="en-US" sz="830" dirty="0"/>
          </a:p>
        </p:txBody>
      </p:sp>
      <p:sp>
        <p:nvSpPr>
          <p:cNvPr id="63" name="Shape 46"/>
          <p:cNvSpPr/>
          <p:nvPr/>
        </p:nvSpPr>
        <p:spPr>
          <a:xfrm>
            <a:off x="8602218" y="4160520"/>
            <a:ext cx="347472" cy="347472"/>
          </a:xfrm>
          <a:prstGeom prst="ellipse">
            <a:avLst/>
          </a:prstGeom>
          <a:solidFill>
            <a:srgbClr val="00915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4" name="Image 15" descr="users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84514" y="4242816"/>
            <a:ext cx="182880" cy="182880"/>
          </a:xfrm>
          <a:prstGeom prst="rect">
            <a:avLst/>
          </a:prstGeom>
        </p:spPr>
      </p:pic>
      <p:sp>
        <p:nvSpPr>
          <p:cNvPr id="65" name="Text 47"/>
          <p:cNvSpPr/>
          <p:nvPr/>
        </p:nvSpPr>
        <p:spPr>
          <a:xfrm>
            <a:off x="8044434" y="45720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00" dirty="0"/>
          </a:p>
        </p:txBody>
      </p:sp>
      <p:sp>
        <p:nvSpPr>
          <p:cNvPr id="66" name="Text 48"/>
          <p:cNvSpPr/>
          <p:nvPr/>
        </p:nvSpPr>
        <p:spPr>
          <a:xfrm>
            <a:off x="7998714" y="47731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Neolink Chennai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ramp-up</a:t>
            </a:r>
            <a:endParaRPr lang="en-US" sz="830" dirty="0"/>
          </a:p>
        </p:txBody>
      </p:sp>
      <p:sp>
        <p:nvSpPr>
          <p:cNvPr id="67" name="Shape 49"/>
          <p:cNvSpPr/>
          <p:nvPr/>
        </p:nvSpPr>
        <p:spPr>
          <a:xfrm>
            <a:off x="11283696" y="4160520"/>
            <a:ext cx="347472" cy="347472"/>
          </a:xfrm>
          <a:prstGeom prst="ellipse">
            <a:avLst/>
          </a:prstGeom>
          <a:solidFill>
            <a:srgbClr val="00915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8" name="Image 16" descr="clou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65992" y="4242816"/>
            <a:ext cx="182880" cy="182880"/>
          </a:xfrm>
          <a:prstGeom prst="rect">
            <a:avLst/>
          </a:prstGeom>
        </p:spPr>
      </p:pic>
      <p:sp>
        <p:nvSpPr>
          <p:cNvPr id="69" name="Text 50"/>
          <p:cNvSpPr/>
          <p:nvPr/>
        </p:nvSpPr>
        <p:spPr>
          <a:xfrm>
            <a:off x="10725912" y="45720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2028</a:t>
            </a:r>
            <a:endParaRPr lang="en-US" sz="1100" dirty="0"/>
          </a:p>
        </p:txBody>
      </p:sp>
      <p:sp>
        <p:nvSpPr>
          <p:cNvPr id="70" name="Text 51"/>
          <p:cNvSpPr/>
          <p:nvPr/>
        </p:nvSpPr>
        <p:spPr>
          <a:xfrm>
            <a:off x="10680192" y="47731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Exa CC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(BAU)</a:t>
            </a:r>
            <a:endParaRPr lang="en-US" sz="830" dirty="0"/>
          </a:p>
        </p:txBody>
      </p:sp>
      <p:sp>
        <p:nvSpPr>
          <p:cNvPr id="71" name="Shape 52"/>
          <p:cNvSpPr/>
          <p:nvPr/>
        </p:nvSpPr>
        <p:spPr>
          <a:xfrm>
            <a:off x="457200" y="530352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00542E"/>
          </a:solidFill>
          <a:ln/>
        </p:spPr>
      </p:sp>
      <p:graphicFrame>
        <p:nvGraphicFramePr>
          <p:cNvPr id="72" name="Chart 0" descr=""/>
          <p:cNvGraphicFramePr/>
          <p:nvPr/>
        </p:nvGraphicFramePr>
        <p:xfrm>
          <a:off x="731520" y="5509260"/>
          <a:ext cx="100584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8"/>
          </a:graphicData>
        </a:graphic>
      </p:graphicFrame>
      <p:sp>
        <p:nvSpPr>
          <p:cNvPr id="73" name="Text 53"/>
          <p:cNvSpPr/>
          <p:nvPr/>
        </p:nvSpPr>
        <p:spPr>
          <a:xfrm>
            <a:off x="731520" y="585673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600" dirty="0"/>
          </a:p>
        </p:txBody>
      </p:sp>
      <p:sp>
        <p:nvSpPr>
          <p:cNvPr id="74" name="Text 54"/>
          <p:cNvSpPr/>
          <p:nvPr/>
        </p:nvSpPr>
        <p:spPr>
          <a:xfrm>
            <a:off x="1965960" y="544068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 Target
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E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uses the “Code Quality Assistance” AI plugin (front &amp; back end)</a:t>
            </a:r>
            <a:endParaRPr lang="en-US" sz="1200" dirty="0"/>
          </a:p>
        </p:txBody>
      </p:sp>
      <p:sp>
        <p:nvSpPr>
          <p:cNvPr id="75" name="Shape 55"/>
          <p:cNvSpPr/>
          <p:nvPr/>
        </p:nvSpPr>
        <p:spPr>
          <a:xfrm>
            <a:off x="5029200" y="5468112"/>
            <a:ext cx="0" cy="1088136"/>
          </a:xfrm>
          <a:prstGeom prst="line">
            <a:avLst/>
          </a:prstGeom>
          <a:noFill/>
          <a:ln w="12700">
            <a:solidFill>
              <a:srgbClr val="1E5B41"/>
            </a:solidFill>
            <a:prstDash val="solid"/>
          </a:ln>
        </p:spPr>
      </p:sp>
      <p:sp>
        <p:nvSpPr>
          <p:cNvPr id="76" name="Text 56"/>
          <p:cNvSpPr/>
          <p:nvPr/>
        </p:nvSpPr>
        <p:spPr>
          <a:xfrm>
            <a:off x="5303520" y="54498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Test Automation</a:t>
            </a:r>
            <a:endParaRPr lang="en-US" sz="1300" dirty="0"/>
          </a:p>
        </p:txBody>
      </p:sp>
      <p:sp>
        <p:nvSpPr>
          <p:cNvPr id="77" name="Shape 57"/>
          <p:cNvSpPr/>
          <p:nvPr/>
        </p:nvSpPr>
        <p:spPr>
          <a:xfrm>
            <a:off x="5440680" y="5852160"/>
            <a:ext cx="475488" cy="475488"/>
          </a:xfrm>
          <a:prstGeom prst="ellipse">
            <a:avLst/>
          </a:prstGeom>
          <a:solidFill>
            <a:srgbClr val="00915A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78" name="Image 17" descr="clipboar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68696" y="5980176"/>
            <a:ext cx="219456" cy="219456"/>
          </a:xfrm>
          <a:prstGeom prst="rect">
            <a:avLst/>
          </a:prstGeom>
        </p:spPr>
      </p:pic>
      <p:sp>
        <p:nvSpPr>
          <p:cNvPr id="79" name="Text 58"/>
          <p:cNvSpPr/>
          <p:nvPr/>
        </p:nvSpPr>
        <p:spPr>
          <a:xfrm>
            <a:off x="5074920" y="638251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D9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D9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830" dirty="0"/>
          </a:p>
        </p:txBody>
      </p:sp>
      <p:sp>
        <p:nvSpPr>
          <p:cNvPr id="80" name="Shape 59"/>
          <p:cNvSpPr/>
          <p:nvPr/>
        </p:nvSpPr>
        <p:spPr>
          <a:xfrm>
            <a:off x="5971032" y="6089904"/>
            <a:ext cx="10241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1" name="Shape 60"/>
          <p:cNvSpPr/>
          <p:nvPr/>
        </p:nvSpPr>
        <p:spPr>
          <a:xfrm>
            <a:off x="6995160" y="5852160"/>
            <a:ext cx="475488" cy="475488"/>
          </a:xfrm>
          <a:prstGeom prst="ellipse">
            <a:avLst/>
          </a:prstGeom>
          <a:solidFill>
            <a:srgbClr val="00915A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82" name="Image 18" descr="robot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23176" y="5980176"/>
            <a:ext cx="219456" cy="219456"/>
          </a:xfrm>
          <a:prstGeom prst="rect">
            <a:avLst/>
          </a:prstGeom>
        </p:spPr>
      </p:pic>
      <p:sp>
        <p:nvSpPr>
          <p:cNvPr id="83" name="Text 61"/>
          <p:cNvSpPr/>
          <p:nvPr/>
        </p:nvSpPr>
        <p:spPr>
          <a:xfrm>
            <a:off x="6629400" y="638251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D9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Generates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D9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</a:t>
            </a:r>
            <a:endParaRPr lang="en-US" sz="830" dirty="0"/>
          </a:p>
        </p:txBody>
      </p:sp>
      <p:sp>
        <p:nvSpPr>
          <p:cNvPr id="84" name="Shape 62"/>
          <p:cNvSpPr/>
          <p:nvPr/>
        </p:nvSpPr>
        <p:spPr>
          <a:xfrm>
            <a:off x="7525512" y="6089904"/>
            <a:ext cx="10241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5" name="Shape 63"/>
          <p:cNvSpPr/>
          <p:nvPr/>
        </p:nvSpPr>
        <p:spPr>
          <a:xfrm>
            <a:off x="8549640" y="5852160"/>
            <a:ext cx="475488" cy="475488"/>
          </a:xfrm>
          <a:prstGeom prst="ellipse">
            <a:avLst/>
          </a:prstGeom>
          <a:solidFill>
            <a:srgbClr val="00915A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86" name="Image 19" descr="vial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677656" y="5980176"/>
            <a:ext cx="219456" cy="219456"/>
          </a:xfrm>
          <a:prstGeom prst="rect">
            <a:avLst/>
          </a:prstGeom>
        </p:spPr>
      </p:pic>
      <p:sp>
        <p:nvSpPr>
          <p:cNvPr id="87" name="Text 64"/>
          <p:cNvSpPr/>
          <p:nvPr/>
        </p:nvSpPr>
        <p:spPr>
          <a:xfrm>
            <a:off x="8183880" y="638251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D9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/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D9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Execution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2026-08-22T04:45:54Z</dcterms:created>
  <dcterms:modified xsi:type="dcterms:W3CDTF">2026-08-22T04:45:54Z</dcterms:modified>
</cp:coreProperties>
</file>