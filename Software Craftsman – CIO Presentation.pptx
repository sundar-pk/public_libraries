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CRAFTSMAN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658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23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52501"/>
            <a:ext cx="10566400" cy="127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Shape 3"/>
          <p:cNvSpPr/>
          <p:nvPr/>
        </p:nvSpPr>
        <p:spPr>
          <a:xfrm>
            <a:off x="6092825" y="2044601"/>
            <a:ext cx="0" cy="1875631"/>
          </a:xfrm>
          <a:prstGeom prst="line">
            <a:avLst/>
          </a:prstGeom>
          <a:noFill/>
          <a:ln w="6350">
            <a:solidFill>
              <a:srgbClr val="D9E6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3917057"/>
            <a:ext cx="5283200" cy="0"/>
          </a:xfrm>
          <a:prstGeom prst="line">
            <a:avLst/>
          </a:prstGeom>
          <a:noFill/>
          <a:ln w="6350">
            <a:solidFill>
              <a:srgbClr val="D9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2044601"/>
            <a:ext cx="501656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Activities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2377281"/>
            <a:ext cx="5016564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 &amp; plugin support · best practices &amp; coding standards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2661741"/>
            <a:ext cx="5016564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Guidance for unit &amp; automation testing (Test-Driven Approach)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2946202"/>
            <a:ext cx="5016564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Sonar report validation for CAB approval · Playwright automation in pipeline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0" y="3917057"/>
            <a:ext cx="5283200" cy="0"/>
          </a:xfrm>
          <a:prstGeom prst="line">
            <a:avLst/>
          </a:prstGeom>
          <a:noFill/>
          <a:ln w="6350">
            <a:solidFill>
              <a:srgbClr val="D9E6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2400" y="2044601"/>
            <a:ext cx="502310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· Craftsman Assessment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02400" y="2377281"/>
            <a:ext cx="5023104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Pilot: 11 apps, P3/P4 security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02400" y="2661741"/>
            <a:ext cx="5023104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Assessed across SCM, CI/CD, AI, Green-IT, Cloud, Observability &amp; Production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02400" y="3167162"/>
            <a:ext cx="5023104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Remediation roadmap per app — P3/P4 </a:t>
            </a:r>
            <a:r>
              <a:rPr lang="en-US" sz="1200" b="1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≤ 6 months</a:t>
            </a: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P1/P2 </a:t>
            </a:r>
            <a:r>
              <a:rPr lang="en-US" sz="1200" b="1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≤ 12 months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2825" y="3920232"/>
            <a:ext cx="0" cy="1869281"/>
          </a:xfrm>
          <a:prstGeom prst="line">
            <a:avLst/>
          </a:prstGeom>
          <a:noFill/>
          <a:ln w="6350">
            <a:solidFill>
              <a:srgbClr val="D9E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225032"/>
            <a:ext cx="501656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ITG Toolchain &amp; DevSecOps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4557713"/>
            <a:ext cx="5016564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onboarding into ITG DevOpsSpace · SonarQube configuration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5063133"/>
            <a:ext cx="5016564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 pipelines (Jenkins / GitLab CI) · Fortify &amp; Nexus IQ onboarding (SAST/SCA)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5568553"/>
            <a:ext cx="5016564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Advice on meeting DevSecOps standards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02400" y="4225032"/>
            <a:ext cx="502310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· Quality Gate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02400" y="4557713"/>
            <a:ext cx="5023104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 teams to the right gate: Iron → Bronze → Silver → Gold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02400" y="4842173"/>
            <a:ext cx="5023104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Follow-up support until teams reach Gold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02400" y="5126633"/>
            <a:ext cx="5023104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Technical-debt reduction via Sonar findings · Creedengo plugin (SonarQube)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56040"/>
            <a:ext cx="236244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A8C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Craftsman · Team overview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95360" y="6256040"/>
            <a:ext cx="13464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A8C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5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b="1" spc="200" kern="0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CRAFTSMAN</a:t>
            </a:r>
            <a:endParaRPr lang="en-US" sz="1016" dirty="0"/>
          </a:p>
        </p:txBody>
      </p:sp>
      <p:sp>
        <p:nvSpPr>
          <p:cNvPr id="3" name="Text 1"/>
          <p:cNvSpPr/>
          <p:nvPr/>
        </p:nvSpPr>
        <p:spPr>
          <a:xfrm>
            <a:off x="812800" y="1132582"/>
            <a:ext cx="10883392" cy="402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1223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Strategic Roadmap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2800" y="1649512"/>
            <a:ext cx="10566400" cy="127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888456"/>
            <a:ext cx="10566400" cy="0"/>
          </a:xfrm>
          <a:prstGeom prst="line">
            <a:avLst/>
          </a:prstGeom>
          <a:noFill/>
          <a:ln w="6350">
            <a:solidFill>
              <a:srgbClr val="D9E6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941612"/>
            <a:ext cx="10883392" cy="209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5"/>
              </a:lnSpc>
              <a:buNone/>
            </a:pPr>
            <a:r>
              <a:rPr lang="en-US" sz="1054" b="1" spc="100" kern="0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MISSION</a:t>
            </a:r>
            <a:endParaRPr lang="en-US" sz="1054" dirty="0"/>
          </a:p>
        </p:txBody>
      </p:sp>
      <p:sp>
        <p:nvSpPr>
          <p:cNvPr id="7" name="Text 5"/>
          <p:cNvSpPr/>
          <p:nvPr/>
        </p:nvSpPr>
        <p:spPr>
          <a:xfrm>
            <a:off x="812800" y="2189460"/>
            <a:ext cx="10883392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959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Coach 2S teams to work efficiently, adopt DevSecOps, and deliver high-quality solutions through automation — with continuous testing, value-prioritisation, QA reviews and a standardised framework; adaptability, delivery frequency, transparency and SRE/DevSecOps best practices (CI/CD, security, craftsmanship, observability, toil elimination, SLOs) plus 2S tooling adoption; and agile &amp; craftsmanship coaching to remove inefficiencies and boost collaboration.</a:t>
            </a:r>
            <a:endParaRPr lang="en-US" sz="959" dirty="0"/>
          </a:p>
        </p:txBody>
      </p:sp>
      <p:sp>
        <p:nvSpPr>
          <p:cNvPr id="8" name="Shape 6"/>
          <p:cNvSpPr/>
          <p:nvPr/>
        </p:nvSpPr>
        <p:spPr>
          <a:xfrm>
            <a:off x="812800" y="4428034"/>
            <a:ext cx="10566400" cy="0"/>
          </a:xfrm>
          <a:prstGeom prst="line">
            <a:avLst/>
          </a:prstGeom>
          <a:noFill/>
          <a:ln w="6350">
            <a:solidFill>
              <a:srgbClr val="D9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3044031"/>
            <a:ext cx="10883392" cy="210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5"/>
              </a:lnSpc>
              <a:buNone/>
            </a:pPr>
            <a:r>
              <a:rPr lang="en-US" sz="1054" b="1" spc="100" kern="0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 ACHIEVEMENTS</a:t>
            </a:r>
            <a:endParaRPr lang="en-US" sz="1054" dirty="0"/>
          </a:p>
        </p:txBody>
      </p:sp>
      <p:sp>
        <p:nvSpPr>
          <p:cNvPr id="10" name="Text 8"/>
          <p:cNvSpPr/>
          <p:nvPr/>
        </p:nvSpPr>
        <p:spPr>
          <a:xfrm>
            <a:off x="812800" y="3292673"/>
            <a:ext cx="366268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12800" y="3876873"/>
            <a:ext cx="366268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 Standard Initiative — P3/P4 apps assessed; action plan underway to reach maturity in 6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78400" y="3292673"/>
            <a:ext cx="3662680" cy="50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23"/>
              </a:lnSpc>
              <a:buNone/>
            </a:pPr>
            <a:r>
              <a:rPr lang="en-US" sz="3823" b="1" dirty="0">
                <a:solidFill>
                  <a:srgbClr val="1223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3823" dirty="0"/>
          </a:p>
        </p:txBody>
      </p:sp>
      <p:sp>
        <p:nvSpPr>
          <p:cNvPr id="13" name="Text 11"/>
          <p:cNvSpPr/>
          <p:nvPr/>
        </p:nvSpPr>
        <p:spPr>
          <a:xfrm>
            <a:off x="4978400" y="3801368"/>
            <a:ext cx="366268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7"/>
              </a:lnSpc>
              <a:buNone/>
            </a:pPr>
            <a:r>
              <a:rPr lang="en-US" sz="1021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APS / Academy SRE Wave 1 participants — Observability pilot (BP2i) completed; champions established in each domain</a:t>
            </a:r>
            <a:endParaRPr lang="en-US" sz="1021" dirty="0"/>
          </a:p>
        </p:txBody>
      </p:sp>
      <p:sp>
        <p:nvSpPr>
          <p:cNvPr id="14" name="Text 12"/>
          <p:cNvSpPr/>
          <p:nvPr/>
        </p:nvSpPr>
        <p:spPr>
          <a:xfrm>
            <a:off x="812800" y="4583609"/>
            <a:ext cx="1088339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b="1" spc="100" kern="0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STEPS · Q3 2026 &amp; BEYOND</a:t>
            </a:r>
            <a:endParaRPr lang="en-US" sz="1016" dirty="0"/>
          </a:p>
        </p:txBody>
      </p:sp>
      <p:sp>
        <p:nvSpPr>
          <p:cNvPr id="15" name="Text 13"/>
          <p:cNvSpPr/>
          <p:nvPr/>
        </p:nvSpPr>
        <p:spPr>
          <a:xfrm>
            <a:off x="812800" y="4852789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0800" y="4852789"/>
            <a:ext cx="1036015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Assessment Expansion — new wave of ~35 P3/P4 craftsmanship assessments; re-evaluate pilots for improvement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2800" y="5182096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0800" y="5182096"/>
            <a:ext cx="1036015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 Environment Transition — phase-out ITG DevX solution; roll-out 2S onboarding roadmap on VUE (CIB)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2800" y="5511403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091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0800" y="5511403"/>
            <a:ext cx="1036015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A3B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APS Automation &amp; IaC — 30 apps (TCM) under APS ownership for automated deployment; 26 collaborators certified in automation; onboard Terraform IaC; launch Academy SRE Wave 3; showcase 8 apps with functional monitoring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2800" y="6256040"/>
            <a:ext cx="258543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A8C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Craftsman · Strategic roadmap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295360" y="6256040"/>
            <a:ext cx="13464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A8C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Craftsman – CIO Presentation</dc:title>
  <dc:subject>PptxGenJS Presentation</dc:subject>
  <dc:creator>PptxGenJS</dc:creator>
  <cp:lastModifiedBy>PptxGenJS</cp:lastModifiedBy>
  <cp:revision>1</cp:revision>
  <dcterms:created xsi:type="dcterms:W3CDTF">2026-09-22T03:36:36Z</dcterms:created>
  <dcterms:modified xsi:type="dcterms:W3CDTF">2026-09-22T03:36:36Z</dcterms:modified>
</cp:coreProperties>
</file>